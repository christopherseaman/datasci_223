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Lato" panose="020F0502020204030203" pitchFamily="34" charset="0"/>
      <p:regular r:id="rId9"/>
      <p:bold r:id="rId10"/>
      <p:italic r:id="rId11"/>
      <p:boldItalic r:id="rId12"/>
    </p:embeddedFont>
    <p:embeddedFont>
      <p:font typeface="Lato Bold" panose="020F0502020204030203" pitchFamily="34"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71" autoAdjust="0"/>
    <p:restoredTop sz="63112" autoAdjust="0"/>
  </p:normalViewPr>
  <p:slideViewPr>
    <p:cSldViewPr>
      <p:cViewPr varScale="1">
        <p:scale>
          <a:sx n="48" d="100"/>
          <a:sy n="48" d="100"/>
        </p:scale>
        <p:origin x="248"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Hi everyone. Today I will be presenting JEPA, which stands for Joint Embedding Predictive Architecture.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CA" sz="1200" kern="1200" dirty="0">
                <a:solidFill>
                  <a:schemeClr val="tx1"/>
                </a:solidFill>
                <a:effectLst/>
                <a:latin typeface="+mn-lt"/>
                <a:ea typeface="+mn-ea"/>
                <a:cs typeface="+mn-cs"/>
              </a:rPr>
              <a:t>JEPA is a self-supervised learning method for learning semantic world representations. By semantic world representations, what that means is features that capture the meaning and structure of what the model sees, not just surface-level details like brightness, texture, or individual pixels.</a:t>
            </a:r>
          </a:p>
          <a:p>
            <a:r>
              <a:rPr lang="en-CA" sz="1200" kern="1200" dirty="0">
                <a:solidFill>
                  <a:schemeClr val="tx1"/>
                </a:solidFill>
                <a:effectLst/>
                <a:latin typeface="+mn-lt"/>
                <a:ea typeface="+mn-ea"/>
                <a:cs typeface="+mn-cs"/>
              </a:rPr>
              <a:t>Self-supervised means the model learns from the data itself, instead of needing a human label for every example during pretraining. The main idea is that JEPA uses the visible context of an input to predict the embedding, or representation, of a hidden target part.</a:t>
            </a:r>
          </a:p>
          <a:p>
            <a:r>
              <a:rPr lang="en-CA" sz="1200" kern="1200" dirty="0">
                <a:solidFill>
                  <a:schemeClr val="tx1"/>
                </a:solidFill>
                <a:effectLst/>
                <a:latin typeface="+mn-lt"/>
                <a:ea typeface="+mn-ea"/>
                <a:cs typeface="+mn-cs"/>
              </a:rPr>
              <a:t>The important detail is that JEPA does not reconstruct pixels. For example, if JEPA sees the left side of a dog, it should learn that the hidden part is probably related to the rest of a dog, not random pixels. It does not need to draw the exact fur pixel by pixel, instead it needs to understand the object-level structure.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CA" sz="1200" b="0" kern="1200" dirty="0">
                <a:solidFill>
                  <a:schemeClr val="tx1"/>
                </a:solidFill>
                <a:effectLst/>
                <a:latin typeface="+mn-lt"/>
                <a:ea typeface="+mn-ea"/>
                <a:cs typeface="+mn-cs"/>
              </a:rPr>
              <a:t>So, how does JEPA work? From the figure, we see the context of an image of half of a dog’s face. The context encoder takes the visible patches of this image and turns them into a context embedding, which summarizes what the model can see. </a:t>
            </a:r>
          </a:p>
          <a:p>
            <a:r>
              <a:rPr lang="en-CA" sz="1200" b="0" kern="1200" dirty="0">
                <a:solidFill>
                  <a:schemeClr val="tx1"/>
                </a:solidFill>
                <a:effectLst/>
                <a:latin typeface="+mn-lt"/>
                <a:ea typeface="+mn-ea"/>
                <a:cs typeface="+mn-cs"/>
              </a:rPr>
              <a:t>Next, the predictor uses the context embedding to guess the embeddings of the hidden target regions, shown in blue, purple, and yellow.</a:t>
            </a:r>
          </a:p>
          <a:p>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the target, we are given the whole image of the dog. The target encoder looks at the actual hidden regions and produces the correct target embeddings, which in this case, is the blue, purple, and yellow regions that the predictor had just created context embeddings for. During training, the model compares the predicted embeddings to the actual target embeddings. Over time, it learns to make better predictions.</a:t>
            </a:r>
          </a:p>
          <a:p>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This is how the algorithm learns to use visible information to predict the representation of missing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CA" sz="1200" b="0" kern="1200" dirty="0">
                <a:solidFill>
                  <a:schemeClr val="tx1"/>
                </a:solidFill>
                <a:effectLst/>
                <a:latin typeface="+mn-lt"/>
                <a:ea typeface="+mn-ea"/>
                <a:cs typeface="+mn-cs"/>
              </a:rPr>
              <a:t>Now I’ll go through the math behind JEPA. First, the input image is split into two parts. I’ll call the visible context </a:t>
            </a:r>
            <a:r>
              <a:rPr lang="en-CA" sz="1200" b="0" kern="1200" dirty="0" err="1">
                <a:solidFill>
                  <a:schemeClr val="tx1"/>
                </a:solidFill>
                <a:effectLst/>
                <a:latin typeface="+mn-lt"/>
                <a:ea typeface="+mn-ea"/>
                <a:cs typeface="+mn-cs"/>
              </a:rPr>
              <a:t>x_c</a:t>
            </a:r>
            <a:r>
              <a:rPr lang="en-CA" sz="1200" b="0" kern="1200" dirty="0">
                <a:solidFill>
                  <a:schemeClr val="tx1"/>
                </a:solidFill>
                <a:effectLst/>
                <a:latin typeface="+mn-lt"/>
                <a:ea typeface="+mn-ea"/>
                <a:cs typeface="+mn-cs"/>
              </a:rPr>
              <a:t>, and the hidden target </a:t>
            </a:r>
            <a:r>
              <a:rPr lang="en-CA" sz="1200" b="0" kern="1200" dirty="0" err="1">
                <a:solidFill>
                  <a:schemeClr val="tx1"/>
                </a:solidFill>
                <a:effectLst/>
                <a:latin typeface="+mn-lt"/>
                <a:ea typeface="+mn-ea"/>
                <a:cs typeface="+mn-cs"/>
              </a:rPr>
              <a:t>x_t</a:t>
            </a:r>
            <a:r>
              <a:rPr lang="en-CA" sz="1200" b="0" kern="1200" dirty="0">
                <a:solidFill>
                  <a:schemeClr val="tx1"/>
                </a:solidFill>
                <a:effectLst/>
                <a:latin typeface="+mn-lt"/>
                <a:ea typeface="+mn-ea"/>
                <a:cs typeface="+mn-cs"/>
              </a:rPr>
              <a:t>. The context is what the model gets to see. The target is what the model is trying to predict.</a:t>
            </a:r>
          </a:p>
          <a:p>
            <a:r>
              <a:rPr lang="en-CA" sz="1200" b="0" kern="1200" dirty="0">
                <a:solidFill>
                  <a:schemeClr val="tx1"/>
                </a:solidFill>
                <a:effectLst/>
                <a:latin typeface="+mn-lt"/>
                <a:ea typeface="+mn-ea"/>
                <a:cs typeface="+mn-cs"/>
              </a:rPr>
              <a:t>The first step is the context embedding:</a:t>
            </a:r>
          </a:p>
          <a:p>
            <a:r>
              <a:rPr lang="en-CA" sz="1200" b="0" kern="1200" dirty="0" err="1">
                <a:solidFill>
                  <a:schemeClr val="tx1"/>
                </a:solidFill>
                <a:effectLst/>
                <a:latin typeface="+mn-lt"/>
                <a:ea typeface="+mn-ea"/>
                <a:cs typeface="+mn-cs"/>
              </a:rPr>
              <a:t>h_c</a:t>
            </a:r>
            <a:r>
              <a:rPr lang="en-CA" sz="1200" b="0" kern="1200" dirty="0">
                <a:solidFill>
                  <a:schemeClr val="tx1"/>
                </a:solidFill>
                <a:effectLst/>
                <a:latin typeface="+mn-lt"/>
                <a:ea typeface="+mn-ea"/>
                <a:cs typeface="+mn-cs"/>
              </a:rPr>
              <a:t> = </a:t>
            </a:r>
            <a:r>
              <a:rPr lang="en-CA" sz="1200" b="0" kern="1200" dirty="0" err="1">
                <a:solidFill>
                  <a:schemeClr val="tx1"/>
                </a:solidFill>
                <a:effectLst/>
                <a:latin typeface="+mn-lt"/>
                <a:ea typeface="+mn-ea"/>
                <a:cs typeface="+mn-cs"/>
              </a:rPr>
              <a:t>f_theta</a:t>
            </a:r>
            <a:r>
              <a:rPr lang="en-CA" sz="1200" b="0" kern="1200" dirty="0">
                <a:solidFill>
                  <a:schemeClr val="tx1"/>
                </a:solidFill>
                <a:effectLst/>
                <a:latin typeface="+mn-lt"/>
                <a:ea typeface="+mn-ea"/>
                <a:cs typeface="+mn-cs"/>
              </a:rPr>
              <a:t>(</a:t>
            </a:r>
            <a:r>
              <a:rPr lang="en-CA" sz="1200" b="0" kern="1200" dirty="0" err="1">
                <a:solidFill>
                  <a:schemeClr val="tx1"/>
                </a:solidFill>
                <a:effectLst/>
                <a:latin typeface="+mn-lt"/>
                <a:ea typeface="+mn-ea"/>
                <a:cs typeface="+mn-cs"/>
              </a:rPr>
              <a:t>x_c</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Here, </a:t>
            </a:r>
            <a:r>
              <a:rPr lang="en-CA" sz="1200" b="0" kern="1200" dirty="0" err="1">
                <a:solidFill>
                  <a:schemeClr val="tx1"/>
                </a:solidFill>
                <a:effectLst/>
                <a:latin typeface="+mn-lt"/>
                <a:ea typeface="+mn-ea"/>
                <a:cs typeface="+mn-cs"/>
              </a:rPr>
              <a:t>f_theta</a:t>
            </a:r>
            <a:r>
              <a:rPr lang="en-CA" sz="1200" b="0" kern="1200" dirty="0">
                <a:solidFill>
                  <a:schemeClr val="tx1"/>
                </a:solidFill>
                <a:effectLst/>
                <a:latin typeface="+mn-lt"/>
                <a:ea typeface="+mn-ea"/>
                <a:cs typeface="+mn-cs"/>
              </a:rPr>
              <a:t> is the context encoder. It is a neural network, and theta represents the parameters it learns during training. It takes the visible context </a:t>
            </a:r>
            <a:r>
              <a:rPr lang="en-CA" sz="1200" b="0" kern="1200" dirty="0" err="1">
                <a:solidFill>
                  <a:schemeClr val="tx1"/>
                </a:solidFill>
                <a:effectLst/>
                <a:latin typeface="+mn-lt"/>
                <a:ea typeface="+mn-ea"/>
                <a:cs typeface="+mn-cs"/>
              </a:rPr>
              <a:t>x_c</a:t>
            </a:r>
            <a:r>
              <a:rPr lang="en-CA" sz="1200" b="0" kern="1200" dirty="0">
                <a:solidFill>
                  <a:schemeClr val="tx1"/>
                </a:solidFill>
                <a:effectLst/>
                <a:latin typeface="+mn-lt"/>
                <a:ea typeface="+mn-ea"/>
                <a:cs typeface="+mn-cs"/>
              </a:rPr>
              <a:t> and turns it into </a:t>
            </a:r>
            <a:r>
              <a:rPr lang="en-CA" sz="1200" b="0" kern="1200" dirty="0" err="1">
                <a:solidFill>
                  <a:schemeClr val="tx1"/>
                </a:solidFill>
                <a:effectLst/>
                <a:latin typeface="+mn-lt"/>
                <a:ea typeface="+mn-ea"/>
                <a:cs typeface="+mn-cs"/>
              </a:rPr>
              <a:t>h_c</a:t>
            </a:r>
            <a:r>
              <a:rPr lang="en-CA" sz="1200" b="0" kern="1200" dirty="0">
                <a:solidFill>
                  <a:schemeClr val="tx1"/>
                </a:solidFill>
                <a:effectLst/>
                <a:latin typeface="+mn-lt"/>
                <a:ea typeface="+mn-ea"/>
                <a:cs typeface="+mn-cs"/>
              </a:rPr>
              <a:t>, a vector summary of what the model can see.</a:t>
            </a:r>
          </a:p>
          <a:p>
            <a:r>
              <a:rPr lang="en-CA" sz="1200" b="0" kern="1200" dirty="0">
                <a:solidFill>
                  <a:schemeClr val="tx1"/>
                </a:solidFill>
                <a:effectLst/>
                <a:latin typeface="+mn-lt"/>
                <a:ea typeface="+mn-ea"/>
                <a:cs typeface="+mn-cs"/>
              </a:rPr>
              <a:t>Next is the predictor:</a:t>
            </a:r>
          </a:p>
          <a:p>
            <a:r>
              <a:rPr lang="en-CA" sz="1200" b="0" kern="1200" dirty="0">
                <a:solidFill>
                  <a:schemeClr val="tx1"/>
                </a:solidFill>
                <a:effectLst/>
                <a:latin typeface="+mn-lt"/>
                <a:ea typeface="+mn-ea"/>
                <a:cs typeface="+mn-cs"/>
              </a:rPr>
              <a:t>h_hat_t = q_psi(</a:t>
            </a:r>
            <a:r>
              <a:rPr lang="en-CA" sz="1200" b="0" kern="1200" dirty="0" err="1">
                <a:solidFill>
                  <a:schemeClr val="tx1"/>
                </a:solidFill>
                <a:effectLst/>
                <a:latin typeface="+mn-lt"/>
                <a:ea typeface="+mn-ea"/>
                <a:cs typeface="+mn-cs"/>
              </a:rPr>
              <a:t>h_c</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Here, q_psi is another learnable function. It takes the context embedding and predicts what the hidden target embedding should be. The hat over h_t means this is the model’s guess.</a:t>
            </a:r>
          </a:p>
          <a:p>
            <a:r>
              <a:rPr lang="en-CA" sz="1200" b="0" kern="1200" dirty="0">
                <a:solidFill>
                  <a:schemeClr val="tx1"/>
                </a:solidFill>
                <a:effectLst/>
                <a:latin typeface="+mn-lt"/>
                <a:ea typeface="+mn-ea"/>
                <a:cs typeface="+mn-cs"/>
              </a:rPr>
              <a:t>Then we need the actual target embedding:</a:t>
            </a:r>
          </a:p>
          <a:p>
            <a:r>
              <a:rPr lang="en-CA" sz="1200" b="0" kern="1200" dirty="0">
                <a:solidFill>
                  <a:schemeClr val="tx1"/>
                </a:solidFill>
                <a:effectLst/>
                <a:latin typeface="+mn-lt"/>
                <a:ea typeface="+mn-ea"/>
                <a:cs typeface="+mn-cs"/>
              </a:rPr>
              <a:t>h_t = g_phi(x_t).</a:t>
            </a:r>
          </a:p>
          <a:p>
            <a:r>
              <a:rPr lang="en-CA" sz="1200" b="0" kern="1200" dirty="0">
                <a:solidFill>
                  <a:schemeClr val="tx1"/>
                </a:solidFill>
                <a:effectLst/>
                <a:latin typeface="+mn-lt"/>
                <a:ea typeface="+mn-ea"/>
                <a:cs typeface="+mn-cs"/>
              </a:rPr>
              <a:t>Here, g_phi is the target encoder. It looks at the real hidden target region x_t and creates the true target embedding h_t. You can think of this as the answer key during training.</a:t>
            </a:r>
          </a:p>
          <a:p>
            <a:r>
              <a:rPr lang="en-CA" sz="1200" b="0" kern="1200" dirty="0">
                <a:solidFill>
                  <a:schemeClr val="tx1"/>
                </a:solidFill>
                <a:effectLst/>
                <a:latin typeface="+mn-lt"/>
                <a:ea typeface="+mn-ea"/>
                <a:cs typeface="+mn-cs"/>
              </a:rPr>
              <a:t>Finally, JEPA compares the prediction to the answer key:</a:t>
            </a:r>
          </a:p>
          <a:p>
            <a:r>
              <a:rPr lang="en-CA" sz="1200" b="0" kern="1200" dirty="0">
                <a:solidFill>
                  <a:schemeClr val="tx1"/>
                </a:solidFill>
                <a:effectLst/>
                <a:latin typeface="+mn-lt"/>
                <a:ea typeface="+mn-ea"/>
                <a:cs typeface="+mn-cs"/>
              </a:rPr>
              <a:t>L_JEPA = || h_hat_t - h_t ||^2.</a:t>
            </a:r>
          </a:p>
          <a:p>
            <a:r>
              <a:rPr lang="en-CA" sz="1200" b="0" kern="1200" dirty="0">
                <a:solidFill>
                  <a:schemeClr val="tx1"/>
                </a:solidFill>
                <a:effectLst/>
                <a:latin typeface="+mn-lt"/>
                <a:ea typeface="+mn-ea"/>
                <a:cs typeface="+mn-cs"/>
              </a:rPr>
              <a:t>The double bars notation means we calculate the distance between the two embeddings, and the squared term penalizes larger mistakes more strongly.</a:t>
            </a:r>
          </a:p>
          <a:p>
            <a:r>
              <a:rPr lang="en-CA" sz="1200" b="0" kern="1200" dirty="0">
                <a:solidFill>
                  <a:schemeClr val="tx1"/>
                </a:solidFill>
                <a:effectLst/>
                <a:latin typeface="+mn-lt"/>
                <a:ea typeface="+mn-ea"/>
                <a:cs typeface="+mn-cs"/>
              </a:rPr>
              <a:t>So the math is doing one thing over and over: look at the visible part, predict the hidden part’s embedding, compare that prediction to the true hidden embedding, and update the learnable parameters to make the next prediction better.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CA" sz="1200" b="0" kern="1200" dirty="0">
                <a:solidFill>
                  <a:schemeClr val="tx1"/>
                </a:solidFill>
                <a:effectLst/>
                <a:latin typeface="+mn-lt"/>
                <a:ea typeface="+mn-ea"/>
                <a:cs typeface="+mn-cs"/>
              </a:rPr>
              <a:t>Now, for my project, the dataset I used is </a:t>
            </a:r>
            <a:r>
              <a:rPr lang="en-CA" sz="1200" b="0" kern="1200" dirty="0" err="1">
                <a:solidFill>
                  <a:schemeClr val="tx1"/>
                </a:solidFill>
                <a:effectLst/>
                <a:latin typeface="+mn-lt"/>
                <a:ea typeface="+mn-ea"/>
                <a:cs typeface="+mn-cs"/>
              </a:rPr>
              <a:t>PneumoniaMNIST</a:t>
            </a:r>
            <a:r>
              <a:rPr lang="en-CA" sz="1200" b="0" kern="1200" dirty="0">
                <a:solidFill>
                  <a:schemeClr val="tx1"/>
                </a:solidFill>
                <a:effectLst/>
                <a:latin typeface="+mn-lt"/>
                <a:ea typeface="+mn-ea"/>
                <a:cs typeface="+mn-cs"/>
              </a:rPr>
              <a:t>. It contains pediatric chest X-rays and is set up as a binary classification task: normal versus pneumonia.</a:t>
            </a:r>
          </a:p>
          <a:p>
            <a:r>
              <a:rPr lang="en-CA" sz="1200" b="0" kern="1200" dirty="0">
                <a:solidFill>
                  <a:schemeClr val="tx1"/>
                </a:solidFill>
                <a:effectLst/>
                <a:latin typeface="+mn-lt"/>
                <a:ea typeface="+mn-ea"/>
                <a:cs typeface="+mn-cs"/>
              </a:rPr>
              <a:t>Each input is a chest X-ray image. The output is the probability that the image belongs to the pneumonia class.</a:t>
            </a:r>
            <a:br>
              <a:rPr lang="en-CA" sz="1200" b="0" kern="1200" dirty="0">
                <a:solidFill>
                  <a:schemeClr val="tx1"/>
                </a:solidFill>
                <a:effectLst/>
                <a:latin typeface="+mn-lt"/>
                <a:ea typeface="+mn-ea"/>
                <a:cs typeface="+mn-cs"/>
              </a:rPr>
            </a:br>
            <a:r>
              <a:rPr lang="en-CA" sz="1200" b="0" kern="1200" dirty="0">
                <a:solidFill>
                  <a:schemeClr val="tx1"/>
                </a:solidFill>
                <a:effectLst/>
                <a:latin typeface="+mn-lt"/>
                <a:ea typeface="+mn-ea"/>
                <a:cs typeface="+mn-cs"/>
              </a:rPr>
              <a:t>My research question is:</a:t>
            </a:r>
          </a:p>
          <a:p>
            <a:r>
              <a:rPr lang="en-CA" sz="1200" b="0" kern="1200" dirty="0">
                <a:solidFill>
                  <a:schemeClr val="tx1"/>
                </a:solidFill>
                <a:effectLst/>
                <a:latin typeface="+mn-lt"/>
                <a:ea typeface="+mn-ea"/>
                <a:cs typeface="+mn-cs"/>
              </a:rPr>
              <a:t>Can JEPA-style self-supervised pretraining improve label efficiency for pneumonia classification?</a:t>
            </a:r>
          </a:p>
          <a:p>
            <a:r>
              <a:rPr lang="en-CA" sz="1200" b="0" kern="1200" dirty="0">
                <a:solidFill>
                  <a:schemeClr val="tx1"/>
                </a:solidFill>
                <a:effectLst/>
                <a:latin typeface="+mn-lt"/>
                <a:ea typeface="+mn-ea"/>
                <a:cs typeface="+mn-cs"/>
              </a:rPr>
              <a:t>In simpler terms, if I only have a small number of pneumonia labels, can JEPA help the model learn better than starting from scratch?</a:t>
            </a:r>
          </a:p>
          <a:p>
            <a:r>
              <a:rPr lang="en-CA" sz="1200" b="0" kern="1200" dirty="0">
                <a:solidFill>
                  <a:schemeClr val="tx1"/>
                </a:solidFill>
                <a:effectLst/>
                <a:latin typeface="+mn-lt"/>
                <a:ea typeface="+mn-ea"/>
                <a:cs typeface="+mn-cs"/>
              </a:rPr>
              <a:t>This dataset is a good fit for JEPA because chest X-rays have strong structure. The visible parts of an X-ray can give information about hidden parts, especially because anatomy is spatially organized.</a:t>
            </a:r>
          </a:p>
          <a:p>
            <a:r>
              <a:rPr lang="en-CA" sz="1200" b="0" kern="1200" dirty="0">
                <a:solidFill>
                  <a:schemeClr val="tx1"/>
                </a:solidFill>
                <a:effectLst/>
                <a:latin typeface="+mn-lt"/>
                <a:ea typeface="+mn-ea"/>
                <a:cs typeface="+mn-cs"/>
              </a:rPr>
              <a:t>The goal is to test whether self-supervised pretraining reduces the amount of labeled data needed for good classification.</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2280394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92735" y="2963102"/>
            <a:ext cx="9750800" cy="3665242"/>
          </a:xfrm>
          <a:prstGeom prst="rect">
            <a:avLst/>
          </a:prstGeom>
        </p:spPr>
        <p:txBody>
          <a:bodyPr lIns="0" tIns="0" rIns="0" bIns="0" rtlCol="0" anchor="t">
            <a:spAutoFit/>
          </a:bodyPr>
          <a:lstStyle/>
          <a:p>
            <a:pPr algn="l">
              <a:lnSpc>
                <a:spcPts val="14400"/>
              </a:lnSpc>
            </a:pPr>
            <a:r>
              <a:rPr lang="en-US" sz="14400">
                <a:solidFill>
                  <a:srgbClr val="253439"/>
                </a:solidFill>
                <a:latin typeface="Lato"/>
                <a:ea typeface="Lato"/>
                <a:cs typeface="Lato"/>
                <a:sym typeface="Lato"/>
              </a:rPr>
              <a:t>JEPA </a:t>
            </a:r>
          </a:p>
          <a:p>
            <a:pPr algn="l">
              <a:lnSpc>
                <a:spcPts val="7201"/>
              </a:lnSpc>
            </a:pPr>
            <a:r>
              <a:rPr lang="en-US" sz="7201">
                <a:solidFill>
                  <a:srgbClr val="253439"/>
                </a:solidFill>
                <a:latin typeface="Lato"/>
                <a:ea typeface="Lato"/>
                <a:cs typeface="Lato"/>
                <a:sym typeface="Lato"/>
              </a:rPr>
              <a:t>(Joint Embedding Predictive Architecture) </a:t>
            </a:r>
          </a:p>
        </p:txBody>
      </p:sp>
      <p:grpSp>
        <p:nvGrpSpPr>
          <p:cNvPr id="3" name="Group 3"/>
          <p:cNvGrpSpPr/>
          <p:nvPr/>
        </p:nvGrpSpPr>
        <p:grpSpPr>
          <a:xfrm rot="-5400000">
            <a:off x="4712497" y="4591188"/>
            <a:ext cx="225880" cy="5403316"/>
            <a:chOff x="0" y="0"/>
            <a:chExt cx="301173" cy="7204422"/>
          </a:xfrm>
        </p:grpSpPr>
        <p:grpSp>
          <p:nvGrpSpPr>
            <p:cNvPr id="4" name="Group 4"/>
            <p:cNvGrpSpPr/>
            <p:nvPr/>
          </p:nvGrpSpPr>
          <p:grpSpPr>
            <a:xfrm>
              <a:off x="0" y="0"/>
              <a:ext cx="301173" cy="7204422"/>
              <a:chOff x="0" y="0"/>
              <a:chExt cx="59491" cy="1423096"/>
            </a:xfrm>
          </p:grpSpPr>
          <p:sp>
            <p:nvSpPr>
              <p:cNvPr id="5" name="Freeform 5"/>
              <p:cNvSpPr/>
              <p:nvPr/>
            </p:nvSpPr>
            <p:spPr>
              <a:xfrm>
                <a:off x="0" y="0"/>
                <a:ext cx="59491" cy="1423096"/>
              </a:xfrm>
              <a:custGeom>
                <a:avLst/>
                <a:gdLst/>
                <a:ahLst/>
                <a:cxnLst/>
                <a:rect l="l" t="t" r="r" b="b"/>
                <a:pathLst>
                  <a:path w="59491" h="1423096">
                    <a:moveTo>
                      <a:pt x="0" y="0"/>
                    </a:moveTo>
                    <a:lnTo>
                      <a:pt x="59491" y="0"/>
                    </a:lnTo>
                    <a:lnTo>
                      <a:pt x="59491" y="1423096"/>
                    </a:lnTo>
                    <a:lnTo>
                      <a:pt x="0" y="1423096"/>
                    </a:lnTo>
                    <a:close/>
                  </a:path>
                </a:pathLst>
              </a:custGeom>
              <a:solidFill>
                <a:srgbClr val="7C898B"/>
              </a:solidFill>
            </p:spPr>
            <p:txBody>
              <a:bodyPr/>
              <a:lstStyle/>
              <a:p>
                <a:endParaRPr lang="en-US"/>
              </a:p>
            </p:txBody>
          </p:sp>
          <p:sp>
            <p:nvSpPr>
              <p:cNvPr id="6" name="TextBox 6"/>
              <p:cNvSpPr txBox="1"/>
              <p:nvPr/>
            </p:nvSpPr>
            <p:spPr>
              <a:xfrm>
                <a:off x="0" y="-38100"/>
                <a:ext cx="59491" cy="1461196"/>
              </a:xfrm>
              <a:prstGeom prst="rect">
                <a:avLst/>
              </a:prstGeom>
            </p:spPr>
            <p:txBody>
              <a:bodyPr lIns="50800" tIns="50800" rIns="50800" bIns="50800" rtlCol="0" anchor="ctr"/>
              <a:lstStyle/>
              <a:p>
                <a:pPr algn="ctr">
                  <a:lnSpc>
                    <a:spcPts val="2799"/>
                  </a:lnSpc>
                </a:pPr>
                <a:endParaRPr/>
              </a:p>
            </p:txBody>
          </p:sp>
        </p:grpSp>
        <p:grpSp>
          <p:nvGrpSpPr>
            <p:cNvPr id="7" name="Group 7"/>
            <p:cNvGrpSpPr/>
            <p:nvPr/>
          </p:nvGrpSpPr>
          <p:grpSpPr>
            <a:xfrm>
              <a:off x="0" y="0"/>
              <a:ext cx="301173" cy="1830478"/>
              <a:chOff x="0" y="0"/>
              <a:chExt cx="59491" cy="361576"/>
            </a:xfrm>
          </p:grpSpPr>
          <p:sp>
            <p:nvSpPr>
              <p:cNvPr id="8" name="Freeform 8"/>
              <p:cNvSpPr/>
              <p:nvPr/>
            </p:nvSpPr>
            <p:spPr>
              <a:xfrm>
                <a:off x="0" y="0"/>
                <a:ext cx="59491" cy="361576"/>
              </a:xfrm>
              <a:custGeom>
                <a:avLst/>
                <a:gdLst/>
                <a:ahLst/>
                <a:cxnLst/>
                <a:rect l="l" t="t" r="r" b="b"/>
                <a:pathLst>
                  <a:path w="59491" h="361576">
                    <a:moveTo>
                      <a:pt x="0" y="0"/>
                    </a:moveTo>
                    <a:lnTo>
                      <a:pt x="59491" y="0"/>
                    </a:lnTo>
                    <a:lnTo>
                      <a:pt x="59491" y="361576"/>
                    </a:lnTo>
                    <a:lnTo>
                      <a:pt x="0" y="361576"/>
                    </a:lnTo>
                    <a:close/>
                  </a:path>
                </a:pathLst>
              </a:custGeom>
              <a:solidFill>
                <a:srgbClr val="253439"/>
              </a:solidFill>
            </p:spPr>
            <p:txBody>
              <a:bodyPr/>
              <a:lstStyle/>
              <a:p>
                <a:endParaRPr lang="en-US"/>
              </a:p>
            </p:txBody>
          </p:sp>
          <p:sp>
            <p:nvSpPr>
              <p:cNvPr id="9" name="TextBox 9"/>
              <p:cNvSpPr txBox="1"/>
              <p:nvPr/>
            </p:nvSpPr>
            <p:spPr>
              <a:xfrm>
                <a:off x="0" y="-38100"/>
                <a:ext cx="59491" cy="399676"/>
              </a:xfrm>
              <a:prstGeom prst="rect">
                <a:avLst/>
              </a:prstGeom>
            </p:spPr>
            <p:txBody>
              <a:bodyPr lIns="50800" tIns="50800" rIns="50800" bIns="50800" rtlCol="0" anchor="ctr"/>
              <a:lstStyle/>
              <a:p>
                <a:pPr algn="ctr">
                  <a:lnSpc>
                    <a:spcPts val="2799"/>
                  </a:lnSpc>
                </a:pPr>
                <a:endParaRPr/>
              </a:p>
            </p:txBody>
          </p:sp>
        </p:grpSp>
        <p:grpSp>
          <p:nvGrpSpPr>
            <p:cNvPr id="10" name="Group 10"/>
            <p:cNvGrpSpPr/>
            <p:nvPr/>
          </p:nvGrpSpPr>
          <p:grpSpPr>
            <a:xfrm>
              <a:off x="0" y="1828197"/>
              <a:ext cx="301173" cy="795134"/>
              <a:chOff x="0" y="0"/>
              <a:chExt cx="59491" cy="157064"/>
            </a:xfrm>
          </p:grpSpPr>
          <p:sp>
            <p:nvSpPr>
              <p:cNvPr id="11" name="Freeform 11"/>
              <p:cNvSpPr/>
              <p:nvPr/>
            </p:nvSpPr>
            <p:spPr>
              <a:xfrm>
                <a:off x="0" y="0"/>
                <a:ext cx="59491" cy="157064"/>
              </a:xfrm>
              <a:custGeom>
                <a:avLst/>
                <a:gdLst/>
                <a:ahLst/>
                <a:cxnLst/>
                <a:rect l="l" t="t" r="r" b="b"/>
                <a:pathLst>
                  <a:path w="59491" h="157064">
                    <a:moveTo>
                      <a:pt x="0" y="0"/>
                    </a:moveTo>
                    <a:lnTo>
                      <a:pt x="59491" y="0"/>
                    </a:lnTo>
                    <a:lnTo>
                      <a:pt x="59491" y="157064"/>
                    </a:lnTo>
                    <a:lnTo>
                      <a:pt x="0" y="157064"/>
                    </a:lnTo>
                    <a:close/>
                  </a:path>
                </a:pathLst>
              </a:custGeom>
              <a:solidFill>
                <a:srgbClr val="B29E84"/>
              </a:solidFill>
            </p:spPr>
            <p:txBody>
              <a:bodyPr/>
              <a:lstStyle/>
              <a:p>
                <a:endParaRPr lang="en-US"/>
              </a:p>
            </p:txBody>
          </p:sp>
          <p:sp>
            <p:nvSpPr>
              <p:cNvPr id="12" name="TextBox 12"/>
              <p:cNvSpPr txBox="1"/>
              <p:nvPr/>
            </p:nvSpPr>
            <p:spPr>
              <a:xfrm>
                <a:off x="0" y="-38100"/>
                <a:ext cx="59491" cy="195164"/>
              </a:xfrm>
              <a:prstGeom prst="rect">
                <a:avLst/>
              </a:prstGeom>
            </p:spPr>
            <p:txBody>
              <a:bodyPr lIns="50800" tIns="50800" rIns="50800" bIns="50800" rtlCol="0" anchor="ctr"/>
              <a:lstStyle/>
              <a:p>
                <a:pPr algn="ctr">
                  <a:lnSpc>
                    <a:spcPts val="2799"/>
                  </a:lnSpc>
                </a:pPr>
                <a:endParaRPr/>
              </a:p>
            </p:txBody>
          </p:sp>
        </p:grpSp>
      </p:grpSp>
      <p:grpSp>
        <p:nvGrpSpPr>
          <p:cNvPr id="13" name="Group 13"/>
          <p:cNvGrpSpPr/>
          <p:nvPr/>
        </p:nvGrpSpPr>
        <p:grpSpPr>
          <a:xfrm>
            <a:off x="15477180" y="1130365"/>
            <a:ext cx="1352255" cy="274763"/>
            <a:chOff x="0" y="0"/>
            <a:chExt cx="1803007" cy="366350"/>
          </a:xfrm>
        </p:grpSpPr>
        <p:grpSp>
          <p:nvGrpSpPr>
            <p:cNvPr id="14" name="Group 14"/>
            <p:cNvGrpSpPr/>
            <p:nvPr/>
          </p:nvGrpSpPr>
          <p:grpSpPr>
            <a:xfrm rot="-5400000">
              <a:off x="0" y="0"/>
              <a:ext cx="366350" cy="366350"/>
              <a:chOff x="0" y="0"/>
              <a:chExt cx="178795" cy="178795"/>
            </a:xfrm>
          </p:grpSpPr>
          <p:sp>
            <p:nvSpPr>
              <p:cNvPr id="15" name="Freeform 15"/>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253439"/>
              </a:solidFill>
            </p:spPr>
            <p:txBody>
              <a:bodyPr/>
              <a:lstStyle/>
              <a:p>
                <a:endParaRPr lang="en-US"/>
              </a:p>
            </p:txBody>
          </p:sp>
          <p:sp>
            <p:nvSpPr>
              <p:cNvPr id="16" name="TextBox 16"/>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nvGrpSpPr>
            <p:cNvPr id="17" name="Group 17"/>
            <p:cNvGrpSpPr/>
            <p:nvPr/>
          </p:nvGrpSpPr>
          <p:grpSpPr>
            <a:xfrm rot="-5400000">
              <a:off x="718328" y="0"/>
              <a:ext cx="366350" cy="366350"/>
              <a:chOff x="0" y="0"/>
              <a:chExt cx="178795" cy="178795"/>
            </a:xfrm>
          </p:grpSpPr>
          <p:sp>
            <p:nvSpPr>
              <p:cNvPr id="18" name="Freeform 18"/>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B29E84"/>
              </a:solidFill>
            </p:spPr>
            <p:txBody>
              <a:bodyPr/>
              <a:lstStyle/>
              <a:p>
                <a:endParaRPr lang="en-US"/>
              </a:p>
            </p:txBody>
          </p:sp>
          <p:sp>
            <p:nvSpPr>
              <p:cNvPr id="19" name="TextBox 19"/>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nvGrpSpPr>
            <p:cNvPr id="20" name="Group 20"/>
            <p:cNvGrpSpPr/>
            <p:nvPr/>
          </p:nvGrpSpPr>
          <p:grpSpPr>
            <a:xfrm rot="-5400000">
              <a:off x="1436657" y="0"/>
              <a:ext cx="366350" cy="366350"/>
              <a:chOff x="0" y="0"/>
              <a:chExt cx="178795" cy="178795"/>
            </a:xfrm>
          </p:grpSpPr>
          <p:sp>
            <p:nvSpPr>
              <p:cNvPr id="21" name="Freeform 21"/>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7C898B"/>
              </a:solidFill>
            </p:spPr>
            <p:txBody>
              <a:bodyPr/>
              <a:lstStyle/>
              <a:p>
                <a:endParaRPr lang="en-US"/>
              </a:p>
            </p:txBody>
          </p:sp>
          <p:sp>
            <p:nvSpPr>
              <p:cNvPr id="22" name="TextBox 22"/>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grpSp>
        <p:nvGrpSpPr>
          <p:cNvPr id="23" name="Group 23"/>
          <p:cNvGrpSpPr/>
          <p:nvPr/>
        </p:nvGrpSpPr>
        <p:grpSpPr>
          <a:xfrm>
            <a:off x="-381720" y="-218676"/>
            <a:ext cx="1410420" cy="10724351"/>
            <a:chOff x="0" y="0"/>
            <a:chExt cx="371469" cy="2824521"/>
          </a:xfrm>
        </p:grpSpPr>
        <p:sp>
          <p:nvSpPr>
            <p:cNvPr id="24" name="Freeform 24"/>
            <p:cNvSpPr/>
            <p:nvPr/>
          </p:nvSpPr>
          <p:spPr>
            <a:xfrm>
              <a:off x="0" y="0"/>
              <a:ext cx="371469" cy="2824520"/>
            </a:xfrm>
            <a:custGeom>
              <a:avLst/>
              <a:gdLst/>
              <a:ahLst/>
              <a:cxnLst/>
              <a:rect l="l" t="t" r="r" b="b"/>
              <a:pathLst>
                <a:path w="371469" h="2824520">
                  <a:moveTo>
                    <a:pt x="0" y="0"/>
                  </a:moveTo>
                  <a:lnTo>
                    <a:pt x="371469" y="0"/>
                  </a:lnTo>
                  <a:lnTo>
                    <a:pt x="371469" y="2824520"/>
                  </a:lnTo>
                  <a:lnTo>
                    <a:pt x="0" y="2824520"/>
                  </a:lnTo>
                  <a:close/>
                </a:path>
              </a:pathLst>
            </a:custGeom>
            <a:solidFill>
              <a:srgbClr val="7C898B"/>
            </a:solidFill>
          </p:spPr>
          <p:txBody>
            <a:bodyPr/>
            <a:lstStyle/>
            <a:p>
              <a:endParaRPr lang="en-US"/>
            </a:p>
          </p:txBody>
        </p:sp>
        <p:sp>
          <p:nvSpPr>
            <p:cNvPr id="25" name="TextBox 25"/>
            <p:cNvSpPr txBox="1"/>
            <p:nvPr/>
          </p:nvSpPr>
          <p:spPr>
            <a:xfrm>
              <a:off x="0" y="-38100"/>
              <a:ext cx="371469" cy="2862621"/>
            </a:xfrm>
            <a:prstGeom prst="rect">
              <a:avLst/>
            </a:prstGeom>
          </p:spPr>
          <p:txBody>
            <a:bodyPr lIns="50800" tIns="50800" rIns="50800" bIns="50800" rtlCol="0" anchor="ctr"/>
            <a:lstStyle/>
            <a:p>
              <a:pPr algn="ctr">
                <a:lnSpc>
                  <a:spcPts val="2799"/>
                </a:lnSpc>
              </a:pPr>
              <a:endParaRPr/>
            </a:p>
          </p:txBody>
        </p:sp>
      </p:grpSp>
      <p:grpSp>
        <p:nvGrpSpPr>
          <p:cNvPr id="26" name="Group 26"/>
          <p:cNvGrpSpPr/>
          <p:nvPr/>
        </p:nvGrpSpPr>
        <p:grpSpPr>
          <a:xfrm>
            <a:off x="-229320" y="-66276"/>
            <a:ext cx="1258020" cy="1655660"/>
            <a:chOff x="0" y="0"/>
            <a:chExt cx="331330" cy="436059"/>
          </a:xfrm>
        </p:grpSpPr>
        <p:sp>
          <p:nvSpPr>
            <p:cNvPr id="27" name="Freeform 27"/>
            <p:cNvSpPr/>
            <p:nvPr/>
          </p:nvSpPr>
          <p:spPr>
            <a:xfrm>
              <a:off x="0" y="0"/>
              <a:ext cx="331330" cy="436059"/>
            </a:xfrm>
            <a:custGeom>
              <a:avLst/>
              <a:gdLst/>
              <a:ahLst/>
              <a:cxnLst/>
              <a:rect l="l" t="t" r="r" b="b"/>
              <a:pathLst>
                <a:path w="331330" h="436059">
                  <a:moveTo>
                    <a:pt x="0" y="0"/>
                  </a:moveTo>
                  <a:lnTo>
                    <a:pt x="331330" y="0"/>
                  </a:lnTo>
                  <a:lnTo>
                    <a:pt x="331330" y="436059"/>
                  </a:lnTo>
                  <a:lnTo>
                    <a:pt x="0" y="436059"/>
                  </a:lnTo>
                  <a:close/>
                </a:path>
              </a:pathLst>
            </a:custGeom>
            <a:solidFill>
              <a:srgbClr val="253439"/>
            </a:solidFill>
          </p:spPr>
          <p:txBody>
            <a:bodyPr/>
            <a:lstStyle/>
            <a:p>
              <a:endParaRPr lang="en-US"/>
            </a:p>
          </p:txBody>
        </p:sp>
        <p:sp>
          <p:nvSpPr>
            <p:cNvPr id="28" name="TextBox 28"/>
            <p:cNvSpPr txBox="1"/>
            <p:nvPr/>
          </p:nvSpPr>
          <p:spPr>
            <a:xfrm>
              <a:off x="0" y="-38100"/>
              <a:ext cx="331330" cy="474159"/>
            </a:xfrm>
            <a:prstGeom prst="rect">
              <a:avLst/>
            </a:prstGeom>
          </p:spPr>
          <p:txBody>
            <a:bodyPr lIns="50800" tIns="50800" rIns="50800" bIns="50800" rtlCol="0" anchor="ctr"/>
            <a:lstStyle/>
            <a:p>
              <a:pPr algn="ctr">
                <a:lnSpc>
                  <a:spcPts val="2799"/>
                </a:lnSpc>
              </a:pPr>
              <a:endParaRPr/>
            </a:p>
          </p:txBody>
        </p:sp>
      </p:grpSp>
      <p:sp>
        <p:nvSpPr>
          <p:cNvPr id="29" name="TextBox 29"/>
          <p:cNvSpPr txBox="1"/>
          <p:nvPr/>
        </p:nvSpPr>
        <p:spPr>
          <a:xfrm>
            <a:off x="8372351" y="8539468"/>
            <a:ext cx="8457083" cy="302895"/>
          </a:xfrm>
          <a:prstGeom prst="rect">
            <a:avLst/>
          </a:prstGeom>
        </p:spPr>
        <p:txBody>
          <a:bodyPr lIns="0" tIns="0" rIns="0" bIns="0" rtlCol="0" anchor="t">
            <a:spAutoFit/>
          </a:bodyPr>
          <a:lstStyle/>
          <a:p>
            <a:pPr algn="r">
              <a:lnSpc>
                <a:spcPts val="2310"/>
              </a:lnSpc>
            </a:pPr>
            <a:r>
              <a:rPr lang="en-US" sz="2100">
                <a:solidFill>
                  <a:srgbClr val="253439"/>
                </a:solidFill>
                <a:latin typeface="Lato"/>
                <a:ea typeface="Lato"/>
                <a:cs typeface="Lato"/>
                <a:sym typeface="Lato"/>
              </a:rPr>
              <a:t>Rebekah Xing</a:t>
            </a:r>
          </a:p>
        </p:txBody>
      </p:sp>
      <p:sp>
        <p:nvSpPr>
          <p:cNvPr id="30" name="TextBox 30"/>
          <p:cNvSpPr txBox="1"/>
          <p:nvPr/>
        </p:nvSpPr>
        <p:spPr>
          <a:xfrm>
            <a:off x="8372351" y="8955405"/>
            <a:ext cx="8457083" cy="302895"/>
          </a:xfrm>
          <a:prstGeom prst="rect">
            <a:avLst/>
          </a:prstGeom>
        </p:spPr>
        <p:txBody>
          <a:bodyPr lIns="0" tIns="0" rIns="0" bIns="0" rtlCol="0" anchor="t">
            <a:spAutoFit/>
          </a:bodyPr>
          <a:lstStyle/>
          <a:p>
            <a:pPr algn="r">
              <a:lnSpc>
                <a:spcPts val="2310"/>
              </a:lnSpc>
            </a:pPr>
            <a:r>
              <a:rPr lang="en-US" sz="2100">
                <a:solidFill>
                  <a:srgbClr val="253439"/>
                </a:solidFill>
                <a:latin typeface="Lato"/>
                <a:ea typeface="Lato"/>
                <a:cs typeface="Lato"/>
                <a:sym typeface="Lato"/>
              </a:rPr>
              <a:t>Datasci224 Final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2773424"/>
            <a:ext cx="11301259" cy="2853568"/>
          </a:xfrm>
          <a:custGeom>
            <a:avLst/>
            <a:gdLst/>
            <a:ahLst/>
            <a:cxnLst/>
            <a:rect l="l" t="t" r="r" b="b"/>
            <a:pathLst>
              <a:path w="11301259" h="2853568">
                <a:moveTo>
                  <a:pt x="0" y="0"/>
                </a:moveTo>
                <a:lnTo>
                  <a:pt x="11301258" y="0"/>
                </a:lnTo>
                <a:lnTo>
                  <a:pt x="11301258" y="2853567"/>
                </a:lnTo>
                <a:lnTo>
                  <a:pt x="0" y="2853567"/>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3493371" y="6092189"/>
            <a:ext cx="11301259" cy="3166111"/>
          </a:xfrm>
          <a:prstGeom prst="rect">
            <a:avLst/>
          </a:prstGeom>
        </p:spPr>
        <p:txBody>
          <a:bodyPr lIns="0" tIns="0" rIns="0" bIns="0" rtlCol="0" anchor="t">
            <a:spAutoFit/>
          </a:bodyPr>
          <a:lstStyle/>
          <a:p>
            <a:pPr marL="669283" lvl="1" indent="-334641" algn="l">
              <a:lnSpc>
                <a:spcPts val="4339"/>
              </a:lnSpc>
              <a:buFont typeface="Arial"/>
              <a:buChar char="•"/>
            </a:pPr>
            <a:r>
              <a:rPr lang="en-US" sz="3099" spc="-61">
                <a:solidFill>
                  <a:srgbClr val="1C191A"/>
                </a:solidFill>
                <a:latin typeface="Lato"/>
                <a:ea typeface="Lato"/>
                <a:cs typeface="Lato"/>
                <a:sym typeface="Lato"/>
              </a:rPr>
              <a:t>Self-supervising learning of semantic world representations </a:t>
            </a:r>
          </a:p>
          <a:p>
            <a:pPr marL="669283" lvl="1" indent="-334641" algn="l">
              <a:lnSpc>
                <a:spcPts val="4339"/>
              </a:lnSpc>
              <a:buFont typeface="Arial"/>
              <a:buChar char="•"/>
            </a:pPr>
            <a:r>
              <a:rPr lang="en-US" sz="3099" spc="-61">
                <a:solidFill>
                  <a:srgbClr val="1C191A"/>
                </a:solidFill>
                <a:latin typeface="Lato"/>
                <a:ea typeface="Lato"/>
                <a:cs typeface="Lato"/>
                <a:sym typeface="Lato"/>
              </a:rPr>
              <a:t>It learns by using the visible context of an input to predict the embedding/representation of a hidden target part </a:t>
            </a:r>
          </a:p>
          <a:p>
            <a:pPr marL="669283" lvl="1" indent="-334641" algn="l">
              <a:lnSpc>
                <a:spcPts val="4339"/>
              </a:lnSpc>
              <a:buFont typeface="Arial"/>
              <a:buChar char="•"/>
            </a:pPr>
            <a:r>
              <a:rPr lang="en-US" sz="3099" spc="-61">
                <a:solidFill>
                  <a:srgbClr val="1C191A"/>
                </a:solidFill>
                <a:latin typeface="Lato"/>
                <a:ea typeface="Lato"/>
                <a:cs typeface="Lato"/>
                <a:sym typeface="Lato"/>
              </a:rPr>
              <a:t>JEPA does not reconstruct pixels; it predicts higher-level meaning</a:t>
            </a:r>
          </a:p>
          <a:p>
            <a:pPr algn="l">
              <a:lnSpc>
                <a:spcPts val="3639"/>
              </a:lnSpc>
              <a:spcBef>
                <a:spcPct val="0"/>
              </a:spcBef>
            </a:pPr>
            <a:endParaRPr lang="en-US" sz="3099" spc="-61">
              <a:solidFill>
                <a:srgbClr val="1C191A"/>
              </a:solidFill>
              <a:latin typeface="Lato"/>
              <a:ea typeface="Lato"/>
              <a:cs typeface="Lato"/>
              <a:sym typeface="Lato"/>
            </a:endParaRPr>
          </a:p>
        </p:txBody>
      </p:sp>
      <p:sp>
        <p:nvSpPr>
          <p:cNvPr id="4" name="TextBox 4"/>
          <p:cNvSpPr txBox="1"/>
          <p:nvPr/>
        </p:nvSpPr>
        <p:spPr>
          <a:xfrm>
            <a:off x="3493371" y="1171575"/>
            <a:ext cx="7486517" cy="1069976"/>
          </a:xfrm>
          <a:prstGeom prst="rect">
            <a:avLst/>
          </a:prstGeom>
        </p:spPr>
        <p:txBody>
          <a:bodyPr lIns="0" tIns="0" rIns="0" bIns="0" rtlCol="0" anchor="t">
            <a:spAutoFit/>
          </a:bodyPr>
          <a:lstStyle/>
          <a:p>
            <a:pPr marL="0" lvl="0" indent="0" algn="l">
              <a:lnSpc>
                <a:spcPts val="8000"/>
              </a:lnSpc>
              <a:spcBef>
                <a:spcPct val="0"/>
              </a:spcBef>
            </a:pPr>
            <a:r>
              <a:rPr lang="en-US" sz="8000">
                <a:solidFill>
                  <a:srgbClr val="253439"/>
                </a:solidFill>
                <a:latin typeface="Lato"/>
                <a:ea typeface="Lato"/>
                <a:cs typeface="Lato"/>
                <a:sym typeface="Lato"/>
              </a:rPr>
              <a:t>What is JEPA?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591072"/>
            <a:ext cx="12770824" cy="8636270"/>
          </a:xfrm>
          <a:custGeom>
            <a:avLst/>
            <a:gdLst/>
            <a:ahLst/>
            <a:cxnLst/>
            <a:rect l="l" t="t" r="r" b="b"/>
            <a:pathLst>
              <a:path w="12770824" h="8636270">
                <a:moveTo>
                  <a:pt x="0" y="0"/>
                </a:moveTo>
                <a:lnTo>
                  <a:pt x="12770824" y="0"/>
                </a:lnTo>
                <a:lnTo>
                  <a:pt x="12770824" y="8636269"/>
                </a:lnTo>
                <a:lnTo>
                  <a:pt x="0" y="8636269"/>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1801957" y="2916913"/>
            <a:ext cx="5692600" cy="6849179"/>
          </a:xfrm>
          <a:prstGeom prst="rect">
            <a:avLst/>
          </a:prstGeom>
        </p:spPr>
        <p:txBody>
          <a:bodyPr lIns="0" tIns="0" rIns="0" bIns="0" rtlCol="0" anchor="t">
            <a:spAutoFit/>
          </a:bodyPr>
          <a:lstStyle/>
          <a:p>
            <a:pPr marL="609941" lvl="1" indent="-304970" algn="l">
              <a:lnSpc>
                <a:spcPts val="3955"/>
              </a:lnSpc>
              <a:buFont typeface="Arial"/>
              <a:buChar char="•"/>
            </a:pPr>
            <a:r>
              <a:rPr lang="en-US" sz="2825" spc="-56" dirty="0">
                <a:solidFill>
                  <a:srgbClr val="1C191A"/>
                </a:solidFill>
                <a:latin typeface="Lato"/>
                <a:ea typeface="Lato"/>
                <a:cs typeface="Lato"/>
                <a:sym typeface="Lato"/>
              </a:rPr>
              <a:t>Image is split into visible context and hidden target regions</a:t>
            </a:r>
          </a:p>
          <a:p>
            <a:pPr marL="609941" lvl="1" indent="-304970" algn="l">
              <a:lnSpc>
                <a:spcPts val="3955"/>
              </a:lnSpc>
              <a:buFont typeface="Arial"/>
              <a:buChar char="•"/>
            </a:pPr>
            <a:r>
              <a:rPr lang="en-US" sz="2825" b="1" spc="-56" dirty="0">
                <a:solidFill>
                  <a:srgbClr val="1C191A"/>
                </a:solidFill>
                <a:latin typeface="Lato Bold"/>
                <a:ea typeface="Lato Bold"/>
                <a:cs typeface="Lato Bold"/>
                <a:sym typeface="Lato Bold"/>
              </a:rPr>
              <a:t>Context Encoder</a:t>
            </a:r>
            <a:r>
              <a:rPr lang="en-US" sz="2825" spc="-56" dirty="0">
                <a:solidFill>
                  <a:srgbClr val="1C191A"/>
                </a:solidFill>
                <a:latin typeface="Lato"/>
                <a:ea typeface="Lato"/>
                <a:cs typeface="Lato"/>
                <a:sym typeface="Lato"/>
              </a:rPr>
              <a:t>: converts the visible context region into context embeddings</a:t>
            </a:r>
          </a:p>
          <a:p>
            <a:pPr marL="609941" lvl="1" indent="-304970" algn="l">
              <a:lnSpc>
                <a:spcPts val="3955"/>
              </a:lnSpc>
              <a:buFont typeface="Arial"/>
              <a:buChar char="•"/>
            </a:pPr>
            <a:r>
              <a:rPr lang="en-US" sz="2825" b="1" spc="-56" dirty="0">
                <a:solidFill>
                  <a:srgbClr val="1C191A"/>
                </a:solidFill>
                <a:latin typeface="Lato Bold"/>
                <a:ea typeface="Lato Bold"/>
                <a:cs typeface="Lato Bold"/>
                <a:sym typeface="Lato Bold"/>
              </a:rPr>
              <a:t>Predictor</a:t>
            </a:r>
            <a:r>
              <a:rPr lang="en-US" sz="2825" spc="-56" dirty="0">
                <a:solidFill>
                  <a:srgbClr val="1C191A"/>
                </a:solidFill>
                <a:latin typeface="Lato"/>
                <a:ea typeface="Lato"/>
                <a:cs typeface="Lato"/>
                <a:sym typeface="Lato"/>
              </a:rPr>
              <a:t>: predicts target embeddings using the context embeddings</a:t>
            </a:r>
          </a:p>
          <a:p>
            <a:pPr marL="609941" lvl="1" indent="-304970" algn="l">
              <a:lnSpc>
                <a:spcPts val="3955"/>
              </a:lnSpc>
              <a:buFont typeface="Arial"/>
              <a:buChar char="•"/>
            </a:pPr>
            <a:r>
              <a:rPr lang="en-US" sz="2825" b="1" spc="-56" dirty="0">
                <a:solidFill>
                  <a:srgbClr val="1C191A"/>
                </a:solidFill>
                <a:latin typeface="Lato Bold"/>
                <a:ea typeface="Lato Bold"/>
                <a:cs typeface="Lato Bold"/>
                <a:sym typeface="Lato Bold"/>
              </a:rPr>
              <a:t>Target Encoder</a:t>
            </a:r>
            <a:r>
              <a:rPr lang="en-US" sz="2825" spc="-56" dirty="0">
                <a:solidFill>
                  <a:srgbClr val="1C191A"/>
                </a:solidFill>
                <a:latin typeface="Lato"/>
                <a:ea typeface="Lato"/>
                <a:cs typeface="Lato"/>
                <a:sym typeface="Lato"/>
              </a:rPr>
              <a:t>: generates target embeddings from the hidden target region</a:t>
            </a:r>
          </a:p>
          <a:p>
            <a:pPr algn="l">
              <a:lnSpc>
                <a:spcPts val="3955"/>
              </a:lnSpc>
            </a:pPr>
            <a:endParaRPr lang="en-US" sz="2825" spc="-56" dirty="0">
              <a:solidFill>
                <a:srgbClr val="1C191A"/>
              </a:solidFill>
              <a:latin typeface="Lato"/>
              <a:ea typeface="Lato"/>
              <a:cs typeface="Lato"/>
              <a:sym typeface="Lato"/>
            </a:endParaRPr>
          </a:p>
          <a:p>
            <a:pPr algn="l">
              <a:lnSpc>
                <a:spcPts val="3955"/>
              </a:lnSpc>
            </a:pPr>
            <a:endParaRPr lang="en-US" sz="2825" spc="-56" dirty="0">
              <a:solidFill>
                <a:srgbClr val="1C191A"/>
              </a:solidFill>
              <a:latin typeface="Lato"/>
              <a:ea typeface="Lato"/>
              <a:cs typeface="Lato"/>
              <a:sym typeface="Lato"/>
            </a:endParaRPr>
          </a:p>
          <a:p>
            <a:pPr algn="l">
              <a:lnSpc>
                <a:spcPts val="3317"/>
              </a:lnSpc>
              <a:spcBef>
                <a:spcPct val="0"/>
              </a:spcBef>
            </a:pPr>
            <a:endParaRPr lang="en-US" sz="2825" spc="-56" dirty="0">
              <a:solidFill>
                <a:srgbClr val="1C191A"/>
              </a:solidFill>
              <a:latin typeface="Lato"/>
              <a:ea typeface="Lato"/>
              <a:cs typeface="Lato"/>
              <a:sym typeface="Lato"/>
            </a:endParaRPr>
          </a:p>
        </p:txBody>
      </p:sp>
      <p:sp>
        <p:nvSpPr>
          <p:cNvPr id="4" name="TextBox 4"/>
          <p:cNvSpPr txBox="1"/>
          <p:nvPr/>
        </p:nvSpPr>
        <p:spPr>
          <a:xfrm>
            <a:off x="1188091" y="746283"/>
            <a:ext cx="13944600" cy="1025922"/>
          </a:xfrm>
          <a:prstGeom prst="rect">
            <a:avLst/>
          </a:prstGeom>
        </p:spPr>
        <p:txBody>
          <a:bodyPr wrap="square" lIns="0" tIns="0" rIns="0" bIns="0" rtlCol="0" anchor="t">
            <a:spAutoFit/>
          </a:bodyPr>
          <a:lstStyle/>
          <a:p>
            <a:pPr marL="0" lvl="0" indent="0" algn="l">
              <a:lnSpc>
                <a:spcPts val="8000"/>
              </a:lnSpc>
              <a:spcBef>
                <a:spcPct val="0"/>
              </a:spcBef>
            </a:pPr>
            <a:r>
              <a:rPr lang="en-US" sz="8000" dirty="0">
                <a:solidFill>
                  <a:srgbClr val="253439"/>
                </a:solidFill>
                <a:latin typeface="Lato"/>
                <a:ea typeface="Lato"/>
                <a:cs typeface="Lato"/>
                <a:sym typeface="Lato"/>
              </a:rPr>
              <a:t>How does it 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180206"/>
            <a:ext cx="8115300" cy="648330"/>
          </a:xfrm>
          <a:custGeom>
            <a:avLst/>
            <a:gdLst/>
            <a:ahLst/>
            <a:cxnLst/>
            <a:rect l="l" t="t" r="r" b="b"/>
            <a:pathLst>
              <a:path w="8115300" h="648330">
                <a:moveTo>
                  <a:pt x="0" y="0"/>
                </a:moveTo>
                <a:lnTo>
                  <a:pt x="8115300" y="0"/>
                </a:lnTo>
                <a:lnTo>
                  <a:pt x="8115300" y="648330"/>
                </a:lnTo>
                <a:lnTo>
                  <a:pt x="0" y="64833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1243910" y="2504371"/>
            <a:ext cx="8280700" cy="7782629"/>
            <a:chOff x="0" y="0"/>
            <a:chExt cx="11040934" cy="10376839"/>
          </a:xfrm>
        </p:grpSpPr>
        <p:sp>
          <p:nvSpPr>
            <p:cNvPr id="4" name="TextBox 4"/>
            <p:cNvSpPr txBox="1"/>
            <p:nvPr/>
          </p:nvSpPr>
          <p:spPr>
            <a:xfrm>
              <a:off x="0" y="-57150"/>
              <a:ext cx="7590133" cy="10433989"/>
            </a:xfrm>
            <a:prstGeom prst="rect">
              <a:avLst/>
            </a:prstGeom>
          </p:spPr>
          <p:txBody>
            <a:bodyPr lIns="0" tIns="0" rIns="0" bIns="0" rtlCol="0" anchor="t">
              <a:spAutoFit/>
            </a:bodyPr>
            <a:lstStyle/>
            <a:p>
              <a:pPr algn="l">
                <a:lnSpc>
                  <a:spcPts val="3955"/>
                </a:lnSpc>
              </a:pPr>
              <a:endParaRPr/>
            </a:p>
            <a:p>
              <a:pPr algn="l">
                <a:lnSpc>
                  <a:spcPts val="3955"/>
                </a:lnSpc>
              </a:pPr>
              <a:endParaRPr/>
            </a:p>
            <a:p>
              <a:pPr algn="l">
                <a:lnSpc>
                  <a:spcPts val="3955"/>
                </a:lnSpc>
              </a:pPr>
              <a:r>
                <a:rPr lang="en-US" sz="2825" b="1" spc="-56">
                  <a:solidFill>
                    <a:srgbClr val="1C191A"/>
                  </a:solidFill>
                  <a:latin typeface="Lato Bold"/>
                  <a:ea typeface="Lato Bold"/>
                  <a:cs typeface="Lato Bold"/>
                  <a:sym typeface="Lato Bold"/>
                </a:rPr>
                <a:t>Context Embedding:</a:t>
              </a: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r>
                <a:rPr lang="en-US" sz="2825" b="1" spc="-56">
                  <a:solidFill>
                    <a:srgbClr val="1C191A"/>
                  </a:solidFill>
                  <a:latin typeface="Lato Bold"/>
                  <a:ea typeface="Lato Bold"/>
                  <a:cs typeface="Lato Bold"/>
                  <a:sym typeface="Lato Bold"/>
                </a:rPr>
                <a:t>Predictor</a:t>
              </a:r>
              <a:r>
                <a:rPr lang="en-US" sz="2825" spc="-56">
                  <a:solidFill>
                    <a:srgbClr val="1C191A"/>
                  </a:solidFill>
                  <a:latin typeface="Lato"/>
                  <a:ea typeface="Lato"/>
                  <a:cs typeface="Lato"/>
                  <a:sym typeface="Lato"/>
                </a:rPr>
                <a:t>: </a:t>
              </a:r>
            </a:p>
            <a:p>
              <a:pPr algn="l">
                <a:lnSpc>
                  <a:spcPts val="3955"/>
                </a:lnSpc>
              </a:pPr>
              <a:endParaRPr lang="en-US" sz="2825" spc="-56">
                <a:solidFill>
                  <a:srgbClr val="1C191A"/>
                </a:solidFill>
                <a:latin typeface="Lato"/>
                <a:ea typeface="Lato"/>
                <a:cs typeface="Lato"/>
                <a:sym typeface="Lato"/>
              </a:endParaRPr>
            </a:p>
            <a:p>
              <a:pPr algn="l">
                <a:lnSpc>
                  <a:spcPts val="3955"/>
                </a:lnSpc>
              </a:pPr>
              <a:endParaRPr lang="en-US" sz="2825" spc="-56">
                <a:solidFill>
                  <a:srgbClr val="1C191A"/>
                </a:solidFill>
                <a:latin typeface="Lato"/>
                <a:ea typeface="Lato"/>
                <a:cs typeface="Lato"/>
                <a:sym typeface="Lato"/>
              </a:endParaRPr>
            </a:p>
            <a:p>
              <a:pPr algn="l">
                <a:lnSpc>
                  <a:spcPts val="3955"/>
                </a:lnSpc>
              </a:pPr>
              <a:r>
                <a:rPr lang="en-US" sz="2825" b="1" spc="-56">
                  <a:solidFill>
                    <a:srgbClr val="1C191A"/>
                  </a:solidFill>
                  <a:latin typeface="Lato Bold"/>
                  <a:ea typeface="Lato Bold"/>
                  <a:cs typeface="Lato Bold"/>
                  <a:sym typeface="Lato Bold"/>
                </a:rPr>
                <a:t>Target Embedding:</a:t>
              </a: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r>
                <a:rPr lang="en-US" sz="2825" b="1" spc="-56">
                  <a:solidFill>
                    <a:srgbClr val="1C191A"/>
                  </a:solidFill>
                  <a:latin typeface="Lato Bold"/>
                  <a:ea typeface="Lato Bold"/>
                  <a:cs typeface="Lato Bold"/>
                  <a:sym typeface="Lato Bold"/>
                </a:rPr>
                <a:t>Loss Comparison:</a:t>
              </a: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endParaRPr lang="en-US" sz="2825" b="1" spc="-56">
                <a:solidFill>
                  <a:srgbClr val="1C191A"/>
                </a:solidFill>
                <a:latin typeface="Lato Bold"/>
                <a:ea typeface="Lato Bold"/>
                <a:cs typeface="Lato Bold"/>
                <a:sym typeface="Lato Bold"/>
              </a:endParaRPr>
            </a:p>
            <a:p>
              <a:pPr algn="l">
                <a:lnSpc>
                  <a:spcPts val="3955"/>
                </a:lnSpc>
              </a:pPr>
              <a:endParaRPr lang="en-US" sz="2825" b="1" spc="-56">
                <a:solidFill>
                  <a:srgbClr val="1C191A"/>
                </a:solidFill>
                <a:latin typeface="Lato Bold"/>
                <a:ea typeface="Lato Bold"/>
                <a:cs typeface="Lato Bold"/>
                <a:sym typeface="Lato Bold"/>
              </a:endParaRPr>
            </a:p>
            <a:p>
              <a:pPr algn="l">
                <a:lnSpc>
                  <a:spcPts val="3317"/>
                </a:lnSpc>
                <a:spcBef>
                  <a:spcPct val="0"/>
                </a:spcBef>
              </a:pPr>
              <a:endParaRPr lang="en-US" sz="2825" b="1" spc="-56">
                <a:solidFill>
                  <a:srgbClr val="1C191A"/>
                </a:solidFill>
                <a:latin typeface="Lato Bold"/>
                <a:ea typeface="Lato Bold"/>
                <a:cs typeface="Lato Bold"/>
                <a:sym typeface="Lato Bold"/>
              </a:endParaRPr>
            </a:p>
          </p:txBody>
        </p:sp>
        <p:sp>
          <p:nvSpPr>
            <p:cNvPr id="5" name="Freeform 5"/>
            <p:cNvSpPr/>
            <p:nvPr/>
          </p:nvSpPr>
          <p:spPr>
            <a:xfrm>
              <a:off x="5193742" y="830989"/>
              <a:ext cx="4202697" cy="1739047"/>
            </a:xfrm>
            <a:custGeom>
              <a:avLst/>
              <a:gdLst/>
              <a:ahLst/>
              <a:cxnLst/>
              <a:rect l="l" t="t" r="r" b="b"/>
              <a:pathLst>
                <a:path w="4202697" h="1739047">
                  <a:moveTo>
                    <a:pt x="0" y="0"/>
                  </a:moveTo>
                  <a:lnTo>
                    <a:pt x="4202697" y="0"/>
                  </a:lnTo>
                  <a:lnTo>
                    <a:pt x="4202697" y="1739047"/>
                  </a:lnTo>
                  <a:lnTo>
                    <a:pt x="0" y="1739047"/>
                  </a:lnTo>
                  <a:lnTo>
                    <a:pt x="0" y="0"/>
                  </a:lnTo>
                  <a:close/>
                </a:path>
              </a:pathLst>
            </a:custGeom>
            <a:blipFill>
              <a:blip r:embed="rId4"/>
              <a:stretch>
                <a:fillRect/>
              </a:stretch>
            </a:blipFill>
          </p:spPr>
          <p:txBody>
            <a:bodyPr/>
            <a:lstStyle/>
            <a:p>
              <a:endParaRPr lang="en-US"/>
            </a:p>
          </p:txBody>
        </p:sp>
        <p:sp>
          <p:nvSpPr>
            <p:cNvPr id="6" name="Freeform 6"/>
            <p:cNvSpPr/>
            <p:nvPr/>
          </p:nvSpPr>
          <p:spPr>
            <a:xfrm>
              <a:off x="5193742" y="2570036"/>
              <a:ext cx="4202697" cy="1883968"/>
            </a:xfrm>
            <a:custGeom>
              <a:avLst/>
              <a:gdLst/>
              <a:ahLst/>
              <a:cxnLst/>
              <a:rect l="l" t="t" r="r" b="b"/>
              <a:pathLst>
                <a:path w="4202697" h="1883968">
                  <a:moveTo>
                    <a:pt x="0" y="0"/>
                  </a:moveTo>
                  <a:lnTo>
                    <a:pt x="4202697" y="0"/>
                  </a:lnTo>
                  <a:lnTo>
                    <a:pt x="4202697" y="1883967"/>
                  </a:lnTo>
                  <a:lnTo>
                    <a:pt x="0" y="1883967"/>
                  </a:lnTo>
                  <a:lnTo>
                    <a:pt x="0" y="0"/>
                  </a:lnTo>
                  <a:close/>
                </a:path>
              </a:pathLst>
            </a:custGeom>
            <a:blipFill>
              <a:blip r:embed="rId5"/>
              <a:stretch>
                <a:fillRect/>
              </a:stretch>
            </a:blipFill>
          </p:spPr>
          <p:txBody>
            <a:bodyPr/>
            <a:lstStyle/>
            <a:p>
              <a:endParaRPr lang="en-US"/>
            </a:p>
          </p:txBody>
        </p:sp>
        <p:sp>
          <p:nvSpPr>
            <p:cNvPr id="7" name="Freeform 7"/>
            <p:cNvSpPr/>
            <p:nvPr/>
          </p:nvSpPr>
          <p:spPr>
            <a:xfrm>
              <a:off x="5193742" y="4740950"/>
              <a:ext cx="4202697" cy="1863805"/>
            </a:xfrm>
            <a:custGeom>
              <a:avLst/>
              <a:gdLst/>
              <a:ahLst/>
              <a:cxnLst/>
              <a:rect l="l" t="t" r="r" b="b"/>
              <a:pathLst>
                <a:path w="4202697" h="1863805">
                  <a:moveTo>
                    <a:pt x="0" y="0"/>
                  </a:moveTo>
                  <a:lnTo>
                    <a:pt x="4202697" y="0"/>
                  </a:lnTo>
                  <a:lnTo>
                    <a:pt x="4202697" y="1863805"/>
                  </a:lnTo>
                  <a:lnTo>
                    <a:pt x="0" y="1863805"/>
                  </a:lnTo>
                  <a:lnTo>
                    <a:pt x="0" y="0"/>
                  </a:lnTo>
                  <a:close/>
                </a:path>
              </a:pathLst>
            </a:custGeom>
            <a:blipFill>
              <a:blip r:embed="rId6"/>
              <a:stretch>
                <a:fillRect/>
              </a:stretch>
            </a:blipFill>
          </p:spPr>
          <p:txBody>
            <a:bodyPr/>
            <a:lstStyle/>
            <a:p>
              <a:endParaRPr lang="en-US"/>
            </a:p>
          </p:txBody>
        </p:sp>
        <p:sp>
          <p:nvSpPr>
            <p:cNvPr id="8" name="Freeform 8"/>
            <p:cNvSpPr/>
            <p:nvPr/>
          </p:nvSpPr>
          <p:spPr>
            <a:xfrm>
              <a:off x="4139333" y="6896855"/>
              <a:ext cx="6901601" cy="1241558"/>
            </a:xfrm>
            <a:custGeom>
              <a:avLst/>
              <a:gdLst/>
              <a:ahLst/>
              <a:cxnLst/>
              <a:rect l="l" t="t" r="r" b="b"/>
              <a:pathLst>
                <a:path w="6901601" h="1241558">
                  <a:moveTo>
                    <a:pt x="0" y="0"/>
                  </a:moveTo>
                  <a:lnTo>
                    <a:pt x="6901601" y="0"/>
                  </a:lnTo>
                  <a:lnTo>
                    <a:pt x="6901601" y="1241558"/>
                  </a:lnTo>
                  <a:lnTo>
                    <a:pt x="0" y="1241558"/>
                  </a:lnTo>
                  <a:lnTo>
                    <a:pt x="0" y="0"/>
                  </a:lnTo>
                  <a:close/>
                </a:path>
              </a:pathLst>
            </a:custGeom>
            <a:blipFill>
              <a:blip r:embed="rId7"/>
              <a:stretch>
                <a:fillRect/>
              </a:stretch>
            </a:blipFill>
          </p:spPr>
          <p:txBody>
            <a:bodyPr/>
            <a:lstStyle/>
            <a:p>
              <a:endParaRPr lang="en-US"/>
            </a:p>
          </p:txBody>
        </p:sp>
      </p:grpSp>
      <p:sp>
        <p:nvSpPr>
          <p:cNvPr id="9" name="TextBox 9"/>
          <p:cNvSpPr txBox="1"/>
          <p:nvPr/>
        </p:nvSpPr>
        <p:spPr>
          <a:xfrm>
            <a:off x="1028700" y="849949"/>
            <a:ext cx="10101145" cy="1055372"/>
          </a:xfrm>
          <a:prstGeom prst="rect">
            <a:avLst/>
          </a:prstGeom>
        </p:spPr>
        <p:txBody>
          <a:bodyPr lIns="0" tIns="0" rIns="0" bIns="0" rtlCol="0" anchor="t">
            <a:spAutoFit/>
          </a:bodyPr>
          <a:lstStyle/>
          <a:p>
            <a:pPr marL="0" lvl="0" indent="0" algn="l">
              <a:lnSpc>
                <a:spcPts val="7800"/>
              </a:lnSpc>
              <a:spcBef>
                <a:spcPct val="0"/>
              </a:spcBef>
            </a:pPr>
            <a:r>
              <a:rPr lang="en-US" sz="7800">
                <a:solidFill>
                  <a:srgbClr val="253439"/>
                </a:solidFill>
                <a:latin typeface="Lato"/>
                <a:ea typeface="Lato"/>
                <a:cs typeface="Lato"/>
                <a:sym typeface="Lato"/>
              </a:rPr>
              <a:t>Math Behind JEPA</a:t>
            </a:r>
          </a:p>
        </p:txBody>
      </p:sp>
      <p:sp>
        <p:nvSpPr>
          <p:cNvPr id="10" name="TextBox 10"/>
          <p:cNvSpPr txBox="1"/>
          <p:nvPr/>
        </p:nvSpPr>
        <p:spPr>
          <a:xfrm>
            <a:off x="9753600" y="3451676"/>
            <a:ext cx="7734689" cy="5216813"/>
          </a:xfrm>
          <a:prstGeom prst="rect">
            <a:avLst/>
          </a:prstGeom>
        </p:spPr>
        <p:txBody>
          <a:bodyPr lIns="0" tIns="0" rIns="0" bIns="0" rtlCol="0" anchor="t">
            <a:spAutoFit/>
          </a:bodyPr>
          <a:lstStyle/>
          <a:p>
            <a:pPr algn="l">
              <a:spcBef>
                <a:spcPct val="0"/>
              </a:spcBef>
            </a:pPr>
            <a:r>
              <a:rPr lang="en-US" sz="2825" spc="-56" dirty="0">
                <a:solidFill>
                  <a:srgbClr val="1C191A"/>
                </a:solidFill>
                <a:latin typeface="Lato"/>
                <a:ea typeface="Lato"/>
                <a:cs typeface="Lato"/>
                <a:sym typeface="Lato"/>
              </a:rPr>
              <a:t>→  the context encoder takes in the visible part of the image and turns it into an embedding</a:t>
            </a:r>
          </a:p>
          <a:p>
            <a:pPr algn="l">
              <a:spcBef>
                <a:spcPct val="0"/>
              </a:spcBef>
            </a:pPr>
            <a:endParaRPr lang="en-US" sz="2825" spc="-56" dirty="0">
              <a:solidFill>
                <a:srgbClr val="1C191A"/>
              </a:solidFill>
              <a:latin typeface="Lato"/>
              <a:ea typeface="Lato"/>
              <a:cs typeface="Lato"/>
              <a:sym typeface="Lato"/>
            </a:endParaRPr>
          </a:p>
          <a:p>
            <a:pPr>
              <a:spcBef>
                <a:spcPct val="0"/>
              </a:spcBef>
            </a:pPr>
            <a:r>
              <a:rPr lang="en-US" sz="2825" spc="-56" dirty="0">
                <a:solidFill>
                  <a:srgbClr val="1C191A"/>
                </a:solidFill>
                <a:latin typeface="Lato"/>
                <a:ea typeface="Lato"/>
                <a:cs typeface="Lato"/>
                <a:sym typeface="Lato"/>
              </a:rPr>
              <a:t>→  predictor uses the context embedding to guess the hidden target embedding</a:t>
            </a:r>
          </a:p>
          <a:p>
            <a:pPr algn="l">
              <a:spcBef>
                <a:spcPct val="0"/>
              </a:spcBef>
            </a:pPr>
            <a:endParaRPr lang="en-US" sz="2825" spc="-56" dirty="0">
              <a:solidFill>
                <a:srgbClr val="1C191A"/>
              </a:solidFill>
              <a:latin typeface="Lato"/>
              <a:ea typeface="Lato"/>
              <a:cs typeface="Lato"/>
              <a:sym typeface="Lato"/>
            </a:endParaRPr>
          </a:p>
          <a:p>
            <a:pPr>
              <a:spcBef>
                <a:spcPct val="0"/>
              </a:spcBef>
            </a:pPr>
            <a:endParaRPr lang="en-US" sz="2825" spc="-56" dirty="0">
              <a:solidFill>
                <a:srgbClr val="1C191A"/>
              </a:solidFill>
              <a:latin typeface="Lato"/>
              <a:ea typeface="Lato"/>
              <a:cs typeface="Lato"/>
              <a:sym typeface="Lato"/>
            </a:endParaRPr>
          </a:p>
          <a:p>
            <a:pPr>
              <a:spcBef>
                <a:spcPct val="0"/>
              </a:spcBef>
            </a:pPr>
            <a:r>
              <a:rPr lang="en-US" sz="2825" spc="-56" dirty="0">
                <a:solidFill>
                  <a:srgbClr val="1C191A"/>
                </a:solidFill>
                <a:latin typeface="Lato"/>
                <a:ea typeface="Lato"/>
                <a:cs typeface="Lato"/>
                <a:sym typeface="Lato"/>
              </a:rPr>
              <a:t>→  the target encoder turns the actual hidden part into the true target embedding</a:t>
            </a:r>
          </a:p>
          <a:p>
            <a:pPr algn="l">
              <a:spcBef>
                <a:spcPct val="0"/>
              </a:spcBef>
            </a:pPr>
            <a:endParaRPr lang="en-US" sz="2825" spc="-56" dirty="0">
              <a:solidFill>
                <a:srgbClr val="1C191A"/>
              </a:solidFill>
              <a:latin typeface="Lato"/>
              <a:ea typeface="Lato"/>
              <a:cs typeface="Lato"/>
              <a:sym typeface="Lato"/>
            </a:endParaRPr>
          </a:p>
          <a:p>
            <a:pPr>
              <a:spcBef>
                <a:spcPct val="0"/>
              </a:spcBef>
            </a:pPr>
            <a:r>
              <a:rPr lang="en-US" sz="2825" spc="-56" dirty="0">
                <a:solidFill>
                  <a:srgbClr val="1C191A"/>
                </a:solidFill>
                <a:latin typeface="Lato"/>
                <a:ea typeface="Lato"/>
                <a:cs typeface="Lato"/>
                <a:sym typeface="Lato"/>
              </a:rPr>
              <a:t>→  penalizes the model when the predicted     embedding is far from the true target embedding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741112"/>
            <a:ext cx="9392291" cy="5649562"/>
          </a:xfrm>
          <a:custGeom>
            <a:avLst/>
            <a:gdLst/>
            <a:ahLst/>
            <a:cxnLst/>
            <a:rect l="l" t="t" r="r" b="b"/>
            <a:pathLst>
              <a:path w="9392291" h="5649562">
                <a:moveTo>
                  <a:pt x="0" y="0"/>
                </a:moveTo>
                <a:lnTo>
                  <a:pt x="9392291" y="0"/>
                </a:lnTo>
                <a:lnTo>
                  <a:pt x="9392291" y="5649563"/>
                </a:lnTo>
                <a:lnTo>
                  <a:pt x="0" y="5649563"/>
                </a:lnTo>
                <a:lnTo>
                  <a:pt x="0" y="0"/>
                </a:lnTo>
                <a:close/>
              </a:path>
            </a:pathLst>
          </a:custGeom>
          <a:blipFill>
            <a:blip r:embed="rId3"/>
            <a:stretch>
              <a:fillRect r="-32930"/>
            </a:stretch>
          </a:blipFill>
        </p:spPr>
        <p:txBody>
          <a:bodyPr/>
          <a:lstStyle/>
          <a:p>
            <a:endParaRPr lang="en-US"/>
          </a:p>
        </p:txBody>
      </p:sp>
      <p:sp>
        <p:nvSpPr>
          <p:cNvPr id="3" name="TextBox 3"/>
          <p:cNvSpPr txBox="1"/>
          <p:nvPr/>
        </p:nvSpPr>
        <p:spPr>
          <a:xfrm>
            <a:off x="2556724" y="1162050"/>
            <a:ext cx="12513903" cy="1055372"/>
          </a:xfrm>
          <a:prstGeom prst="rect">
            <a:avLst/>
          </a:prstGeom>
        </p:spPr>
        <p:txBody>
          <a:bodyPr lIns="0" tIns="0" rIns="0" bIns="0" rtlCol="0" anchor="t">
            <a:spAutoFit/>
          </a:bodyPr>
          <a:lstStyle/>
          <a:p>
            <a:pPr marL="0" lvl="0" indent="0" algn="l">
              <a:lnSpc>
                <a:spcPts val="7800"/>
              </a:lnSpc>
              <a:spcBef>
                <a:spcPct val="0"/>
              </a:spcBef>
            </a:pPr>
            <a:r>
              <a:rPr lang="en-US" sz="7800">
                <a:solidFill>
                  <a:srgbClr val="253439"/>
                </a:solidFill>
                <a:latin typeface="Lato"/>
                <a:ea typeface="Lato"/>
                <a:cs typeface="Lato"/>
                <a:sym typeface="Lato"/>
              </a:rPr>
              <a:t>JEPA on Pneumonia X-Rays</a:t>
            </a:r>
          </a:p>
        </p:txBody>
      </p:sp>
      <p:sp>
        <p:nvSpPr>
          <p:cNvPr id="4" name="TextBox 4"/>
          <p:cNvSpPr txBox="1"/>
          <p:nvPr/>
        </p:nvSpPr>
        <p:spPr>
          <a:xfrm>
            <a:off x="10668000" y="2741112"/>
            <a:ext cx="7867009" cy="7982185"/>
          </a:xfrm>
          <a:prstGeom prst="rect">
            <a:avLst/>
          </a:prstGeom>
        </p:spPr>
        <p:txBody>
          <a:bodyPr wrap="square" lIns="0" tIns="0" rIns="0" bIns="0" rtlCol="0" anchor="t">
            <a:spAutoFit/>
          </a:bodyPr>
          <a:lstStyle/>
          <a:p>
            <a:pPr algn="l">
              <a:lnSpc>
                <a:spcPts val="4235"/>
              </a:lnSpc>
            </a:pPr>
            <a:r>
              <a:rPr lang="en-US" sz="3025" b="1" spc="-60" dirty="0">
                <a:solidFill>
                  <a:srgbClr val="1C191A"/>
                </a:solidFill>
                <a:latin typeface="Lato Bold"/>
                <a:ea typeface="Lato Bold"/>
                <a:cs typeface="Lato Bold"/>
                <a:sym typeface="Lato Bold"/>
              </a:rPr>
              <a:t>Dataset: </a:t>
            </a:r>
            <a:r>
              <a:rPr lang="en-US" sz="3025" b="1" spc="-60" dirty="0" err="1">
                <a:solidFill>
                  <a:srgbClr val="1C191A"/>
                </a:solidFill>
                <a:latin typeface="Lato Bold"/>
                <a:ea typeface="Lato Bold"/>
                <a:cs typeface="Lato Bold"/>
                <a:sym typeface="Lato Bold"/>
              </a:rPr>
              <a:t>PneumoniaMNIST</a:t>
            </a:r>
            <a:endParaRPr lang="en-US" sz="3025" b="1" spc="-60" dirty="0">
              <a:solidFill>
                <a:srgbClr val="1C191A"/>
              </a:solidFill>
              <a:latin typeface="Lato Bold"/>
              <a:ea typeface="Lato Bold"/>
              <a:cs typeface="Lato Bold"/>
              <a:sym typeface="Lato Bold"/>
            </a:endParaRPr>
          </a:p>
          <a:p>
            <a:pPr marL="653120" lvl="1" indent="-326560" algn="l">
              <a:lnSpc>
                <a:spcPts val="4235"/>
              </a:lnSpc>
              <a:buFont typeface="Arial"/>
              <a:buChar char="•"/>
            </a:pPr>
            <a:r>
              <a:rPr lang="en-US" sz="3025" spc="-60" dirty="0">
                <a:solidFill>
                  <a:srgbClr val="1C191A"/>
                </a:solidFill>
                <a:latin typeface="Lato"/>
                <a:ea typeface="Lato"/>
                <a:cs typeface="Lato"/>
                <a:sym typeface="Lato"/>
              </a:rPr>
              <a:t>Pediatric chest X-rays</a:t>
            </a:r>
          </a:p>
          <a:p>
            <a:pPr marL="653120" lvl="1" indent="-326560" algn="l">
              <a:lnSpc>
                <a:spcPts val="4235"/>
              </a:lnSpc>
              <a:buFont typeface="Arial"/>
              <a:buChar char="•"/>
            </a:pPr>
            <a:r>
              <a:rPr lang="en-US" sz="3025" spc="-60" dirty="0">
                <a:solidFill>
                  <a:srgbClr val="1C191A"/>
                </a:solidFill>
                <a:latin typeface="Lato"/>
                <a:ea typeface="Lato"/>
                <a:cs typeface="Lato"/>
                <a:sym typeface="Lato"/>
              </a:rPr>
              <a:t>Binary task: Normal vs. Pneumonia</a:t>
            </a:r>
          </a:p>
          <a:p>
            <a:pPr algn="l">
              <a:lnSpc>
                <a:spcPts val="4235"/>
              </a:lnSpc>
            </a:pPr>
            <a:endParaRPr lang="en-US" sz="3025" spc="-60" dirty="0">
              <a:solidFill>
                <a:srgbClr val="1C191A"/>
              </a:solidFill>
              <a:latin typeface="Lato"/>
              <a:ea typeface="Lato"/>
              <a:cs typeface="Lato"/>
              <a:sym typeface="Lato"/>
            </a:endParaRPr>
          </a:p>
          <a:p>
            <a:pPr algn="l">
              <a:lnSpc>
                <a:spcPts val="4235"/>
              </a:lnSpc>
            </a:pPr>
            <a:r>
              <a:rPr lang="en-US" sz="3025" b="1" spc="-60" dirty="0">
                <a:solidFill>
                  <a:srgbClr val="1C191A"/>
                </a:solidFill>
                <a:latin typeface="Lato Bold"/>
                <a:ea typeface="Lato Bold"/>
                <a:cs typeface="Lato Bold"/>
                <a:sym typeface="Lato Bold"/>
              </a:rPr>
              <a:t>Research Question:</a:t>
            </a:r>
          </a:p>
          <a:p>
            <a:pPr algn="l">
              <a:lnSpc>
                <a:spcPts val="4235"/>
              </a:lnSpc>
            </a:pPr>
            <a:r>
              <a:rPr lang="en-US" sz="3025" spc="-60" dirty="0">
                <a:solidFill>
                  <a:srgbClr val="1C191A"/>
                </a:solidFill>
                <a:latin typeface="Lato"/>
                <a:ea typeface="Lato"/>
                <a:cs typeface="Lato"/>
                <a:sym typeface="Lato"/>
              </a:rPr>
              <a:t>Can JEPA-style self-supervised pre-training improve label efficiency for pneumonia classification?</a:t>
            </a:r>
          </a:p>
          <a:p>
            <a:pPr algn="l">
              <a:lnSpc>
                <a:spcPts val="4235"/>
              </a:lnSpc>
            </a:pPr>
            <a:endParaRPr lang="en-US" sz="3025" spc="-60" dirty="0">
              <a:solidFill>
                <a:srgbClr val="1C191A"/>
              </a:solidFill>
              <a:latin typeface="Lato"/>
              <a:ea typeface="Lato"/>
              <a:cs typeface="Lato"/>
              <a:sym typeface="Lato"/>
            </a:endParaRPr>
          </a:p>
          <a:p>
            <a:pPr algn="l">
              <a:lnSpc>
                <a:spcPts val="4235"/>
              </a:lnSpc>
            </a:pPr>
            <a:r>
              <a:rPr lang="en-US" sz="3025" b="1" spc="-60" dirty="0">
                <a:solidFill>
                  <a:srgbClr val="1C191A"/>
                </a:solidFill>
                <a:latin typeface="Lato Bold"/>
                <a:ea typeface="Lato Bold"/>
                <a:cs typeface="Lato Bold"/>
                <a:sym typeface="Lato Bold"/>
              </a:rPr>
              <a:t>Goal:</a:t>
            </a:r>
            <a:r>
              <a:rPr lang="en-US" sz="3025" spc="-60" dirty="0">
                <a:solidFill>
                  <a:srgbClr val="1C191A"/>
                </a:solidFill>
                <a:latin typeface="Lato"/>
                <a:ea typeface="Lato"/>
                <a:cs typeface="Lato"/>
                <a:sym typeface="Lato"/>
              </a:rPr>
              <a:t> </a:t>
            </a:r>
          </a:p>
          <a:p>
            <a:pPr algn="l">
              <a:lnSpc>
                <a:spcPts val="4235"/>
              </a:lnSpc>
            </a:pPr>
            <a:r>
              <a:rPr lang="en-US" sz="3025" spc="-60" dirty="0">
                <a:solidFill>
                  <a:srgbClr val="1C191A"/>
                </a:solidFill>
                <a:latin typeface="Lato"/>
                <a:ea typeface="Lato"/>
                <a:cs typeface="Lato"/>
                <a:sym typeface="Lato"/>
              </a:rPr>
              <a:t>Test whether self-supervised pretraining reduces the labeled data needed</a:t>
            </a:r>
          </a:p>
          <a:p>
            <a:pPr algn="l">
              <a:lnSpc>
                <a:spcPts val="4235"/>
              </a:lnSpc>
            </a:pPr>
            <a:endParaRPr lang="en-US" sz="3025" spc="-60" dirty="0">
              <a:solidFill>
                <a:srgbClr val="1C191A"/>
              </a:solidFill>
              <a:latin typeface="Lato"/>
              <a:ea typeface="Lato"/>
              <a:cs typeface="Lato"/>
              <a:sym typeface="Lato"/>
            </a:endParaRPr>
          </a:p>
          <a:p>
            <a:pPr algn="l">
              <a:lnSpc>
                <a:spcPts val="3955"/>
              </a:lnSpc>
            </a:pPr>
            <a:endParaRPr lang="en-US" sz="3025" spc="-60" dirty="0">
              <a:solidFill>
                <a:srgbClr val="1C191A"/>
              </a:solidFill>
              <a:latin typeface="Lato"/>
              <a:ea typeface="Lato"/>
              <a:cs typeface="Lato"/>
              <a:sym typeface="Lato"/>
            </a:endParaRPr>
          </a:p>
          <a:p>
            <a:pPr algn="l">
              <a:lnSpc>
                <a:spcPts val="3955"/>
              </a:lnSpc>
              <a:spcBef>
                <a:spcPct val="0"/>
              </a:spcBef>
            </a:pPr>
            <a:endParaRPr lang="en-US" sz="3025" spc="-60" dirty="0">
              <a:solidFill>
                <a:srgbClr val="1C191A"/>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15458" y="3398520"/>
            <a:ext cx="8457083" cy="3756660"/>
          </a:xfrm>
          <a:prstGeom prst="rect">
            <a:avLst/>
          </a:prstGeom>
        </p:spPr>
        <p:txBody>
          <a:bodyPr lIns="0" tIns="0" rIns="0" bIns="0" rtlCol="0" anchor="t">
            <a:spAutoFit/>
          </a:bodyPr>
          <a:lstStyle/>
          <a:p>
            <a:pPr algn="ctr">
              <a:lnSpc>
                <a:spcPts val="14400"/>
              </a:lnSpc>
            </a:pPr>
            <a:r>
              <a:rPr lang="en-US" sz="14400">
                <a:solidFill>
                  <a:srgbClr val="253439"/>
                </a:solidFill>
                <a:latin typeface="Lato"/>
                <a:ea typeface="Lato"/>
                <a:cs typeface="Lato"/>
                <a:sym typeface="Lato"/>
              </a:rPr>
              <a:t>Thank You!</a:t>
            </a:r>
          </a:p>
        </p:txBody>
      </p:sp>
      <p:sp>
        <p:nvSpPr>
          <p:cNvPr id="3" name="TextBox 3"/>
          <p:cNvSpPr txBox="1"/>
          <p:nvPr/>
        </p:nvSpPr>
        <p:spPr>
          <a:xfrm rot="5400000">
            <a:off x="14497478" y="4971097"/>
            <a:ext cx="4883001" cy="344805"/>
          </a:xfrm>
          <a:prstGeom prst="rect">
            <a:avLst/>
          </a:prstGeom>
        </p:spPr>
        <p:txBody>
          <a:bodyPr lIns="0" tIns="0" rIns="0" bIns="0" rtlCol="0" anchor="t">
            <a:spAutoFit/>
          </a:bodyPr>
          <a:lstStyle/>
          <a:p>
            <a:pPr algn="ctr">
              <a:lnSpc>
                <a:spcPts val="2640"/>
              </a:lnSpc>
            </a:pPr>
            <a:r>
              <a:rPr lang="en-US" sz="2400">
                <a:solidFill>
                  <a:srgbClr val="F6F4F1"/>
                </a:solidFill>
                <a:latin typeface="Lato"/>
                <a:ea typeface="Lato"/>
                <a:cs typeface="Lato"/>
                <a:sym typeface="Lato"/>
              </a:rPr>
              <a:t>12 March 2030</a:t>
            </a:r>
          </a:p>
        </p:txBody>
      </p:sp>
      <p:grpSp>
        <p:nvGrpSpPr>
          <p:cNvPr id="4" name="Group 4"/>
          <p:cNvGrpSpPr/>
          <p:nvPr/>
        </p:nvGrpSpPr>
        <p:grpSpPr>
          <a:xfrm>
            <a:off x="15477180" y="1130365"/>
            <a:ext cx="1352255" cy="274763"/>
            <a:chOff x="0" y="0"/>
            <a:chExt cx="1803007" cy="366350"/>
          </a:xfrm>
        </p:grpSpPr>
        <p:grpSp>
          <p:nvGrpSpPr>
            <p:cNvPr id="5" name="Group 5"/>
            <p:cNvGrpSpPr/>
            <p:nvPr/>
          </p:nvGrpSpPr>
          <p:grpSpPr>
            <a:xfrm rot="-5400000">
              <a:off x="0" y="0"/>
              <a:ext cx="366350" cy="366350"/>
              <a:chOff x="0" y="0"/>
              <a:chExt cx="178795" cy="178795"/>
            </a:xfrm>
          </p:grpSpPr>
          <p:sp>
            <p:nvSpPr>
              <p:cNvPr id="6" name="Freeform 6"/>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7C898B"/>
              </a:solidFill>
            </p:spPr>
            <p:txBody>
              <a:bodyPr/>
              <a:lstStyle/>
              <a:p>
                <a:endParaRPr lang="en-US"/>
              </a:p>
            </p:txBody>
          </p:sp>
          <p:sp>
            <p:nvSpPr>
              <p:cNvPr id="7" name="TextBox 7"/>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nvGrpSpPr>
            <p:cNvPr id="8" name="Group 8"/>
            <p:cNvGrpSpPr/>
            <p:nvPr/>
          </p:nvGrpSpPr>
          <p:grpSpPr>
            <a:xfrm rot="-5400000">
              <a:off x="718328" y="0"/>
              <a:ext cx="366350" cy="366350"/>
              <a:chOff x="0" y="0"/>
              <a:chExt cx="178795" cy="178795"/>
            </a:xfrm>
          </p:grpSpPr>
          <p:sp>
            <p:nvSpPr>
              <p:cNvPr id="9" name="Freeform 9"/>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B29E84"/>
              </a:solidFill>
            </p:spPr>
            <p:txBody>
              <a:bodyPr/>
              <a:lstStyle/>
              <a:p>
                <a:endParaRPr lang="en-US"/>
              </a:p>
            </p:txBody>
          </p:sp>
          <p:sp>
            <p:nvSpPr>
              <p:cNvPr id="10" name="TextBox 10"/>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nvGrpSpPr>
            <p:cNvPr id="11" name="Group 11"/>
            <p:cNvGrpSpPr/>
            <p:nvPr/>
          </p:nvGrpSpPr>
          <p:grpSpPr>
            <a:xfrm rot="-5400000">
              <a:off x="1436657" y="0"/>
              <a:ext cx="366350" cy="366350"/>
              <a:chOff x="0" y="0"/>
              <a:chExt cx="178795" cy="178795"/>
            </a:xfrm>
          </p:grpSpPr>
          <p:sp>
            <p:nvSpPr>
              <p:cNvPr id="12" name="Freeform 12"/>
              <p:cNvSpPr/>
              <p:nvPr/>
            </p:nvSpPr>
            <p:spPr>
              <a:xfrm>
                <a:off x="0" y="0"/>
                <a:ext cx="178795" cy="178795"/>
              </a:xfrm>
              <a:custGeom>
                <a:avLst/>
                <a:gdLst/>
                <a:ahLst/>
                <a:cxnLst/>
                <a:rect l="l" t="t" r="r" b="b"/>
                <a:pathLst>
                  <a:path w="178795" h="178795">
                    <a:moveTo>
                      <a:pt x="0" y="0"/>
                    </a:moveTo>
                    <a:lnTo>
                      <a:pt x="178795" y="0"/>
                    </a:lnTo>
                    <a:lnTo>
                      <a:pt x="178795" y="178795"/>
                    </a:lnTo>
                    <a:lnTo>
                      <a:pt x="0" y="178795"/>
                    </a:lnTo>
                    <a:close/>
                  </a:path>
                </a:pathLst>
              </a:custGeom>
              <a:solidFill>
                <a:srgbClr val="FFFFFF"/>
              </a:solidFill>
            </p:spPr>
            <p:txBody>
              <a:bodyPr/>
              <a:lstStyle/>
              <a:p>
                <a:endParaRPr lang="en-US"/>
              </a:p>
            </p:txBody>
          </p:sp>
          <p:sp>
            <p:nvSpPr>
              <p:cNvPr id="13" name="TextBox 13"/>
              <p:cNvSpPr txBox="1"/>
              <p:nvPr/>
            </p:nvSpPr>
            <p:spPr>
              <a:xfrm>
                <a:off x="0" y="-38100"/>
                <a:ext cx="178795" cy="216895"/>
              </a:xfrm>
              <a:prstGeom prst="rect">
                <a:avLst/>
              </a:prstGeom>
            </p:spPr>
            <p:txBody>
              <a:bodyPr lIns="50800" tIns="50800" rIns="50800" bIns="50800" rtlCol="0" anchor="ctr"/>
              <a:lstStyle/>
              <a:p>
                <a:pPr algn="ctr">
                  <a:lnSpc>
                    <a:spcPts val="2799"/>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TotalTime>
  <Words>1085</Words>
  <Application>Microsoft Macintosh PowerPoint</Application>
  <PresentationFormat>Custom</PresentationFormat>
  <Paragraphs>91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Arial</vt:lpstr>
      <vt:lpstr>Lato Bold</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Rebekah Xing</dc:title>
  <cp:lastModifiedBy>Rebekah Xing</cp:lastModifiedBy>
  <cp:revision>6</cp:revision>
  <dcterms:created xsi:type="dcterms:W3CDTF">2006-08-16T00:00:00Z</dcterms:created>
  <dcterms:modified xsi:type="dcterms:W3CDTF">2026-06-08T06:22:02Z</dcterms:modified>
  <dc:identifier>DAHLjkNM2X8</dc:identifier>
</cp:coreProperties>
</file>