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h8tGc6/4W1Jt87OJv0gYSmeOZoU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11155DD-B83D-4E0C-B7D4-946283B0576D}">
  <a:tblStyle styleId="{711155DD-B83D-4E0C-B7D4-946283B0576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4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g3e82608f2f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 name="Google Shape;20;g3e82608f2f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 name="Google Shape;21;g3e82608f2fd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g3ecfd65e53c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 name="Google Shape;29;g3ecfd65e53c_0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 name="Google Shape;30;g3ecfd65e53c_0_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g3e82608f2fd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Google Shape;37;g3e82608f2fd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 name="Google Shape;38;g3e82608f2fd_0_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3ecfd65e53c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3ecfd65e53c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g3ecfd65e53c_0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3ecfd65e53c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3ecfd65e53c_0_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 name="Google Shape;56;g3ecfd65e53c_0_3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ecfd65e53c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ecfd65e53c_0_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g3ecfd65e53c_0_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e82608f2fd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e82608f2fd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 name="Google Shape;79;g3e82608f2fd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ecfd65e53c_0_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ecfd65e53c_0_9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g3ecfd65e53c_0_9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1"/>
          <p:cNvSpPr/>
          <p:nvPr/>
        </p:nvSpPr>
        <p:spPr>
          <a:xfrm>
            <a:off x="2451529" y="1426957"/>
            <a:ext cx="5094600" cy="100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400"/>
              <a:buFont typeface="Calibri"/>
              <a:buNone/>
            </a:pPr>
            <a:r>
              <a:rPr lang="en-US" sz="3400" i="0" u="none" strike="noStrike" cap="none">
                <a:solidFill>
                  <a:schemeClr val="dk1"/>
                </a:solidFill>
                <a:latin typeface="Calibri"/>
                <a:ea typeface="Calibri"/>
                <a:cs typeface="Calibri"/>
                <a:sym typeface="Calibri"/>
              </a:rPr>
              <a:t>Graph Neural Networks</a:t>
            </a:r>
            <a:endParaRPr sz="3400">
              <a:solidFill>
                <a:schemeClr val="dk1"/>
              </a:solidFill>
              <a:latin typeface="Calibri"/>
              <a:ea typeface="Calibri"/>
              <a:cs typeface="Calibri"/>
              <a:sym typeface="Calibri"/>
            </a:endParaRPr>
          </a:p>
        </p:txBody>
      </p:sp>
      <p:sp>
        <p:nvSpPr>
          <p:cNvPr id="17" name="Google Shape;17;p1"/>
          <p:cNvSpPr/>
          <p:nvPr/>
        </p:nvSpPr>
        <p:spPr>
          <a:xfrm>
            <a:off x="2470009" y="2562287"/>
            <a:ext cx="4023300" cy="411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761"/>
              </a:buClr>
              <a:buSzPts val="1800"/>
              <a:buFont typeface="Calibri"/>
              <a:buNone/>
            </a:pPr>
            <a:r>
              <a:rPr lang="en-US" sz="1800">
                <a:solidFill>
                  <a:srgbClr val="1E2761"/>
                </a:solidFill>
                <a:latin typeface="Calibri"/>
                <a:ea typeface="Calibri"/>
                <a:cs typeface="Calibri"/>
                <a:sym typeface="Calibri"/>
              </a:rPr>
              <a:t>Grace Reed</a:t>
            </a:r>
            <a:endParaRPr sz="1800">
              <a:solidFill>
                <a:srgbClr val="1E2761"/>
              </a:solidFill>
              <a:latin typeface="Calibri"/>
              <a:ea typeface="Calibri"/>
              <a:cs typeface="Calibri"/>
              <a:sym typeface="Calibri"/>
            </a:endParaRPr>
          </a:p>
          <a:p>
            <a:pPr marL="0" marR="0" lvl="0" indent="0" algn="ctr" rtl="0">
              <a:spcBef>
                <a:spcPts val="0"/>
              </a:spcBef>
              <a:spcAft>
                <a:spcPts val="0"/>
              </a:spcAft>
              <a:buClr>
                <a:srgbClr val="1E2761"/>
              </a:buClr>
              <a:buSzPts val="1800"/>
              <a:buFont typeface="Calibri"/>
              <a:buNone/>
            </a:pPr>
            <a:r>
              <a:rPr lang="en-US" sz="1800">
                <a:solidFill>
                  <a:srgbClr val="1E2761"/>
                </a:solidFill>
                <a:latin typeface="Calibri"/>
                <a:ea typeface="Calibri"/>
                <a:cs typeface="Calibri"/>
                <a:sym typeface="Calibri"/>
              </a:rPr>
              <a:t>6/8/26</a:t>
            </a:r>
            <a:endParaRPr sz="1800">
              <a:solidFill>
                <a:srgbClr val="1E276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
        <p:cNvGrpSpPr/>
        <p:nvPr/>
      </p:nvGrpSpPr>
      <p:grpSpPr>
        <a:xfrm>
          <a:off x="0" y="0"/>
          <a:ext cx="0" cy="0"/>
          <a:chOff x="0" y="0"/>
          <a:chExt cx="0" cy="0"/>
        </a:xfrm>
      </p:grpSpPr>
      <p:sp>
        <p:nvSpPr>
          <p:cNvPr id="23" name="Google Shape;23;g3e82608f2fd_0_1"/>
          <p:cNvSpPr/>
          <p:nvPr/>
        </p:nvSpPr>
        <p:spPr>
          <a:xfrm>
            <a:off x="310266" y="0"/>
            <a:ext cx="6981600" cy="100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400"/>
              <a:buFont typeface="Calibri"/>
              <a:buNone/>
            </a:pPr>
            <a:r>
              <a:rPr lang="en-US" sz="1900" b="1">
                <a:solidFill>
                  <a:schemeClr val="dk1"/>
                </a:solidFill>
                <a:latin typeface="Calibri"/>
                <a:ea typeface="Calibri"/>
                <a:cs typeface="Calibri"/>
                <a:sym typeface="Calibri"/>
              </a:rPr>
              <a:t>Description &amp; Applications </a:t>
            </a:r>
            <a:endParaRPr sz="1900" b="0" i="0" u="none" strike="noStrike" cap="none">
              <a:solidFill>
                <a:schemeClr val="dk1"/>
              </a:solidFill>
              <a:latin typeface="Calibri"/>
              <a:ea typeface="Calibri"/>
              <a:cs typeface="Calibri"/>
              <a:sym typeface="Calibri"/>
            </a:endParaRPr>
          </a:p>
        </p:txBody>
      </p:sp>
      <p:sp>
        <p:nvSpPr>
          <p:cNvPr id="24" name="Google Shape;24;g3e82608f2fd_0_1"/>
          <p:cNvSpPr/>
          <p:nvPr/>
        </p:nvSpPr>
        <p:spPr>
          <a:xfrm>
            <a:off x="253325" y="692946"/>
            <a:ext cx="5638500" cy="15792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A1A2E"/>
              </a:buClr>
              <a:buSzPts val="1350"/>
              <a:buFont typeface="Calibri"/>
              <a:buChar char="•"/>
            </a:pPr>
            <a:r>
              <a:rPr lang="en-US" sz="1350">
                <a:solidFill>
                  <a:srgbClr val="1A1A2E"/>
                </a:solidFill>
                <a:latin typeface="Calibri"/>
                <a:ea typeface="Calibri"/>
                <a:cs typeface="Calibri"/>
                <a:sym typeface="Calibri"/>
              </a:rPr>
              <a:t>A deep learning model designed to work with graph-structured data, where information is presented as nodes and edges. </a:t>
            </a:r>
            <a:endParaRPr sz="1350">
              <a:solidFill>
                <a:srgbClr val="1A1A2E"/>
              </a:solidFill>
              <a:latin typeface="Calibri"/>
              <a:ea typeface="Calibri"/>
              <a:cs typeface="Calibri"/>
              <a:sym typeface="Calibri"/>
            </a:endParaRPr>
          </a:p>
          <a:p>
            <a:pPr marL="342900" marR="0" lvl="0" indent="-342900" algn="l" rtl="0">
              <a:spcBef>
                <a:spcPts val="0"/>
              </a:spcBef>
              <a:spcAft>
                <a:spcPts val="0"/>
              </a:spcAft>
              <a:buClr>
                <a:srgbClr val="1A1A2E"/>
              </a:buClr>
              <a:buSzPts val="1350"/>
              <a:buFont typeface="Calibri"/>
              <a:buChar char="•"/>
            </a:pPr>
            <a:r>
              <a:rPr lang="en-US" sz="1350">
                <a:solidFill>
                  <a:srgbClr val="1A1A2E"/>
                </a:solidFill>
                <a:latin typeface="Calibri"/>
                <a:ea typeface="Calibri"/>
                <a:cs typeface="Calibri"/>
                <a:sym typeface="Calibri"/>
              </a:rPr>
              <a:t>Useful for tasks like network analysis, molecule prediction and recommendation systems.</a:t>
            </a:r>
            <a:endParaRPr sz="1350">
              <a:solidFill>
                <a:srgbClr val="1A1A2E"/>
              </a:solidFill>
              <a:latin typeface="Calibri"/>
              <a:ea typeface="Calibri"/>
              <a:cs typeface="Calibri"/>
              <a:sym typeface="Calibri"/>
            </a:endParaRPr>
          </a:p>
          <a:p>
            <a:pPr marL="342900" marR="0" lvl="0" indent="-342900" algn="l" rtl="0">
              <a:spcBef>
                <a:spcPts val="0"/>
              </a:spcBef>
              <a:spcAft>
                <a:spcPts val="0"/>
              </a:spcAft>
              <a:buClr>
                <a:srgbClr val="1A1A2E"/>
              </a:buClr>
              <a:buSzPts val="1350"/>
              <a:buFont typeface="Calibri"/>
              <a:buChar char="•"/>
            </a:pPr>
            <a:r>
              <a:rPr lang="en-US" sz="1350">
                <a:solidFill>
                  <a:srgbClr val="1A1A2E"/>
                </a:solidFill>
                <a:latin typeface="Calibri"/>
                <a:ea typeface="Calibri"/>
                <a:cs typeface="Calibri"/>
                <a:sym typeface="Calibri"/>
              </a:rPr>
              <a:t>learns both node-level and graph-level patterns</a:t>
            </a:r>
            <a:endParaRPr sz="1350">
              <a:solidFill>
                <a:srgbClr val="1A1A2E"/>
              </a:solidFill>
              <a:latin typeface="Calibri"/>
              <a:ea typeface="Calibri"/>
              <a:cs typeface="Calibri"/>
              <a:sym typeface="Calibri"/>
            </a:endParaRPr>
          </a:p>
        </p:txBody>
      </p:sp>
      <p:pic>
        <p:nvPicPr>
          <p:cNvPr id="25" name="Google Shape;25;g3e82608f2fd_0_1" title="Screenshot 2026-06-03 at 7.58.30 PM.png"/>
          <p:cNvPicPr preferRelativeResize="0"/>
          <p:nvPr/>
        </p:nvPicPr>
        <p:blipFill>
          <a:blip r:embed="rId3">
            <a:alphaModFix/>
          </a:blip>
          <a:stretch>
            <a:fillRect/>
          </a:stretch>
        </p:blipFill>
        <p:spPr>
          <a:xfrm>
            <a:off x="5710400" y="54275"/>
            <a:ext cx="3388328" cy="2801776"/>
          </a:xfrm>
          <a:prstGeom prst="rect">
            <a:avLst/>
          </a:prstGeom>
          <a:noFill/>
          <a:ln>
            <a:noFill/>
          </a:ln>
        </p:spPr>
      </p:pic>
      <p:pic>
        <p:nvPicPr>
          <p:cNvPr id="26" name="Google Shape;26;g3e82608f2fd_0_1" title="Screenshot 2026-06-07 at 8.42.55 PM.png"/>
          <p:cNvPicPr preferRelativeResize="0"/>
          <p:nvPr/>
        </p:nvPicPr>
        <p:blipFill>
          <a:blip r:embed="rId4">
            <a:alphaModFix/>
          </a:blip>
          <a:stretch>
            <a:fillRect/>
          </a:stretch>
        </p:blipFill>
        <p:spPr>
          <a:xfrm>
            <a:off x="253325" y="2148123"/>
            <a:ext cx="4535823" cy="2895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graphicFrame>
        <p:nvGraphicFramePr>
          <p:cNvPr id="32" name="Google Shape;32;g3ecfd65e53c_0_2"/>
          <p:cNvGraphicFramePr/>
          <p:nvPr/>
        </p:nvGraphicFramePr>
        <p:xfrm>
          <a:off x="0" y="0"/>
          <a:ext cx="4841500" cy="3276480"/>
        </p:xfrm>
        <a:graphic>
          <a:graphicData uri="http://schemas.openxmlformats.org/drawingml/2006/table">
            <a:tbl>
              <a:tblPr>
                <a:noFill/>
                <a:tableStyleId>{711155DD-B83D-4E0C-B7D4-946283B0576D}</a:tableStyleId>
              </a:tblPr>
              <a:tblGrid>
                <a:gridCol w="2420750">
                  <a:extLst>
                    <a:ext uri="{9D8B030D-6E8A-4147-A177-3AD203B41FA5}">
                      <a16:colId xmlns:a16="http://schemas.microsoft.com/office/drawing/2014/main" val="20000"/>
                    </a:ext>
                  </a:extLst>
                </a:gridCol>
                <a:gridCol w="2420750">
                  <a:extLst>
                    <a:ext uri="{9D8B030D-6E8A-4147-A177-3AD203B41FA5}">
                      <a16:colId xmlns:a16="http://schemas.microsoft.com/office/drawing/2014/main" val="20001"/>
                    </a:ext>
                  </a:extLst>
                </a:gridCol>
              </a:tblGrid>
              <a:tr h="292275">
                <a:tc>
                  <a:txBody>
                    <a:bodyPr/>
                    <a:lstStyle/>
                    <a:p>
                      <a:pPr marL="0" lvl="0" indent="0" algn="l" rtl="0">
                        <a:spcBef>
                          <a:spcPts val="0"/>
                        </a:spcBef>
                        <a:spcAft>
                          <a:spcPts val="0"/>
                        </a:spcAft>
                        <a:buNone/>
                      </a:pPr>
                      <a:r>
                        <a:rPr lang="en-US" b="1"/>
                        <a:t>Step</a:t>
                      </a:r>
                      <a:endParaRPr b="1"/>
                    </a:p>
                  </a:txBody>
                  <a:tcPr marL="91425" marR="91425" marT="91425" marB="91425"/>
                </a:tc>
                <a:tc>
                  <a:txBody>
                    <a:bodyPr/>
                    <a:lstStyle/>
                    <a:p>
                      <a:pPr marL="0" lvl="0" indent="0" algn="l" rtl="0">
                        <a:spcBef>
                          <a:spcPts val="0"/>
                        </a:spcBef>
                        <a:spcAft>
                          <a:spcPts val="0"/>
                        </a:spcAft>
                        <a:buNone/>
                      </a:pPr>
                      <a:r>
                        <a:rPr lang="en-US" b="1"/>
                        <a:t>Explanation</a:t>
                      </a:r>
                      <a:endParaRPr b="1"/>
                    </a:p>
                  </a:txBody>
                  <a:tcPr marL="91425" marR="91425" marT="91425" marB="91425"/>
                </a:tc>
                <a:extLst>
                  <a:ext uri="{0D108BD9-81ED-4DB2-BD59-A6C34878D82A}">
                    <a16:rowId xmlns:a16="http://schemas.microsoft.com/office/drawing/2014/main" val="10000"/>
                  </a:ext>
                </a:extLst>
              </a:tr>
              <a:tr h="337225">
                <a:tc>
                  <a:txBody>
                    <a:bodyPr/>
                    <a:lstStyle/>
                    <a:p>
                      <a:pPr marL="0" lvl="0" indent="0" algn="l" rtl="0">
                        <a:lnSpc>
                          <a:spcPct val="100000"/>
                        </a:lnSpc>
                        <a:spcBef>
                          <a:spcPts val="0"/>
                        </a:spcBef>
                        <a:spcAft>
                          <a:spcPts val="0"/>
                        </a:spcAft>
                        <a:buNone/>
                      </a:pPr>
                      <a:r>
                        <a:rPr lang="en-US" sz="900">
                          <a:latin typeface="Calibri"/>
                          <a:ea typeface="Calibri"/>
                          <a:cs typeface="Calibri"/>
                          <a:sym typeface="Calibri"/>
                        </a:rPr>
                        <a:t>1. Load the data</a:t>
                      </a:r>
                      <a:endParaRPr sz="900">
                        <a:latin typeface="Calibri"/>
                        <a:ea typeface="Calibri"/>
                        <a:cs typeface="Calibri"/>
                        <a:sym typeface="Calibri"/>
                      </a:endParaRPr>
                    </a:p>
                  </a:txBody>
                  <a:tcPr marL="91425" marR="91425" marT="91425" marB="91425"/>
                </a:tc>
                <a:tc>
                  <a:txBody>
                    <a:bodyPr/>
                    <a:lstStyle/>
                    <a:p>
                      <a:pPr marL="0" lvl="0" indent="0" algn="l" rtl="0">
                        <a:lnSpc>
                          <a:spcPct val="100000"/>
                        </a:lnSpc>
                        <a:spcBef>
                          <a:spcPts val="0"/>
                        </a:spcBef>
                        <a:spcAft>
                          <a:spcPts val="0"/>
                        </a:spcAft>
                        <a:buNone/>
                      </a:pPr>
                      <a:endParaRPr sz="900">
                        <a:latin typeface="Calibri"/>
                        <a:ea typeface="Calibri"/>
                        <a:cs typeface="Calibri"/>
                        <a:sym typeface="Calibri"/>
                      </a:endParaRPr>
                    </a:p>
                    <a:p>
                      <a:pPr marL="0" lvl="0" indent="0" algn="l" rtl="0">
                        <a:lnSpc>
                          <a:spcPct val="100000"/>
                        </a:lnSpc>
                        <a:spcBef>
                          <a:spcPts val="0"/>
                        </a:spcBef>
                        <a:spcAft>
                          <a:spcPts val="0"/>
                        </a:spcAft>
                        <a:buNone/>
                      </a:pPr>
                      <a:r>
                        <a:rPr lang="en-US" sz="900">
                          <a:latin typeface="Calibri"/>
                          <a:ea typeface="Calibri"/>
                          <a:cs typeface="Calibri"/>
                          <a:sym typeface="Calibri"/>
                        </a:rPr>
                        <a:t>G =(V,E)</a:t>
                      </a:r>
                      <a:endParaRPr sz="900">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640800">
                <a:tc>
                  <a:txBody>
                    <a:bodyPr/>
                    <a:lstStyle/>
                    <a:p>
                      <a:pPr marL="0" lvl="0" indent="0" algn="l" rtl="0">
                        <a:lnSpc>
                          <a:spcPct val="100000"/>
                        </a:lnSpc>
                        <a:spcBef>
                          <a:spcPts val="0"/>
                        </a:spcBef>
                        <a:spcAft>
                          <a:spcPts val="0"/>
                        </a:spcAft>
                        <a:buNone/>
                      </a:pPr>
                      <a:r>
                        <a:rPr lang="en-US" sz="900">
                          <a:solidFill>
                            <a:srgbClr val="27251E"/>
                          </a:solidFill>
                          <a:latin typeface="Calibri"/>
                          <a:ea typeface="Calibri"/>
                          <a:cs typeface="Calibri"/>
                          <a:sym typeface="Calibri"/>
                        </a:rPr>
                        <a:t>2. Define the GNN layers.</a:t>
                      </a:r>
                      <a:endParaRPr sz="900">
                        <a:solidFill>
                          <a:srgbClr val="27251E"/>
                        </a:solidFill>
                        <a:latin typeface="Calibri"/>
                        <a:ea typeface="Calibri"/>
                        <a:cs typeface="Calibri"/>
                        <a:sym typeface="Calibri"/>
                      </a:endParaRPr>
                    </a:p>
                    <a:p>
                      <a:pPr marL="0" lvl="0" indent="0" algn="l" rtl="0">
                        <a:lnSpc>
                          <a:spcPct val="100000"/>
                        </a:lnSpc>
                        <a:spcBef>
                          <a:spcPts val="600"/>
                        </a:spcBef>
                        <a:spcAft>
                          <a:spcPts val="0"/>
                        </a:spcAft>
                        <a:buNone/>
                      </a:pPr>
                      <a:endParaRPr sz="900">
                        <a:latin typeface="Calibri"/>
                        <a:ea typeface="Calibri"/>
                        <a:cs typeface="Calibri"/>
                        <a:sym typeface="Calibri"/>
                      </a:endParaRPr>
                    </a:p>
                  </a:txBody>
                  <a:tcPr marL="91425" marR="91425" marT="91425" marB="91425"/>
                </a:tc>
                <a:tc>
                  <a:txBody>
                    <a:bodyPr/>
                    <a:lstStyle/>
                    <a:p>
                      <a:pPr marL="0" lvl="0" indent="0" algn="l" rtl="0">
                        <a:lnSpc>
                          <a:spcPct val="100000"/>
                        </a:lnSpc>
                        <a:spcBef>
                          <a:spcPts val="0"/>
                        </a:spcBef>
                        <a:spcAft>
                          <a:spcPts val="0"/>
                        </a:spcAft>
                        <a:buNone/>
                      </a:pPr>
                      <a:r>
                        <a:rPr lang="en-US" sz="900">
                          <a:solidFill>
                            <a:srgbClr val="27251E"/>
                          </a:solidFill>
                          <a:latin typeface="Calibri"/>
                          <a:ea typeface="Calibri"/>
                          <a:cs typeface="Calibri"/>
                          <a:sym typeface="Calibri"/>
                        </a:rPr>
                        <a:t>A GNN layer usually follows a message-passing pattern: each node gathers information from its neighbors, aggregates it, and then updates its own embedding. Stacking multiple layers lets the model capture information from farther away in the graph, with each layer extending the receptive field by one hop</a:t>
                      </a:r>
                      <a:endParaRPr sz="900">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1010100">
                <a:tc>
                  <a:txBody>
                    <a:bodyPr/>
                    <a:lstStyle/>
                    <a:p>
                      <a:pPr marL="0" lvl="0" indent="0" algn="l" rtl="0">
                        <a:lnSpc>
                          <a:spcPct val="100000"/>
                        </a:lnSpc>
                        <a:spcBef>
                          <a:spcPts val="0"/>
                        </a:spcBef>
                        <a:spcAft>
                          <a:spcPts val="0"/>
                        </a:spcAft>
                        <a:buNone/>
                      </a:pPr>
                      <a:r>
                        <a:rPr lang="en-US" sz="900">
                          <a:solidFill>
                            <a:srgbClr val="27251E"/>
                          </a:solidFill>
                          <a:latin typeface="Calibri"/>
                          <a:ea typeface="Calibri"/>
                          <a:cs typeface="Calibri"/>
                          <a:sym typeface="Calibri"/>
                        </a:rPr>
                        <a:t>3. Forward pass.</a:t>
                      </a:r>
                      <a:endParaRPr sz="900">
                        <a:solidFill>
                          <a:srgbClr val="27251E"/>
                        </a:solidFill>
                        <a:latin typeface="Calibri"/>
                        <a:ea typeface="Calibri"/>
                        <a:cs typeface="Calibri"/>
                        <a:sym typeface="Calibri"/>
                      </a:endParaRPr>
                    </a:p>
                    <a:p>
                      <a:pPr marL="0" lvl="0" indent="0" algn="l" rtl="0">
                        <a:lnSpc>
                          <a:spcPct val="100000"/>
                        </a:lnSpc>
                        <a:spcBef>
                          <a:spcPts val="600"/>
                        </a:spcBef>
                        <a:spcAft>
                          <a:spcPts val="0"/>
                        </a:spcAft>
                        <a:buNone/>
                      </a:pPr>
                      <a:endParaRPr sz="900">
                        <a:latin typeface="Calibri"/>
                        <a:ea typeface="Calibri"/>
                        <a:cs typeface="Calibri"/>
                        <a:sym typeface="Calibri"/>
                      </a:endParaRPr>
                    </a:p>
                  </a:txBody>
                  <a:tcPr marL="91425" marR="91425" marT="91425" marB="91425"/>
                </a:tc>
                <a:tc>
                  <a:txBody>
                    <a:bodyPr/>
                    <a:lstStyle/>
                    <a:p>
                      <a:pPr marL="0" lvl="0" indent="0" algn="l" rtl="0">
                        <a:lnSpc>
                          <a:spcPct val="100000"/>
                        </a:lnSpc>
                        <a:spcBef>
                          <a:spcPts val="0"/>
                        </a:spcBef>
                        <a:spcAft>
                          <a:spcPts val="0"/>
                        </a:spcAft>
                        <a:buClr>
                          <a:schemeClr val="dk1"/>
                        </a:buClr>
                        <a:buSzPts val="1100"/>
                        <a:buFont typeface="Arial"/>
                        <a:buNone/>
                      </a:pPr>
                      <a:r>
                        <a:rPr lang="en-US" sz="900">
                          <a:solidFill>
                            <a:srgbClr val="27251E"/>
                          </a:solidFill>
                          <a:latin typeface="Calibri"/>
                          <a:ea typeface="Calibri"/>
                          <a:cs typeface="Calibri"/>
                          <a:sym typeface="Calibri"/>
                        </a:rPr>
                        <a:t>Run the node features through the GNN layers to produce embeddings, then use those embeddings to make predictions for the task at hand. The forward pass is where the model computes outputs from the current weights and graph structure.</a:t>
                      </a:r>
                      <a:endParaRPr sz="900">
                        <a:solidFill>
                          <a:srgbClr val="27251E"/>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90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900">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bl>
          </a:graphicData>
        </a:graphic>
      </p:graphicFrame>
      <p:pic>
        <p:nvPicPr>
          <p:cNvPr id="33" name="Google Shape;33;g3ecfd65e53c_0_2"/>
          <p:cNvPicPr preferRelativeResize="0"/>
          <p:nvPr/>
        </p:nvPicPr>
        <p:blipFill>
          <a:blip r:embed="rId3">
            <a:alphaModFix/>
          </a:blip>
          <a:stretch>
            <a:fillRect/>
          </a:stretch>
        </p:blipFill>
        <p:spPr>
          <a:xfrm>
            <a:off x="4429327" y="2820249"/>
            <a:ext cx="4561700" cy="2280850"/>
          </a:xfrm>
          <a:prstGeom prst="rect">
            <a:avLst/>
          </a:prstGeom>
          <a:noFill/>
          <a:ln>
            <a:noFill/>
          </a:ln>
        </p:spPr>
      </p:pic>
      <p:graphicFrame>
        <p:nvGraphicFramePr>
          <p:cNvPr id="34" name="Google Shape;34;g3ecfd65e53c_0_2"/>
          <p:cNvGraphicFramePr/>
          <p:nvPr/>
        </p:nvGraphicFramePr>
        <p:xfrm>
          <a:off x="5046250" y="227500"/>
          <a:ext cx="4097750" cy="2362140"/>
        </p:xfrm>
        <a:graphic>
          <a:graphicData uri="http://schemas.openxmlformats.org/drawingml/2006/table">
            <a:tbl>
              <a:tblPr>
                <a:noFill/>
                <a:tableStyleId>{711155DD-B83D-4E0C-B7D4-946283B0576D}</a:tableStyleId>
              </a:tblPr>
              <a:tblGrid>
                <a:gridCol w="2048875">
                  <a:extLst>
                    <a:ext uri="{9D8B030D-6E8A-4147-A177-3AD203B41FA5}">
                      <a16:colId xmlns:a16="http://schemas.microsoft.com/office/drawing/2014/main" val="20000"/>
                    </a:ext>
                  </a:extLst>
                </a:gridCol>
                <a:gridCol w="2048875">
                  <a:extLst>
                    <a:ext uri="{9D8B030D-6E8A-4147-A177-3AD203B41FA5}">
                      <a16:colId xmlns:a16="http://schemas.microsoft.com/office/drawing/2014/main" val="20001"/>
                    </a:ext>
                  </a:extLst>
                </a:gridCol>
              </a:tblGrid>
              <a:tr h="438425">
                <a:tc>
                  <a:txBody>
                    <a:bodyPr/>
                    <a:lstStyle/>
                    <a:p>
                      <a:pPr marL="0" lvl="0" indent="0" algn="l" rtl="0">
                        <a:lnSpc>
                          <a:spcPct val="100000"/>
                        </a:lnSpc>
                        <a:spcBef>
                          <a:spcPts val="0"/>
                        </a:spcBef>
                        <a:spcAft>
                          <a:spcPts val="600"/>
                        </a:spcAft>
                        <a:buNone/>
                      </a:pPr>
                      <a:r>
                        <a:rPr lang="en-US" sz="900">
                          <a:solidFill>
                            <a:srgbClr val="27251E"/>
                          </a:solidFill>
                          <a:latin typeface="Calibri"/>
                          <a:ea typeface="Calibri"/>
                          <a:cs typeface="Calibri"/>
                          <a:sym typeface="Calibri"/>
                        </a:rPr>
                        <a:t>4. Train the model</a:t>
                      </a:r>
                      <a:endParaRPr sz="900">
                        <a:latin typeface="Calibri"/>
                        <a:ea typeface="Calibri"/>
                        <a:cs typeface="Calibri"/>
                        <a:sym typeface="Calibri"/>
                      </a:endParaRPr>
                    </a:p>
                  </a:txBody>
                  <a:tcPr marL="91425" marR="91425" marT="91425" marB="91425"/>
                </a:tc>
                <a:tc>
                  <a:txBody>
                    <a:bodyPr/>
                    <a:lstStyle/>
                    <a:p>
                      <a:pPr marL="0" lvl="0" indent="0" algn="l" rtl="0">
                        <a:lnSpc>
                          <a:spcPct val="100000"/>
                        </a:lnSpc>
                        <a:spcBef>
                          <a:spcPts val="0"/>
                        </a:spcBef>
                        <a:spcAft>
                          <a:spcPts val="0"/>
                        </a:spcAft>
                        <a:buNone/>
                      </a:pPr>
                      <a:r>
                        <a:rPr lang="en-US" sz="900">
                          <a:solidFill>
                            <a:srgbClr val="27251E"/>
                          </a:solidFill>
                          <a:latin typeface="Calibri"/>
                          <a:ea typeface="Calibri"/>
                          <a:cs typeface="Calibri"/>
                          <a:sym typeface="Calibri"/>
                        </a:rPr>
                        <a:t>Compute a loss between predictions and targets, then use gradient descent or SGD to update the learnable parameters. For supervised node classification, cross-entropy is a common loss</a:t>
                      </a:r>
                      <a:endParaRPr sz="900">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874075">
                <a:tc>
                  <a:txBody>
                    <a:bodyPr/>
                    <a:lstStyle/>
                    <a:p>
                      <a:pPr marL="0" lvl="0" indent="0" algn="l" rtl="0">
                        <a:lnSpc>
                          <a:spcPct val="100000"/>
                        </a:lnSpc>
                        <a:spcBef>
                          <a:spcPts val="0"/>
                        </a:spcBef>
                        <a:spcAft>
                          <a:spcPts val="0"/>
                        </a:spcAft>
                        <a:buNone/>
                      </a:pPr>
                      <a:r>
                        <a:rPr lang="en-US" sz="900">
                          <a:solidFill>
                            <a:srgbClr val="27251E"/>
                          </a:solidFill>
                          <a:latin typeface="Calibri"/>
                          <a:ea typeface="Calibri"/>
                          <a:cs typeface="Calibri"/>
                          <a:sym typeface="Calibri"/>
                        </a:rPr>
                        <a:t>5. Evaluate the model.</a:t>
                      </a:r>
                      <a:endParaRPr sz="900">
                        <a:solidFill>
                          <a:srgbClr val="27251E"/>
                        </a:solidFill>
                        <a:latin typeface="Calibri"/>
                        <a:ea typeface="Calibri"/>
                        <a:cs typeface="Calibri"/>
                        <a:sym typeface="Calibri"/>
                      </a:endParaRPr>
                    </a:p>
                    <a:p>
                      <a:pPr marL="0" lvl="0" indent="0" algn="l" rtl="0">
                        <a:lnSpc>
                          <a:spcPct val="100000"/>
                        </a:lnSpc>
                        <a:spcBef>
                          <a:spcPts val="600"/>
                        </a:spcBef>
                        <a:spcAft>
                          <a:spcPts val="0"/>
                        </a:spcAft>
                        <a:buNone/>
                      </a:pPr>
                      <a:endParaRPr sz="900">
                        <a:latin typeface="Calibri"/>
                        <a:ea typeface="Calibri"/>
                        <a:cs typeface="Calibri"/>
                        <a:sym typeface="Calibri"/>
                      </a:endParaRPr>
                    </a:p>
                  </a:txBody>
                  <a:tcPr marL="91425" marR="91425" marT="91425" marB="91425"/>
                </a:tc>
                <a:tc>
                  <a:txBody>
                    <a:bodyPr/>
                    <a:lstStyle/>
                    <a:p>
                      <a:pPr marL="0" lvl="0" indent="0" algn="l" rtl="0">
                        <a:lnSpc>
                          <a:spcPct val="100000"/>
                        </a:lnSpc>
                        <a:spcBef>
                          <a:spcPts val="0"/>
                        </a:spcBef>
                        <a:spcAft>
                          <a:spcPts val="0"/>
                        </a:spcAft>
                        <a:buNone/>
                      </a:pPr>
                      <a:r>
                        <a:rPr lang="en-US" sz="900">
                          <a:solidFill>
                            <a:srgbClr val="27251E"/>
                          </a:solidFill>
                          <a:latin typeface="Calibri"/>
                          <a:ea typeface="Calibri"/>
                          <a:cs typeface="Calibri"/>
                          <a:sym typeface="Calibri"/>
                        </a:rPr>
                        <a:t>Test the trained model on held-out data and measure performance with metrics such as accuracy, F1, or AUC depending on the task. Evaluation checks how well the learned embeddings generalize to unseen nodes, edges, or graphs.</a:t>
                      </a:r>
                      <a:endParaRPr sz="900">
                        <a:solidFill>
                          <a:srgbClr val="27251E"/>
                        </a:solidFill>
                        <a:latin typeface="Calibri"/>
                        <a:ea typeface="Calibri"/>
                        <a:cs typeface="Calibri"/>
                        <a:sym typeface="Calibri"/>
                      </a:endParaRPr>
                    </a:p>
                    <a:p>
                      <a:pPr marL="0" lvl="0" indent="0" algn="l" rtl="0">
                        <a:lnSpc>
                          <a:spcPct val="100000"/>
                        </a:lnSpc>
                        <a:spcBef>
                          <a:spcPts val="600"/>
                        </a:spcBef>
                        <a:spcAft>
                          <a:spcPts val="0"/>
                        </a:spcAft>
                        <a:buNone/>
                      </a:pPr>
                      <a:endParaRPr sz="90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900">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
        <p:cNvGrpSpPr/>
        <p:nvPr/>
      </p:nvGrpSpPr>
      <p:grpSpPr>
        <a:xfrm>
          <a:off x="0" y="0"/>
          <a:ext cx="0" cy="0"/>
          <a:chOff x="0" y="0"/>
          <a:chExt cx="0" cy="0"/>
        </a:xfrm>
      </p:grpSpPr>
      <p:sp>
        <p:nvSpPr>
          <p:cNvPr id="40" name="Google Shape;40;g3e82608f2fd_0_72"/>
          <p:cNvSpPr/>
          <p:nvPr/>
        </p:nvSpPr>
        <p:spPr>
          <a:xfrm>
            <a:off x="69995" y="62100"/>
            <a:ext cx="4732800" cy="5133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600"/>
              </a:spcAft>
              <a:buNone/>
            </a:pPr>
            <a:r>
              <a:rPr lang="en-US" sz="1900">
                <a:solidFill>
                  <a:srgbClr val="27251E"/>
                </a:solidFill>
                <a:latin typeface="Calibri"/>
                <a:ea typeface="Calibri"/>
                <a:cs typeface="Calibri"/>
                <a:sym typeface="Calibri"/>
              </a:rPr>
              <a:t>2. Define the GNN layers</a:t>
            </a:r>
            <a:endParaRPr sz="1900" b="1">
              <a:solidFill>
                <a:schemeClr val="dk1"/>
              </a:solidFill>
              <a:latin typeface="Calibri"/>
              <a:ea typeface="Calibri"/>
              <a:cs typeface="Calibri"/>
              <a:sym typeface="Calibri"/>
            </a:endParaRPr>
          </a:p>
        </p:txBody>
      </p:sp>
      <p:sp>
        <p:nvSpPr>
          <p:cNvPr id="41" name="Google Shape;41;g3e82608f2fd_0_72"/>
          <p:cNvSpPr txBox="1"/>
          <p:nvPr/>
        </p:nvSpPr>
        <p:spPr>
          <a:xfrm>
            <a:off x="196150" y="758325"/>
            <a:ext cx="5599500" cy="7941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rgbClr val="27251E"/>
              </a:buClr>
              <a:buSzPts val="1200"/>
              <a:buFont typeface="Georgia"/>
              <a:buChar char="●"/>
            </a:pPr>
            <a:r>
              <a:rPr lang="en-US" sz="1200">
                <a:solidFill>
                  <a:srgbClr val="27251E"/>
                </a:solidFill>
                <a:latin typeface="Georgia"/>
                <a:ea typeface="Georgia"/>
                <a:cs typeface="Georgia"/>
                <a:sym typeface="Georgia"/>
              </a:rPr>
              <a:t>Build layers that perform message passing.</a:t>
            </a:r>
            <a:endParaRPr sz="1200">
              <a:solidFill>
                <a:srgbClr val="27251E"/>
              </a:solidFill>
              <a:latin typeface="Georgia"/>
              <a:ea typeface="Georgia"/>
              <a:cs typeface="Georgia"/>
              <a:sym typeface="Georgia"/>
            </a:endParaRPr>
          </a:p>
          <a:p>
            <a:pPr marL="457200" lvl="0" indent="-304800" algn="l" rtl="0">
              <a:lnSpc>
                <a:spcPct val="115000"/>
              </a:lnSpc>
              <a:spcBef>
                <a:spcPts val="0"/>
              </a:spcBef>
              <a:spcAft>
                <a:spcPts val="0"/>
              </a:spcAft>
              <a:buClr>
                <a:srgbClr val="27251E"/>
              </a:buClr>
              <a:buSzPts val="1200"/>
              <a:buFont typeface="Georgia"/>
              <a:buChar char="●"/>
            </a:pPr>
            <a:r>
              <a:rPr lang="en-US" sz="1200">
                <a:solidFill>
                  <a:srgbClr val="27251E"/>
                </a:solidFill>
                <a:latin typeface="Georgia"/>
                <a:ea typeface="Georgia"/>
                <a:cs typeface="Georgia"/>
                <a:sym typeface="Georgia"/>
              </a:rPr>
              <a:t>Each layer lets a node gather information from its neighbors.</a:t>
            </a:r>
            <a:endParaRPr sz="1200">
              <a:solidFill>
                <a:srgbClr val="27251E"/>
              </a:solidFill>
              <a:latin typeface="Georgia"/>
              <a:ea typeface="Georgia"/>
              <a:cs typeface="Georgia"/>
              <a:sym typeface="Georgia"/>
            </a:endParaRPr>
          </a:p>
          <a:p>
            <a:pPr marL="457200" lvl="0" indent="-304800" algn="l" rtl="0">
              <a:lnSpc>
                <a:spcPct val="115000"/>
              </a:lnSpc>
              <a:spcBef>
                <a:spcPts val="0"/>
              </a:spcBef>
              <a:spcAft>
                <a:spcPts val="0"/>
              </a:spcAft>
              <a:buClr>
                <a:srgbClr val="27251E"/>
              </a:buClr>
              <a:buSzPts val="1200"/>
              <a:buFont typeface="Georgia"/>
              <a:buChar char="●"/>
            </a:pPr>
            <a:r>
              <a:rPr lang="en-US" sz="1200">
                <a:solidFill>
                  <a:srgbClr val="27251E"/>
                </a:solidFill>
                <a:latin typeface="Georgia"/>
                <a:ea typeface="Georgia"/>
                <a:cs typeface="Georgia"/>
                <a:sym typeface="Georgia"/>
              </a:rPr>
              <a:t>Stacking layers expands the model’s view to farther-away nodes.</a:t>
            </a:r>
            <a:endParaRPr sz="1200">
              <a:solidFill>
                <a:srgbClr val="27251E"/>
              </a:solidFill>
              <a:latin typeface="Georgia"/>
              <a:ea typeface="Georgia"/>
              <a:cs typeface="Georgia"/>
              <a:sym typeface="Georgia"/>
            </a:endParaRPr>
          </a:p>
        </p:txBody>
      </p:sp>
      <p:pic>
        <p:nvPicPr>
          <p:cNvPr id="42" name="Google Shape;42;g3e82608f2fd_0_72" title="Screenshot 2026-06-07 at 8.40.38 PM.png"/>
          <p:cNvPicPr preferRelativeResize="0"/>
          <p:nvPr/>
        </p:nvPicPr>
        <p:blipFill>
          <a:blip r:embed="rId3">
            <a:alphaModFix/>
          </a:blip>
          <a:stretch>
            <a:fillRect/>
          </a:stretch>
        </p:blipFill>
        <p:spPr>
          <a:xfrm>
            <a:off x="5233907" y="1951537"/>
            <a:ext cx="2542469" cy="3099658"/>
          </a:xfrm>
          <a:prstGeom prst="rect">
            <a:avLst/>
          </a:prstGeom>
          <a:noFill/>
          <a:ln>
            <a:noFill/>
          </a:ln>
        </p:spPr>
      </p:pic>
      <p:pic>
        <p:nvPicPr>
          <p:cNvPr id="43" name="Google Shape;43;g3e82608f2fd_0_72" title="Screenshot 2026-06-07 at 8.40.48 PM.png"/>
          <p:cNvPicPr preferRelativeResize="0"/>
          <p:nvPr/>
        </p:nvPicPr>
        <p:blipFill>
          <a:blip r:embed="rId4">
            <a:alphaModFix/>
          </a:blip>
          <a:stretch>
            <a:fillRect/>
          </a:stretch>
        </p:blipFill>
        <p:spPr>
          <a:xfrm>
            <a:off x="360700" y="1665325"/>
            <a:ext cx="2965499" cy="3263000"/>
          </a:xfrm>
          <a:prstGeom prst="rect">
            <a:avLst/>
          </a:prstGeom>
          <a:noFill/>
          <a:ln>
            <a:noFill/>
          </a:ln>
        </p:spPr>
      </p:pic>
      <p:pic>
        <p:nvPicPr>
          <p:cNvPr id="2" name="Google Shape;33;g3ecfd65e53c_0_2">
            <a:extLst>
              <a:ext uri="{FF2B5EF4-FFF2-40B4-BE49-F238E27FC236}">
                <a16:creationId xmlns:a16="http://schemas.microsoft.com/office/drawing/2014/main" id="{3508FFBD-8AE0-236E-57BB-05B19AAE7BCE}"/>
              </a:ext>
            </a:extLst>
          </p:cNvPr>
          <p:cNvPicPr preferRelativeResize="0"/>
          <p:nvPr/>
        </p:nvPicPr>
        <p:blipFill>
          <a:blip r:embed="rId5">
            <a:alphaModFix/>
          </a:blip>
          <a:stretch>
            <a:fillRect/>
          </a:stretch>
        </p:blipFill>
        <p:spPr>
          <a:xfrm>
            <a:off x="5400826" y="0"/>
            <a:ext cx="3673179" cy="1768612"/>
          </a:xfrm>
          <a:prstGeom prst="rect">
            <a:avLst/>
          </a:prstGeom>
          <a:noFill/>
          <a:ln>
            <a:noFill/>
          </a:ln>
        </p:spPr>
      </p:pic>
      <p:sp>
        <p:nvSpPr>
          <p:cNvPr id="3" name="Google Shape;52;g3ecfd65e53c_0_24">
            <a:extLst>
              <a:ext uri="{FF2B5EF4-FFF2-40B4-BE49-F238E27FC236}">
                <a16:creationId xmlns:a16="http://schemas.microsoft.com/office/drawing/2014/main" id="{D53C0562-1DC0-20B2-8412-BF5281DBC469}"/>
              </a:ext>
            </a:extLst>
          </p:cNvPr>
          <p:cNvSpPr/>
          <p:nvPr/>
        </p:nvSpPr>
        <p:spPr>
          <a:xfrm>
            <a:off x="5665540" y="403825"/>
            <a:ext cx="776432" cy="1261500"/>
          </a:xfrm>
          <a:prstGeom prst="rect">
            <a:avLst/>
          </a:prstGeom>
          <a:solidFill>
            <a:srgbClr val="FFFFFF">
              <a:alpha val="7840"/>
            </a:srgbClr>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g3ecfd65e53c_0_24"/>
          <p:cNvSpPr/>
          <p:nvPr/>
        </p:nvSpPr>
        <p:spPr>
          <a:xfrm>
            <a:off x="74020" y="113750"/>
            <a:ext cx="4732800" cy="5133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600"/>
              </a:spcAft>
              <a:buClr>
                <a:schemeClr val="dk1"/>
              </a:buClr>
              <a:buSzPts val="1100"/>
              <a:buFont typeface="Arial"/>
              <a:buNone/>
            </a:pPr>
            <a:r>
              <a:rPr lang="en-US" sz="1900">
                <a:solidFill>
                  <a:srgbClr val="27251E"/>
                </a:solidFill>
                <a:latin typeface="Calibri"/>
                <a:ea typeface="Calibri"/>
                <a:cs typeface="Calibri"/>
                <a:sym typeface="Calibri"/>
              </a:rPr>
              <a:t>3. Forward pass</a:t>
            </a:r>
            <a:endParaRPr sz="1900" b="1">
              <a:solidFill>
                <a:schemeClr val="dk1"/>
              </a:solidFill>
              <a:latin typeface="Calibri"/>
              <a:ea typeface="Calibri"/>
              <a:cs typeface="Calibri"/>
              <a:sym typeface="Calibri"/>
            </a:endParaRPr>
          </a:p>
        </p:txBody>
      </p:sp>
      <p:sp>
        <p:nvSpPr>
          <p:cNvPr id="50" name="Google Shape;50;g3ecfd65e53c_0_24"/>
          <p:cNvSpPr txBox="1"/>
          <p:nvPr/>
        </p:nvSpPr>
        <p:spPr>
          <a:xfrm>
            <a:off x="266525" y="679575"/>
            <a:ext cx="4899000" cy="10065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rgbClr val="27251E"/>
              </a:buClr>
              <a:buSzPts val="1200"/>
              <a:buFont typeface="Calibri"/>
              <a:buChar char="●"/>
            </a:pPr>
            <a:r>
              <a:rPr lang="en-US" sz="1200">
                <a:solidFill>
                  <a:srgbClr val="27251E"/>
                </a:solidFill>
                <a:latin typeface="Calibri"/>
                <a:ea typeface="Calibri"/>
                <a:cs typeface="Calibri"/>
                <a:sym typeface="Calibri"/>
              </a:rPr>
              <a:t>Send node features through the GNN layers.</a:t>
            </a:r>
            <a:endParaRPr sz="1200">
              <a:solidFill>
                <a:srgbClr val="27251E"/>
              </a:solidFill>
              <a:latin typeface="Calibri"/>
              <a:ea typeface="Calibri"/>
              <a:cs typeface="Calibri"/>
              <a:sym typeface="Calibri"/>
            </a:endParaRPr>
          </a:p>
          <a:p>
            <a:pPr marL="457200" lvl="0" indent="-304800" algn="l" rtl="0">
              <a:lnSpc>
                <a:spcPct val="115000"/>
              </a:lnSpc>
              <a:spcBef>
                <a:spcPts val="0"/>
              </a:spcBef>
              <a:spcAft>
                <a:spcPts val="0"/>
              </a:spcAft>
              <a:buClr>
                <a:srgbClr val="27251E"/>
              </a:buClr>
              <a:buSzPts val="1200"/>
              <a:buFont typeface="Calibri"/>
              <a:buChar char="●"/>
            </a:pPr>
            <a:r>
              <a:rPr lang="en-US" sz="1200">
                <a:solidFill>
                  <a:srgbClr val="27251E"/>
                </a:solidFill>
                <a:latin typeface="Calibri"/>
                <a:ea typeface="Calibri"/>
                <a:cs typeface="Calibri"/>
                <a:sym typeface="Calibri"/>
              </a:rPr>
              <a:t>Each layer updates node embeddings based on neighbor information.</a:t>
            </a:r>
            <a:endParaRPr sz="1200">
              <a:solidFill>
                <a:srgbClr val="27251E"/>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rgbClr val="27251E"/>
              </a:solidFill>
              <a:latin typeface="Georgia"/>
              <a:ea typeface="Georgia"/>
              <a:cs typeface="Georgia"/>
              <a:sym typeface="Georgia"/>
            </a:endParaRPr>
          </a:p>
        </p:txBody>
      </p:sp>
      <p:pic>
        <p:nvPicPr>
          <p:cNvPr id="51" name="Google Shape;51;g3ecfd65e53c_0_24"/>
          <p:cNvPicPr preferRelativeResize="0"/>
          <p:nvPr/>
        </p:nvPicPr>
        <p:blipFill>
          <a:blip r:embed="rId3">
            <a:alphaModFix/>
          </a:blip>
          <a:stretch>
            <a:fillRect/>
          </a:stretch>
        </p:blipFill>
        <p:spPr>
          <a:xfrm>
            <a:off x="1972475" y="1697200"/>
            <a:ext cx="5502766" cy="3092625"/>
          </a:xfrm>
          <a:prstGeom prst="rect">
            <a:avLst/>
          </a:prstGeom>
          <a:noFill/>
          <a:ln>
            <a:noFill/>
          </a:ln>
        </p:spPr>
      </p:pic>
      <p:sp>
        <p:nvSpPr>
          <p:cNvPr id="52" name="Google Shape;52;g3ecfd65e53c_0_24"/>
          <p:cNvSpPr/>
          <p:nvPr/>
        </p:nvSpPr>
        <p:spPr>
          <a:xfrm>
            <a:off x="4145425" y="2291825"/>
            <a:ext cx="1251300" cy="2476200"/>
          </a:xfrm>
          <a:prstGeom prst="rect">
            <a:avLst/>
          </a:prstGeom>
          <a:solidFill>
            <a:srgbClr val="FFFFFF">
              <a:alpha val="7840"/>
            </a:srgbClr>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 name="Google Shape;33;g3ecfd65e53c_0_2">
            <a:extLst>
              <a:ext uri="{FF2B5EF4-FFF2-40B4-BE49-F238E27FC236}">
                <a16:creationId xmlns:a16="http://schemas.microsoft.com/office/drawing/2014/main" id="{B0CF6286-2AC3-A03C-C578-019415262FD6}"/>
              </a:ext>
            </a:extLst>
          </p:cNvPr>
          <p:cNvPicPr preferRelativeResize="0"/>
          <p:nvPr/>
        </p:nvPicPr>
        <p:blipFill>
          <a:blip r:embed="rId4">
            <a:alphaModFix/>
          </a:blip>
          <a:stretch>
            <a:fillRect/>
          </a:stretch>
        </p:blipFill>
        <p:spPr>
          <a:xfrm>
            <a:off x="4508280" y="225280"/>
            <a:ext cx="4561700" cy="2280850"/>
          </a:xfrm>
          <a:prstGeom prst="rect">
            <a:avLst/>
          </a:prstGeom>
          <a:noFill/>
          <a:ln>
            <a:noFill/>
          </a:ln>
        </p:spPr>
      </p:pic>
      <p:sp>
        <p:nvSpPr>
          <p:cNvPr id="5" name="Google Shape;52;g3ecfd65e53c_0_24">
            <a:extLst>
              <a:ext uri="{FF2B5EF4-FFF2-40B4-BE49-F238E27FC236}">
                <a16:creationId xmlns:a16="http://schemas.microsoft.com/office/drawing/2014/main" id="{0227E707-37E7-7948-095E-E0C3D0D207EB}"/>
              </a:ext>
            </a:extLst>
          </p:cNvPr>
          <p:cNvSpPr/>
          <p:nvPr/>
        </p:nvSpPr>
        <p:spPr>
          <a:xfrm>
            <a:off x="6399195" y="261653"/>
            <a:ext cx="1251300" cy="2030171"/>
          </a:xfrm>
          <a:prstGeom prst="rect">
            <a:avLst/>
          </a:prstGeom>
          <a:solidFill>
            <a:srgbClr val="FFFFFF">
              <a:alpha val="7840"/>
            </a:srgbClr>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ecfd65e53c_0_35"/>
          <p:cNvSpPr txBox="1"/>
          <p:nvPr/>
        </p:nvSpPr>
        <p:spPr>
          <a:xfrm>
            <a:off x="0" y="0"/>
            <a:ext cx="3000000" cy="47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600"/>
              </a:spcAft>
              <a:buNone/>
            </a:pPr>
            <a:r>
              <a:rPr lang="en-US" sz="1900">
                <a:solidFill>
                  <a:srgbClr val="27251E"/>
                </a:solidFill>
                <a:latin typeface="Calibri"/>
                <a:ea typeface="Calibri"/>
                <a:cs typeface="Calibri"/>
                <a:sym typeface="Calibri"/>
              </a:rPr>
              <a:t>4. Train the model</a:t>
            </a:r>
            <a:endParaRPr sz="1900">
              <a:solidFill>
                <a:schemeClr val="dk1"/>
              </a:solidFill>
              <a:latin typeface="Calibri"/>
              <a:ea typeface="Calibri"/>
              <a:cs typeface="Calibri"/>
              <a:sym typeface="Calibri"/>
            </a:endParaRPr>
          </a:p>
        </p:txBody>
      </p:sp>
      <p:sp>
        <p:nvSpPr>
          <p:cNvPr id="59" name="Google Shape;59;g3ecfd65e53c_0_35"/>
          <p:cNvSpPr txBox="1"/>
          <p:nvPr/>
        </p:nvSpPr>
        <p:spPr>
          <a:xfrm>
            <a:off x="122500" y="1187725"/>
            <a:ext cx="35205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a:t>True labels:    [0,   1,   2,   1,   0  ]</a:t>
            </a:r>
            <a:endParaRPr sz="1200"/>
          </a:p>
          <a:p>
            <a:pPr marL="0" lvl="0" indent="0" algn="l" rtl="0">
              <a:spcBef>
                <a:spcPts val="0"/>
              </a:spcBef>
              <a:spcAft>
                <a:spcPts val="0"/>
              </a:spcAft>
              <a:buNone/>
            </a:pPr>
            <a:r>
              <a:rPr lang="en-US" sz="1200"/>
              <a:t>Predicted:      [0,   1,   2,   2,   0  ]</a:t>
            </a:r>
            <a:endParaRPr sz="1200"/>
          </a:p>
          <a:p>
            <a:pPr marL="0" lvl="0" indent="0" algn="l" rtl="0">
              <a:spcBef>
                <a:spcPts val="0"/>
              </a:spcBef>
              <a:spcAft>
                <a:spcPts val="0"/>
              </a:spcAft>
              <a:buNone/>
            </a:pPr>
            <a:r>
              <a:rPr lang="en-US" sz="1200"/>
              <a:t>                 ✓    ✓    ✓    ✗    ✓</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US" sz="1200"/>
              <a:t>Cross-Entropy Loss = -Σ y_true · log(y_pred)</a:t>
            </a:r>
            <a:endParaRPr sz="1200"/>
          </a:p>
          <a:p>
            <a:pPr marL="0" lvl="0" indent="0" algn="l" rtl="0">
              <a:spcBef>
                <a:spcPts val="0"/>
              </a:spcBef>
              <a:spcAft>
                <a:spcPts val="0"/>
              </a:spcAft>
              <a:buNone/>
            </a:pPr>
            <a:r>
              <a:rPr lang="en-US" sz="1200"/>
              <a:t>                   = 0.85  ← lower is better</a:t>
            </a:r>
            <a:endParaRPr sz="1200"/>
          </a:p>
        </p:txBody>
      </p:sp>
      <p:sp>
        <p:nvSpPr>
          <p:cNvPr id="60" name="Google Shape;60;g3ecfd65e53c_0_35"/>
          <p:cNvSpPr txBox="1"/>
          <p:nvPr/>
        </p:nvSpPr>
        <p:spPr>
          <a:xfrm>
            <a:off x="78750" y="606013"/>
            <a:ext cx="3000000" cy="58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200">
                <a:solidFill>
                  <a:srgbClr val="2563EB"/>
                </a:solidFill>
                <a:latin typeface="Calibri"/>
                <a:ea typeface="Calibri"/>
                <a:cs typeface="Calibri"/>
                <a:sym typeface="Calibri"/>
              </a:rPr>
              <a:t>Compare predictions with the true labels using a loss function.</a:t>
            </a:r>
            <a:endParaRPr>
              <a:solidFill>
                <a:srgbClr val="2563EB"/>
              </a:solidFill>
              <a:latin typeface="Calibri"/>
              <a:ea typeface="Calibri"/>
              <a:cs typeface="Calibri"/>
              <a:sym typeface="Calibri"/>
            </a:endParaRPr>
          </a:p>
        </p:txBody>
      </p:sp>
      <p:sp>
        <p:nvSpPr>
          <p:cNvPr id="61" name="Google Shape;61;g3ecfd65e53c_0_35"/>
          <p:cNvSpPr txBox="1"/>
          <p:nvPr/>
        </p:nvSpPr>
        <p:spPr>
          <a:xfrm>
            <a:off x="3500100" y="612025"/>
            <a:ext cx="22341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a:solidFill>
                  <a:srgbClr val="2563EB"/>
                </a:solidFill>
              </a:rPr>
              <a:t>Backpropagate the error and update the weights</a:t>
            </a:r>
            <a:endParaRPr sz="1200">
              <a:solidFill>
                <a:srgbClr val="2563EB"/>
              </a:solidFill>
            </a:endParaRPr>
          </a:p>
        </p:txBody>
      </p:sp>
      <p:sp>
        <p:nvSpPr>
          <p:cNvPr id="62" name="Google Shape;62;g3ecfd65e53c_0_35"/>
          <p:cNvSpPr txBox="1"/>
          <p:nvPr/>
        </p:nvSpPr>
        <p:spPr>
          <a:xfrm>
            <a:off x="2896300" y="2710550"/>
            <a:ext cx="3109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a:t>loss.backward()       # compute gradients</a:t>
            </a:r>
            <a:endParaRPr sz="1200"/>
          </a:p>
          <a:p>
            <a:pPr marL="0" lvl="0" indent="0" algn="l" rtl="0">
              <a:spcBef>
                <a:spcPts val="0"/>
              </a:spcBef>
              <a:spcAft>
                <a:spcPts val="0"/>
              </a:spcAft>
              <a:buNone/>
            </a:pPr>
            <a:r>
              <a:rPr lang="en-US" sz="1200"/>
              <a:t>optimizer.step()      # update all weights W</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US" sz="1200"/>
              <a:t>W_new = W_old - lr · ∇Loss</a:t>
            </a:r>
            <a:endParaRPr sz="1200"/>
          </a:p>
          <a:p>
            <a:pPr marL="0" lvl="0" indent="0" algn="l" rtl="0">
              <a:spcBef>
                <a:spcPts val="0"/>
              </a:spcBef>
              <a:spcAft>
                <a:spcPts val="0"/>
              </a:spcAft>
              <a:buNone/>
            </a:pPr>
            <a:r>
              <a:rPr lang="en-US" sz="1200"/>
              <a:t>      = W_old - 0.01 · ∇Loss</a:t>
            </a:r>
            <a:endParaRPr sz="1200"/>
          </a:p>
        </p:txBody>
      </p:sp>
      <p:cxnSp>
        <p:nvCxnSpPr>
          <p:cNvPr id="63" name="Google Shape;63;g3ecfd65e53c_0_35"/>
          <p:cNvCxnSpPr>
            <a:stCxn id="60" idx="3"/>
            <a:endCxn id="61" idx="1"/>
          </p:cNvCxnSpPr>
          <p:nvPr/>
        </p:nvCxnSpPr>
        <p:spPr>
          <a:xfrm rot="10800000" flipH="1">
            <a:off x="3078750" y="889063"/>
            <a:ext cx="421500" cy="7800"/>
          </a:xfrm>
          <a:prstGeom prst="straightConnector1">
            <a:avLst/>
          </a:prstGeom>
          <a:noFill/>
          <a:ln w="38100" cap="flat" cmpd="sng">
            <a:solidFill>
              <a:schemeClr val="dk2"/>
            </a:solidFill>
            <a:prstDash val="solid"/>
            <a:round/>
            <a:headEnd type="none" w="med" len="med"/>
            <a:tailEnd type="triangle" w="med" len="med"/>
          </a:ln>
        </p:spPr>
      </p:cxnSp>
      <p:cxnSp>
        <p:nvCxnSpPr>
          <p:cNvPr id="64" name="Google Shape;64;g3ecfd65e53c_0_35"/>
          <p:cNvCxnSpPr/>
          <p:nvPr/>
        </p:nvCxnSpPr>
        <p:spPr>
          <a:xfrm rot="10800000" flipH="1">
            <a:off x="5829975" y="885163"/>
            <a:ext cx="421500" cy="7800"/>
          </a:xfrm>
          <a:prstGeom prst="straightConnector1">
            <a:avLst/>
          </a:prstGeom>
          <a:noFill/>
          <a:ln w="38100" cap="flat" cmpd="sng">
            <a:solidFill>
              <a:schemeClr val="dk2"/>
            </a:solidFill>
            <a:prstDash val="solid"/>
            <a:round/>
            <a:headEnd type="none" w="med" len="med"/>
            <a:tailEnd type="triangle" w="med" len="med"/>
          </a:ln>
        </p:spPr>
      </p:cxnSp>
      <p:sp>
        <p:nvSpPr>
          <p:cNvPr id="65" name="Google Shape;65;g3ecfd65e53c_0_35"/>
          <p:cNvSpPr txBox="1"/>
          <p:nvPr/>
        </p:nvSpPr>
        <p:spPr>
          <a:xfrm>
            <a:off x="6487750" y="717025"/>
            <a:ext cx="2392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a:solidFill>
                  <a:srgbClr val="2563EB"/>
                </a:solidFill>
              </a:rPr>
              <a:t>Repeat for multiple epochs until performance improves</a:t>
            </a:r>
            <a:endParaRPr sz="1200">
              <a:solidFill>
                <a:srgbClr val="2563EB"/>
              </a:solidFill>
            </a:endParaRPr>
          </a:p>
        </p:txBody>
      </p:sp>
      <p:sp>
        <p:nvSpPr>
          <p:cNvPr id="66" name="Google Shape;66;g3ecfd65e53c_0_35"/>
          <p:cNvSpPr txBox="1"/>
          <p:nvPr/>
        </p:nvSpPr>
        <p:spPr>
          <a:xfrm>
            <a:off x="5734200" y="1417550"/>
            <a:ext cx="34521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a:t>Epoch   1  →  Loss: 1.94  |  Accuracy: 42%</a:t>
            </a:r>
            <a:endParaRPr sz="1200"/>
          </a:p>
          <a:p>
            <a:pPr marL="0" lvl="0" indent="0" algn="l" rtl="0">
              <a:spcBef>
                <a:spcPts val="0"/>
              </a:spcBef>
              <a:spcAft>
                <a:spcPts val="0"/>
              </a:spcAft>
              <a:buNone/>
            </a:pPr>
            <a:r>
              <a:rPr lang="en-US" sz="1200"/>
              <a:t>Epoch  10  →  Loss: 1.21  |  Accuracy: 65%</a:t>
            </a:r>
            <a:endParaRPr sz="1200"/>
          </a:p>
          <a:p>
            <a:pPr marL="0" lvl="0" indent="0" algn="l" rtl="0">
              <a:spcBef>
                <a:spcPts val="0"/>
              </a:spcBef>
              <a:spcAft>
                <a:spcPts val="0"/>
              </a:spcAft>
              <a:buNone/>
            </a:pPr>
            <a:r>
              <a:rPr lang="en-US" sz="1200"/>
              <a:t>Epoch  50  →  Loss: 0.63  |  Accuracy: 78%</a:t>
            </a:r>
            <a:endParaRPr sz="1200"/>
          </a:p>
          <a:p>
            <a:pPr marL="0" lvl="0" indent="0" algn="l" rtl="0">
              <a:spcBef>
                <a:spcPts val="0"/>
              </a:spcBef>
              <a:spcAft>
                <a:spcPts val="0"/>
              </a:spcAft>
              <a:buNone/>
            </a:pPr>
            <a:r>
              <a:rPr lang="en-US" sz="1200"/>
              <a:t>Epoch 100  →  Loss: 0.41  |  Accuracy: 85%</a:t>
            </a:r>
            <a:endParaRPr sz="1200"/>
          </a:p>
          <a:p>
            <a:pPr marL="0" lvl="0" indent="0" algn="l" rtl="0">
              <a:spcBef>
                <a:spcPts val="0"/>
              </a:spcBef>
              <a:spcAft>
                <a:spcPts val="0"/>
              </a:spcAft>
              <a:buNone/>
            </a:pPr>
            <a:r>
              <a:rPr lang="en-US" sz="1200"/>
              <a:t>Epoch 200  →  Loss: 0.28  |  Accuracy: 91%</a:t>
            </a:r>
            <a:endParaRPr sz="1200"/>
          </a:p>
          <a:p>
            <a:pPr marL="0" lvl="0" indent="0" algn="l" rtl="0">
              <a:spcBef>
                <a:spcPts val="0"/>
              </a:spcBef>
              <a:spcAft>
                <a:spcPts val="0"/>
              </a:spcAft>
              <a:buNone/>
            </a:pPr>
            <a:r>
              <a:rPr lang="en-US" sz="1200"/>
              <a:t>              ↓ loss           ↑ accuracy</a:t>
            </a:r>
            <a:endParaRPr sz="1200"/>
          </a:p>
        </p:txBody>
      </p:sp>
      <p:pic>
        <p:nvPicPr>
          <p:cNvPr id="3" name="Google Shape;33;g3ecfd65e53c_0_2">
            <a:extLst>
              <a:ext uri="{FF2B5EF4-FFF2-40B4-BE49-F238E27FC236}">
                <a16:creationId xmlns:a16="http://schemas.microsoft.com/office/drawing/2014/main" id="{132E4D73-6538-1F9F-4E9B-21C42D84FC69}"/>
              </a:ext>
            </a:extLst>
          </p:cNvPr>
          <p:cNvPicPr preferRelativeResize="0"/>
          <p:nvPr/>
        </p:nvPicPr>
        <p:blipFill>
          <a:blip r:embed="rId3">
            <a:alphaModFix/>
          </a:blip>
          <a:stretch>
            <a:fillRect/>
          </a:stretch>
        </p:blipFill>
        <p:spPr>
          <a:xfrm>
            <a:off x="6005500" y="3355450"/>
            <a:ext cx="3007100" cy="1635950"/>
          </a:xfrm>
          <a:prstGeom prst="rect">
            <a:avLst/>
          </a:prstGeom>
          <a:noFill/>
          <a:ln>
            <a:noFill/>
          </a:ln>
        </p:spPr>
      </p:pic>
      <p:sp>
        <p:nvSpPr>
          <p:cNvPr id="5" name="Google Shape;52;g3ecfd65e53c_0_24">
            <a:extLst>
              <a:ext uri="{FF2B5EF4-FFF2-40B4-BE49-F238E27FC236}">
                <a16:creationId xmlns:a16="http://schemas.microsoft.com/office/drawing/2014/main" id="{714F077E-689F-6BAC-8FF0-1D2C3C51BE60}"/>
              </a:ext>
            </a:extLst>
          </p:cNvPr>
          <p:cNvSpPr/>
          <p:nvPr/>
        </p:nvSpPr>
        <p:spPr>
          <a:xfrm>
            <a:off x="7933055" y="3818750"/>
            <a:ext cx="358065" cy="676401"/>
          </a:xfrm>
          <a:prstGeom prst="rect">
            <a:avLst/>
          </a:prstGeom>
          <a:solidFill>
            <a:srgbClr val="FFFFFF">
              <a:alpha val="7840"/>
            </a:srgbClr>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g3ecfd65e53c_0_45"/>
          <p:cNvSpPr txBox="1"/>
          <p:nvPr/>
        </p:nvSpPr>
        <p:spPr>
          <a:xfrm>
            <a:off x="0" y="0"/>
            <a:ext cx="3000000" cy="47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600"/>
              </a:spcAft>
              <a:buNone/>
            </a:pPr>
            <a:r>
              <a:rPr lang="en-US" sz="1900">
                <a:solidFill>
                  <a:srgbClr val="27251E"/>
                </a:solidFill>
                <a:latin typeface="Calibri"/>
                <a:ea typeface="Calibri"/>
                <a:cs typeface="Calibri"/>
                <a:sym typeface="Calibri"/>
              </a:rPr>
              <a:t>5. Evaluate the model</a:t>
            </a:r>
            <a:endParaRPr sz="1900">
              <a:solidFill>
                <a:srgbClr val="27251E"/>
              </a:solidFill>
              <a:latin typeface="Calibri"/>
              <a:ea typeface="Calibri"/>
              <a:cs typeface="Calibri"/>
              <a:sym typeface="Calibri"/>
            </a:endParaRPr>
          </a:p>
        </p:txBody>
      </p:sp>
      <p:sp>
        <p:nvSpPr>
          <p:cNvPr id="73" name="Google Shape;73;g3ecfd65e53c_0_45"/>
          <p:cNvSpPr txBox="1"/>
          <p:nvPr/>
        </p:nvSpPr>
        <p:spPr>
          <a:xfrm>
            <a:off x="175000" y="253750"/>
            <a:ext cx="7930500" cy="206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200">
              <a:solidFill>
                <a:srgbClr val="27251E"/>
              </a:solidFill>
              <a:latin typeface="Georgia"/>
              <a:ea typeface="Georgia"/>
              <a:cs typeface="Georgia"/>
              <a:sym typeface="Georgia"/>
            </a:endParaRPr>
          </a:p>
          <a:p>
            <a:pPr marL="0" lvl="0" indent="0" algn="l" rtl="0">
              <a:lnSpc>
                <a:spcPct val="115000"/>
              </a:lnSpc>
              <a:spcBef>
                <a:spcPts val="0"/>
              </a:spcBef>
              <a:spcAft>
                <a:spcPts val="0"/>
              </a:spcAft>
              <a:buNone/>
            </a:pPr>
            <a:r>
              <a:rPr lang="en-US" sz="1200">
                <a:solidFill>
                  <a:srgbClr val="27251E"/>
                </a:solidFill>
                <a:latin typeface="Georgia"/>
                <a:ea typeface="Georgia"/>
                <a:cs typeface="Georgia"/>
                <a:sym typeface="Georgia"/>
              </a:rPr>
              <a:t>- Accuracy → for balanced node classification </a:t>
            </a:r>
            <a:endParaRPr sz="1200">
              <a:solidFill>
                <a:srgbClr val="27251E"/>
              </a:solidFill>
              <a:latin typeface="Georgia"/>
              <a:ea typeface="Georgia"/>
              <a:cs typeface="Georgia"/>
              <a:sym typeface="Georgia"/>
            </a:endParaRPr>
          </a:p>
          <a:p>
            <a:pPr marL="0" lvl="0" indent="0" algn="l" rtl="0">
              <a:lnSpc>
                <a:spcPct val="115000"/>
              </a:lnSpc>
              <a:spcBef>
                <a:spcPts val="0"/>
              </a:spcBef>
              <a:spcAft>
                <a:spcPts val="0"/>
              </a:spcAft>
              <a:buNone/>
            </a:pPr>
            <a:r>
              <a:rPr lang="en-US" sz="1200">
                <a:solidFill>
                  <a:srgbClr val="27251E"/>
                </a:solidFill>
                <a:latin typeface="Georgia"/>
                <a:ea typeface="Georgia"/>
                <a:cs typeface="Georgia"/>
                <a:sym typeface="Georgia"/>
              </a:rPr>
              <a:t>- F1 Score → for imbalanced class distributions </a:t>
            </a:r>
            <a:endParaRPr sz="1200">
              <a:solidFill>
                <a:srgbClr val="27251E"/>
              </a:solidFill>
              <a:latin typeface="Georgia"/>
              <a:ea typeface="Georgia"/>
              <a:cs typeface="Georgia"/>
              <a:sym typeface="Georgia"/>
            </a:endParaRPr>
          </a:p>
          <a:p>
            <a:pPr marL="0" lvl="0" indent="0" algn="l" rtl="0">
              <a:lnSpc>
                <a:spcPct val="115000"/>
              </a:lnSpc>
              <a:spcBef>
                <a:spcPts val="0"/>
              </a:spcBef>
              <a:spcAft>
                <a:spcPts val="0"/>
              </a:spcAft>
              <a:buNone/>
            </a:pPr>
            <a:r>
              <a:rPr lang="en-US" sz="1200">
                <a:solidFill>
                  <a:srgbClr val="27251E"/>
                </a:solidFill>
                <a:latin typeface="Georgia"/>
                <a:ea typeface="Georgia"/>
                <a:cs typeface="Georgia"/>
                <a:sym typeface="Georgia"/>
              </a:rPr>
              <a:t>- AUC → for ranking/link prediction tasks </a:t>
            </a:r>
            <a:endParaRPr sz="1200">
              <a:solidFill>
                <a:srgbClr val="27251E"/>
              </a:solidFill>
              <a:latin typeface="Georgia"/>
              <a:ea typeface="Georgia"/>
              <a:cs typeface="Georgia"/>
              <a:sym typeface="Georgia"/>
            </a:endParaRPr>
          </a:p>
          <a:p>
            <a:pPr marL="457200" lvl="0" indent="0" algn="l" rtl="0">
              <a:lnSpc>
                <a:spcPct val="115000"/>
              </a:lnSpc>
              <a:spcBef>
                <a:spcPts val="0"/>
              </a:spcBef>
              <a:spcAft>
                <a:spcPts val="0"/>
              </a:spcAft>
              <a:buNone/>
            </a:pPr>
            <a:endParaRPr sz="1200">
              <a:solidFill>
                <a:srgbClr val="27251E"/>
              </a:solidFill>
              <a:latin typeface="Georgia"/>
              <a:ea typeface="Georgia"/>
              <a:cs typeface="Georgia"/>
              <a:sym typeface="Georgia"/>
            </a:endParaRPr>
          </a:p>
          <a:p>
            <a:pPr marL="0" lvl="0" indent="0" algn="l" rtl="0">
              <a:lnSpc>
                <a:spcPct val="115000"/>
              </a:lnSpc>
              <a:spcBef>
                <a:spcPts val="0"/>
              </a:spcBef>
              <a:spcAft>
                <a:spcPts val="0"/>
              </a:spcAft>
              <a:buNone/>
            </a:pPr>
            <a:r>
              <a:rPr lang="en-US" sz="1200">
                <a:solidFill>
                  <a:srgbClr val="27251E"/>
                </a:solidFill>
                <a:latin typeface="Georgia"/>
                <a:ea typeface="Georgia"/>
                <a:cs typeface="Georgia"/>
                <a:sym typeface="Georgia"/>
              </a:rPr>
              <a:t>Test on held-out nodes (test_mask) the model has never seen during training. </a:t>
            </a:r>
            <a:endParaRPr sz="1200">
              <a:solidFill>
                <a:srgbClr val="27251E"/>
              </a:solidFill>
              <a:latin typeface="Georgia"/>
              <a:ea typeface="Georgia"/>
              <a:cs typeface="Georgia"/>
              <a:sym typeface="Georgia"/>
            </a:endParaRPr>
          </a:p>
          <a:p>
            <a:pPr marL="457200" lvl="0" indent="0" algn="l" rtl="0">
              <a:lnSpc>
                <a:spcPct val="115000"/>
              </a:lnSpc>
              <a:spcBef>
                <a:spcPts val="0"/>
              </a:spcBef>
              <a:spcAft>
                <a:spcPts val="0"/>
              </a:spcAft>
              <a:buNone/>
            </a:pPr>
            <a:endParaRPr sz="1200">
              <a:solidFill>
                <a:srgbClr val="27251E"/>
              </a:solidFill>
              <a:latin typeface="Georgia"/>
              <a:ea typeface="Georgia"/>
              <a:cs typeface="Georgia"/>
              <a:sym typeface="Georgia"/>
            </a:endParaRPr>
          </a:p>
          <a:p>
            <a:pPr marL="0" lvl="0" indent="0" algn="l" rtl="0">
              <a:lnSpc>
                <a:spcPct val="115000"/>
              </a:lnSpc>
              <a:spcBef>
                <a:spcPts val="0"/>
              </a:spcBef>
              <a:spcAft>
                <a:spcPts val="0"/>
              </a:spcAft>
              <a:buNone/>
            </a:pPr>
            <a:r>
              <a:rPr lang="en-US" sz="1200">
                <a:solidFill>
                  <a:srgbClr val="27251E"/>
                </a:solidFill>
                <a:latin typeface="Georgia"/>
                <a:ea typeface="Georgia"/>
                <a:cs typeface="Georgia"/>
                <a:sym typeface="Georgia"/>
              </a:rPr>
              <a:t>Result: Accuracy = 91%  shows: Out of the test_mask nodes it had  never seen during training → it correctly classified 91 of every 100</a:t>
            </a:r>
            <a:endParaRPr sz="1200">
              <a:solidFill>
                <a:srgbClr val="27251E"/>
              </a:solidFill>
              <a:latin typeface="Georgia"/>
              <a:ea typeface="Georgia"/>
              <a:cs typeface="Georgia"/>
              <a:sym typeface="Georgia"/>
            </a:endParaRPr>
          </a:p>
        </p:txBody>
      </p:sp>
      <p:pic>
        <p:nvPicPr>
          <p:cNvPr id="74" name="Google Shape;74;g3ecfd65e53c_0_45"/>
          <p:cNvPicPr preferRelativeResize="0"/>
          <p:nvPr/>
        </p:nvPicPr>
        <p:blipFill>
          <a:blip r:embed="rId3">
            <a:alphaModFix/>
          </a:blip>
          <a:stretch>
            <a:fillRect/>
          </a:stretch>
        </p:blipFill>
        <p:spPr>
          <a:xfrm>
            <a:off x="5192525" y="2249900"/>
            <a:ext cx="3858125" cy="2893600"/>
          </a:xfrm>
          <a:prstGeom prst="rect">
            <a:avLst/>
          </a:prstGeom>
          <a:noFill/>
          <a:ln>
            <a:noFill/>
          </a:ln>
        </p:spPr>
      </p:pic>
      <p:pic>
        <p:nvPicPr>
          <p:cNvPr id="75" name="Google Shape;75;g3ecfd65e53c_0_45"/>
          <p:cNvPicPr preferRelativeResize="0"/>
          <p:nvPr/>
        </p:nvPicPr>
        <p:blipFill>
          <a:blip r:embed="rId4">
            <a:alphaModFix/>
          </a:blip>
          <a:stretch>
            <a:fillRect/>
          </a:stretch>
        </p:blipFill>
        <p:spPr>
          <a:xfrm>
            <a:off x="277400" y="2446890"/>
            <a:ext cx="4915125" cy="224361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g3e82608f2fd_0_26"/>
          <p:cNvSpPr txBox="1"/>
          <p:nvPr/>
        </p:nvSpPr>
        <p:spPr>
          <a:xfrm>
            <a:off x="391450" y="121675"/>
            <a:ext cx="2543100" cy="40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Convolutional Neural Network</a:t>
            </a:r>
            <a:endParaRPr/>
          </a:p>
        </p:txBody>
      </p:sp>
      <p:sp>
        <p:nvSpPr>
          <p:cNvPr id="82" name="Google Shape;82;g3e82608f2fd_0_26"/>
          <p:cNvSpPr txBox="1"/>
          <p:nvPr/>
        </p:nvSpPr>
        <p:spPr>
          <a:xfrm>
            <a:off x="330975" y="528475"/>
            <a:ext cx="4222200" cy="4068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US"/>
              <a:t>Input: Regular grid. Every pixel has the same neighbors.</a:t>
            </a:r>
            <a:endParaRPr/>
          </a:p>
          <a:p>
            <a:pPr marL="457200" lvl="0" indent="-317500" algn="l" rtl="0">
              <a:spcBef>
                <a:spcPts val="0"/>
              </a:spcBef>
              <a:spcAft>
                <a:spcPts val="0"/>
              </a:spcAft>
              <a:buSzPts val="1400"/>
              <a:buChar char="-"/>
            </a:pPr>
            <a:r>
              <a:rPr lang="en-US"/>
              <a:t>Image as a Pixel Grid Matrix</a:t>
            </a:r>
            <a:endParaRPr/>
          </a:p>
        </p:txBody>
      </p:sp>
      <p:sp>
        <p:nvSpPr>
          <p:cNvPr id="83" name="Google Shape;83;g3e82608f2fd_0_26"/>
          <p:cNvSpPr txBox="1"/>
          <p:nvPr/>
        </p:nvSpPr>
        <p:spPr>
          <a:xfrm>
            <a:off x="5439165" y="121664"/>
            <a:ext cx="2543100" cy="40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Graph neural network</a:t>
            </a:r>
            <a:endParaRPr/>
          </a:p>
        </p:txBody>
      </p:sp>
      <p:sp>
        <p:nvSpPr>
          <p:cNvPr id="84" name="Google Shape;84;g3e82608f2fd_0_26"/>
          <p:cNvSpPr txBox="1"/>
          <p:nvPr/>
        </p:nvSpPr>
        <p:spPr>
          <a:xfrm>
            <a:off x="4832925" y="528475"/>
            <a:ext cx="4025100" cy="10467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Char char="-"/>
            </a:pPr>
            <a:r>
              <a:rPr lang="en-US">
                <a:solidFill>
                  <a:schemeClr val="dk1"/>
                </a:solidFill>
              </a:rPr>
              <a:t>Input: Irregular graph. Each node can have any number of neighbors.</a:t>
            </a:r>
            <a:endParaRPr>
              <a:solidFill>
                <a:schemeClr val="dk1"/>
              </a:solidFill>
            </a:endParaRPr>
          </a:p>
          <a:p>
            <a:pPr marL="0" lvl="0" indent="0" algn="l" rtl="0">
              <a:spcBef>
                <a:spcPts val="0"/>
              </a:spcBef>
              <a:spcAft>
                <a:spcPts val="0"/>
              </a:spcAft>
              <a:buNone/>
            </a:pPr>
            <a:endParaRPr>
              <a:solidFill>
                <a:schemeClr val="dk1"/>
              </a:solidFill>
            </a:endParaRPr>
          </a:p>
          <a:p>
            <a:pPr marL="457200" lvl="0" indent="-317500" algn="l" rtl="0">
              <a:spcBef>
                <a:spcPts val="0"/>
              </a:spcBef>
              <a:spcAft>
                <a:spcPts val="0"/>
              </a:spcAft>
              <a:buClr>
                <a:schemeClr val="dk1"/>
              </a:buClr>
              <a:buSzPts val="1400"/>
              <a:buChar char="-"/>
            </a:pPr>
            <a:r>
              <a:rPr lang="en-US">
                <a:solidFill>
                  <a:schemeClr val="dk1"/>
                </a:solidFill>
              </a:rPr>
              <a:t>Graph as Node Features + Edge List</a:t>
            </a:r>
            <a:endParaRPr>
              <a:solidFill>
                <a:schemeClr val="dk1"/>
              </a:solidFill>
            </a:endParaRPr>
          </a:p>
        </p:txBody>
      </p:sp>
      <p:sp>
        <p:nvSpPr>
          <p:cNvPr id="85" name="Google Shape;85;g3e82608f2fd_0_26"/>
          <p:cNvSpPr txBox="1"/>
          <p:nvPr/>
        </p:nvSpPr>
        <p:spPr>
          <a:xfrm>
            <a:off x="391450" y="1451450"/>
            <a:ext cx="3494400" cy="3570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graph.x  (3×5×5 tensor — RGB image, 5×5 pixels)</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US" sz="1000"/>
              <a:t>Channel R:</a:t>
            </a:r>
            <a:endParaRPr sz="1000"/>
          </a:p>
          <a:p>
            <a:pPr marL="0" lvl="0" indent="0" algn="l" rtl="0">
              <a:spcBef>
                <a:spcPts val="0"/>
              </a:spcBef>
              <a:spcAft>
                <a:spcPts val="0"/>
              </a:spcAft>
              <a:buNone/>
            </a:pPr>
            <a:r>
              <a:rPr lang="en-US" sz="1000"/>
              <a:t>[[120, 130, 125, 118, 110],</a:t>
            </a:r>
            <a:endParaRPr sz="1000"/>
          </a:p>
          <a:p>
            <a:pPr marL="0" lvl="0" indent="0" algn="l" rtl="0">
              <a:spcBef>
                <a:spcPts val="0"/>
              </a:spcBef>
              <a:spcAft>
                <a:spcPts val="0"/>
              </a:spcAft>
              <a:buNone/>
            </a:pPr>
            <a:r>
              <a:rPr lang="en-US" sz="1000"/>
              <a:t> [135, 140, 128, 122, 115],</a:t>
            </a:r>
            <a:endParaRPr sz="1000"/>
          </a:p>
          <a:p>
            <a:pPr marL="0" lvl="0" indent="0" algn="l" rtl="0">
              <a:spcBef>
                <a:spcPts val="0"/>
              </a:spcBef>
              <a:spcAft>
                <a:spcPts val="0"/>
              </a:spcAft>
              <a:buNone/>
            </a:pPr>
            <a:r>
              <a:rPr lang="en-US" sz="1000"/>
              <a:t> [118, 125, 132, 140, 138],</a:t>
            </a:r>
            <a:endParaRPr sz="1000"/>
          </a:p>
          <a:p>
            <a:pPr marL="0" lvl="0" indent="0" algn="l" rtl="0">
              <a:spcBef>
                <a:spcPts val="0"/>
              </a:spcBef>
              <a:spcAft>
                <a:spcPts val="0"/>
              </a:spcAft>
              <a:buNone/>
            </a:pPr>
            <a:r>
              <a:rPr lang="en-US" sz="1000"/>
              <a:t> [110, 115, 120, 130, 135],</a:t>
            </a:r>
            <a:endParaRPr sz="1000"/>
          </a:p>
          <a:p>
            <a:pPr marL="0" lvl="0" indent="0" algn="l" rtl="0">
              <a:spcBef>
                <a:spcPts val="0"/>
              </a:spcBef>
              <a:spcAft>
                <a:spcPts val="0"/>
              </a:spcAft>
              <a:buNone/>
            </a:pPr>
            <a:r>
              <a:rPr lang="en-US" sz="1000"/>
              <a:t> [105, 112, 118, 125, 128]]</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US" sz="1000"/>
              <a:t>Channel G:</a:t>
            </a:r>
            <a:endParaRPr sz="1000"/>
          </a:p>
          <a:p>
            <a:pPr marL="0" lvl="0" indent="0" algn="l" rtl="0">
              <a:spcBef>
                <a:spcPts val="0"/>
              </a:spcBef>
              <a:spcAft>
                <a:spcPts val="0"/>
              </a:spcAft>
              <a:buNone/>
            </a:pPr>
            <a:r>
              <a:rPr lang="en-US" sz="1000"/>
              <a:t>[[ 80,  85,  90,  88,  82],</a:t>
            </a:r>
            <a:endParaRPr sz="1000"/>
          </a:p>
          <a:p>
            <a:pPr marL="0" lvl="0" indent="0" algn="l" rtl="0">
              <a:spcBef>
                <a:spcPts val="0"/>
              </a:spcBef>
              <a:spcAft>
                <a:spcPts val="0"/>
              </a:spcAft>
              <a:buNone/>
            </a:pPr>
            <a:r>
              <a:rPr lang="en-US" sz="1000"/>
              <a:t> [ 78,  92,  95,  89,  84],</a:t>
            </a:r>
            <a:endParaRPr sz="1000"/>
          </a:p>
          <a:p>
            <a:pPr marL="0" lvl="0" indent="0" algn="l" rtl="0">
              <a:spcBef>
                <a:spcPts val="0"/>
              </a:spcBef>
              <a:spcAft>
                <a:spcPts val="0"/>
              </a:spcAft>
              <a:buNone/>
            </a:pPr>
            <a:r>
              <a:rPr lang="en-US" sz="1000"/>
              <a:t> [ 85,  90,  96,  98,  92],</a:t>
            </a:r>
            <a:endParaRPr sz="1000"/>
          </a:p>
          <a:p>
            <a:pPr marL="0" lvl="0" indent="0" algn="l" rtl="0">
              <a:spcBef>
                <a:spcPts val="0"/>
              </a:spcBef>
              <a:spcAft>
                <a:spcPts val="0"/>
              </a:spcAft>
              <a:buNone/>
            </a:pPr>
            <a:r>
              <a:rPr lang="en-US" sz="1000"/>
              <a:t> [ 82,  88,  91,  95,  90],</a:t>
            </a:r>
            <a:endParaRPr sz="1000"/>
          </a:p>
          <a:p>
            <a:pPr marL="0" lvl="0" indent="0" algn="l" rtl="0">
              <a:spcBef>
                <a:spcPts val="0"/>
              </a:spcBef>
              <a:spcAft>
                <a:spcPts val="0"/>
              </a:spcAft>
              <a:buNone/>
            </a:pPr>
            <a:r>
              <a:rPr lang="en-US" sz="1000"/>
              <a:t> [ 79,  83,  87,  91,  88]]</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US" sz="1000"/>
              <a:t>Channel B:</a:t>
            </a:r>
            <a:endParaRPr sz="1000"/>
          </a:p>
          <a:p>
            <a:pPr marL="0" lvl="0" indent="0" algn="l" rtl="0">
              <a:spcBef>
                <a:spcPts val="0"/>
              </a:spcBef>
              <a:spcAft>
                <a:spcPts val="0"/>
              </a:spcAft>
              <a:buNone/>
            </a:pPr>
            <a:r>
              <a:rPr lang="en-US" sz="1000"/>
              <a:t>[[200, 198, 195, 192, 188],</a:t>
            </a:r>
            <a:endParaRPr sz="1000"/>
          </a:p>
          <a:p>
            <a:pPr marL="0" lvl="0" indent="0" algn="l" rtl="0">
              <a:spcBef>
                <a:spcPts val="0"/>
              </a:spcBef>
              <a:spcAft>
                <a:spcPts val="0"/>
              </a:spcAft>
              <a:buNone/>
            </a:pPr>
            <a:r>
              <a:rPr lang="en-US" sz="1000"/>
              <a:t> [202, 205, 200, 196, 190],</a:t>
            </a:r>
            <a:endParaRPr sz="1000"/>
          </a:p>
          <a:p>
            <a:pPr marL="0" lvl="0" indent="0" algn="l" rtl="0">
              <a:spcBef>
                <a:spcPts val="0"/>
              </a:spcBef>
              <a:spcAft>
                <a:spcPts val="0"/>
              </a:spcAft>
              <a:buNone/>
            </a:pPr>
            <a:r>
              <a:rPr lang="en-US" sz="1000"/>
              <a:t> [198, 202, 208, 205, 200],</a:t>
            </a:r>
            <a:endParaRPr sz="1000"/>
          </a:p>
          <a:p>
            <a:pPr marL="0" lvl="0" indent="0" algn="l" rtl="0">
              <a:spcBef>
                <a:spcPts val="0"/>
              </a:spcBef>
              <a:spcAft>
                <a:spcPts val="0"/>
              </a:spcAft>
              <a:buNone/>
            </a:pPr>
            <a:r>
              <a:rPr lang="en-US" sz="1000"/>
              <a:t> [195, 198, 202, 208, 205],</a:t>
            </a:r>
            <a:endParaRPr sz="1000"/>
          </a:p>
          <a:p>
            <a:pPr marL="0" lvl="0" indent="0" algn="l" rtl="0">
              <a:spcBef>
                <a:spcPts val="0"/>
              </a:spcBef>
              <a:spcAft>
                <a:spcPts val="0"/>
              </a:spcAft>
              <a:buNone/>
            </a:pPr>
            <a:r>
              <a:rPr lang="en-US" sz="1000"/>
              <a:t> [190, 195, 198, 202, 206]]</a:t>
            </a:r>
            <a:endParaRPr sz="1000"/>
          </a:p>
        </p:txBody>
      </p:sp>
      <p:sp>
        <p:nvSpPr>
          <p:cNvPr id="86" name="Google Shape;86;g3e82608f2fd_0_26"/>
          <p:cNvSpPr txBox="1"/>
          <p:nvPr/>
        </p:nvSpPr>
        <p:spPr>
          <a:xfrm>
            <a:off x="4985425" y="1642650"/>
            <a:ext cx="4080600" cy="280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graph.x  (5×4 tensor — 5 nodes, 4 features each)</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US" sz="1000"/>
              <a:t>         feat_0  feat_1  feat_2  feat_3</a:t>
            </a:r>
            <a:endParaRPr sz="1000"/>
          </a:p>
          <a:p>
            <a:pPr marL="0" lvl="0" indent="0" algn="l" rtl="0">
              <a:spcBef>
                <a:spcPts val="0"/>
              </a:spcBef>
              <a:spcAft>
                <a:spcPts val="0"/>
              </a:spcAft>
              <a:buNone/>
            </a:pPr>
            <a:r>
              <a:rPr lang="en-US" sz="1000"/>
              <a:t>node_0 [  0.,     1.,     0.,     1.  ]</a:t>
            </a:r>
            <a:endParaRPr sz="1000"/>
          </a:p>
          <a:p>
            <a:pPr marL="0" lvl="0" indent="0" algn="l" rtl="0">
              <a:spcBef>
                <a:spcPts val="0"/>
              </a:spcBef>
              <a:spcAft>
                <a:spcPts val="0"/>
              </a:spcAft>
              <a:buNone/>
            </a:pPr>
            <a:r>
              <a:rPr lang="en-US" sz="1000"/>
              <a:t>node_1 [  1.,     0.,     1.,     0.  ]</a:t>
            </a:r>
            <a:endParaRPr sz="1000"/>
          </a:p>
          <a:p>
            <a:pPr marL="0" lvl="0" indent="0" algn="l" rtl="0">
              <a:spcBef>
                <a:spcPts val="0"/>
              </a:spcBef>
              <a:spcAft>
                <a:spcPts val="0"/>
              </a:spcAft>
              <a:buNone/>
            </a:pPr>
            <a:r>
              <a:rPr lang="en-US" sz="1000"/>
              <a:t>node_2 [  0.,     0.,     1.,     1.  ]</a:t>
            </a:r>
            <a:endParaRPr sz="1000"/>
          </a:p>
          <a:p>
            <a:pPr marL="0" lvl="0" indent="0" algn="l" rtl="0">
              <a:spcBef>
                <a:spcPts val="0"/>
              </a:spcBef>
              <a:spcAft>
                <a:spcPts val="0"/>
              </a:spcAft>
              <a:buNone/>
            </a:pPr>
            <a:r>
              <a:rPr lang="en-US" sz="1000"/>
              <a:t>node_3 [  1.,     1.,     0.,     0.  ]</a:t>
            </a:r>
            <a:endParaRPr sz="1000"/>
          </a:p>
          <a:p>
            <a:pPr marL="0" lvl="0" indent="0" algn="l" rtl="0">
              <a:spcBef>
                <a:spcPts val="0"/>
              </a:spcBef>
              <a:spcAft>
                <a:spcPts val="0"/>
              </a:spcAft>
              <a:buNone/>
            </a:pPr>
            <a:r>
              <a:rPr lang="en-US" sz="1000"/>
              <a:t>node_4 [  0.,     1.,     1.,     0.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US" sz="1000"/>
              <a:t>graph.edge_index.T  (edges — connected node pairs)</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US" sz="1000"/>
              <a:t>tensor([[ 0,  1],</a:t>
            </a:r>
            <a:endParaRPr sz="1000"/>
          </a:p>
          <a:p>
            <a:pPr marL="0" lvl="0" indent="0" algn="l" rtl="0">
              <a:spcBef>
                <a:spcPts val="0"/>
              </a:spcBef>
              <a:spcAft>
                <a:spcPts val="0"/>
              </a:spcAft>
              <a:buNone/>
            </a:pPr>
            <a:r>
              <a:rPr lang="en-US" sz="1000"/>
              <a:t>        [ 0,  2],</a:t>
            </a:r>
            <a:endParaRPr sz="1000"/>
          </a:p>
          <a:p>
            <a:pPr marL="0" lvl="0" indent="0" algn="l" rtl="0">
              <a:spcBef>
                <a:spcPts val="0"/>
              </a:spcBef>
              <a:spcAft>
                <a:spcPts val="0"/>
              </a:spcAft>
              <a:buNone/>
            </a:pPr>
            <a:r>
              <a:rPr lang="en-US" sz="1000"/>
              <a:t>        [ 1,  3],</a:t>
            </a:r>
            <a:endParaRPr sz="1000"/>
          </a:p>
          <a:p>
            <a:pPr marL="0" lvl="0" indent="0" algn="l" rtl="0">
              <a:spcBef>
                <a:spcPts val="0"/>
              </a:spcBef>
              <a:spcAft>
                <a:spcPts val="0"/>
              </a:spcAft>
              <a:buNone/>
            </a:pPr>
            <a:r>
              <a:rPr lang="en-US" sz="1000"/>
              <a:t>        [ 2,  3],</a:t>
            </a:r>
            <a:endParaRPr sz="1000"/>
          </a:p>
          <a:p>
            <a:pPr marL="0" lvl="0" indent="0" algn="l" rtl="0">
              <a:spcBef>
                <a:spcPts val="0"/>
              </a:spcBef>
              <a:spcAft>
                <a:spcPts val="0"/>
              </a:spcAft>
              <a:buNone/>
            </a:pPr>
            <a:r>
              <a:rPr lang="en-US" sz="1000"/>
              <a:t>        [ 2,  4],</a:t>
            </a:r>
            <a:endParaRPr sz="1000"/>
          </a:p>
          <a:p>
            <a:pPr marL="0" lvl="0" indent="0" algn="l" rtl="0">
              <a:spcBef>
                <a:spcPts val="0"/>
              </a:spcBef>
              <a:spcAft>
                <a:spcPts val="0"/>
              </a:spcAft>
              <a:buNone/>
            </a:pPr>
            <a:r>
              <a:rPr lang="en-US" sz="1000"/>
              <a:t>        [ 3,  4]])</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3ecfd65e53c_0_95"/>
          <p:cNvSpPr txBox="1"/>
          <p:nvPr/>
        </p:nvSpPr>
        <p:spPr>
          <a:xfrm>
            <a:off x="615475" y="1076300"/>
            <a:ext cx="3185100" cy="32931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900" dirty="0"/>
              <a:t>Nodes (V) = 1,399 patients </a:t>
            </a:r>
          </a:p>
          <a:p>
            <a:pPr marL="0" lvl="0" indent="0" algn="l" rtl="0">
              <a:spcBef>
                <a:spcPts val="0"/>
              </a:spcBef>
              <a:spcAft>
                <a:spcPts val="0"/>
              </a:spcAft>
              <a:buNone/>
            </a:pPr>
            <a:endParaRPr sz="900" dirty="0"/>
          </a:p>
          <a:p>
            <a:pPr marL="0" lvl="0" indent="0" algn="l" rtl="0">
              <a:spcBef>
                <a:spcPts val="0"/>
              </a:spcBef>
              <a:spcAft>
                <a:spcPts val="0"/>
              </a:spcAft>
              <a:buNone/>
            </a:pPr>
            <a:r>
              <a:rPr lang="en-US" sz="900" dirty="0"/>
              <a:t>         Patient        Age   ADI    Walk  Enrolled</a:t>
            </a:r>
            <a:endParaRPr sz="900" dirty="0"/>
          </a:p>
          <a:p>
            <a:pPr marL="0" lvl="0" indent="0" algn="l" rtl="0">
              <a:spcBef>
                <a:spcPts val="0"/>
              </a:spcBef>
              <a:spcAft>
                <a:spcPts val="0"/>
              </a:spcAft>
              <a:buNone/>
            </a:pPr>
            <a:r>
              <a:rPr lang="en-US" sz="900" dirty="0"/>
              <a:t>node_0 [50693,  55.2,  1.09,   7,    ? ]</a:t>
            </a:r>
            <a:endParaRPr sz="900" dirty="0"/>
          </a:p>
          <a:p>
            <a:pPr marL="0" lvl="0" indent="0" algn="l" rtl="0">
              <a:spcBef>
                <a:spcPts val="0"/>
              </a:spcBef>
              <a:spcAft>
                <a:spcPts val="0"/>
              </a:spcAft>
              <a:buNone/>
            </a:pPr>
            <a:r>
              <a:rPr lang="en-US" sz="900" dirty="0"/>
              <a:t>node_1 [20843,  54.6, -2.34,  58,    ? ]</a:t>
            </a:r>
            <a:endParaRPr sz="900" dirty="0"/>
          </a:p>
          <a:p>
            <a:pPr marL="0" lvl="0" indent="0" algn="l" rtl="0">
              <a:spcBef>
                <a:spcPts val="0"/>
              </a:spcBef>
              <a:spcAft>
                <a:spcPts val="0"/>
              </a:spcAft>
              <a:buNone/>
            </a:pPr>
            <a:r>
              <a:rPr lang="en-US" sz="900" dirty="0"/>
              <a:t>node_2 [44485,  51.7,  2.65,  70,    ? ]</a:t>
            </a:r>
            <a:endParaRPr sz="900" dirty="0"/>
          </a:p>
          <a:p>
            <a:pPr marL="0" lvl="0" indent="0" algn="l" rtl="0">
              <a:spcBef>
                <a:spcPts val="0"/>
              </a:spcBef>
              <a:spcAft>
                <a:spcPts val="0"/>
              </a:spcAft>
              <a:buNone/>
            </a:pPr>
            <a:r>
              <a:rPr lang="en-US" sz="900" dirty="0"/>
              <a:t>...</a:t>
            </a:r>
            <a:endParaRPr sz="900" dirty="0"/>
          </a:p>
          <a:p>
            <a:pPr marL="0" lvl="0" indent="0" algn="l" rtl="0">
              <a:spcBef>
                <a:spcPts val="0"/>
              </a:spcBef>
              <a:spcAft>
                <a:spcPts val="0"/>
              </a:spcAft>
              <a:buNone/>
            </a:pPr>
            <a:r>
              <a:rPr lang="en-US" sz="900" dirty="0"/>
              <a:t>node_1398 [64120344, 68.6, ...]</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endParaRPr sz="900" dirty="0"/>
          </a:p>
          <a:p>
            <a:pPr marL="0" lvl="0" indent="0" algn="l" rtl="0">
              <a:spcBef>
                <a:spcPts val="0"/>
              </a:spcBef>
              <a:spcAft>
                <a:spcPts val="0"/>
              </a:spcAft>
              <a:buNone/>
            </a:pPr>
            <a:r>
              <a:rPr lang="en-US" sz="900" dirty="0"/>
              <a:t>Edges (E) = patients sharing the same zip code</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r>
              <a:rPr lang="en-US" sz="900" dirty="0" err="1"/>
              <a:t>graph.edge_index.T</a:t>
            </a:r>
            <a:r>
              <a:rPr lang="en-US" sz="900" dirty="0"/>
              <a:t>:</a:t>
            </a:r>
            <a:endParaRPr sz="900" dirty="0"/>
          </a:p>
          <a:p>
            <a:pPr marL="0" lvl="0" indent="0" algn="l" rtl="0">
              <a:spcBef>
                <a:spcPts val="0"/>
              </a:spcBef>
              <a:spcAft>
                <a:spcPts val="0"/>
              </a:spcAft>
              <a:buNone/>
            </a:pPr>
            <a:r>
              <a:rPr lang="en-US" sz="900" dirty="0"/>
              <a:t>tensor([[patient_2,  patient_4],   # both in zip 94806</a:t>
            </a:r>
            <a:endParaRPr sz="900" dirty="0"/>
          </a:p>
          <a:p>
            <a:pPr lvl="0"/>
            <a:r>
              <a:rPr lang="en-US" sz="900" dirty="0"/>
              <a:t>        [patient_1, patient _5],   # both in zip 94619</a:t>
            </a:r>
            <a:endParaRPr sz="900" dirty="0"/>
          </a:p>
          <a:p>
            <a:pPr lvl="0"/>
            <a:r>
              <a:rPr lang="en-US" sz="900" dirty="0"/>
              <a:t>        [patient_3, patient _6],   # both in zip 94131</a:t>
            </a:r>
            <a:endParaRPr sz="900" dirty="0"/>
          </a:p>
          <a:p>
            <a:pPr marL="0" lvl="0" indent="0" algn="l" rtl="0">
              <a:spcBef>
                <a:spcPts val="0"/>
              </a:spcBef>
              <a:spcAft>
                <a:spcPts val="0"/>
              </a:spcAft>
              <a:buNone/>
            </a:pPr>
            <a:r>
              <a:rPr lang="en-US" sz="900" dirty="0"/>
              <a:t>        ...])</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endParaRPr sz="900" dirty="0"/>
          </a:p>
          <a:p>
            <a:pPr marL="0" lvl="0" indent="0" algn="l" rtl="0">
              <a:spcBef>
                <a:spcPts val="0"/>
              </a:spcBef>
              <a:spcAft>
                <a:spcPts val="0"/>
              </a:spcAft>
              <a:buNone/>
            </a:pPr>
            <a:endParaRPr sz="1100" dirty="0">
              <a:solidFill>
                <a:schemeClr val="dk1"/>
              </a:solidFill>
            </a:endParaRPr>
          </a:p>
          <a:p>
            <a:pPr marL="0" lvl="0" indent="0" algn="l" rtl="0">
              <a:spcBef>
                <a:spcPts val="0"/>
              </a:spcBef>
              <a:spcAft>
                <a:spcPts val="0"/>
              </a:spcAft>
              <a:buNone/>
            </a:pPr>
            <a:endParaRPr sz="1100" dirty="0">
              <a:solidFill>
                <a:schemeClr val="dk1"/>
              </a:solidFill>
            </a:endParaRPr>
          </a:p>
          <a:p>
            <a:pPr marL="0" lvl="0" indent="0" algn="l" rtl="0">
              <a:spcBef>
                <a:spcPts val="0"/>
              </a:spcBef>
              <a:spcAft>
                <a:spcPts val="0"/>
              </a:spcAft>
              <a:buNone/>
            </a:pPr>
            <a:endParaRPr sz="900" dirty="0"/>
          </a:p>
        </p:txBody>
      </p:sp>
      <p:sp>
        <p:nvSpPr>
          <p:cNvPr id="93" name="Google Shape;93;g3ecfd65e53c_0_95"/>
          <p:cNvSpPr txBox="1"/>
          <p:nvPr/>
        </p:nvSpPr>
        <p:spPr>
          <a:xfrm>
            <a:off x="26250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Example</a:t>
            </a:r>
            <a:endParaRPr/>
          </a:p>
        </p:txBody>
      </p:sp>
      <p:pic>
        <p:nvPicPr>
          <p:cNvPr id="94" name="Google Shape;94;g3ecfd65e53c_0_95" title="gnn_enrollment_graph.png"/>
          <p:cNvPicPr preferRelativeResize="0"/>
          <p:nvPr/>
        </p:nvPicPr>
        <p:blipFill>
          <a:blip r:embed="rId3">
            <a:alphaModFix/>
          </a:blip>
          <a:stretch>
            <a:fillRect/>
          </a:stretch>
        </p:blipFill>
        <p:spPr>
          <a:xfrm>
            <a:off x="3952975" y="931175"/>
            <a:ext cx="5038626" cy="343542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1092</Words>
  <Application>Microsoft Macintosh PowerPoint</Application>
  <PresentationFormat>On-screen Show (16:9)</PresentationFormat>
  <Paragraphs>133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Reed, Grace</cp:lastModifiedBy>
  <cp:revision>4</cp:revision>
  <dcterms:created xsi:type="dcterms:W3CDTF">2026-06-03T19:56:58Z</dcterms:created>
  <dcterms:modified xsi:type="dcterms:W3CDTF">2026-06-08T04:47:21Z</dcterms:modified>
</cp:coreProperties>
</file>