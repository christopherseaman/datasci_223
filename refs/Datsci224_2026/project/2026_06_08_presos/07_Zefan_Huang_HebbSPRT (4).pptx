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1" Type="http://schemas.openxmlformats.org/officeDocument/2006/relationships/slide" Target="slides/slide7.xml"/><Relationship Id="rId10" Type="http://schemas.openxmlformats.org/officeDocument/2006/relationships/slide" Target="slides/slide6.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Today I will present my algorithm, HebbSPRT, sprt stands for sequential Probability Ratio Test, which is a Hebbian memory algorithm for deep learning.</a:t>
            </a:r>
            <a:endParaRPr/>
          </a:p>
          <a:p>
            <a:pPr indent="0" lvl="0" marL="0" rtl="0" algn="l">
              <a:lnSpc>
                <a:spcPct val="115000"/>
              </a:lnSpc>
              <a:spcBef>
                <a:spcPts val="1200"/>
              </a:spcBef>
              <a:spcAft>
                <a:spcPts val="0"/>
              </a:spcAft>
              <a:buClr>
                <a:schemeClr val="dk1"/>
              </a:buClr>
              <a:buSzPts val="1100"/>
              <a:buFont typeface="Arial"/>
              <a:buNone/>
            </a:pPr>
            <a:r>
              <a:rPr lang="en-US"/>
              <a:t>The main idea is to build a memory layer that can learn stable patterns from the data and then protect those patterns from being overwritten later.</a:t>
            </a:r>
            <a:endParaRPr/>
          </a:p>
          <a:p>
            <a:pPr indent="0" lvl="0" marL="0" rtl="0" algn="l">
              <a:spcBef>
                <a:spcPts val="120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My current algorithm is implemented as a memory layer inserted inside an MLP.</a:t>
            </a:r>
            <a:endParaRPr/>
          </a:p>
          <a:p>
            <a:pPr indent="0" lvl="0" marL="0" rtl="0" algn="l">
              <a:lnSpc>
                <a:spcPct val="115000"/>
              </a:lnSpc>
              <a:spcBef>
                <a:spcPts val="1200"/>
              </a:spcBef>
              <a:spcAft>
                <a:spcPts val="0"/>
              </a:spcAft>
              <a:buSzPts val="1100"/>
              <a:buNone/>
            </a:pPr>
            <a:r>
              <a:rPr lang="en-US"/>
              <a:t>The first part of the MLP (Perceptron) produces a hidden representation, which I call (u). Then, my algorithm learns a set of memory filters and outputs. </a:t>
            </a:r>
            <a:endParaRPr/>
          </a:p>
          <a:p>
            <a:pPr indent="0" lvl="0" marL="0" rtl="0" algn="l">
              <a:lnSpc>
                <a:spcPct val="115000"/>
              </a:lnSpc>
              <a:spcBef>
                <a:spcPts val="1200"/>
              </a:spcBef>
              <a:spcAft>
                <a:spcPts val="0"/>
              </a:spcAft>
              <a:buSzPts val="1100"/>
              <a:buNone/>
            </a:pPr>
            <a:r>
              <a:rPr lang="en-US"/>
              <a:t>This (v) measures how well the current input matches the memory filters that have already been learned.</a:t>
            </a:r>
            <a:endParaRPr/>
          </a:p>
          <a:p>
            <a:pPr indent="0" lvl="0" marL="0" rtl="0" algn="l">
              <a:lnSpc>
                <a:spcPct val="115000"/>
              </a:lnSpc>
              <a:spcBef>
                <a:spcPts val="1200"/>
              </a:spcBef>
              <a:spcAft>
                <a:spcPts val="0"/>
              </a:spcAft>
              <a:buSzPts val="1100"/>
              <a:buNone/>
            </a:pPr>
            <a:r>
              <a:rPr lang="en-US"/>
              <a:t>After that, I can concatenate (u) and (v), and send them into the next part of the MLP for prediction.</a:t>
            </a:r>
            <a:endParaRPr/>
          </a:p>
          <a:p>
            <a:pPr indent="0" lvl="0" marL="0" rtl="0" algn="l">
              <a:lnSpc>
                <a:spcPct val="115000"/>
              </a:lnSpc>
              <a:spcBef>
                <a:spcPts val="1200"/>
              </a:spcBef>
              <a:spcAft>
                <a:spcPts val="0"/>
              </a:spcAft>
              <a:buSzPts val="1100"/>
              <a:buNone/>
            </a:pPr>
            <a:r>
              <a:rPr lang="en-US"/>
              <a:t>The problem is a normal MLP can easily overwrite old structures when it learns new data. In contrast, HebbSPRT can freeze stable filters and turn them into protected memory.</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 name="Google Shape;4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 name="Google Shape;5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SzPts val="1100"/>
              <a:buNone/>
            </a:pPr>
            <a:r>
              <a:rPr lang="en-US"/>
              <a:t>The whole algorithm can be explained through three main steps.</a:t>
            </a:r>
            <a:endParaRPr/>
          </a:p>
          <a:p>
            <a:pPr indent="0" lvl="0" marL="0" rtl="0" algn="l">
              <a:lnSpc>
                <a:spcPct val="115000"/>
              </a:lnSpc>
              <a:spcBef>
                <a:spcPts val="1200"/>
              </a:spcBef>
              <a:spcAft>
                <a:spcPts val="0"/>
              </a:spcAft>
              <a:buSzPts val="1100"/>
              <a:buNone/>
            </a:pPr>
            <a:r>
              <a:rPr lang="en-US"/>
              <a:t>Before going into these steps, I want to clarify what a filter means in this model. A filter is a learned pattern detector in the hidden representation space. Each filter (w_k) stores one possible structure or pattern, and the activation (v_k) tells us how strongly the current input matches that filter. So if (v_k) is large, it means the current input strongly activates that filter.</a:t>
            </a:r>
            <a:endParaRPr/>
          </a:p>
          <a:p>
            <a:pPr indent="0" lvl="0" marL="0" rtl="0" algn="l">
              <a:lnSpc>
                <a:spcPct val="115000"/>
              </a:lnSpc>
              <a:spcBef>
                <a:spcPts val="1200"/>
              </a:spcBef>
              <a:spcAft>
                <a:spcPts val="0"/>
              </a:spcAft>
              <a:buSzPts val="1100"/>
              <a:buNone/>
            </a:pPr>
            <a:r>
              <a:rPr lang="en-US"/>
              <a:t>The first goal is to detect activation. This means the model checks which filters respond to the current input. In other words, it computes (v = uW^\top) to measure the activation strength of each filter.</a:t>
            </a:r>
            <a:endParaRPr/>
          </a:p>
          <a:p>
            <a:pPr indent="0" lvl="0" marL="0" rtl="0" algn="l">
              <a:lnSpc>
                <a:spcPct val="115000"/>
              </a:lnSpc>
              <a:spcBef>
                <a:spcPts val="1200"/>
              </a:spcBef>
              <a:spcAft>
                <a:spcPts val="0"/>
              </a:spcAft>
              <a:buSzPts val="1100"/>
              <a:buNone/>
            </a:pPr>
            <a:r>
              <a:rPr lang="en-US"/>
              <a:t>The second goal is to write structure. For this part, I use an update function to write the input structure into the weights that are not frozen yet. This is where the Sanger-Hebbian update is used. It updates strongly activated filters, but also makes different filters learn different parts of the input, instead of all learning the same dominant pattern.</a:t>
            </a:r>
            <a:endParaRPr/>
          </a:p>
          <a:p>
            <a:pPr indent="0" lvl="0" marL="0" rtl="0" algn="l">
              <a:lnSpc>
                <a:spcPct val="115000"/>
              </a:lnSpc>
              <a:spcBef>
                <a:spcPts val="1200"/>
              </a:spcBef>
              <a:spcAft>
                <a:spcPts val="0"/>
              </a:spcAft>
              <a:buSzPts val="1100"/>
              <a:buNone/>
            </a:pPr>
            <a:r>
              <a:rPr lang="en-US"/>
              <a:t>The third goal is to consolidate memory. Here, I use SPRT to decide which filters have become stable. If a filter is stable and still carries meaningful signal, then it will be frozen.</a:t>
            </a:r>
            <a:endParaRPr/>
          </a:p>
          <a:p>
            <a:pPr indent="0" lvl="0" marL="0" rtl="0" algn="l">
              <a:lnSpc>
                <a:spcPct val="115000"/>
              </a:lnSpc>
              <a:spcBef>
                <a:spcPts val="1200"/>
              </a:spcBef>
              <a:spcAft>
                <a:spcPts val="0"/>
              </a:spcAft>
              <a:buSzPts val="1100"/>
              <a:buNone/>
            </a:pPr>
            <a:r>
              <a:rPr lang="en-US"/>
              <a:t>So, in one sentence, Hebbian learning is responsible for writing patterns into weights, Sanger update helps different filters learn different structures, and SPRT freezing protects stable structures as memory.</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
        <p:nvSpPr>
          <p:cNvPr id="58" name="Google Shape;5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ea2edbf261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g3ea2edbf261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Plain Hebbian learning has one problem. If there is a very strong pattern in the data, then all filters may learn the same dominant pattern. This wastes memory capacity, because different filters are storing repeated information.</a:t>
            </a:r>
            <a:endParaRPr/>
          </a:p>
          <a:p>
            <a:pPr indent="0" lvl="0" marL="0" rtl="0" algn="l">
              <a:lnSpc>
                <a:spcPct val="115000"/>
              </a:lnSpc>
              <a:spcBef>
                <a:spcPts val="1200"/>
              </a:spcBef>
              <a:spcAft>
                <a:spcPts val="0"/>
              </a:spcAft>
              <a:buClr>
                <a:schemeClr val="dk1"/>
              </a:buClr>
              <a:buSzPts val="1100"/>
              <a:buFont typeface="Arial"/>
              <a:buNone/>
            </a:pPr>
            <a:r>
              <a:rPr lang="en-US"/>
              <a:t>Sanger update solves this problem. It still keeps the main Hebbian idea. However, it adds a residual correction.</a:t>
            </a:r>
            <a:endParaRPr/>
          </a:p>
          <a:p>
            <a:pPr indent="0" lvl="0" marL="0" rtl="0" algn="l">
              <a:lnSpc>
                <a:spcPct val="115000"/>
              </a:lnSpc>
              <a:spcBef>
                <a:spcPts val="1200"/>
              </a:spcBef>
              <a:spcAft>
                <a:spcPts val="0"/>
              </a:spcAft>
              <a:buSzPts val="1100"/>
              <a:buNone/>
            </a:pPr>
            <a:r>
              <a:rPr lang="en-US"/>
              <a:t>The most important part of the formula is the term inside the parentheses: Here, (u_b) is the current input representation. The summation term represents the part that has already been explained by previous filters. So the whole term means the remaining structure that previous filters have not captured yet. This is called the residual.</a:t>
            </a:r>
            <a:endParaRPr/>
          </a:p>
          <a:p>
            <a:pPr indent="0" lvl="0" marL="0" rtl="0" algn="l">
              <a:lnSpc>
                <a:spcPct val="115000"/>
              </a:lnSpc>
              <a:spcBef>
                <a:spcPts val="1200"/>
              </a:spcBef>
              <a:spcAft>
                <a:spcPts val="0"/>
              </a:spcAft>
              <a:buSzPts val="1100"/>
              <a:buNone/>
            </a:pPr>
            <a:r>
              <a:rPr lang="en-US"/>
              <a:t>Then, vbk represents the activation of filter (k) for sample (b). It measures how well the current input matches that filter. Filters with higher activation contribute more to the learning update, while weakly activated filters receive little or no update.</a:t>
            </a:r>
            <a:endParaRPr/>
          </a:p>
          <a:p>
            <a:pPr indent="0" lvl="0" marL="0" rtl="0" algn="l">
              <a:lnSpc>
                <a:spcPct val="115000"/>
              </a:lnSpc>
              <a:spcBef>
                <a:spcPts val="1200"/>
              </a:spcBef>
              <a:spcAft>
                <a:spcPts val="0"/>
              </a:spcAft>
              <a:buClr>
                <a:schemeClr val="dk1"/>
              </a:buClr>
              <a:buSzPts val="1100"/>
              <a:buFont typeface="Arial"/>
              <a:buNone/>
            </a:pPr>
            <a:r>
              <a:rPr lang="en-US"/>
              <a:t>Finally, deltaK is the weighted average of these signals over the batch. Intuitively, it tells us how the (k)-th filter should change and what direction it should learn.</a:t>
            </a:r>
            <a:endParaRPr/>
          </a:p>
          <a:p>
            <a:pPr indent="0" lvl="0" marL="0" rtl="0" algn="l">
              <a:spcBef>
                <a:spcPts val="1200"/>
              </a:spcBef>
              <a:spcAft>
                <a:spcPts val="0"/>
              </a:spcAft>
              <a:buNone/>
            </a:pPr>
            <a:r>
              <a:rPr lang="en-US"/>
              <a:t>The key takeaway is that Sanger update does not make all filters learn the full input. Instead, the (k)-th filter only learns the part that has not been explained yet, because  fo the residutal. This prevents all filters from remembering the same dominant pattern, and allows different filters to store different structures.</a:t>
            </a:r>
            <a:endParaRPr/>
          </a:p>
        </p:txBody>
      </p:sp>
      <p:sp>
        <p:nvSpPr>
          <p:cNvPr id="82" name="Google Shape;82;g3ea2edbf261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t>After calculating the direction of filter movement, I measure how much each filter actually moved. This is the step size, which is the difference between the new weight and the old weight.</a:t>
            </a:r>
            <a:endParaRPr/>
          </a:p>
          <a:p>
            <a:pPr indent="0" lvl="0" marL="0" rtl="0" algn="l">
              <a:spcBef>
                <a:spcPts val="1200"/>
              </a:spcBef>
              <a:spcAft>
                <a:spcPts val="0"/>
              </a:spcAft>
              <a:buNone/>
            </a:pPr>
            <a:r>
              <a:rPr lang="en-US"/>
              <a:t>if step size is big it probably means the filter is still learning. If it step size stay small for a long time, then it may have already converged.</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However, I do not want to make this decision based on only one movement, because a single update can be noisy. So I define a variable called drift to smooth the movement over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here’s the Drift equation, This means the algorithm gives 90 percent weight to the past trend and 10 percent weight to the new movement.</a:t>
            </a:r>
            <a:endParaRPr/>
          </a:p>
          <a:p>
            <a:pPr indent="0" lvl="0" marL="0" rtl="0" algn="l">
              <a:lnSpc>
                <a:spcPct val="115000"/>
              </a:lnSpc>
              <a:spcBef>
                <a:spcPts val="1200"/>
              </a:spcBef>
              <a:spcAft>
                <a:spcPts val="0"/>
              </a:spcAft>
              <a:buClr>
                <a:schemeClr val="dk1"/>
              </a:buClr>
              <a:buSzPts val="1100"/>
              <a:buFont typeface="Arial"/>
              <a:buNone/>
            </a:pPr>
            <a:r>
              <a:rPr lang="en-US"/>
              <a:t>Then, I use SPRT to continuously accumulate evidence.</a:t>
            </a:r>
            <a:endParaRPr/>
          </a:p>
          <a:p>
            <a:pPr indent="0" lvl="0" marL="0" rtl="0" algn="l">
              <a:lnSpc>
                <a:spcPct val="115000"/>
              </a:lnSpc>
              <a:spcBef>
                <a:spcPts val="1200"/>
              </a:spcBef>
              <a:spcAft>
                <a:spcPts val="0"/>
              </a:spcAft>
              <a:buClr>
                <a:schemeClr val="dk1"/>
              </a:buClr>
              <a:buSzPts val="1100"/>
              <a:buFont typeface="Arial"/>
              <a:buNone/>
            </a:pPr>
            <a:r>
              <a:rPr lang="en-US"/>
              <a:t>The Gaussian evidence increment works like this: if the drift is small, the increment becomes positive, which increases the evidence that this filter has become stable. If the drift is large, the increment becomes negative, which reduces that evidence.</a:t>
            </a:r>
            <a:endParaRPr/>
          </a:p>
          <a:p>
            <a:pPr indent="0" lvl="0" marL="0" rtl="0" algn="l">
              <a:lnSpc>
                <a:spcPct val="115000"/>
              </a:lnSpc>
              <a:spcBef>
                <a:spcPts val="1200"/>
              </a:spcBef>
              <a:spcAft>
                <a:spcPts val="0"/>
              </a:spcAft>
              <a:buClr>
                <a:schemeClr val="dk1"/>
              </a:buClr>
              <a:buSzPts val="1100"/>
              <a:buFont typeface="Arial"/>
              <a:buNone/>
            </a:pPr>
            <a:r>
              <a:rPr lang="en-US"/>
              <a:t>When the evidence is above the threshold, and the activation of this filter still has enough variance, it means the filter is not a dead filter. Instead, it really carries useful signal.</a:t>
            </a:r>
            <a:endParaRPr/>
          </a:p>
          <a:p>
            <a:pPr indent="0" lvl="0" marL="0" rtl="0" algn="l">
              <a:lnSpc>
                <a:spcPct val="115000"/>
              </a:lnSpc>
              <a:spcBef>
                <a:spcPts val="1200"/>
              </a:spcBef>
              <a:spcAft>
                <a:spcPts val="0"/>
              </a:spcAft>
              <a:buClr>
                <a:schemeClr val="dk1"/>
              </a:buClr>
              <a:buSzPts val="1100"/>
              <a:buFont typeface="Arial"/>
              <a:buNone/>
            </a:pPr>
            <a:r>
              <a:rPr lang="en-US"/>
              <a:t>At this point, the filter will be frozen. After freezing, this filter will no longer be changed by new data. Therefore, it becomes protected memory.</a:t>
            </a:r>
            <a:endParaRPr/>
          </a:p>
          <a:p>
            <a:pPr indent="0" lvl="0" marL="0" rtl="0" algn="l">
              <a:spcBef>
                <a:spcPts val="1200"/>
              </a:spcBef>
              <a:spcAft>
                <a:spcPts val="0"/>
              </a:spcAft>
              <a:buNone/>
            </a:pPr>
            <a:r>
              <a:t/>
            </a:r>
            <a:endParaRPr/>
          </a:p>
        </p:txBody>
      </p:sp>
      <p:sp>
        <p:nvSpPr>
          <p:cNvPr id="102" name="Google Shape;10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a2edbf261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ea2edbf261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g3ea2edbf261_0_4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731520" y="1828800"/>
            <a:ext cx="10725912" cy="118872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F4E79"/>
              </a:buClr>
              <a:buSzPts val="6000"/>
              <a:buFont typeface="Times New Roman"/>
              <a:buNone/>
            </a:pPr>
            <a:r>
              <a:rPr b="0" i="0" lang="en-US" sz="6000" u="none" cap="none" strike="noStrike">
                <a:solidFill>
                  <a:srgbClr val="1F4E79"/>
                </a:solidFill>
                <a:latin typeface="Times New Roman"/>
                <a:ea typeface="Times New Roman"/>
                <a:cs typeface="Times New Roman"/>
                <a:sym typeface="Times New Roman"/>
              </a:rPr>
              <a:t>HebbSPRT</a:t>
            </a:r>
            <a:endParaRPr b="0" i="0" sz="6000" u="none" cap="none" strike="noStrike">
              <a:solidFill>
                <a:schemeClr val="dk1"/>
              </a:solidFill>
              <a:latin typeface="Calibri"/>
              <a:ea typeface="Calibri"/>
              <a:cs typeface="Calibri"/>
              <a:sym typeface="Calibri"/>
            </a:endParaRPr>
          </a:p>
        </p:txBody>
      </p:sp>
      <p:sp>
        <p:nvSpPr>
          <p:cNvPr id="17" name="Google Shape;17;p3"/>
          <p:cNvSpPr/>
          <p:nvPr/>
        </p:nvSpPr>
        <p:spPr>
          <a:xfrm>
            <a:off x="883920" y="3215640"/>
            <a:ext cx="10725900" cy="548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1A1A1A"/>
              </a:buClr>
              <a:buSzPts val="2600"/>
              <a:buFont typeface="Times New Roman"/>
              <a:buNone/>
            </a:pPr>
            <a:r>
              <a:rPr b="0" i="0" lang="en-US" sz="2600" u="none" cap="none" strike="noStrike">
                <a:solidFill>
                  <a:srgbClr val="1A1A1A"/>
                </a:solidFill>
                <a:latin typeface="Times New Roman"/>
                <a:ea typeface="Times New Roman"/>
                <a:cs typeface="Times New Roman"/>
                <a:sym typeface="Times New Roman"/>
              </a:rPr>
              <a:t>Hebbian Memory </a:t>
            </a:r>
            <a:r>
              <a:rPr lang="en-US" sz="2600">
                <a:solidFill>
                  <a:srgbClr val="1A1A1A"/>
                </a:solidFill>
                <a:latin typeface="Times New Roman"/>
                <a:ea typeface="Times New Roman"/>
                <a:cs typeface="Times New Roman"/>
                <a:sym typeface="Times New Roman"/>
              </a:rPr>
              <a:t>Algorithm</a:t>
            </a:r>
            <a:r>
              <a:rPr b="0" i="0" lang="en-US" sz="2600" u="none" cap="none" strike="noStrike">
                <a:solidFill>
                  <a:srgbClr val="1A1A1A"/>
                </a:solidFill>
                <a:latin typeface="Times New Roman"/>
                <a:ea typeface="Times New Roman"/>
                <a:cs typeface="Times New Roman"/>
                <a:sym typeface="Times New Roman"/>
              </a:rPr>
              <a:t> for </a:t>
            </a:r>
            <a:r>
              <a:rPr lang="en-US" sz="2600">
                <a:solidFill>
                  <a:srgbClr val="1A1A1A"/>
                </a:solidFill>
                <a:latin typeface="Times New Roman"/>
                <a:ea typeface="Times New Roman"/>
                <a:cs typeface="Times New Roman"/>
                <a:sym typeface="Times New Roman"/>
              </a:rPr>
              <a:t>Deep</a:t>
            </a:r>
            <a:r>
              <a:rPr b="0" i="0" lang="en-US" sz="2600" u="none" cap="none" strike="noStrike">
                <a:solidFill>
                  <a:srgbClr val="1A1A1A"/>
                </a:solidFill>
                <a:latin typeface="Times New Roman"/>
                <a:ea typeface="Times New Roman"/>
                <a:cs typeface="Times New Roman"/>
                <a:sym typeface="Times New Roman"/>
              </a:rPr>
              <a:t> Learning</a:t>
            </a:r>
            <a:endParaRPr b="0" i="0" sz="2600" u="none" cap="none" strike="noStrike">
              <a:solidFill>
                <a:schemeClr val="dk1"/>
              </a:solidFill>
              <a:latin typeface="Calibri"/>
              <a:ea typeface="Calibri"/>
              <a:cs typeface="Calibri"/>
              <a:sym typeface="Calibri"/>
            </a:endParaRPr>
          </a:p>
        </p:txBody>
      </p:sp>
      <p:sp>
        <p:nvSpPr>
          <p:cNvPr id="18" name="Google Shape;18;p3"/>
          <p:cNvSpPr txBox="1"/>
          <p:nvPr/>
        </p:nvSpPr>
        <p:spPr>
          <a:xfrm>
            <a:off x="4365575" y="4257425"/>
            <a:ext cx="3457800" cy="82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a:latin typeface="Times New Roman"/>
                <a:ea typeface="Times New Roman"/>
                <a:cs typeface="Times New Roman"/>
                <a:sym typeface="Times New Roman"/>
              </a:rPr>
              <a:t>Zefan Huang</a:t>
            </a:r>
            <a:endParaRPr>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 name="Shape 23"/>
        <p:cNvGrpSpPr/>
        <p:nvPr/>
      </p:nvGrpSpPr>
      <p:grpSpPr>
        <a:xfrm>
          <a:off x="0" y="0"/>
          <a:ext cx="0" cy="0"/>
          <a:chOff x="0" y="0"/>
          <a:chExt cx="0" cy="0"/>
        </a:xfrm>
      </p:grpSpPr>
      <p:sp>
        <p:nvSpPr>
          <p:cNvPr id="24" name="Google Shape;24;p4"/>
          <p:cNvSpPr/>
          <p:nvPr/>
        </p:nvSpPr>
        <p:spPr>
          <a:xfrm>
            <a:off x="548640" y="365760"/>
            <a:ext cx="1106424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4E79"/>
              </a:buClr>
              <a:buSzPts val="3300"/>
              <a:buFont typeface="Times New Roman"/>
              <a:buNone/>
            </a:pPr>
            <a:r>
              <a:rPr b="0" i="0" lang="en-US" sz="3300" u="none" cap="none" strike="noStrike">
                <a:solidFill>
                  <a:srgbClr val="1F4E79"/>
                </a:solidFill>
                <a:latin typeface="Times New Roman"/>
                <a:ea typeface="Times New Roman"/>
                <a:cs typeface="Times New Roman"/>
                <a:sym typeface="Times New Roman"/>
              </a:rPr>
              <a:t>A Hebbian Memory Layer Inside an MLP</a:t>
            </a:r>
            <a:endParaRPr b="0" i="0" sz="3300" u="none" cap="none" strike="noStrike">
              <a:solidFill>
                <a:schemeClr val="dk1"/>
              </a:solidFill>
              <a:latin typeface="Calibri"/>
              <a:ea typeface="Calibri"/>
              <a:cs typeface="Calibri"/>
              <a:sym typeface="Calibri"/>
            </a:endParaRPr>
          </a:p>
        </p:txBody>
      </p:sp>
      <p:sp>
        <p:nvSpPr>
          <p:cNvPr id="25" name="Google Shape;25;p4"/>
          <p:cNvSpPr/>
          <p:nvPr/>
        </p:nvSpPr>
        <p:spPr>
          <a:xfrm>
            <a:off x="960120" y="1463040"/>
            <a:ext cx="3566160" cy="731520"/>
          </a:xfrm>
          <a:prstGeom prst="roundRect">
            <a:avLst>
              <a:gd fmla="val 7500" name="adj"/>
            </a:avLst>
          </a:prstGeom>
          <a:solidFill>
            <a:srgbClr val="FFFFFF"/>
          </a:solidFill>
          <a:ln cap="flat" cmpd="sng" w="12700">
            <a:solidFill>
              <a:srgbClr val="D7DCE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p:nvPr/>
        </p:nvSpPr>
        <p:spPr>
          <a:xfrm>
            <a:off x="960120" y="1463040"/>
            <a:ext cx="35661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2000"/>
              <a:buFont typeface="Times New Roman"/>
              <a:buNone/>
            </a:pPr>
            <a:r>
              <a:rPr b="0" i="0" lang="en-US" sz="2000" u="none" cap="none" strike="noStrike">
                <a:solidFill>
                  <a:srgbClr val="1A1A1A"/>
                </a:solidFill>
                <a:latin typeface="Times New Roman"/>
                <a:ea typeface="Times New Roman"/>
                <a:cs typeface="Times New Roman"/>
                <a:sym typeface="Times New Roman"/>
              </a:rPr>
              <a:t>Input  </a:t>
            </a:r>
            <a:r>
              <a:rPr b="0" i="1" lang="en-US" sz="2000" u="none" cap="none" strike="noStrike">
                <a:solidFill>
                  <a:srgbClr val="1A1A1A"/>
                </a:solidFill>
                <a:latin typeface="Times New Roman"/>
                <a:ea typeface="Times New Roman"/>
                <a:cs typeface="Times New Roman"/>
                <a:sym typeface="Times New Roman"/>
              </a:rPr>
              <a:t>x</a:t>
            </a:r>
            <a:endParaRPr b="0" i="0" sz="2000" u="none" cap="none" strike="noStrike">
              <a:solidFill>
                <a:schemeClr val="dk1"/>
              </a:solidFill>
              <a:latin typeface="Calibri"/>
              <a:ea typeface="Calibri"/>
              <a:cs typeface="Calibri"/>
              <a:sym typeface="Calibri"/>
            </a:endParaRPr>
          </a:p>
        </p:txBody>
      </p:sp>
      <p:cxnSp>
        <p:nvCxnSpPr>
          <p:cNvPr id="27" name="Google Shape;27;p4"/>
          <p:cNvCxnSpPr/>
          <p:nvPr/>
        </p:nvCxnSpPr>
        <p:spPr>
          <a:xfrm>
            <a:off x="2743200" y="2231136"/>
            <a:ext cx="0" cy="256032"/>
          </a:xfrm>
          <a:prstGeom prst="straightConnector1">
            <a:avLst/>
          </a:prstGeom>
          <a:noFill/>
          <a:ln cap="flat" cmpd="sng" w="22225">
            <a:solidFill>
              <a:srgbClr val="9AA0AC"/>
            </a:solidFill>
            <a:prstDash val="solid"/>
            <a:round/>
            <a:headEnd len="sm" w="sm" type="none"/>
            <a:tailEnd len="med" w="med" type="triangle"/>
          </a:ln>
        </p:spPr>
      </p:cxnSp>
      <p:sp>
        <p:nvSpPr>
          <p:cNvPr id="28" name="Google Shape;28;p4"/>
          <p:cNvSpPr/>
          <p:nvPr/>
        </p:nvSpPr>
        <p:spPr>
          <a:xfrm>
            <a:off x="960120" y="2523744"/>
            <a:ext cx="3566160" cy="731520"/>
          </a:xfrm>
          <a:prstGeom prst="roundRect">
            <a:avLst>
              <a:gd fmla="val 7500" name="adj"/>
            </a:avLst>
          </a:prstGeom>
          <a:solidFill>
            <a:srgbClr val="FFFFFF"/>
          </a:solidFill>
          <a:ln cap="flat" cmpd="sng" w="12700">
            <a:solidFill>
              <a:srgbClr val="D7DCE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960120" y="2523744"/>
            <a:ext cx="35661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2000"/>
              <a:buFont typeface="Times New Roman"/>
              <a:buNone/>
            </a:pPr>
            <a:r>
              <a:rPr b="0" i="0" lang="en-US" sz="2000" u="none" cap="none" strike="noStrike">
                <a:solidFill>
                  <a:srgbClr val="1A1A1A"/>
                </a:solidFill>
                <a:latin typeface="Times New Roman"/>
                <a:ea typeface="Times New Roman"/>
                <a:cs typeface="Times New Roman"/>
                <a:sym typeface="Times New Roman"/>
              </a:rPr>
              <a:t>MLP</a:t>
            </a:r>
            <a:r>
              <a:rPr b="0" baseline="-25000" i="0" lang="en-US" sz="2000" u="none" cap="none" strike="noStrike">
                <a:solidFill>
                  <a:srgbClr val="1A1A1A"/>
                </a:solidFill>
                <a:latin typeface="Times New Roman"/>
                <a:ea typeface="Times New Roman"/>
                <a:cs typeface="Times New Roman"/>
                <a:sym typeface="Times New Roman"/>
              </a:rPr>
              <a:t>1</a:t>
            </a:r>
            <a:r>
              <a:rPr b="0" i="0" lang="en-US" sz="2000" u="none" cap="none" strike="noStrike">
                <a:solidFill>
                  <a:srgbClr val="1A1A1A"/>
                </a:solidFill>
                <a:latin typeface="Times New Roman"/>
                <a:ea typeface="Times New Roman"/>
                <a:cs typeface="Times New Roman"/>
                <a:sym typeface="Times New Roman"/>
              </a:rPr>
              <a:t>  →  </a:t>
            </a:r>
            <a:r>
              <a:rPr b="0" i="1" lang="en-US" sz="2000" u="none" cap="none" strike="noStrike">
                <a:solidFill>
                  <a:srgbClr val="1A1A1A"/>
                </a:solidFill>
                <a:latin typeface="Times New Roman"/>
                <a:ea typeface="Times New Roman"/>
                <a:cs typeface="Times New Roman"/>
                <a:sym typeface="Times New Roman"/>
              </a:rPr>
              <a:t>u</a:t>
            </a:r>
            <a:endParaRPr b="0" i="0" sz="2000" u="none" cap="none" strike="noStrike">
              <a:solidFill>
                <a:schemeClr val="dk1"/>
              </a:solidFill>
              <a:latin typeface="Calibri"/>
              <a:ea typeface="Calibri"/>
              <a:cs typeface="Calibri"/>
              <a:sym typeface="Calibri"/>
            </a:endParaRPr>
          </a:p>
        </p:txBody>
      </p:sp>
      <p:cxnSp>
        <p:nvCxnSpPr>
          <p:cNvPr id="30" name="Google Shape;30;p4"/>
          <p:cNvCxnSpPr/>
          <p:nvPr/>
        </p:nvCxnSpPr>
        <p:spPr>
          <a:xfrm>
            <a:off x="2743200" y="3291840"/>
            <a:ext cx="0" cy="256032"/>
          </a:xfrm>
          <a:prstGeom prst="straightConnector1">
            <a:avLst/>
          </a:prstGeom>
          <a:noFill/>
          <a:ln cap="flat" cmpd="sng" w="22225">
            <a:solidFill>
              <a:srgbClr val="9AA0AC"/>
            </a:solidFill>
            <a:prstDash val="solid"/>
            <a:round/>
            <a:headEnd len="sm" w="sm" type="none"/>
            <a:tailEnd len="med" w="med" type="triangle"/>
          </a:ln>
        </p:spPr>
      </p:cxnSp>
      <p:sp>
        <p:nvSpPr>
          <p:cNvPr id="31" name="Google Shape;31;p4"/>
          <p:cNvSpPr/>
          <p:nvPr/>
        </p:nvSpPr>
        <p:spPr>
          <a:xfrm>
            <a:off x="960120" y="3584448"/>
            <a:ext cx="3566160" cy="731520"/>
          </a:xfrm>
          <a:prstGeom prst="roundRect">
            <a:avLst>
              <a:gd fmla="val 7500" name="adj"/>
            </a:avLst>
          </a:prstGeom>
          <a:solidFill>
            <a:srgbClr val="1F4E79"/>
          </a:solidFill>
          <a:ln cap="flat" cmpd="sng" w="12700">
            <a:solidFill>
              <a:srgbClr val="1F4E79"/>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4"/>
          <p:cNvSpPr/>
          <p:nvPr/>
        </p:nvSpPr>
        <p:spPr>
          <a:xfrm>
            <a:off x="960120" y="3584448"/>
            <a:ext cx="35661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Times New Roman"/>
              <a:buNone/>
            </a:pPr>
            <a:r>
              <a:rPr b="0" i="0" lang="en-US" sz="2000" u="none" cap="none" strike="noStrike">
                <a:solidFill>
                  <a:srgbClr val="FFFFFF"/>
                </a:solidFill>
                <a:latin typeface="Times New Roman"/>
                <a:ea typeface="Times New Roman"/>
                <a:cs typeface="Times New Roman"/>
                <a:sym typeface="Times New Roman"/>
              </a:rPr>
              <a:t>HebbSPRT  →  </a:t>
            </a:r>
            <a:r>
              <a:rPr b="0" i="1" lang="en-US" sz="2000" u="none" cap="none" strike="noStrike">
                <a:solidFill>
                  <a:srgbClr val="FFFFFF"/>
                </a:solidFill>
                <a:latin typeface="Times New Roman"/>
                <a:ea typeface="Times New Roman"/>
                <a:cs typeface="Times New Roman"/>
                <a:sym typeface="Times New Roman"/>
              </a:rPr>
              <a:t>v</a:t>
            </a:r>
            <a:r>
              <a:rPr b="0" i="0" lang="en-US" sz="2000" u="none" cap="none" strike="noStrike">
                <a:solidFill>
                  <a:srgbClr val="FFFFFF"/>
                </a:solidFill>
                <a:latin typeface="Times New Roman"/>
                <a:ea typeface="Times New Roman"/>
                <a:cs typeface="Times New Roman"/>
                <a:sym typeface="Times New Roman"/>
              </a:rPr>
              <a:t> = </a:t>
            </a:r>
            <a:r>
              <a:rPr b="0" i="1" lang="en-US" sz="2000" u="none" cap="none" strike="noStrike">
                <a:solidFill>
                  <a:srgbClr val="FFFFFF"/>
                </a:solidFill>
                <a:latin typeface="Times New Roman"/>
                <a:ea typeface="Times New Roman"/>
                <a:cs typeface="Times New Roman"/>
                <a:sym typeface="Times New Roman"/>
              </a:rPr>
              <a:t>uW</a:t>
            </a:r>
            <a:r>
              <a:rPr b="0" baseline="30000" i="0" lang="en-US" sz="2000" u="none" cap="none" strike="noStrike">
                <a:solidFill>
                  <a:srgbClr val="FFFFFF"/>
                </a:solidFill>
                <a:latin typeface="Times New Roman"/>
                <a:ea typeface="Times New Roman"/>
                <a:cs typeface="Times New Roman"/>
                <a:sym typeface="Times New Roman"/>
              </a:rPr>
              <a:t>T</a:t>
            </a:r>
            <a:endParaRPr b="0" i="0" sz="2000" u="none" cap="none" strike="noStrike">
              <a:solidFill>
                <a:schemeClr val="dk1"/>
              </a:solidFill>
              <a:latin typeface="Calibri"/>
              <a:ea typeface="Calibri"/>
              <a:cs typeface="Calibri"/>
              <a:sym typeface="Calibri"/>
            </a:endParaRPr>
          </a:p>
        </p:txBody>
      </p:sp>
      <p:cxnSp>
        <p:nvCxnSpPr>
          <p:cNvPr id="33" name="Google Shape;33;p4"/>
          <p:cNvCxnSpPr/>
          <p:nvPr/>
        </p:nvCxnSpPr>
        <p:spPr>
          <a:xfrm>
            <a:off x="2743200" y="4352544"/>
            <a:ext cx="0" cy="256032"/>
          </a:xfrm>
          <a:prstGeom prst="straightConnector1">
            <a:avLst/>
          </a:prstGeom>
          <a:noFill/>
          <a:ln cap="flat" cmpd="sng" w="22225">
            <a:solidFill>
              <a:srgbClr val="9AA0AC"/>
            </a:solidFill>
            <a:prstDash val="solid"/>
            <a:round/>
            <a:headEnd len="sm" w="sm" type="none"/>
            <a:tailEnd len="med" w="med" type="triangle"/>
          </a:ln>
        </p:spPr>
      </p:cxnSp>
      <p:sp>
        <p:nvSpPr>
          <p:cNvPr id="34" name="Google Shape;34;p4"/>
          <p:cNvSpPr/>
          <p:nvPr/>
        </p:nvSpPr>
        <p:spPr>
          <a:xfrm>
            <a:off x="960120" y="4645152"/>
            <a:ext cx="3566160" cy="731520"/>
          </a:xfrm>
          <a:prstGeom prst="roundRect">
            <a:avLst>
              <a:gd fmla="val 7500" name="adj"/>
            </a:avLst>
          </a:prstGeom>
          <a:solidFill>
            <a:srgbClr val="FFFFFF"/>
          </a:solidFill>
          <a:ln cap="flat" cmpd="sng" w="12700">
            <a:solidFill>
              <a:srgbClr val="D7DCE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4"/>
          <p:cNvSpPr/>
          <p:nvPr/>
        </p:nvSpPr>
        <p:spPr>
          <a:xfrm>
            <a:off x="960120" y="4645152"/>
            <a:ext cx="356616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2000"/>
              <a:buFont typeface="Times New Roman"/>
              <a:buNone/>
            </a:pPr>
            <a:r>
              <a:rPr b="0" i="0" lang="en-US" sz="2000" u="none" cap="none" strike="noStrike">
                <a:solidFill>
                  <a:srgbClr val="1A1A1A"/>
                </a:solidFill>
                <a:latin typeface="Times New Roman"/>
                <a:ea typeface="Times New Roman"/>
                <a:cs typeface="Times New Roman"/>
                <a:sym typeface="Times New Roman"/>
              </a:rPr>
              <a:t>MLP</a:t>
            </a:r>
            <a:r>
              <a:rPr b="0" baseline="-25000" i="0" lang="en-US" sz="2000" u="none" cap="none" strike="noStrike">
                <a:solidFill>
                  <a:srgbClr val="1A1A1A"/>
                </a:solidFill>
                <a:latin typeface="Times New Roman"/>
                <a:ea typeface="Times New Roman"/>
                <a:cs typeface="Times New Roman"/>
                <a:sym typeface="Times New Roman"/>
              </a:rPr>
              <a:t>2</a:t>
            </a:r>
            <a:r>
              <a:rPr b="0" i="0" lang="en-US" sz="2000" u="none" cap="none" strike="noStrike">
                <a:solidFill>
                  <a:srgbClr val="1A1A1A"/>
                </a:solidFill>
                <a:latin typeface="Times New Roman"/>
                <a:ea typeface="Times New Roman"/>
                <a:cs typeface="Times New Roman"/>
                <a:sym typeface="Times New Roman"/>
              </a:rPr>
              <a:t>  →  </a:t>
            </a:r>
            <a:r>
              <a:rPr b="0" i="1" lang="en-US" sz="2000" u="none" cap="none" strike="noStrike">
                <a:solidFill>
                  <a:srgbClr val="1A1A1A"/>
                </a:solidFill>
                <a:latin typeface="Times New Roman"/>
                <a:ea typeface="Times New Roman"/>
                <a:cs typeface="Times New Roman"/>
                <a:sym typeface="Times New Roman"/>
              </a:rPr>
              <a:t>ŷ</a:t>
            </a:r>
            <a:endParaRPr b="0" i="0" sz="2000" u="none" cap="none" strike="noStrike">
              <a:solidFill>
                <a:schemeClr val="dk1"/>
              </a:solidFill>
              <a:latin typeface="Calibri"/>
              <a:ea typeface="Calibri"/>
              <a:cs typeface="Calibri"/>
              <a:sym typeface="Calibri"/>
            </a:endParaRPr>
          </a:p>
        </p:txBody>
      </p:sp>
      <p:sp>
        <p:nvSpPr>
          <p:cNvPr id="36" name="Google Shape;36;p4"/>
          <p:cNvSpPr/>
          <p:nvPr/>
        </p:nvSpPr>
        <p:spPr>
          <a:xfrm>
            <a:off x="5806460" y="1691030"/>
            <a:ext cx="580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2400"/>
              <a:buFont typeface="Times New Roman"/>
              <a:buNone/>
            </a:pPr>
            <a:r>
              <a:rPr b="0" i="0" lang="en-US" sz="2400" u="none" cap="none" strike="noStrike">
                <a:solidFill>
                  <a:srgbClr val="1F4E79"/>
                </a:solidFill>
                <a:latin typeface="Times New Roman"/>
                <a:ea typeface="Times New Roman"/>
                <a:cs typeface="Times New Roman"/>
                <a:sym typeface="Times New Roman"/>
              </a:rPr>
              <a:t>MLP</a:t>
            </a:r>
            <a:endParaRPr b="0" i="0" sz="2400" u="none" cap="none" strike="noStrike">
              <a:solidFill>
                <a:schemeClr val="dk1"/>
              </a:solidFill>
              <a:latin typeface="Calibri"/>
              <a:ea typeface="Calibri"/>
              <a:cs typeface="Calibri"/>
              <a:sym typeface="Calibri"/>
            </a:endParaRPr>
          </a:p>
        </p:txBody>
      </p:sp>
      <p:sp>
        <p:nvSpPr>
          <p:cNvPr id="37" name="Google Shape;37;p4"/>
          <p:cNvSpPr/>
          <p:nvPr/>
        </p:nvSpPr>
        <p:spPr>
          <a:xfrm>
            <a:off x="5806460" y="2102510"/>
            <a:ext cx="58065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Times New Roman"/>
              <a:buNone/>
            </a:pPr>
            <a:r>
              <a:rPr lang="en-US" sz="2200">
                <a:solidFill>
                  <a:srgbClr val="1A1A1A"/>
                </a:solidFill>
                <a:latin typeface="Times New Roman"/>
                <a:ea typeface="Times New Roman"/>
                <a:cs typeface="Times New Roman"/>
                <a:sym typeface="Times New Roman"/>
              </a:rPr>
              <a:t>L</a:t>
            </a:r>
            <a:r>
              <a:rPr b="0" i="0" lang="en-US" sz="2200" u="none" cap="none" strike="noStrike">
                <a:solidFill>
                  <a:srgbClr val="1A1A1A"/>
                </a:solidFill>
                <a:latin typeface="Times New Roman"/>
                <a:ea typeface="Times New Roman"/>
                <a:cs typeface="Times New Roman"/>
                <a:sym typeface="Times New Roman"/>
              </a:rPr>
              <a:t>earns prediction through supervised learning</a:t>
            </a:r>
            <a:endParaRPr b="0" i="0" sz="2200" u="none" cap="none" strike="noStrike">
              <a:solidFill>
                <a:schemeClr val="dk1"/>
              </a:solidFill>
              <a:latin typeface="Calibri"/>
              <a:ea typeface="Calibri"/>
              <a:cs typeface="Calibri"/>
              <a:sym typeface="Calibri"/>
            </a:endParaRPr>
          </a:p>
        </p:txBody>
      </p:sp>
      <p:sp>
        <p:nvSpPr>
          <p:cNvPr id="38" name="Google Shape;38;p4"/>
          <p:cNvSpPr/>
          <p:nvPr/>
        </p:nvSpPr>
        <p:spPr>
          <a:xfrm>
            <a:off x="5806435" y="3337550"/>
            <a:ext cx="58065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2400"/>
              <a:buFont typeface="Times New Roman"/>
              <a:buNone/>
            </a:pPr>
            <a:r>
              <a:rPr b="0" i="0" lang="en-US" sz="2400" u="none" cap="none" strike="noStrike">
                <a:solidFill>
                  <a:srgbClr val="1F4E79"/>
                </a:solidFill>
                <a:latin typeface="Times New Roman"/>
                <a:ea typeface="Times New Roman"/>
                <a:cs typeface="Times New Roman"/>
                <a:sym typeface="Times New Roman"/>
              </a:rPr>
              <a:t>HebbSPRT</a:t>
            </a:r>
            <a:endParaRPr b="0" i="0" sz="2400" u="none" cap="none" strike="noStrike">
              <a:solidFill>
                <a:schemeClr val="dk1"/>
              </a:solidFill>
              <a:latin typeface="Calibri"/>
              <a:ea typeface="Calibri"/>
              <a:cs typeface="Calibri"/>
              <a:sym typeface="Calibri"/>
            </a:endParaRPr>
          </a:p>
        </p:txBody>
      </p:sp>
      <p:sp>
        <p:nvSpPr>
          <p:cNvPr id="39" name="Google Shape;39;p4"/>
          <p:cNvSpPr/>
          <p:nvPr/>
        </p:nvSpPr>
        <p:spPr>
          <a:xfrm>
            <a:off x="5806435" y="3749030"/>
            <a:ext cx="5806500" cy="146310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A1A1A"/>
              </a:buClr>
              <a:buSzPts val="2200"/>
              <a:buFont typeface="Times New Roman"/>
              <a:buChar char="•"/>
            </a:pPr>
            <a:r>
              <a:rPr lang="en-US" sz="2200">
                <a:solidFill>
                  <a:srgbClr val="1A1A1A"/>
                </a:solidFill>
                <a:latin typeface="Times New Roman"/>
                <a:ea typeface="Times New Roman"/>
                <a:cs typeface="Times New Roman"/>
                <a:sym typeface="Times New Roman"/>
              </a:rPr>
              <a:t>L</a:t>
            </a:r>
            <a:r>
              <a:rPr b="0" i="0" lang="en-US" sz="2200" u="none" cap="none" strike="noStrike">
                <a:solidFill>
                  <a:srgbClr val="1A1A1A"/>
                </a:solidFill>
                <a:latin typeface="Times New Roman"/>
                <a:ea typeface="Times New Roman"/>
                <a:cs typeface="Times New Roman"/>
                <a:sym typeface="Times New Roman"/>
              </a:rPr>
              <a:t>earns stable memory filters through local updates</a:t>
            </a:r>
            <a:endParaRPr b="0" i="0" sz="22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1A1A1A"/>
              </a:buClr>
              <a:buSzPts val="2200"/>
              <a:buFont typeface="Times New Roman"/>
              <a:buChar char="•"/>
            </a:pPr>
            <a:r>
              <a:rPr lang="en-US" sz="2200">
                <a:solidFill>
                  <a:srgbClr val="1A1A1A"/>
                </a:solidFill>
                <a:latin typeface="Times New Roman"/>
                <a:ea typeface="Times New Roman"/>
                <a:cs typeface="Times New Roman"/>
                <a:sym typeface="Times New Roman"/>
              </a:rPr>
              <a:t>F</a:t>
            </a:r>
            <a:r>
              <a:rPr b="0" i="0" lang="en-US" sz="2200" u="none" cap="none" strike="noStrike">
                <a:solidFill>
                  <a:srgbClr val="1A1A1A"/>
                </a:solidFill>
                <a:latin typeface="Times New Roman"/>
                <a:ea typeface="Times New Roman"/>
                <a:cs typeface="Times New Roman"/>
                <a:sym typeface="Times New Roman"/>
              </a:rPr>
              <a:t>reezes stable filters to reduce forgetting</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FFFFF"/>
        </a:solidFill>
      </p:bgPr>
    </p:bg>
    <p:spTree>
      <p:nvGrpSpPr>
        <p:cNvPr id="44" name="Shape 44"/>
        <p:cNvGrpSpPr/>
        <p:nvPr/>
      </p:nvGrpSpPr>
      <p:grpSpPr>
        <a:xfrm>
          <a:off x="0" y="0"/>
          <a:ext cx="0" cy="0"/>
          <a:chOff x="0" y="0"/>
          <a:chExt cx="0" cy="0"/>
        </a:xfrm>
      </p:grpSpPr>
      <p:sp>
        <p:nvSpPr>
          <p:cNvPr id="45" name="Google Shape;45;p5"/>
          <p:cNvSpPr/>
          <p:nvPr/>
        </p:nvSpPr>
        <p:spPr>
          <a:xfrm>
            <a:off x="548640" y="365760"/>
            <a:ext cx="1106424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4E79"/>
              </a:buClr>
              <a:buSzPts val="3300"/>
              <a:buFont typeface="Times New Roman"/>
              <a:buNone/>
            </a:pPr>
            <a:r>
              <a:rPr b="0" i="0" lang="en-US" sz="3300" u="none" cap="none" strike="noStrike">
                <a:solidFill>
                  <a:srgbClr val="1F4E79"/>
                </a:solidFill>
                <a:latin typeface="Times New Roman"/>
                <a:ea typeface="Times New Roman"/>
                <a:cs typeface="Times New Roman"/>
                <a:sym typeface="Times New Roman"/>
              </a:rPr>
              <a:t>Hebbian Learning: Repeated Activation Writes Memory</a:t>
            </a:r>
            <a:endParaRPr b="0" i="0" sz="3300" u="none" cap="none" strike="noStrike">
              <a:solidFill>
                <a:schemeClr val="dk1"/>
              </a:solidFill>
              <a:latin typeface="Calibri"/>
              <a:ea typeface="Calibri"/>
              <a:cs typeface="Calibri"/>
              <a:sym typeface="Calibri"/>
            </a:endParaRPr>
          </a:p>
        </p:txBody>
      </p:sp>
      <p:sp>
        <p:nvSpPr>
          <p:cNvPr id="46" name="Google Shape;46;p5"/>
          <p:cNvSpPr/>
          <p:nvPr/>
        </p:nvSpPr>
        <p:spPr>
          <a:xfrm>
            <a:off x="548655" y="2108280"/>
            <a:ext cx="5074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2400"/>
              <a:buFont typeface="Times New Roman"/>
              <a:buNone/>
            </a:pPr>
            <a:r>
              <a:rPr b="0" i="0" lang="en-US" sz="2400" u="none" cap="none" strike="noStrike">
                <a:solidFill>
                  <a:srgbClr val="1F4E79"/>
                </a:solidFill>
                <a:latin typeface="Times New Roman"/>
                <a:ea typeface="Times New Roman"/>
                <a:cs typeface="Times New Roman"/>
                <a:sym typeface="Times New Roman"/>
              </a:rPr>
              <a:t>Hebbian principle</a:t>
            </a:r>
            <a:endParaRPr b="0" i="0" sz="2400" u="none" cap="none" strike="noStrike">
              <a:solidFill>
                <a:schemeClr val="dk1"/>
              </a:solidFill>
              <a:latin typeface="Calibri"/>
              <a:ea typeface="Calibri"/>
              <a:cs typeface="Calibri"/>
              <a:sym typeface="Calibri"/>
            </a:endParaRPr>
          </a:p>
        </p:txBody>
      </p:sp>
      <p:sp>
        <p:nvSpPr>
          <p:cNvPr id="47" name="Google Shape;47;p5"/>
          <p:cNvSpPr/>
          <p:nvPr/>
        </p:nvSpPr>
        <p:spPr>
          <a:xfrm>
            <a:off x="548655" y="2794080"/>
            <a:ext cx="5074800" cy="2240400"/>
          </a:xfrm>
          <a:prstGeom prst="rect">
            <a:avLst/>
          </a:prstGeom>
          <a:solidFill>
            <a:srgbClr val="F3F4F7"/>
          </a:solidFill>
          <a:ln cap="flat" cmpd="sng" w="9525">
            <a:solidFill>
              <a:srgbClr val="D7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5"/>
          <p:cNvSpPr/>
          <p:nvPr/>
        </p:nvSpPr>
        <p:spPr>
          <a:xfrm>
            <a:off x="548655" y="3022680"/>
            <a:ext cx="50748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2500"/>
              <a:buFont typeface="Times New Roman"/>
              <a:buNone/>
            </a:pPr>
            <a:r>
              <a:rPr b="0" i="0" lang="en-US" sz="2500" u="none" cap="none" strike="noStrike">
                <a:solidFill>
                  <a:srgbClr val="1A1A1A"/>
                </a:solidFill>
                <a:latin typeface="Times New Roman"/>
                <a:ea typeface="Times New Roman"/>
                <a:cs typeface="Times New Roman"/>
                <a:sym typeface="Times New Roman"/>
              </a:rPr>
              <a:t>Strong co-activation</a:t>
            </a:r>
            <a:endParaRPr b="0" i="0" sz="2500" u="none" cap="none" strike="noStrike">
              <a:solidFill>
                <a:schemeClr val="dk1"/>
              </a:solidFill>
              <a:latin typeface="Calibri"/>
              <a:ea typeface="Calibri"/>
              <a:cs typeface="Calibri"/>
              <a:sym typeface="Calibri"/>
            </a:endParaRPr>
          </a:p>
        </p:txBody>
      </p:sp>
      <p:cxnSp>
        <p:nvCxnSpPr>
          <p:cNvPr id="49" name="Google Shape;49;p5"/>
          <p:cNvCxnSpPr/>
          <p:nvPr/>
        </p:nvCxnSpPr>
        <p:spPr>
          <a:xfrm>
            <a:off x="3086115" y="3681048"/>
            <a:ext cx="0" cy="502800"/>
          </a:xfrm>
          <a:prstGeom prst="straightConnector1">
            <a:avLst/>
          </a:prstGeom>
          <a:noFill/>
          <a:ln cap="flat" cmpd="sng" w="22225">
            <a:solidFill>
              <a:srgbClr val="9AA0AC"/>
            </a:solidFill>
            <a:prstDash val="solid"/>
            <a:round/>
            <a:headEnd len="sm" w="sm" type="none"/>
            <a:tailEnd len="med" w="med" type="triangle"/>
          </a:ln>
        </p:spPr>
      </p:cxnSp>
      <p:sp>
        <p:nvSpPr>
          <p:cNvPr id="50" name="Google Shape;50;p5"/>
          <p:cNvSpPr/>
          <p:nvPr/>
        </p:nvSpPr>
        <p:spPr>
          <a:xfrm>
            <a:off x="548655" y="4257120"/>
            <a:ext cx="50748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2500"/>
              <a:buFont typeface="Times New Roman"/>
              <a:buNone/>
            </a:pPr>
            <a:r>
              <a:rPr b="0" i="0" lang="en-US" sz="2500" u="none" cap="none" strike="noStrike">
                <a:solidFill>
                  <a:srgbClr val="1A1A1A"/>
                </a:solidFill>
                <a:latin typeface="Times New Roman"/>
                <a:ea typeface="Times New Roman"/>
                <a:cs typeface="Times New Roman"/>
                <a:sym typeface="Times New Roman"/>
              </a:rPr>
              <a:t>stronger connection</a:t>
            </a:r>
            <a:endParaRPr b="0" i="0" sz="2500" u="none" cap="none" strike="noStrike">
              <a:solidFill>
                <a:schemeClr val="dk1"/>
              </a:solidFill>
              <a:latin typeface="Calibri"/>
              <a:ea typeface="Calibri"/>
              <a:cs typeface="Calibri"/>
              <a:sym typeface="Calibri"/>
            </a:endParaRPr>
          </a:p>
        </p:txBody>
      </p:sp>
      <p:sp>
        <p:nvSpPr>
          <p:cNvPr id="51" name="Google Shape;51;p5"/>
          <p:cNvSpPr/>
          <p:nvPr/>
        </p:nvSpPr>
        <p:spPr>
          <a:xfrm>
            <a:off x="6361680" y="2108280"/>
            <a:ext cx="55320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2400"/>
              <a:buFont typeface="Times New Roman"/>
              <a:buNone/>
            </a:pPr>
            <a:r>
              <a:rPr b="0" i="0" lang="en-US" sz="2400" u="none" cap="none" strike="noStrike">
                <a:solidFill>
                  <a:srgbClr val="1F4E79"/>
                </a:solidFill>
                <a:latin typeface="Times New Roman"/>
                <a:ea typeface="Times New Roman"/>
                <a:cs typeface="Times New Roman"/>
                <a:sym typeface="Times New Roman"/>
              </a:rPr>
              <a:t>In HebbSPRT</a:t>
            </a:r>
            <a:endParaRPr b="0" i="0" sz="2400" u="none" cap="none" strike="noStrike">
              <a:solidFill>
                <a:schemeClr val="dk1"/>
              </a:solidFill>
              <a:latin typeface="Calibri"/>
              <a:ea typeface="Calibri"/>
              <a:cs typeface="Calibri"/>
              <a:sym typeface="Calibri"/>
            </a:endParaRPr>
          </a:p>
        </p:txBody>
      </p:sp>
      <p:sp>
        <p:nvSpPr>
          <p:cNvPr id="52" name="Google Shape;52;p5"/>
          <p:cNvSpPr/>
          <p:nvPr/>
        </p:nvSpPr>
        <p:spPr>
          <a:xfrm>
            <a:off x="6361680" y="2611200"/>
            <a:ext cx="5532000" cy="777300"/>
          </a:xfrm>
          <a:prstGeom prst="rect">
            <a:avLst/>
          </a:prstGeom>
          <a:solidFill>
            <a:srgbClr val="F3F4F7"/>
          </a:solidFill>
          <a:ln cap="flat" cmpd="sng" w="9525">
            <a:solidFill>
              <a:srgbClr val="D7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a:off x="6361680" y="2611200"/>
            <a:ext cx="5532000" cy="777300"/>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1A1A1A"/>
              </a:buClr>
              <a:buSzPts val="2400"/>
              <a:buFont typeface="Times New Roman"/>
              <a:buNone/>
            </a:pPr>
            <a:r>
              <a:rPr b="0" i="1" lang="en-US" sz="2400" u="none" cap="none" strike="noStrike">
                <a:solidFill>
                  <a:srgbClr val="1A1A1A"/>
                </a:solidFill>
                <a:latin typeface="Times New Roman"/>
                <a:ea typeface="Times New Roman"/>
                <a:cs typeface="Times New Roman"/>
                <a:sym typeface="Times New Roman"/>
              </a:rPr>
              <a:t>v</a:t>
            </a:r>
            <a:r>
              <a:rPr b="0" i="0" lang="en-US" sz="2400" u="none" cap="none" strike="noStrike">
                <a:solidFill>
                  <a:srgbClr val="1A1A1A"/>
                </a:solidFill>
                <a:latin typeface="Times New Roman"/>
                <a:ea typeface="Times New Roman"/>
                <a:cs typeface="Times New Roman"/>
                <a:sym typeface="Times New Roman"/>
              </a:rPr>
              <a:t> = </a:t>
            </a:r>
            <a:r>
              <a:rPr b="0" i="1" lang="en-US" sz="2400" u="none" cap="none" strike="noStrike">
                <a:solidFill>
                  <a:srgbClr val="1A1A1A"/>
                </a:solidFill>
                <a:latin typeface="Times New Roman"/>
                <a:ea typeface="Times New Roman"/>
                <a:cs typeface="Times New Roman"/>
                <a:sym typeface="Times New Roman"/>
              </a:rPr>
              <a:t>uW</a:t>
            </a:r>
            <a:r>
              <a:rPr b="0" baseline="30000" i="0" lang="en-US" sz="2400" u="none" cap="none" strike="noStrike">
                <a:solidFill>
                  <a:srgbClr val="1A1A1A"/>
                </a:solidFill>
                <a:latin typeface="Times New Roman"/>
                <a:ea typeface="Times New Roman"/>
                <a:cs typeface="Times New Roman"/>
                <a:sym typeface="Times New Roman"/>
              </a:rPr>
              <a:t>T</a:t>
            </a:r>
            <a:r>
              <a:rPr b="0" i="0" lang="en-US" sz="2400" u="none" cap="none" strike="noStrike">
                <a:solidFill>
                  <a:srgbClr val="1A1A1A"/>
                </a:solidFill>
                <a:latin typeface="Times New Roman"/>
                <a:ea typeface="Times New Roman"/>
                <a:cs typeface="Times New Roman"/>
                <a:sym typeface="Times New Roman"/>
              </a:rPr>
              <a:t>        </a:t>
            </a:r>
            <a:r>
              <a:rPr b="0" i="1" lang="en-US" sz="2400" u="none" cap="none" strike="noStrike">
                <a:solidFill>
                  <a:srgbClr val="1A1A1A"/>
                </a:solidFill>
                <a:latin typeface="Times New Roman"/>
                <a:ea typeface="Times New Roman"/>
                <a:cs typeface="Times New Roman"/>
                <a:sym typeface="Times New Roman"/>
              </a:rPr>
              <a:t>v</a:t>
            </a:r>
            <a:r>
              <a:rPr b="0" baseline="-25000" i="1" lang="en-US" sz="2400" u="none" cap="none" strike="noStrike">
                <a:solidFill>
                  <a:srgbClr val="1A1A1A"/>
                </a:solidFill>
                <a:latin typeface="Times New Roman"/>
                <a:ea typeface="Times New Roman"/>
                <a:cs typeface="Times New Roman"/>
                <a:sym typeface="Times New Roman"/>
              </a:rPr>
              <a:t>k</a:t>
            </a:r>
            <a:r>
              <a:rPr b="0" i="0" lang="en-US" sz="2400" u="none" cap="none" strike="noStrike">
                <a:solidFill>
                  <a:srgbClr val="1A1A1A"/>
                </a:solidFill>
                <a:latin typeface="Times New Roman"/>
                <a:ea typeface="Times New Roman"/>
                <a:cs typeface="Times New Roman"/>
                <a:sym typeface="Times New Roman"/>
              </a:rPr>
              <a:t> = </a:t>
            </a:r>
            <a:r>
              <a:rPr b="0" i="1" lang="en-US" sz="2400" u="none" cap="none" strike="noStrike">
                <a:solidFill>
                  <a:srgbClr val="1A1A1A"/>
                </a:solidFill>
                <a:latin typeface="Times New Roman"/>
                <a:ea typeface="Times New Roman"/>
                <a:cs typeface="Times New Roman"/>
                <a:sym typeface="Times New Roman"/>
              </a:rPr>
              <a:t>u</a:t>
            </a:r>
            <a:r>
              <a:rPr b="0" baseline="30000" i="0" lang="en-US" sz="2400" u="none" cap="none" strike="noStrike">
                <a:solidFill>
                  <a:srgbClr val="1A1A1A"/>
                </a:solidFill>
                <a:latin typeface="Times New Roman"/>
                <a:ea typeface="Times New Roman"/>
                <a:cs typeface="Times New Roman"/>
                <a:sym typeface="Times New Roman"/>
              </a:rPr>
              <a:t>T</a:t>
            </a:r>
            <a:r>
              <a:rPr b="0" i="1" lang="en-US" sz="2400" u="none" cap="none" strike="noStrike">
                <a:solidFill>
                  <a:srgbClr val="1A1A1A"/>
                </a:solidFill>
                <a:latin typeface="Times New Roman"/>
                <a:ea typeface="Times New Roman"/>
                <a:cs typeface="Times New Roman"/>
                <a:sym typeface="Times New Roman"/>
              </a:rPr>
              <a:t>w</a:t>
            </a:r>
            <a:r>
              <a:rPr b="0" baseline="-25000" i="1" lang="en-US" sz="2400" u="none" cap="none" strike="noStrike">
                <a:solidFill>
                  <a:srgbClr val="1A1A1A"/>
                </a:solidFill>
                <a:latin typeface="Times New Roman"/>
                <a:ea typeface="Times New Roman"/>
                <a:cs typeface="Times New Roman"/>
                <a:sym typeface="Times New Roman"/>
              </a:rPr>
              <a:t>k</a:t>
            </a:r>
            <a:endParaRPr b="0" i="0" sz="2400" u="none" cap="none" strike="noStrike">
              <a:solidFill>
                <a:schemeClr val="dk1"/>
              </a:solidFill>
              <a:latin typeface="Calibri"/>
              <a:ea typeface="Calibri"/>
              <a:cs typeface="Calibri"/>
              <a:sym typeface="Calibri"/>
            </a:endParaRPr>
          </a:p>
        </p:txBody>
      </p:sp>
      <p:sp>
        <p:nvSpPr>
          <p:cNvPr id="54" name="Google Shape;54;p5"/>
          <p:cNvSpPr/>
          <p:nvPr/>
        </p:nvSpPr>
        <p:spPr>
          <a:xfrm>
            <a:off x="6361680" y="3571320"/>
            <a:ext cx="5532000" cy="182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Times New Roman"/>
              <a:buNone/>
            </a:pPr>
            <a:r>
              <a:rPr b="0" i="1" lang="en-US" sz="2000" u="none" cap="none" strike="noStrike">
                <a:solidFill>
                  <a:srgbClr val="1A1A1A"/>
                </a:solidFill>
                <a:latin typeface="Times New Roman"/>
                <a:ea typeface="Times New Roman"/>
                <a:cs typeface="Times New Roman"/>
                <a:sym typeface="Times New Roman"/>
              </a:rPr>
              <a:t>u</a:t>
            </a:r>
            <a:r>
              <a:rPr b="0" i="0" lang="en-US" sz="2000" u="none" cap="none" strike="noStrike">
                <a:solidFill>
                  <a:srgbClr val="1A1A1A"/>
                </a:solidFill>
                <a:latin typeface="Times New Roman"/>
                <a:ea typeface="Times New Roman"/>
                <a:cs typeface="Times New Roman"/>
                <a:sym typeface="Times New Roman"/>
              </a:rPr>
              <a:t>  hidden representation</a:t>
            </a:r>
            <a:endParaRPr b="0" i="0" sz="2000" u="none" cap="none" strike="noStrike">
              <a:solidFill>
                <a:schemeClr val="dk1"/>
              </a:solidFill>
              <a:latin typeface="Calibri"/>
              <a:ea typeface="Calibri"/>
              <a:cs typeface="Calibri"/>
              <a:sym typeface="Calibri"/>
            </a:endParaRPr>
          </a:p>
          <a:p>
            <a:pPr indent="0" lvl="0" marL="0" marR="0" rtl="0" algn="l">
              <a:spcBef>
                <a:spcPts val="900"/>
              </a:spcBef>
              <a:spcAft>
                <a:spcPts val="0"/>
              </a:spcAft>
              <a:buClr>
                <a:srgbClr val="1A1A1A"/>
              </a:buClr>
              <a:buSzPts val="2000"/>
              <a:buFont typeface="Times New Roman"/>
              <a:buNone/>
            </a:pPr>
            <a:r>
              <a:rPr b="0" i="1" lang="en-US" sz="2000" u="none" cap="none" strike="noStrike">
                <a:solidFill>
                  <a:srgbClr val="1A1A1A"/>
                </a:solidFill>
                <a:latin typeface="Times New Roman"/>
                <a:ea typeface="Times New Roman"/>
                <a:cs typeface="Times New Roman"/>
                <a:sym typeface="Times New Roman"/>
              </a:rPr>
              <a:t>w</a:t>
            </a:r>
            <a:r>
              <a:rPr b="0" baseline="-25000" i="1" lang="en-US" sz="2000" u="none" cap="none" strike="noStrike">
                <a:solidFill>
                  <a:srgbClr val="1A1A1A"/>
                </a:solidFill>
                <a:latin typeface="Times New Roman"/>
                <a:ea typeface="Times New Roman"/>
                <a:cs typeface="Times New Roman"/>
                <a:sym typeface="Times New Roman"/>
              </a:rPr>
              <a:t>k</a:t>
            </a:r>
            <a:r>
              <a:rPr b="0" i="0" lang="en-US" sz="2000" u="none" cap="none" strike="noStrike">
                <a:solidFill>
                  <a:srgbClr val="1A1A1A"/>
                </a:solidFill>
                <a:latin typeface="Times New Roman"/>
                <a:ea typeface="Times New Roman"/>
                <a:cs typeface="Times New Roman"/>
                <a:sym typeface="Times New Roman"/>
              </a:rPr>
              <a:t>  memory filter</a:t>
            </a:r>
            <a:endParaRPr b="0" i="0" sz="2000" u="none" cap="none" strike="noStrike">
              <a:solidFill>
                <a:schemeClr val="dk1"/>
              </a:solidFill>
              <a:latin typeface="Calibri"/>
              <a:ea typeface="Calibri"/>
              <a:cs typeface="Calibri"/>
              <a:sym typeface="Calibri"/>
            </a:endParaRPr>
          </a:p>
          <a:p>
            <a:pPr indent="0" lvl="0" marL="0" marR="0" rtl="0" algn="l">
              <a:spcBef>
                <a:spcPts val="900"/>
              </a:spcBef>
              <a:spcAft>
                <a:spcPts val="0"/>
              </a:spcAft>
              <a:buClr>
                <a:srgbClr val="1A1A1A"/>
              </a:buClr>
              <a:buSzPts val="2000"/>
              <a:buFont typeface="Times New Roman"/>
              <a:buNone/>
            </a:pPr>
            <a:r>
              <a:rPr b="0" i="1" lang="en-US" sz="2000" u="none" cap="none" strike="noStrike">
                <a:solidFill>
                  <a:srgbClr val="1A1A1A"/>
                </a:solidFill>
                <a:latin typeface="Times New Roman"/>
                <a:ea typeface="Times New Roman"/>
                <a:cs typeface="Times New Roman"/>
                <a:sym typeface="Times New Roman"/>
              </a:rPr>
              <a:t>v</a:t>
            </a:r>
            <a:r>
              <a:rPr b="0" baseline="-25000" i="1" lang="en-US" sz="2000" u="none" cap="none" strike="noStrike">
                <a:solidFill>
                  <a:srgbClr val="1A1A1A"/>
                </a:solidFill>
                <a:latin typeface="Times New Roman"/>
                <a:ea typeface="Times New Roman"/>
                <a:cs typeface="Times New Roman"/>
                <a:sym typeface="Times New Roman"/>
              </a:rPr>
              <a:t>k</a:t>
            </a:r>
            <a:r>
              <a:rPr b="0" i="0" lang="en-US" sz="2000" u="none" cap="none" strike="noStrike">
                <a:solidFill>
                  <a:srgbClr val="1A1A1A"/>
                </a:solidFill>
                <a:latin typeface="Times New Roman"/>
                <a:ea typeface="Times New Roman"/>
                <a:cs typeface="Times New Roman"/>
                <a:sym typeface="Times New Roman"/>
              </a:rPr>
              <a:t>  activation strength</a:t>
            </a:r>
            <a:endParaRPr b="0" i="0" sz="2000" u="none" cap="none" strike="noStrike">
              <a:solidFill>
                <a:schemeClr val="dk1"/>
              </a:solidFill>
              <a:latin typeface="Calibri"/>
              <a:ea typeface="Calibri"/>
              <a:cs typeface="Calibri"/>
              <a:sym typeface="Calibri"/>
            </a:endParaRPr>
          </a:p>
          <a:p>
            <a:pPr indent="0" lvl="0" marL="0" marR="0" rtl="0" algn="l">
              <a:spcBef>
                <a:spcPts val="900"/>
              </a:spcBef>
              <a:spcAft>
                <a:spcPts val="0"/>
              </a:spcAft>
              <a:buClr>
                <a:srgbClr val="1A1A1A"/>
              </a:buClr>
              <a:buSzPts val="2000"/>
              <a:buFont typeface="Times New Roman"/>
              <a:buNone/>
            </a:pPr>
            <a:r>
              <a:rPr b="0" i="0" lang="en-US" sz="2000" u="none" cap="none" strike="noStrike">
                <a:solidFill>
                  <a:srgbClr val="1A1A1A"/>
                </a:solidFill>
                <a:latin typeface="Times New Roman"/>
                <a:ea typeface="Times New Roman"/>
                <a:cs typeface="Times New Roman"/>
                <a:sym typeface="Times New Roman"/>
              </a:rPr>
              <a:t>repeated patterns push filters toward stable directions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sp>
        <p:nvSpPr>
          <p:cNvPr id="60" name="Google Shape;60;p6"/>
          <p:cNvSpPr/>
          <p:nvPr/>
        </p:nvSpPr>
        <p:spPr>
          <a:xfrm>
            <a:off x="548640" y="365760"/>
            <a:ext cx="1106424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4E79"/>
              </a:buClr>
              <a:buSzPts val="3300"/>
              <a:buFont typeface="Times New Roman"/>
              <a:buNone/>
            </a:pPr>
            <a:r>
              <a:rPr b="0" i="0" lang="en-US" sz="3300" u="none" cap="none" strike="noStrike">
                <a:solidFill>
                  <a:srgbClr val="1F4E79"/>
                </a:solidFill>
                <a:latin typeface="Times New Roman"/>
                <a:ea typeface="Times New Roman"/>
                <a:cs typeface="Times New Roman"/>
                <a:sym typeface="Times New Roman"/>
              </a:rPr>
              <a:t>The Algorithm Has Three Goals</a:t>
            </a:r>
            <a:endParaRPr b="0" i="0" sz="3300" u="none" cap="none" strike="noStrike">
              <a:solidFill>
                <a:schemeClr val="dk1"/>
              </a:solidFill>
              <a:latin typeface="Calibri"/>
              <a:ea typeface="Calibri"/>
              <a:cs typeface="Calibri"/>
              <a:sym typeface="Calibri"/>
            </a:endParaRPr>
          </a:p>
        </p:txBody>
      </p:sp>
      <p:sp>
        <p:nvSpPr>
          <p:cNvPr id="61" name="Google Shape;61;p6"/>
          <p:cNvSpPr/>
          <p:nvPr/>
        </p:nvSpPr>
        <p:spPr>
          <a:xfrm>
            <a:off x="548642" y="1988550"/>
            <a:ext cx="3310200" cy="3154800"/>
          </a:xfrm>
          <a:prstGeom prst="roundRect">
            <a:avLst>
              <a:gd fmla="val 2029" name="adj"/>
            </a:avLst>
          </a:prstGeom>
          <a:solidFill>
            <a:srgbClr val="F3F4F7"/>
          </a:solidFill>
          <a:ln cap="flat" cmpd="sng" w="9525">
            <a:solidFill>
              <a:srgbClr val="D7DCE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a:off x="1911099" y="2262870"/>
            <a:ext cx="585300" cy="585300"/>
          </a:xfrm>
          <a:prstGeom prst="ellipse">
            <a:avLst/>
          </a:prstGeom>
          <a:solidFill>
            <a:srgbClr val="1F4E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6"/>
          <p:cNvSpPr/>
          <p:nvPr/>
        </p:nvSpPr>
        <p:spPr>
          <a:xfrm>
            <a:off x="1911099" y="2262870"/>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Times New Roman"/>
              <a:buNone/>
            </a:pPr>
            <a:r>
              <a:rPr b="0" i="0" lang="en-US" sz="2400" u="none" cap="none" strike="noStrike">
                <a:solidFill>
                  <a:srgbClr val="FFFFFF"/>
                </a:solidFill>
                <a:latin typeface="Times New Roman"/>
                <a:ea typeface="Times New Roman"/>
                <a:cs typeface="Times New Roman"/>
                <a:sym typeface="Times New Roman"/>
              </a:rPr>
              <a:t>1</a:t>
            </a:r>
            <a:endParaRPr b="0" i="0" sz="2400" u="none" cap="none" strike="noStrike">
              <a:solidFill>
                <a:schemeClr val="dk1"/>
              </a:solidFill>
              <a:latin typeface="Calibri"/>
              <a:ea typeface="Calibri"/>
              <a:cs typeface="Calibri"/>
              <a:sym typeface="Calibri"/>
            </a:endParaRPr>
          </a:p>
        </p:txBody>
      </p:sp>
      <p:sp>
        <p:nvSpPr>
          <p:cNvPr id="64" name="Google Shape;64;p6"/>
          <p:cNvSpPr/>
          <p:nvPr/>
        </p:nvSpPr>
        <p:spPr>
          <a:xfrm>
            <a:off x="640083" y="2994390"/>
            <a:ext cx="312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2200"/>
              <a:buFont typeface="Times New Roman"/>
              <a:buNone/>
            </a:pPr>
            <a:r>
              <a:rPr b="0" i="0" lang="en-US" sz="2200" u="none" cap="none" strike="noStrike">
                <a:solidFill>
                  <a:srgbClr val="1F4E79"/>
                </a:solidFill>
                <a:latin typeface="Times New Roman"/>
                <a:ea typeface="Times New Roman"/>
                <a:cs typeface="Times New Roman"/>
                <a:sym typeface="Times New Roman"/>
              </a:rPr>
              <a:t>Detect Activation</a:t>
            </a:r>
            <a:endParaRPr b="0" i="0" sz="2200" u="none" cap="none" strike="noStrike">
              <a:solidFill>
                <a:schemeClr val="dk1"/>
              </a:solidFill>
              <a:latin typeface="Calibri"/>
              <a:ea typeface="Calibri"/>
              <a:cs typeface="Calibri"/>
              <a:sym typeface="Calibri"/>
            </a:endParaRPr>
          </a:p>
        </p:txBody>
      </p:sp>
      <p:sp>
        <p:nvSpPr>
          <p:cNvPr id="65" name="Google Shape;65;p6"/>
          <p:cNvSpPr/>
          <p:nvPr/>
        </p:nvSpPr>
        <p:spPr>
          <a:xfrm>
            <a:off x="640083" y="3543030"/>
            <a:ext cx="31272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2400"/>
              <a:buFont typeface="Times New Roman"/>
              <a:buNone/>
            </a:pPr>
            <a:r>
              <a:rPr b="0" i="1" lang="en-US" sz="2400" u="none" cap="none" strike="noStrike">
                <a:solidFill>
                  <a:srgbClr val="1A1A1A"/>
                </a:solidFill>
                <a:latin typeface="Times New Roman"/>
                <a:ea typeface="Times New Roman"/>
                <a:cs typeface="Times New Roman"/>
                <a:sym typeface="Times New Roman"/>
              </a:rPr>
              <a:t>v</a:t>
            </a:r>
            <a:r>
              <a:rPr b="0" i="0" lang="en-US" sz="2400" u="none" cap="none" strike="noStrike">
                <a:solidFill>
                  <a:srgbClr val="1A1A1A"/>
                </a:solidFill>
                <a:latin typeface="Times New Roman"/>
                <a:ea typeface="Times New Roman"/>
                <a:cs typeface="Times New Roman"/>
                <a:sym typeface="Times New Roman"/>
              </a:rPr>
              <a:t> = </a:t>
            </a:r>
            <a:r>
              <a:rPr b="0" i="1" lang="en-US" sz="2400" u="none" cap="none" strike="noStrike">
                <a:solidFill>
                  <a:srgbClr val="1A1A1A"/>
                </a:solidFill>
                <a:latin typeface="Times New Roman"/>
                <a:ea typeface="Times New Roman"/>
                <a:cs typeface="Times New Roman"/>
                <a:sym typeface="Times New Roman"/>
              </a:rPr>
              <a:t>uW</a:t>
            </a:r>
            <a:r>
              <a:rPr b="0" baseline="30000" i="0" lang="en-US" sz="2400" u="none" cap="none" strike="noStrike">
                <a:solidFill>
                  <a:srgbClr val="1A1A1A"/>
                </a:solidFill>
                <a:latin typeface="Times New Roman"/>
                <a:ea typeface="Times New Roman"/>
                <a:cs typeface="Times New Roman"/>
                <a:sym typeface="Times New Roman"/>
              </a:rPr>
              <a:t>T</a:t>
            </a:r>
            <a:endParaRPr b="0" i="0" sz="2400" u="none" cap="none" strike="noStrike">
              <a:solidFill>
                <a:schemeClr val="dk1"/>
              </a:solidFill>
              <a:latin typeface="Calibri"/>
              <a:ea typeface="Calibri"/>
              <a:cs typeface="Calibri"/>
              <a:sym typeface="Calibri"/>
            </a:endParaRPr>
          </a:p>
        </p:txBody>
      </p:sp>
      <p:sp>
        <p:nvSpPr>
          <p:cNvPr id="66" name="Google Shape;66;p6"/>
          <p:cNvSpPr/>
          <p:nvPr/>
        </p:nvSpPr>
        <p:spPr>
          <a:xfrm>
            <a:off x="777242" y="4183110"/>
            <a:ext cx="2853000" cy="868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800"/>
              <a:buFont typeface="Times New Roman"/>
              <a:buNone/>
            </a:pPr>
            <a:r>
              <a:rPr b="0" i="0" lang="en-US" sz="1800" u="none" cap="none" strike="noStrike">
                <a:solidFill>
                  <a:srgbClr val="1A1A1A"/>
                </a:solidFill>
                <a:latin typeface="Times New Roman"/>
                <a:ea typeface="Times New Roman"/>
                <a:cs typeface="Times New Roman"/>
                <a:sym typeface="Times New Roman"/>
              </a:rPr>
              <a:t>Find which filters respond to the input.</a:t>
            </a:r>
            <a:endParaRPr b="0" i="0" sz="1800" u="none" cap="none" strike="noStrike">
              <a:solidFill>
                <a:schemeClr val="dk1"/>
              </a:solidFill>
              <a:latin typeface="Calibri"/>
              <a:ea typeface="Calibri"/>
              <a:cs typeface="Calibri"/>
              <a:sym typeface="Calibri"/>
            </a:endParaRPr>
          </a:p>
        </p:txBody>
      </p:sp>
      <p:sp>
        <p:nvSpPr>
          <p:cNvPr id="67" name="Google Shape;67;p6"/>
          <p:cNvSpPr/>
          <p:nvPr/>
        </p:nvSpPr>
        <p:spPr>
          <a:xfrm>
            <a:off x="4425699" y="1988550"/>
            <a:ext cx="3310200" cy="3154800"/>
          </a:xfrm>
          <a:prstGeom prst="roundRect">
            <a:avLst>
              <a:gd fmla="val 2029" name="adj"/>
            </a:avLst>
          </a:prstGeom>
          <a:solidFill>
            <a:srgbClr val="F3F4F7"/>
          </a:solidFill>
          <a:ln cap="flat" cmpd="sng" w="9525">
            <a:solidFill>
              <a:srgbClr val="D7DCE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p:nvPr/>
        </p:nvSpPr>
        <p:spPr>
          <a:xfrm>
            <a:off x="5788155" y="2262870"/>
            <a:ext cx="585300" cy="585300"/>
          </a:xfrm>
          <a:prstGeom prst="ellipse">
            <a:avLst/>
          </a:prstGeom>
          <a:solidFill>
            <a:srgbClr val="1F4E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5788155" y="2262870"/>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Times New Roman"/>
              <a:buNone/>
            </a:pPr>
            <a:r>
              <a:rPr b="0" i="0" lang="en-US" sz="2400" u="none" cap="none" strike="noStrike">
                <a:solidFill>
                  <a:srgbClr val="FFFFFF"/>
                </a:solidFill>
                <a:latin typeface="Times New Roman"/>
                <a:ea typeface="Times New Roman"/>
                <a:cs typeface="Times New Roman"/>
                <a:sym typeface="Times New Roman"/>
              </a:rPr>
              <a:t>2</a:t>
            </a:r>
            <a:endParaRPr b="0" i="0" sz="2400" u="none" cap="none" strike="noStrike">
              <a:solidFill>
                <a:schemeClr val="dk1"/>
              </a:solidFill>
              <a:latin typeface="Calibri"/>
              <a:ea typeface="Calibri"/>
              <a:cs typeface="Calibri"/>
              <a:sym typeface="Calibri"/>
            </a:endParaRPr>
          </a:p>
        </p:txBody>
      </p:sp>
      <p:sp>
        <p:nvSpPr>
          <p:cNvPr id="70" name="Google Shape;70;p6"/>
          <p:cNvSpPr/>
          <p:nvPr/>
        </p:nvSpPr>
        <p:spPr>
          <a:xfrm>
            <a:off x="4517138" y="2994390"/>
            <a:ext cx="312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2200"/>
              <a:buFont typeface="Times New Roman"/>
              <a:buNone/>
            </a:pPr>
            <a:r>
              <a:rPr b="0" i="0" lang="en-US" sz="2200" u="none" cap="none" strike="noStrike">
                <a:solidFill>
                  <a:srgbClr val="1F4E79"/>
                </a:solidFill>
                <a:latin typeface="Times New Roman"/>
                <a:ea typeface="Times New Roman"/>
                <a:cs typeface="Times New Roman"/>
                <a:sym typeface="Times New Roman"/>
              </a:rPr>
              <a:t>Write Structure</a:t>
            </a:r>
            <a:endParaRPr b="0" i="0" sz="2200" u="none" cap="none" strike="noStrike">
              <a:solidFill>
                <a:schemeClr val="dk1"/>
              </a:solidFill>
              <a:latin typeface="Calibri"/>
              <a:ea typeface="Calibri"/>
              <a:cs typeface="Calibri"/>
              <a:sym typeface="Calibri"/>
            </a:endParaRPr>
          </a:p>
        </p:txBody>
      </p:sp>
      <p:sp>
        <p:nvSpPr>
          <p:cNvPr id="71" name="Google Shape;71;p6"/>
          <p:cNvSpPr/>
          <p:nvPr/>
        </p:nvSpPr>
        <p:spPr>
          <a:xfrm>
            <a:off x="4517138" y="3543030"/>
            <a:ext cx="31272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2200"/>
              <a:buFont typeface="Times New Roman"/>
              <a:buNone/>
            </a:pPr>
            <a:r>
              <a:rPr i="1" lang="en-US" sz="2200">
                <a:solidFill>
                  <a:srgbClr val="1A1A1A"/>
                </a:solidFill>
                <a:latin typeface="Times New Roman"/>
                <a:ea typeface="Times New Roman"/>
                <a:cs typeface="Times New Roman"/>
                <a:sym typeface="Times New Roman"/>
              </a:rPr>
              <a:t>U</a:t>
            </a:r>
            <a:r>
              <a:rPr b="0" i="1" lang="en-US" sz="2200" u="none" cap="none" strike="noStrike">
                <a:solidFill>
                  <a:srgbClr val="1A1A1A"/>
                </a:solidFill>
                <a:latin typeface="Times New Roman"/>
                <a:ea typeface="Times New Roman"/>
                <a:cs typeface="Times New Roman"/>
                <a:sym typeface="Times New Roman"/>
              </a:rPr>
              <a:t>pdate Function</a:t>
            </a:r>
            <a:endParaRPr b="0" i="0" sz="2200" u="none" cap="none" strike="noStrike">
              <a:solidFill>
                <a:schemeClr val="dk1"/>
              </a:solidFill>
              <a:latin typeface="Calibri"/>
              <a:ea typeface="Calibri"/>
              <a:cs typeface="Calibri"/>
              <a:sym typeface="Calibri"/>
            </a:endParaRPr>
          </a:p>
        </p:txBody>
      </p:sp>
      <p:sp>
        <p:nvSpPr>
          <p:cNvPr id="72" name="Google Shape;72;p6"/>
          <p:cNvSpPr/>
          <p:nvPr/>
        </p:nvSpPr>
        <p:spPr>
          <a:xfrm>
            <a:off x="4654299" y="4183110"/>
            <a:ext cx="2853000" cy="868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800"/>
              <a:buFont typeface="Times New Roman"/>
              <a:buNone/>
            </a:pPr>
            <a:r>
              <a:rPr b="0" i="0" lang="en-US" sz="1800" u="none" cap="none" strike="noStrike">
                <a:solidFill>
                  <a:srgbClr val="1A1A1A"/>
                </a:solidFill>
                <a:latin typeface="Times New Roman"/>
                <a:ea typeface="Times New Roman"/>
                <a:cs typeface="Times New Roman"/>
                <a:sym typeface="Times New Roman"/>
              </a:rPr>
              <a:t>Update plastic filters toward non-redundant input structure.</a:t>
            </a:r>
            <a:endParaRPr b="0" i="0" sz="1800" u="none" cap="none" strike="noStrike">
              <a:solidFill>
                <a:schemeClr val="dk1"/>
              </a:solidFill>
              <a:latin typeface="Calibri"/>
              <a:ea typeface="Calibri"/>
              <a:cs typeface="Calibri"/>
              <a:sym typeface="Calibri"/>
            </a:endParaRPr>
          </a:p>
        </p:txBody>
      </p:sp>
      <p:sp>
        <p:nvSpPr>
          <p:cNvPr id="73" name="Google Shape;73;p6"/>
          <p:cNvSpPr/>
          <p:nvPr/>
        </p:nvSpPr>
        <p:spPr>
          <a:xfrm>
            <a:off x="8302755" y="1988550"/>
            <a:ext cx="3310200" cy="3154800"/>
          </a:xfrm>
          <a:prstGeom prst="roundRect">
            <a:avLst>
              <a:gd fmla="val 2029" name="adj"/>
            </a:avLst>
          </a:prstGeom>
          <a:solidFill>
            <a:srgbClr val="F3F4F7"/>
          </a:solidFill>
          <a:ln cap="flat" cmpd="sng" w="9525">
            <a:solidFill>
              <a:srgbClr val="D7DCE3"/>
            </a:solidFill>
            <a:prstDash val="solid"/>
            <a:round/>
            <a:headEnd len="sm" w="sm" type="none"/>
            <a:tailEnd len="sm" w="sm" type="none"/>
          </a:ln>
          <a:effectLst>
            <a:outerShdw blurRad="63500" rotWithShape="0" algn="bl" dir="8100000" dist="25400">
              <a:srgbClr val="000000">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6"/>
          <p:cNvSpPr/>
          <p:nvPr/>
        </p:nvSpPr>
        <p:spPr>
          <a:xfrm>
            <a:off x="9665211" y="2262870"/>
            <a:ext cx="585300" cy="585300"/>
          </a:xfrm>
          <a:prstGeom prst="ellipse">
            <a:avLst/>
          </a:prstGeom>
          <a:solidFill>
            <a:srgbClr val="1F4E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6"/>
          <p:cNvSpPr/>
          <p:nvPr/>
        </p:nvSpPr>
        <p:spPr>
          <a:xfrm>
            <a:off x="9665211" y="2262870"/>
            <a:ext cx="585300" cy="585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Times New Roman"/>
              <a:buNone/>
            </a:pPr>
            <a:r>
              <a:rPr b="0" i="0" lang="en-US" sz="2400" u="none" cap="none" strike="noStrike">
                <a:solidFill>
                  <a:srgbClr val="FFFFFF"/>
                </a:solidFill>
                <a:latin typeface="Times New Roman"/>
                <a:ea typeface="Times New Roman"/>
                <a:cs typeface="Times New Roman"/>
                <a:sym typeface="Times New Roman"/>
              </a:rPr>
              <a:t>3</a:t>
            </a:r>
            <a:endParaRPr b="0" i="0" sz="2400" u="none" cap="none" strike="noStrike">
              <a:solidFill>
                <a:schemeClr val="dk1"/>
              </a:solidFill>
              <a:latin typeface="Calibri"/>
              <a:ea typeface="Calibri"/>
              <a:cs typeface="Calibri"/>
              <a:sym typeface="Calibri"/>
            </a:endParaRPr>
          </a:p>
        </p:txBody>
      </p:sp>
      <p:sp>
        <p:nvSpPr>
          <p:cNvPr id="76" name="Google Shape;76;p6"/>
          <p:cNvSpPr/>
          <p:nvPr/>
        </p:nvSpPr>
        <p:spPr>
          <a:xfrm>
            <a:off x="8394195" y="2994390"/>
            <a:ext cx="312720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2200"/>
              <a:buFont typeface="Times New Roman"/>
              <a:buNone/>
            </a:pPr>
            <a:r>
              <a:rPr b="0" i="0" lang="en-US" sz="2200" u="none" cap="none" strike="noStrike">
                <a:solidFill>
                  <a:srgbClr val="1F4E79"/>
                </a:solidFill>
                <a:latin typeface="Times New Roman"/>
                <a:ea typeface="Times New Roman"/>
                <a:cs typeface="Times New Roman"/>
                <a:sym typeface="Times New Roman"/>
              </a:rPr>
              <a:t>Consolidate Memory</a:t>
            </a:r>
            <a:endParaRPr b="0" i="0" sz="2200" u="none" cap="none" strike="noStrike">
              <a:solidFill>
                <a:schemeClr val="dk1"/>
              </a:solidFill>
              <a:latin typeface="Calibri"/>
              <a:ea typeface="Calibri"/>
              <a:cs typeface="Calibri"/>
              <a:sym typeface="Calibri"/>
            </a:endParaRPr>
          </a:p>
        </p:txBody>
      </p:sp>
      <p:sp>
        <p:nvSpPr>
          <p:cNvPr id="77" name="Google Shape;77;p6"/>
          <p:cNvSpPr/>
          <p:nvPr/>
        </p:nvSpPr>
        <p:spPr>
          <a:xfrm>
            <a:off x="8394195" y="3543030"/>
            <a:ext cx="31272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2200"/>
              <a:buFont typeface="Times New Roman"/>
              <a:buNone/>
            </a:pPr>
            <a:r>
              <a:rPr b="0" i="1" lang="en-US" sz="2200" u="none" cap="none" strike="noStrike">
                <a:solidFill>
                  <a:srgbClr val="1A1A1A"/>
                </a:solidFill>
                <a:latin typeface="Times New Roman"/>
                <a:ea typeface="Times New Roman"/>
                <a:cs typeface="Times New Roman"/>
                <a:sym typeface="Times New Roman"/>
              </a:rPr>
              <a:t>SPRT  +  Freeze</a:t>
            </a:r>
            <a:endParaRPr b="0" i="0" sz="2200" u="none" cap="none" strike="noStrike">
              <a:solidFill>
                <a:schemeClr val="dk1"/>
              </a:solidFill>
              <a:latin typeface="Calibri"/>
              <a:ea typeface="Calibri"/>
              <a:cs typeface="Calibri"/>
              <a:sym typeface="Calibri"/>
            </a:endParaRPr>
          </a:p>
        </p:txBody>
      </p:sp>
      <p:sp>
        <p:nvSpPr>
          <p:cNvPr id="78" name="Google Shape;78;p6"/>
          <p:cNvSpPr/>
          <p:nvPr/>
        </p:nvSpPr>
        <p:spPr>
          <a:xfrm>
            <a:off x="8531355" y="4183110"/>
            <a:ext cx="2853000" cy="8688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800"/>
              <a:buFont typeface="Times New Roman"/>
              <a:buNone/>
            </a:pPr>
            <a:r>
              <a:rPr b="0" i="0" lang="en-US" sz="1800" u="none" cap="none" strike="noStrike">
                <a:solidFill>
                  <a:srgbClr val="1A1A1A"/>
                </a:solidFill>
                <a:latin typeface="Times New Roman"/>
                <a:ea typeface="Times New Roman"/>
                <a:cs typeface="Times New Roman"/>
                <a:sym typeface="Times New Roman"/>
              </a:rPr>
              <a:t>Freeze stable and informative filters.</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sp>
        <p:nvSpPr>
          <p:cNvPr id="84" name="Google Shape;84;p7"/>
          <p:cNvSpPr/>
          <p:nvPr/>
        </p:nvSpPr>
        <p:spPr>
          <a:xfrm>
            <a:off x="548640" y="365760"/>
            <a:ext cx="11064300" cy="777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4E79"/>
              </a:buClr>
              <a:buSzPts val="3300"/>
              <a:buFont typeface="Times New Roman"/>
              <a:buNone/>
            </a:pPr>
            <a:r>
              <a:rPr b="0" i="0" lang="en-US" sz="3300" u="none" cap="none" strike="noStrike">
                <a:solidFill>
                  <a:srgbClr val="1F4E79"/>
                </a:solidFill>
                <a:latin typeface="Times New Roman"/>
                <a:ea typeface="Times New Roman"/>
                <a:cs typeface="Times New Roman"/>
                <a:sym typeface="Times New Roman"/>
              </a:rPr>
              <a:t>Sanger Update: Hebbian Learning Without Redundancy</a:t>
            </a:r>
            <a:endParaRPr b="0" i="0" sz="3300" u="none" cap="none" strike="noStrike">
              <a:solidFill>
                <a:schemeClr val="dk1"/>
              </a:solidFill>
              <a:latin typeface="Calibri"/>
              <a:ea typeface="Calibri"/>
              <a:cs typeface="Calibri"/>
              <a:sym typeface="Calibri"/>
            </a:endParaRPr>
          </a:p>
        </p:txBody>
      </p:sp>
      <p:sp>
        <p:nvSpPr>
          <p:cNvPr id="85" name="Google Shape;85;p7"/>
          <p:cNvSpPr/>
          <p:nvPr/>
        </p:nvSpPr>
        <p:spPr>
          <a:xfrm>
            <a:off x="2743200" y="1325880"/>
            <a:ext cx="6702600" cy="1371600"/>
          </a:xfrm>
          <a:prstGeom prst="rect">
            <a:avLst/>
          </a:prstGeom>
          <a:solidFill>
            <a:srgbClr val="F3F4F7"/>
          </a:solidFill>
          <a:ln cap="flat" cmpd="sng" w="9525">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sanger_formula.png" id="86" name="Google Shape;86;p7"/>
          <p:cNvPicPr preferRelativeResize="0"/>
          <p:nvPr/>
        </p:nvPicPr>
        <p:blipFill rotWithShape="1">
          <a:blip r:embed="rId3">
            <a:alphaModFix/>
          </a:blip>
          <a:srcRect b="0" l="0" r="0" t="0"/>
          <a:stretch/>
        </p:blipFill>
        <p:spPr>
          <a:xfrm>
            <a:off x="3374737" y="1462375"/>
            <a:ext cx="5442525" cy="1097963"/>
          </a:xfrm>
          <a:prstGeom prst="rect">
            <a:avLst/>
          </a:prstGeom>
          <a:noFill/>
          <a:ln>
            <a:noFill/>
          </a:ln>
        </p:spPr>
      </p:pic>
      <p:sp>
        <p:nvSpPr>
          <p:cNvPr id="87" name="Google Shape;87;p7"/>
          <p:cNvSpPr/>
          <p:nvPr/>
        </p:nvSpPr>
        <p:spPr>
          <a:xfrm>
            <a:off x="8158755" y="3202045"/>
            <a:ext cx="3429000" cy="2331600"/>
          </a:xfrm>
          <a:prstGeom prst="roundRect">
            <a:avLst>
              <a:gd fmla="val 2353" name="adj"/>
            </a:avLst>
          </a:prstGeom>
          <a:solidFill>
            <a:srgbClr val="F3F4F7"/>
          </a:solidFill>
          <a:ln cap="flat" cmpd="sng" w="9525">
            <a:solidFill>
              <a:srgbClr val="D7DCE3"/>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frag_dw.png" id="88" name="Google Shape;88;p7"/>
          <p:cNvPicPr preferRelativeResize="0"/>
          <p:nvPr/>
        </p:nvPicPr>
        <p:blipFill rotWithShape="1">
          <a:blip r:embed="rId4">
            <a:alphaModFix/>
          </a:blip>
          <a:srcRect b="0" l="0" r="0" t="0"/>
          <a:stretch/>
        </p:blipFill>
        <p:spPr>
          <a:xfrm>
            <a:off x="9557787" y="3562991"/>
            <a:ext cx="630936" cy="384048"/>
          </a:xfrm>
          <a:prstGeom prst="rect">
            <a:avLst/>
          </a:prstGeom>
          <a:noFill/>
          <a:ln>
            <a:noFill/>
          </a:ln>
        </p:spPr>
      </p:pic>
      <p:sp>
        <p:nvSpPr>
          <p:cNvPr id="89" name="Google Shape;89;p7"/>
          <p:cNvSpPr/>
          <p:nvPr/>
        </p:nvSpPr>
        <p:spPr>
          <a:xfrm>
            <a:off x="8341560" y="4070533"/>
            <a:ext cx="30633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500"/>
              <a:buFont typeface="Times New Roman"/>
              <a:buNone/>
            </a:pPr>
            <a:r>
              <a:rPr b="0" i="1" lang="en-US" sz="1500" u="none" cap="none" strike="noStrike">
                <a:solidFill>
                  <a:srgbClr val="1F4E79"/>
                </a:solidFill>
                <a:latin typeface="Times New Roman"/>
                <a:ea typeface="Times New Roman"/>
                <a:cs typeface="Times New Roman"/>
                <a:sym typeface="Times New Roman"/>
              </a:rPr>
              <a:t>Meaning</a:t>
            </a:r>
            <a:endParaRPr b="0" i="0" sz="1500" u="none" cap="none" strike="noStrike">
              <a:solidFill>
                <a:schemeClr val="dk1"/>
              </a:solidFill>
              <a:latin typeface="Calibri"/>
              <a:ea typeface="Calibri"/>
              <a:cs typeface="Calibri"/>
              <a:sym typeface="Calibri"/>
            </a:endParaRPr>
          </a:p>
        </p:txBody>
      </p:sp>
      <p:sp>
        <p:nvSpPr>
          <p:cNvPr id="90" name="Google Shape;90;p7"/>
          <p:cNvSpPr/>
          <p:nvPr/>
        </p:nvSpPr>
        <p:spPr>
          <a:xfrm>
            <a:off x="8414812" y="4408960"/>
            <a:ext cx="29169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600"/>
              <a:buFont typeface="Times New Roman"/>
              <a:buNone/>
            </a:pPr>
            <a:r>
              <a:rPr b="0" i="0" lang="en-US" sz="1600" u="none" cap="none" strike="noStrike">
                <a:solidFill>
                  <a:srgbClr val="1A1A1A"/>
                </a:solidFill>
                <a:latin typeface="Times New Roman"/>
                <a:ea typeface="Times New Roman"/>
                <a:cs typeface="Times New Roman"/>
                <a:sym typeface="Times New Roman"/>
              </a:rPr>
              <a:t>How filter k changes. This is the new memory update for filter k.</a:t>
            </a:r>
            <a:endParaRPr b="0" i="0" sz="1600" u="none" cap="none" strike="noStrike">
              <a:solidFill>
                <a:schemeClr val="dk1"/>
              </a:solidFill>
              <a:latin typeface="Calibri"/>
              <a:ea typeface="Calibri"/>
              <a:cs typeface="Calibri"/>
              <a:sym typeface="Calibri"/>
            </a:endParaRPr>
          </a:p>
        </p:txBody>
      </p:sp>
      <p:sp>
        <p:nvSpPr>
          <p:cNvPr id="91" name="Google Shape;91;p7"/>
          <p:cNvSpPr/>
          <p:nvPr/>
        </p:nvSpPr>
        <p:spPr>
          <a:xfrm>
            <a:off x="4344913" y="3202045"/>
            <a:ext cx="3429000" cy="2331600"/>
          </a:xfrm>
          <a:prstGeom prst="roundRect">
            <a:avLst>
              <a:gd fmla="val 2353" name="adj"/>
            </a:avLst>
          </a:prstGeom>
          <a:solidFill>
            <a:srgbClr val="F3F4F7"/>
          </a:solidFill>
          <a:ln cap="flat" cmpd="sng" w="9525">
            <a:solidFill>
              <a:srgbClr val="D7DCE3"/>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frag_v.png" id="92" name="Google Shape;92;p7"/>
          <p:cNvPicPr preferRelativeResize="0"/>
          <p:nvPr/>
        </p:nvPicPr>
        <p:blipFill rotWithShape="1">
          <a:blip r:embed="rId5">
            <a:alphaModFix/>
          </a:blip>
          <a:srcRect b="0" l="0" r="0" t="0"/>
          <a:stretch/>
        </p:blipFill>
        <p:spPr>
          <a:xfrm>
            <a:off x="5881117" y="3512941"/>
            <a:ext cx="429768" cy="384048"/>
          </a:xfrm>
          <a:prstGeom prst="rect">
            <a:avLst/>
          </a:prstGeom>
          <a:noFill/>
          <a:ln>
            <a:noFill/>
          </a:ln>
        </p:spPr>
      </p:pic>
      <p:sp>
        <p:nvSpPr>
          <p:cNvPr id="93" name="Google Shape;93;p7"/>
          <p:cNvSpPr/>
          <p:nvPr/>
        </p:nvSpPr>
        <p:spPr>
          <a:xfrm>
            <a:off x="4564356" y="4020483"/>
            <a:ext cx="30633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500"/>
              <a:buFont typeface="Times New Roman"/>
              <a:buNone/>
            </a:pPr>
            <a:r>
              <a:rPr b="0" i="1" lang="en-US" sz="1500" u="none" cap="none" strike="noStrike">
                <a:solidFill>
                  <a:srgbClr val="1F4E79"/>
                </a:solidFill>
                <a:latin typeface="Times New Roman"/>
                <a:ea typeface="Times New Roman"/>
                <a:cs typeface="Times New Roman"/>
                <a:sym typeface="Times New Roman"/>
              </a:rPr>
              <a:t>Meaning</a:t>
            </a:r>
            <a:endParaRPr b="0" i="0" sz="1500" u="none" cap="none" strike="noStrike">
              <a:solidFill>
                <a:schemeClr val="dk1"/>
              </a:solidFill>
              <a:latin typeface="Calibri"/>
              <a:ea typeface="Calibri"/>
              <a:cs typeface="Calibri"/>
              <a:sym typeface="Calibri"/>
            </a:endParaRPr>
          </a:p>
        </p:txBody>
      </p:sp>
      <p:sp>
        <p:nvSpPr>
          <p:cNvPr id="94" name="Google Shape;94;p7"/>
          <p:cNvSpPr/>
          <p:nvPr/>
        </p:nvSpPr>
        <p:spPr>
          <a:xfrm>
            <a:off x="4637558" y="4408960"/>
            <a:ext cx="29169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600"/>
              <a:buFont typeface="Times New Roman"/>
              <a:buNone/>
            </a:pPr>
            <a:r>
              <a:rPr b="0" i="0" lang="en-US" sz="1600" u="none" cap="none" strike="noStrike">
                <a:solidFill>
                  <a:srgbClr val="1A1A1A"/>
                </a:solidFill>
                <a:latin typeface="Times New Roman"/>
                <a:ea typeface="Times New Roman"/>
                <a:cs typeface="Times New Roman"/>
                <a:sym typeface="Times New Roman"/>
              </a:rPr>
              <a:t>How strongly filter k responds to sample b. This is the Hebbian signal. Stronger activation means stronger update.</a:t>
            </a:r>
            <a:endParaRPr b="0" i="0" sz="1600" u="none" cap="none" strike="noStrike">
              <a:solidFill>
                <a:schemeClr val="dk1"/>
              </a:solidFill>
              <a:latin typeface="Calibri"/>
              <a:ea typeface="Calibri"/>
              <a:cs typeface="Calibri"/>
              <a:sym typeface="Calibri"/>
            </a:endParaRPr>
          </a:p>
        </p:txBody>
      </p:sp>
      <p:sp>
        <p:nvSpPr>
          <p:cNvPr id="95" name="Google Shape;95;p7"/>
          <p:cNvSpPr/>
          <p:nvPr/>
        </p:nvSpPr>
        <p:spPr>
          <a:xfrm>
            <a:off x="604260" y="3202045"/>
            <a:ext cx="3429000" cy="2331600"/>
          </a:xfrm>
          <a:prstGeom prst="roundRect">
            <a:avLst>
              <a:gd fmla="val 2353" name="adj"/>
            </a:avLst>
          </a:prstGeom>
          <a:solidFill>
            <a:srgbClr val="F3F4F7"/>
          </a:solidFill>
          <a:ln cap="flat" cmpd="sng" w="9525">
            <a:solidFill>
              <a:srgbClr val="D7DCE3"/>
            </a:solidFill>
            <a:prstDash val="solid"/>
            <a:round/>
            <a:headEnd len="sm" w="sm" type="none"/>
            <a:tailEnd len="sm" w="sm" type="none"/>
          </a:ln>
          <a:effectLst>
            <a:outerShdw blurRad="63500" rotWithShape="0" algn="bl" dir="8100000" dist="25400">
              <a:srgbClr val="000000">
                <a:alpha val="102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home/claude/frag_res.png" id="96" name="Google Shape;96;p7"/>
          <p:cNvPicPr preferRelativeResize="0"/>
          <p:nvPr/>
        </p:nvPicPr>
        <p:blipFill rotWithShape="1">
          <a:blip r:embed="rId6">
            <a:alphaModFix/>
          </a:blip>
          <a:srcRect b="0" l="0" r="0" t="0"/>
          <a:stretch/>
        </p:blipFill>
        <p:spPr>
          <a:xfrm>
            <a:off x="1738115" y="3421501"/>
            <a:ext cx="1161288" cy="566928"/>
          </a:xfrm>
          <a:prstGeom prst="rect">
            <a:avLst/>
          </a:prstGeom>
          <a:noFill/>
          <a:ln>
            <a:noFill/>
          </a:ln>
        </p:spPr>
      </p:pic>
      <p:sp>
        <p:nvSpPr>
          <p:cNvPr id="97" name="Google Shape;97;p7"/>
          <p:cNvSpPr/>
          <p:nvPr/>
        </p:nvSpPr>
        <p:spPr>
          <a:xfrm>
            <a:off x="787139" y="4116445"/>
            <a:ext cx="3063300" cy="292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F4E79"/>
              </a:buClr>
              <a:buSzPts val="1500"/>
              <a:buFont typeface="Times New Roman"/>
              <a:buNone/>
            </a:pPr>
            <a:r>
              <a:rPr b="0" i="1" lang="en-US" sz="1500" u="none" cap="none" strike="noStrike">
                <a:solidFill>
                  <a:srgbClr val="1F4E79"/>
                </a:solidFill>
                <a:latin typeface="Times New Roman"/>
                <a:ea typeface="Times New Roman"/>
                <a:cs typeface="Times New Roman"/>
                <a:sym typeface="Times New Roman"/>
              </a:rPr>
              <a:t>Meaning</a:t>
            </a:r>
            <a:endParaRPr b="0" i="0" sz="1500" u="none" cap="none" strike="noStrike">
              <a:solidFill>
                <a:schemeClr val="dk1"/>
              </a:solidFill>
              <a:latin typeface="Calibri"/>
              <a:ea typeface="Calibri"/>
              <a:cs typeface="Calibri"/>
              <a:sym typeface="Calibri"/>
            </a:endParaRPr>
          </a:p>
        </p:txBody>
      </p:sp>
      <p:sp>
        <p:nvSpPr>
          <p:cNvPr id="98" name="Google Shape;98;p7"/>
          <p:cNvSpPr/>
          <p:nvPr/>
        </p:nvSpPr>
        <p:spPr>
          <a:xfrm>
            <a:off x="860292" y="4436485"/>
            <a:ext cx="29169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A1A1A"/>
              </a:buClr>
              <a:buSzPts val="1600"/>
              <a:buFont typeface="Times New Roman"/>
              <a:buNone/>
            </a:pPr>
            <a:r>
              <a:rPr b="0" i="0" lang="en-US" sz="1600" u="none" cap="none" strike="noStrike">
                <a:solidFill>
                  <a:srgbClr val="1A1A1A"/>
                </a:solidFill>
                <a:latin typeface="Times New Roman"/>
                <a:ea typeface="Times New Roman"/>
                <a:cs typeface="Times New Roman"/>
                <a:sym typeface="Times New Roman"/>
              </a:rPr>
              <a:t>The remaining structure not already explained by previous filters. This is the residual.</a:t>
            </a:r>
            <a:endParaRPr b="0" i="0" sz="16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3" name="Shape 103"/>
        <p:cNvGrpSpPr/>
        <p:nvPr/>
      </p:nvGrpSpPr>
      <p:grpSpPr>
        <a:xfrm>
          <a:off x="0" y="0"/>
          <a:ext cx="0" cy="0"/>
          <a:chOff x="0" y="0"/>
          <a:chExt cx="0" cy="0"/>
        </a:xfrm>
      </p:grpSpPr>
      <p:sp>
        <p:nvSpPr>
          <p:cNvPr id="104" name="Google Shape;104;p8"/>
          <p:cNvSpPr/>
          <p:nvPr/>
        </p:nvSpPr>
        <p:spPr>
          <a:xfrm>
            <a:off x="548640" y="365760"/>
            <a:ext cx="11064240" cy="7772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1F4E79"/>
              </a:buClr>
              <a:buSzPts val="3300"/>
              <a:buFont typeface="Times New Roman"/>
              <a:buNone/>
            </a:pPr>
            <a:r>
              <a:rPr b="0" i="0" lang="en-US" sz="3300" u="none" cap="none" strike="noStrike">
                <a:solidFill>
                  <a:srgbClr val="1F4E79"/>
                </a:solidFill>
                <a:latin typeface="Times New Roman"/>
                <a:ea typeface="Times New Roman"/>
                <a:cs typeface="Times New Roman"/>
                <a:sym typeface="Times New Roman"/>
              </a:rPr>
              <a:t>SPRT Freezing: From Learned Feature to Protected Memory</a:t>
            </a:r>
            <a:endParaRPr b="0" i="0" sz="3300" u="none" cap="none" strike="noStrike">
              <a:solidFill>
                <a:schemeClr val="dk1"/>
              </a:solidFill>
              <a:latin typeface="Calibri"/>
              <a:ea typeface="Calibri"/>
              <a:cs typeface="Calibri"/>
              <a:sym typeface="Calibri"/>
            </a:endParaRPr>
          </a:p>
        </p:txBody>
      </p:sp>
      <p:sp>
        <p:nvSpPr>
          <p:cNvPr id="105" name="Google Shape;105;p8"/>
          <p:cNvSpPr/>
          <p:nvPr/>
        </p:nvSpPr>
        <p:spPr>
          <a:xfrm>
            <a:off x="5440680" y="1371600"/>
            <a:ext cx="6172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600"/>
              <a:buFont typeface="Times New Roman"/>
              <a:buNone/>
            </a:pPr>
            <a:r>
              <a:rPr b="0" i="0" lang="en-US" sz="1600" u="none" cap="none" strike="noStrike">
                <a:solidFill>
                  <a:srgbClr val="1F4E79"/>
                </a:solidFill>
                <a:latin typeface="Times New Roman"/>
                <a:ea typeface="Times New Roman"/>
                <a:cs typeface="Times New Roman"/>
                <a:sym typeface="Times New Roman"/>
              </a:rPr>
              <a:t>Movement</a:t>
            </a:r>
            <a:endParaRPr b="0" i="0" sz="1600" u="none" cap="none" strike="noStrike">
              <a:solidFill>
                <a:schemeClr val="dk1"/>
              </a:solidFill>
              <a:latin typeface="Calibri"/>
              <a:ea typeface="Calibri"/>
              <a:cs typeface="Calibri"/>
              <a:sym typeface="Calibri"/>
            </a:endParaRPr>
          </a:p>
        </p:txBody>
      </p:sp>
      <p:sp>
        <p:nvSpPr>
          <p:cNvPr id="106" name="Google Shape;106;p8"/>
          <p:cNvSpPr/>
          <p:nvPr/>
        </p:nvSpPr>
        <p:spPr>
          <a:xfrm>
            <a:off x="5440680" y="1700784"/>
            <a:ext cx="6172200" cy="603504"/>
          </a:xfrm>
          <a:prstGeom prst="rect">
            <a:avLst/>
          </a:prstGeom>
          <a:solidFill>
            <a:srgbClr val="F3F4F7"/>
          </a:solidFill>
          <a:ln cap="flat" cmpd="sng" w="9525">
            <a:solidFill>
              <a:srgbClr val="D7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8"/>
          <p:cNvSpPr/>
          <p:nvPr/>
        </p:nvSpPr>
        <p:spPr>
          <a:xfrm>
            <a:off x="5440680" y="1700784"/>
            <a:ext cx="6172200" cy="603504"/>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1A1A1A"/>
              </a:buClr>
              <a:buSzPts val="2100"/>
              <a:buFont typeface="Times New Roman"/>
              <a:buNone/>
            </a:pPr>
            <a:r>
              <a:rPr b="0" i="0" lang="en-US" sz="2100" u="none" cap="none" strike="noStrike">
                <a:solidFill>
                  <a:srgbClr val="1A1A1A"/>
                </a:solidFill>
                <a:latin typeface="Times New Roman"/>
                <a:ea typeface="Times New Roman"/>
                <a:cs typeface="Times New Roman"/>
                <a:sym typeface="Times New Roman"/>
              </a:rPr>
              <a:t>step</a:t>
            </a:r>
            <a:r>
              <a:rPr b="0" baseline="-25000" i="1" lang="en-US" sz="2100" u="none" cap="none" strike="noStrike">
                <a:solidFill>
                  <a:srgbClr val="1A1A1A"/>
                </a:solidFill>
                <a:latin typeface="Times New Roman"/>
                <a:ea typeface="Times New Roman"/>
                <a:cs typeface="Times New Roman"/>
                <a:sym typeface="Times New Roman"/>
              </a:rPr>
              <a:t>k</a:t>
            </a:r>
            <a:r>
              <a:rPr b="0" i="0" lang="en-US" sz="2100" u="none" cap="none" strike="noStrike">
                <a:solidFill>
                  <a:srgbClr val="1A1A1A"/>
                </a:solidFill>
                <a:latin typeface="Times New Roman"/>
                <a:ea typeface="Times New Roman"/>
                <a:cs typeface="Times New Roman"/>
                <a:sym typeface="Times New Roman"/>
              </a:rPr>
              <a:t> = ‖</a:t>
            </a:r>
            <a:r>
              <a:rPr b="0" i="1" lang="en-US" sz="2100" u="none" cap="none" strike="noStrike">
                <a:solidFill>
                  <a:srgbClr val="1A1A1A"/>
                </a:solidFill>
                <a:latin typeface="Times New Roman"/>
                <a:ea typeface="Times New Roman"/>
                <a:cs typeface="Times New Roman"/>
                <a:sym typeface="Times New Roman"/>
              </a:rPr>
              <a:t>w</a:t>
            </a:r>
            <a:r>
              <a:rPr b="0" baseline="-25000" i="1" lang="en-US" sz="2100" u="none" cap="none" strike="noStrike">
                <a:solidFill>
                  <a:srgbClr val="1A1A1A"/>
                </a:solidFill>
                <a:latin typeface="Times New Roman"/>
                <a:ea typeface="Times New Roman"/>
                <a:cs typeface="Times New Roman"/>
                <a:sym typeface="Times New Roman"/>
              </a:rPr>
              <a:t>k</a:t>
            </a:r>
            <a:r>
              <a:rPr b="0" baseline="30000" i="0" lang="en-US" sz="2100" u="none" cap="none" strike="noStrike">
                <a:solidFill>
                  <a:srgbClr val="1A1A1A"/>
                </a:solidFill>
                <a:latin typeface="Times New Roman"/>
                <a:ea typeface="Times New Roman"/>
                <a:cs typeface="Times New Roman"/>
                <a:sym typeface="Times New Roman"/>
              </a:rPr>
              <a:t>new</a:t>
            </a:r>
            <a:r>
              <a:rPr b="0" i="0" lang="en-US" sz="2100" u="none" cap="none" strike="noStrike">
                <a:solidFill>
                  <a:srgbClr val="1A1A1A"/>
                </a:solidFill>
                <a:latin typeface="Times New Roman"/>
                <a:ea typeface="Times New Roman"/>
                <a:cs typeface="Times New Roman"/>
                <a:sym typeface="Times New Roman"/>
              </a:rPr>
              <a:t> − </a:t>
            </a:r>
            <a:r>
              <a:rPr b="0" i="1" lang="en-US" sz="2100" u="none" cap="none" strike="noStrike">
                <a:solidFill>
                  <a:srgbClr val="1A1A1A"/>
                </a:solidFill>
                <a:latin typeface="Times New Roman"/>
                <a:ea typeface="Times New Roman"/>
                <a:cs typeface="Times New Roman"/>
                <a:sym typeface="Times New Roman"/>
              </a:rPr>
              <a:t>w</a:t>
            </a:r>
            <a:r>
              <a:rPr b="0" baseline="-25000" i="1" lang="en-US" sz="2100" u="none" cap="none" strike="noStrike">
                <a:solidFill>
                  <a:srgbClr val="1A1A1A"/>
                </a:solidFill>
                <a:latin typeface="Times New Roman"/>
                <a:ea typeface="Times New Roman"/>
                <a:cs typeface="Times New Roman"/>
                <a:sym typeface="Times New Roman"/>
              </a:rPr>
              <a:t>k</a:t>
            </a:r>
            <a:r>
              <a:rPr b="0" baseline="30000" i="0" lang="en-US" sz="2100" u="none" cap="none" strike="noStrike">
                <a:solidFill>
                  <a:srgbClr val="1A1A1A"/>
                </a:solidFill>
                <a:latin typeface="Times New Roman"/>
                <a:ea typeface="Times New Roman"/>
                <a:cs typeface="Times New Roman"/>
                <a:sym typeface="Times New Roman"/>
              </a:rPr>
              <a:t>old</a:t>
            </a:r>
            <a:r>
              <a:rPr b="0" i="0" lang="en-US" sz="2100" u="none" cap="none" strike="noStrike">
                <a:solidFill>
                  <a:srgbClr val="1A1A1A"/>
                </a:solidFill>
                <a:latin typeface="Times New Roman"/>
                <a:ea typeface="Times New Roman"/>
                <a:cs typeface="Times New Roman"/>
                <a:sym typeface="Times New Roman"/>
              </a:rPr>
              <a:t>‖</a:t>
            </a:r>
            <a:endParaRPr b="0" i="0" sz="2100" u="none" cap="none" strike="noStrike">
              <a:solidFill>
                <a:schemeClr val="dk1"/>
              </a:solidFill>
              <a:latin typeface="Calibri"/>
              <a:ea typeface="Calibri"/>
              <a:cs typeface="Calibri"/>
              <a:sym typeface="Calibri"/>
            </a:endParaRPr>
          </a:p>
        </p:txBody>
      </p:sp>
      <p:sp>
        <p:nvSpPr>
          <p:cNvPr id="108" name="Google Shape;108;p8"/>
          <p:cNvSpPr/>
          <p:nvPr/>
        </p:nvSpPr>
        <p:spPr>
          <a:xfrm>
            <a:off x="5440680" y="2450592"/>
            <a:ext cx="6172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600"/>
              <a:buFont typeface="Times New Roman"/>
              <a:buNone/>
            </a:pPr>
            <a:r>
              <a:rPr b="0" i="0" lang="en-US" sz="1600" u="none" cap="none" strike="noStrike">
                <a:solidFill>
                  <a:srgbClr val="1F4E79"/>
                </a:solidFill>
                <a:latin typeface="Times New Roman"/>
                <a:ea typeface="Times New Roman"/>
                <a:cs typeface="Times New Roman"/>
                <a:sym typeface="Times New Roman"/>
              </a:rPr>
              <a:t>Drift</a:t>
            </a:r>
            <a:endParaRPr b="0" i="0" sz="1600" u="none" cap="none" strike="noStrike">
              <a:solidFill>
                <a:schemeClr val="dk1"/>
              </a:solidFill>
              <a:latin typeface="Calibri"/>
              <a:ea typeface="Calibri"/>
              <a:cs typeface="Calibri"/>
              <a:sym typeface="Calibri"/>
            </a:endParaRPr>
          </a:p>
        </p:txBody>
      </p:sp>
      <p:sp>
        <p:nvSpPr>
          <p:cNvPr id="109" name="Google Shape;109;p8"/>
          <p:cNvSpPr/>
          <p:nvPr/>
        </p:nvSpPr>
        <p:spPr>
          <a:xfrm>
            <a:off x="5440680" y="2779776"/>
            <a:ext cx="6172200" cy="603504"/>
          </a:xfrm>
          <a:prstGeom prst="rect">
            <a:avLst/>
          </a:prstGeom>
          <a:solidFill>
            <a:srgbClr val="F3F4F7"/>
          </a:solidFill>
          <a:ln cap="flat" cmpd="sng" w="9525">
            <a:solidFill>
              <a:srgbClr val="D7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8"/>
          <p:cNvSpPr/>
          <p:nvPr/>
        </p:nvSpPr>
        <p:spPr>
          <a:xfrm>
            <a:off x="5440680" y="2779776"/>
            <a:ext cx="6172200" cy="603504"/>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1A1A1A"/>
              </a:buClr>
              <a:buSzPts val="2100"/>
              <a:buFont typeface="Times New Roman"/>
              <a:buNone/>
            </a:pPr>
            <a:r>
              <a:rPr b="0" i="1" lang="en-US" sz="2100" u="none" cap="none" strike="noStrike">
                <a:solidFill>
                  <a:srgbClr val="1A1A1A"/>
                </a:solidFill>
                <a:latin typeface="Times New Roman"/>
                <a:ea typeface="Times New Roman"/>
                <a:cs typeface="Times New Roman"/>
                <a:sym typeface="Times New Roman"/>
              </a:rPr>
              <a:t>d</a:t>
            </a:r>
            <a:r>
              <a:rPr b="0" baseline="-25000" i="1" lang="en-US" sz="2100" u="none" cap="none" strike="noStrike">
                <a:solidFill>
                  <a:srgbClr val="1A1A1A"/>
                </a:solidFill>
                <a:latin typeface="Times New Roman"/>
                <a:ea typeface="Times New Roman"/>
                <a:cs typeface="Times New Roman"/>
                <a:sym typeface="Times New Roman"/>
              </a:rPr>
              <a:t>k</a:t>
            </a:r>
            <a:r>
              <a:rPr b="0" i="0" lang="en-US" sz="2100" u="none" cap="none" strike="noStrike">
                <a:solidFill>
                  <a:srgbClr val="1A1A1A"/>
                </a:solidFill>
                <a:latin typeface="Times New Roman"/>
                <a:ea typeface="Times New Roman"/>
                <a:cs typeface="Times New Roman"/>
                <a:sym typeface="Times New Roman"/>
              </a:rPr>
              <a:t> ← 0.9 </a:t>
            </a:r>
            <a:r>
              <a:rPr b="0" i="1" lang="en-US" sz="2100" u="none" cap="none" strike="noStrike">
                <a:solidFill>
                  <a:srgbClr val="1A1A1A"/>
                </a:solidFill>
                <a:latin typeface="Times New Roman"/>
                <a:ea typeface="Times New Roman"/>
                <a:cs typeface="Times New Roman"/>
                <a:sym typeface="Times New Roman"/>
              </a:rPr>
              <a:t>d</a:t>
            </a:r>
            <a:r>
              <a:rPr b="0" baseline="-25000" i="1" lang="en-US" sz="2100" u="none" cap="none" strike="noStrike">
                <a:solidFill>
                  <a:srgbClr val="1A1A1A"/>
                </a:solidFill>
                <a:latin typeface="Times New Roman"/>
                <a:ea typeface="Times New Roman"/>
                <a:cs typeface="Times New Roman"/>
                <a:sym typeface="Times New Roman"/>
              </a:rPr>
              <a:t>k</a:t>
            </a:r>
            <a:r>
              <a:rPr b="0" i="0" lang="en-US" sz="2100" u="none" cap="none" strike="noStrike">
                <a:solidFill>
                  <a:srgbClr val="1A1A1A"/>
                </a:solidFill>
                <a:latin typeface="Times New Roman"/>
                <a:ea typeface="Times New Roman"/>
                <a:cs typeface="Times New Roman"/>
                <a:sym typeface="Times New Roman"/>
              </a:rPr>
              <a:t> + 0.1 step</a:t>
            </a:r>
            <a:r>
              <a:rPr b="0" baseline="-25000" i="1" lang="en-US" sz="2100" u="none" cap="none" strike="noStrike">
                <a:solidFill>
                  <a:srgbClr val="1A1A1A"/>
                </a:solidFill>
                <a:latin typeface="Times New Roman"/>
                <a:ea typeface="Times New Roman"/>
                <a:cs typeface="Times New Roman"/>
                <a:sym typeface="Times New Roman"/>
              </a:rPr>
              <a:t>k</a:t>
            </a:r>
            <a:endParaRPr b="0" i="0" sz="2100" u="none" cap="none" strike="noStrike">
              <a:solidFill>
                <a:schemeClr val="dk1"/>
              </a:solidFill>
              <a:latin typeface="Calibri"/>
              <a:ea typeface="Calibri"/>
              <a:cs typeface="Calibri"/>
              <a:sym typeface="Calibri"/>
            </a:endParaRPr>
          </a:p>
        </p:txBody>
      </p:sp>
      <p:sp>
        <p:nvSpPr>
          <p:cNvPr id="111" name="Google Shape;111;p8"/>
          <p:cNvSpPr/>
          <p:nvPr/>
        </p:nvSpPr>
        <p:spPr>
          <a:xfrm>
            <a:off x="5440680" y="3529584"/>
            <a:ext cx="6172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600"/>
              <a:buFont typeface="Times New Roman"/>
              <a:buNone/>
            </a:pPr>
            <a:r>
              <a:rPr b="0" i="0" lang="en-US" sz="1600" u="none" cap="none" strike="noStrike">
                <a:solidFill>
                  <a:srgbClr val="1F4E79"/>
                </a:solidFill>
                <a:latin typeface="Times New Roman"/>
                <a:ea typeface="Times New Roman"/>
                <a:cs typeface="Times New Roman"/>
                <a:sym typeface="Times New Roman"/>
              </a:rPr>
              <a:t>Gaussian SPRT evidence</a:t>
            </a:r>
            <a:endParaRPr b="0" i="0" sz="1600" u="none" cap="none" strike="noStrike">
              <a:solidFill>
                <a:schemeClr val="dk1"/>
              </a:solidFill>
              <a:latin typeface="Calibri"/>
              <a:ea typeface="Calibri"/>
              <a:cs typeface="Calibri"/>
              <a:sym typeface="Calibri"/>
            </a:endParaRPr>
          </a:p>
        </p:txBody>
      </p:sp>
      <p:sp>
        <p:nvSpPr>
          <p:cNvPr id="112" name="Google Shape;112;p8"/>
          <p:cNvSpPr/>
          <p:nvPr/>
        </p:nvSpPr>
        <p:spPr>
          <a:xfrm>
            <a:off x="5440680" y="3858768"/>
            <a:ext cx="6172200" cy="603504"/>
          </a:xfrm>
          <a:prstGeom prst="rect">
            <a:avLst/>
          </a:prstGeom>
          <a:solidFill>
            <a:srgbClr val="F3F4F7"/>
          </a:solidFill>
          <a:ln cap="flat" cmpd="sng" w="9525">
            <a:solidFill>
              <a:srgbClr val="D7DCE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8"/>
          <p:cNvSpPr/>
          <p:nvPr/>
        </p:nvSpPr>
        <p:spPr>
          <a:xfrm>
            <a:off x="5440680" y="3858768"/>
            <a:ext cx="6172200" cy="603504"/>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1A1A1A"/>
              </a:buClr>
              <a:buSzPts val="1900"/>
              <a:buFont typeface="Times New Roman"/>
              <a:buNone/>
            </a:pPr>
            <a:r>
              <a:rPr b="0" i="0" lang="en-US" sz="1900" u="none" cap="none" strike="noStrike">
                <a:solidFill>
                  <a:srgbClr val="1A1A1A"/>
                </a:solidFill>
                <a:latin typeface="Times New Roman"/>
                <a:ea typeface="Times New Roman"/>
                <a:cs typeface="Times New Roman"/>
                <a:sym typeface="Times New Roman"/>
              </a:rPr>
              <a:t>ΔLLR</a:t>
            </a:r>
            <a:r>
              <a:rPr b="0" baseline="-25000" i="1" lang="en-US" sz="1900" u="none" cap="none" strike="noStrike">
                <a:solidFill>
                  <a:srgbClr val="1A1A1A"/>
                </a:solidFill>
                <a:latin typeface="Times New Roman"/>
                <a:ea typeface="Times New Roman"/>
                <a:cs typeface="Times New Roman"/>
                <a:sym typeface="Times New Roman"/>
              </a:rPr>
              <a:t>k</a:t>
            </a:r>
            <a:r>
              <a:rPr b="0" i="0" lang="en-US" sz="1900" u="none" cap="none" strike="noStrike">
                <a:solidFill>
                  <a:srgbClr val="1A1A1A"/>
                </a:solidFill>
                <a:latin typeface="Times New Roman"/>
                <a:ea typeface="Times New Roman"/>
                <a:cs typeface="Times New Roman"/>
                <a:sym typeface="Times New Roman"/>
              </a:rPr>
              <a:t> = (hi − lo)(hi + lo − 2</a:t>
            </a:r>
            <a:r>
              <a:rPr b="0" i="1" lang="en-US" sz="1900" u="none" cap="none" strike="noStrike">
                <a:solidFill>
                  <a:srgbClr val="1A1A1A"/>
                </a:solidFill>
                <a:latin typeface="Times New Roman"/>
                <a:ea typeface="Times New Roman"/>
                <a:cs typeface="Times New Roman"/>
                <a:sym typeface="Times New Roman"/>
              </a:rPr>
              <a:t>d</a:t>
            </a:r>
            <a:r>
              <a:rPr b="0" baseline="-25000" i="1" lang="en-US" sz="1900" u="none" cap="none" strike="noStrike">
                <a:solidFill>
                  <a:srgbClr val="1A1A1A"/>
                </a:solidFill>
                <a:latin typeface="Times New Roman"/>
                <a:ea typeface="Times New Roman"/>
                <a:cs typeface="Times New Roman"/>
                <a:sym typeface="Times New Roman"/>
              </a:rPr>
              <a:t>k</a:t>
            </a:r>
            <a:r>
              <a:rPr b="0" i="0" lang="en-US" sz="1900" u="none" cap="none" strike="noStrike">
                <a:solidFill>
                  <a:srgbClr val="1A1A1A"/>
                </a:solidFill>
                <a:latin typeface="Times New Roman"/>
                <a:ea typeface="Times New Roman"/>
                <a:cs typeface="Times New Roman"/>
                <a:sym typeface="Times New Roman"/>
              </a:rPr>
              <a:t>) / 2</a:t>
            </a:r>
            <a:r>
              <a:rPr b="0" i="1" lang="en-US" sz="1900" u="none" cap="none" strike="noStrike">
                <a:solidFill>
                  <a:srgbClr val="1A1A1A"/>
                </a:solidFill>
                <a:latin typeface="Times New Roman"/>
                <a:ea typeface="Times New Roman"/>
                <a:cs typeface="Times New Roman"/>
                <a:sym typeface="Times New Roman"/>
              </a:rPr>
              <a:t>σ</a:t>
            </a:r>
            <a:r>
              <a:rPr b="0" baseline="30000" i="0" lang="en-US" sz="1900" u="none" cap="none" strike="noStrike">
                <a:solidFill>
                  <a:srgbClr val="1A1A1A"/>
                </a:solidFill>
                <a:latin typeface="Times New Roman"/>
                <a:ea typeface="Times New Roman"/>
                <a:cs typeface="Times New Roman"/>
                <a:sym typeface="Times New Roman"/>
              </a:rPr>
              <a:t>2</a:t>
            </a:r>
            <a:endParaRPr b="0" i="0" sz="1900" u="none" cap="none" strike="noStrike">
              <a:solidFill>
                <a:schemeClr val="dk1"/>
              </a:solidFill>
              <a:latin typeface="Calibri"/>
              <a:ea typeface="Calibri"/>
              <a:cs typeface="Calibri"/>
              <a:sym typeface="Calibri"/>
            </a:endParaRPr>
          </a:p>
        </p:txBody>
      </p:sp>
      <p:sp>
        <p:nvSpPr>
          <p:cNvPr id="114" name="Google Shape;114;p8"/>
          <p:cNvSpPr/>
          <p:nvPr/>
        </p:nvSpPr>
        <p:spPr>
          <a:xfrm>
            <a:off x="5440680" y="4608576"/>
            <a:ext cx="617220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E79"/>
              </a:buClr>
              <a:buSzPts val="1600"/>
              <a:buFont typeface="Times New Roman"/>
              <a:buNone/>
            </a:pPr>
            <a:r>
              <a:rPr b="0" i="0" lang="en-US" sz="1600" u="none" cap="none" strike="noStrike">
                <a:solidFill>
                  <a:srgbClr val="1F4E79"/>
                </a:solidFill>
                <a:latin typeface="Times New Roman"/>
                <a:ea typeface="Times New Roman"/>
                <a:cs typeface="Times New Roman"/>
                <a:sym typeface="Times New Roman"/>
              </a:rPr>
              <a:t>Freeze condition</a:t>
            </a:r>
            <a:endParaRPr b="0" i="0" sz="1600" u="none" cap="none" strike="noStrike">
              <a:solidFill>
                <a:schemeClr val="dk1"/>
              </a:solidFill>
              <a:latin typeface="Calibri"/>
              <a:ea typeface="Calibri"/>
              <a:cs typeface="Calibri"/>
              <a:sym typeface="Calibri"/>
            </a:endParaRPr>
          </a:p>
        </p:txBody>
      </p:sp>
      <p:sp>
        <p:nvSpPr>
          <p:cNvPr id="115" name="Google Shape;115;p8"/>
          <p:cNvSpPr/>
          <p:nvPr/>
        </p:nvSpPr>
        <p:spPr>
          <a:xfrm>
            <a:off x="5440680" y="4937760"/>
            <a:ext cx="6172200" cy="603504"/>
          </a:xfrm>
          <a:prstGeom prst="rect">
            <a:avLst/>
          </a:prstGeom>
          <a:solidFill>
            <a:srgbClr val="F3F4F7"/>
          </a:solidFill>
          <a:ln cap="flat" cmpd="sng" w="9525">
            <a:solidFill>
              <a:srgbClr val="1F4E7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a:off x="5440680" y="4937760"/>
            <a:ext cx="6172200" cy="603504"/>
          </a:xfrm>
          <a:prstGeom prst="rect">
            <a:avLst/>
          </a:prstGeom>
          <a:noFill/>
          <a:ln>
            <a:noFill/>
          </a:ln>
        </p:spPr>
        <p:txBody>
          <a:bodyPr anchorCtr="0" anchor="ctr" bIns="38100" lIns="38100" spcFirstLastPara="1" rIns="38100" wrap="square" tIns="38100">
            <a:noAutofit/>
          </a:bodyPr>
          <a:lstStyle/>
          <a:p>
            <a:pPr indent="0" lvl="0" marL="0" marR="0" rtl="0" algn="ctr">
              <a:spcBef>
                <a:spcPts val="0"/>
              </a:spcBef>
              <a:spcAft>
                <a:spcPts val="0"/>
              </a:spcAft>
              <a:buClr>
                <a:srgbClr val="1A1A1A"/>
              </a:buClr>
              <a:buSzPts val="1900"/>
              <a:buFont typeface="Times New Roman"/>
              <a:buNone/>
            </a:pPr>
            <a:r>
              <a:rPr b="0" i="0" lang="en-US" sz="1900" u="none" cap="none" strike="noStrike">
                <a:solidFill>
                  <a:srgbClr val="1A1A1A"/>
                </a:solidFill>
                <a:latin typeface="Times New Roman"/>
                <a:ea typeface="Times New Roman"/>
                <a:cs typeface="Times New Roman"/>
                <a:sym typeface="Times New Roman"/>
              </a:rPr>
              <a:t>LLR</a:t>
            </a:r>
            <a:r>
              <a:rPr b="0" baseline="-25000" i="1" lang="en-US" sz="1900" u="none" cap="none" strike="noStrike">
                <a:solidFill>
                  <a:srgbClr val="1A1A1A"/>
                </a:solidFill>
                <a:latin typeface="Times New Roman"/>
                <a:ea typeface="Times New Roman"/>
                <a:cs typeface="Times New Roman"/>
                <a:sym typeface="Times New Roman"/>
              </a:rPr>
              <a:t>k</a:t>
            </a:r>
            <a:r>
              <a:rPr b="0" i="0" lang="en-US" sz="1900" u="none" cap="none" strike="noStrike">
                <a:solidFill>
                  <a:srgbClr val="1A1A1A"/>
                </a:solidFill>
                <a:latin typeface="Times New Roman"/>
                <a:ea typeface="Times New Roman"/>
                <a:cs typeface="Times New Roman"/>
                <a:sym typeface="Times New Roman"/>
              </a:rPr>
              <a:t> ≥ </a:t>
            </a:r>
            <a:r>
              <a:rPr b="0" i="1" lang="en-US" sz="1900" u="none" cap="none" strike="noStrike">
                <a:solidFill>
                  <a:srgbClr val="1A1A1A"/>
                </a:solidFill>
                <a:latin typeface="Times New Roman"/>
                <a:ea typeface="Times New Roman"/>
                <a:cs typeface="Times New Roman"/>
                <a:sym typeface="Times New Roman"/>
              </a:rPr>
              <a:t>A</a:t>
            </a:r>
            <a:r>
              <a:rPr b="0" i="0" lang="en-US" sz="1900" u="none" cap="none" strike="noStrike">
                <a:solidFill>
                  <a:srgbClr val="1A1A1A"/>
                </a:solidFill>
                <a:latin typeface="Times New Roman"/>
                <a:ea typeface="Times New Roman"/>
                <a:cs typeface="Times New Roman"/>
                <a:sym typeface="Times New Roman"/>
              </a:rPr>
              <a:t>    and    </a:t>
            </a:r>
            <a:r>
              <a:rPr b="0" i="1" lang="en-US" sz="1900" u="none" cap="none" strike="noStrike">
                <a:solidFill>
                  <a:srgbClr val="1A1A1A"/>
                </a:solidFill>
                <a:latin typeface="Times New Roman"/>
                <a:ea typeface="Times New Roman"/>
                <a:cs typeface="Times New Roman"/>
                <a:sym typeface="Times New Roman"/>
              </a:rPr>
              <a:t>v</a:t>
            </a:r>
            <a:r>
              <a:rPr b="0" baseline="-25000" i="1" lang="en-US" sz="1900" u="none" cap="none" strike="noStrike">
                <a:solidFill>
                  <a:srgbClr val="1A1A1A"/>
                </a:solidFill>
                <a:latin typeface="Times New Roman"/>
                <a:ea typeface="Times New Roman"/>
                <a:cs typeface="Times New Roman"/>
                <a:sym typeface="Times New Roman"/>
              </a:rPr>
              <a:t>k</a:t>
            </a:r>
            <a:r>
              <a:rPr b="0" i="0" lang="en-US" sz="1900" u="none" cap="none" strike="noStrike">
                <a:solidFill>
                  <a:srgbClr val="1A1A1A"/>
                </a:solidFill>
                <a:latin typeface="Times New Roman"/>
                <a:ea typeface="Times New Roman"/>
                <a:cs typeface="Times New Roman"/>
                <a:sym typeface="Times New Roman"/>
              </a:rPr>
              <a:t> carries signal</a:t>
            </a:r>
            <a:endParaRPr b="0" i="0" sz="1900" u="none" cap="none" strike="noStrike">
              <a:solidFill>
                <a:schemeClr val="dk1"/>
              </a:solidFill>
              <a:latin typeface="Calibri"/>
              <a:ea typeface="Calibri"/>
              <a:cs typeface="Calibri"/>
              <a:sym typeface="Calibri"/>
            </a:endParaRPr>
          </a:p>
        </p:txBody>
      </p:sp>
      <p:pic>
        <p:nvPicPr>
          <p:cNvPr id="117" name="Google Shape;117;p8" title="gaussian_llr_clean_final_v2_animation.gif"/>
          <p:cNvPicPr preferRelativeResize="0"/>
          <p:nvPr/>
        </p:nvPicPr>
        <p:blipFill>
          <a:blip r:embed="rId3">
            <a:alphaModFix/>
          </a:blip>
          <a:stretch>
            <a:fillRect/>
          </a:stretch>
        </p:blipFill>
        <p:spPr>
          <a:xfrm>
            <a:off x="152400" y="1371600"/>
            <a:ext cx="5135881" cy="433696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9" title="image for filters.png"/>
          <p:cNvPicPr preferRelativeResize="0"/>
          <p:nvPr/>
        </p:nvPicPr>
        <p:blipFill>
          <a:blip r:embed="rId3">
            <a:alphaModFix/>
          </a:blip>
          <a:stretch>
            <a:fillRect/>
          </a:stretch>
        </p:blipFill>
        <p:spPr>
          <a:xfrm>
            <a:off x="1223324" y="686663"/>
            <a:ext cx="9745348" cy="54846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