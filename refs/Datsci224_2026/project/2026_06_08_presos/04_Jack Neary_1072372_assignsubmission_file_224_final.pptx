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ABB58A-B0C9-8948-AE56-0B0F89E348A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70584"/>
  </p:normalViewPr>
  <p:slideViewPr>
    <p:cSldViewPr snapToGrid="0">
      <p:cViewPr>
        <p:scale>
          <a:sx n="80" d="100"/>
          <a:sy n="80" d="100"/>
        </p:scale>
        <p:origin x="6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02E35-5D28-3444-90EB-68EA94183419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2B5AD-070C-D946-9718-6BE7B382B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7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dirty="0"/>
              <a:t>GBM is an ensemble method that sequentially builds shallow trees, each correcting the errors of the previous, to minimize the loss function.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 with a single leaf node, usually the average value (regression) or log odds (classification)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Sequentially builds shallow trees, fitted to the residuals of the previous prediction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Scales trees with learning rate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up all trees, taking small steps towards minimizing the loss function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 the derivative of the loss function with respect to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y_hat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gradient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Taking steps opposite of the gradient to minimize the loss is the gradient descent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objective  function is just the loss function: for regression its minimizing the MSE, for classification its the cross entropy loss (minimizing the negative log likelihood)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2B5AD-070C-D946-9718-6BE7B382BF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32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Also starts with a single leaf node and sequentially builds out trees to minimize the loss function using a learning rate (same as GBM!)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also adds in a regularization term omega, that consists of regularization parameters: lambda and gamma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Gamma – penalizes large numbers of leaves (T)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Lambda – penalizes large leaf weights (w)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For both of these, like ridge </a:t>
            </a:r>
            <a:r>
              <a:rPr lang="en-US" dirty="0" err="1"/>
              <a:t>regession</a:t>
            </a:r>
            <a:r>
              <a:rPr lang="en-US" dirty="0"/>
              <a:t>, the higher values get higher penalties, shrinking values towards 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Loss function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learning rate (eta) controls how much each tree contributes to the overall ensemble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2B5AD-070C-D946-9718-6BE7B382BF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31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Rather than using just averaging the residuals, </a:t>
            </a:r>
            <a:r>
              <a:rPr lang="en-US" dirty="0" err="1"/>
              <a:t>XGBoost</a:t>
            </a:r>
            <a:r>
              <a:rPr lang="en-US" dirty="0"/>
              <a:t> uses both first and second derivatives, along with a regularization term, to calculate the optimal prediction value for each leaf.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differs from GBM, which just averages the residuals in a leaf, which is the first order optimization (gradient only), </a:t>
            </a:r>
            <a:r>
              <a:rPr lang="en-US" dirty="0" err="1"/>
              <a:t>gbm</a:t>
            </a:r>
            <a:r>
              <a:rPr lang="en-US" dirty="0"/>
              <a:t> assumes all samples' errors are equally important regardless of confidence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Why does the leaf weight matter?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leaf weights answer the question “what is the optimal prediction for the samples that land in this leaf?”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2B5AD-070C-D946-9718-6BE7B382BF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75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just saw how </a:t>
            </a:r>
            <a:r>
              <a:rPr lang="en-US" dirty="0" err="1"/>
              <a:t>XGBoost</a:t>
            </a:r>
            <a:r>
              <a:rPr lang="en-US" dirty="0"/>
              <a:t> calculates the optimal value FOR each leaf — but how does it decide WHERE to split in the first place?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Similarity score – measure of how pure the samples in a node are; answers the question “how good is this group of samples?”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Gain – answers the question “is this split worth making?”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Where gamma (</a:t>
            </a:r>
            <a:r>
              <a:rPr lang="en-US" dirty="0" err="1"/>
              <a:t>ˠ</a:t>
            </a:r>
            <a:r>
              <a:rPr lang="en-US" dirty="0"/>
              <a:t>) is is the min threshold to make the split. If the gain &gt; gamma </a:t>
            </a:r>
            <a:r>
              <a:rPr lang="en-US" dirty="0">
                <a:sym typeface="Wingdings" pitchFamily="2" charset="2"/>
              </a:rPr>
              <a:t> keep the split, if gain &lt; gamma  remove the split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called pruning! And GBM doesn’t have a sophisticated method like this to control tree complexity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2B5AD-070C-D946-9718-6BE7B382BF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9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 all of these formulas, G and H are the raw ingredients, but where do G and H actually come from? They’re calculated from the derivatives of the loss function!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Whereas the gradient finds the slope, the hessian understands the curvature of the terrain– enabling taking larger steps on flat surfaces and smaller steps on steep ones.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GBM has first order optimization, </a:t>
            </a:r>
            <a:r>
              <a:rPr lang="en-US" dirty="0" err="1"/>
              <a:t>xgboost</a:t>
            </a:r>
            <a:r>
              <a:rPr lang="en-US" dirty="0"/>
              <a:t> includes second order optimization, making it more computationally efficient, and less prone to overfitting, because the hessian is was makes lambda and gamma powerful.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Where gradient boosting answers the question “which split reduces the residuals the most?” </a:t>
            </a:r>
            <a:r>
              <a:rPr lang="en-US" dirty="0" err="1"/>
              <a:t>xgboost</a:t>
            </a:r>
            <a:r>
              <a:rPr lang="en-US" dirty="0"/>
              <a:t> using the second derivative answers the question “which split reduces residuals the most, weighted by our confidence in each sample's error?”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2B5AD-070C-D946-9718-6BE7B382BF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96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trained 2 models to predict SBP from a dataset on Kaggle. The difference was minimal!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Sadly, for my presentation, the models were identical in predicting systolic BP.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R^2: both models explained only 60% of the variance; accuracy ceiling set by the data not the algorithm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RMSE: on average both models were off by about 10.76 mmHg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Something really cool to see is that the </a:t>
            </a:r>
            <a:r>
              <a:rPr lang="en-US" dirty="0" err="1"/>
              <a:t>xgboost</a:t>
            </a:r>
            <a:r>
              <a:rPr lang="en-US" dirty="0"/>
              <a:t> model trained on the data 36x faster than GBM; this is partially due to second order optimization, but also other things like parallelization (evaluating splits across features in parallel, whereas GBM does this sequentially)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2B5AD-070C-D946-9718-6BE7B382BF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42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XGBoost</a:t>
            </a:r>
            <a:r>
              <a:rPr lang="en-US" dirty="0"/>
              <a:t> extends GBM’s core framework with second order optimization making more precise decision every split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Scalability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At production scale — if you need to retrain on millions of patient records daily — 36x faster means hours vs minutes. Time and energy cost money, this is a more efficient method. Could save hundreds – thousands on compute prices monthly.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2B5AD-070C-D946-9718-6BE7B382BF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54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5EA3-A318-9DAA-2596-CC6431F423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Comparing Gradient Boosting Machines and </a:t>
            </a: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FAFFD-FCA4-662C-F716-D3A5A0F53E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Jack Neary</a:t>
            </a:r>
          </a:p>
        </p:txBody>
      </p:sp>
    </p:spTree>
    <p:extLst>
      <p:ext uri="{BB962C8B-B14F-4D97-AF65-F5344CB8AC3E}">
        <p14:creationId xmlns:p14="http://schemas.microsoft.com/office/powerpoint/2010/main" val="251021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A0ED-A49C-AF03-4B4C-64B5D5CA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78" y="-305623"/>
            <a:ext cx="8297608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Gradient Boosting Machines (GBM)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7186D-35A7-B67E-DD47-7C9899731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192" y="2649415"/>
            <a:ext cx="3670187" cy="392211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effectLst/>
            </a:endParaRPr>
          </a:p>
          <a:p>
            <a:br>
              <a:rPr lang="en-US" sz="1800" dirty="0"/>
            </a:br>
            <a:endParaRPr lang="en-US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F4889D-0BBB-826A-4A8F-D2C65A86A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630994" y="1349615"/>
            <a:ext cx="6916633" cy="3838729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065D23C-701E-E5C2-DC15-B4004D311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92" y="1958180"/>
            <a:ext cx="3505200" cy="161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75480B2-05A6-954F-FDC6-0B4FB6EAB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92" y="3739449"/>
            <a:ext cx="3505200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47794B3-C25D-CD37-65DB-76B62E8EC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92" y="5383421"/>
            <a:ext cx="6520766" cy="143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714BD3-6737-AE9B-E47E-848D7F565E4B}"/>
              </a:ext>
            </a:extLst>
          </p:cNvPr>
          <p:cNvSpPr txBox="1"/>
          <p:nvPr/>
        </p:nvSpPr>
        <p:spPr>
          <a:xfrm>
            <a:off x="643192" y="1190171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Loss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0F889-1BA9-AF61-67B2-B954C17A7C05}"/>
              </a:ext>
            </a:extLst>
          </p:cNvPr>
          <p:cNvSpPr txBox="1"/>
          <p:nvPr/>
        </p:nvSpPr>
        <p:spPr>
          <a:xfrm>
            <a:off x="7315201" y="5383421"/>
            <a:ext cx="4876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medium.com</a:t>
            </a:r>
            <a:r>
              <a:rPr lang="en-US" sz="1000" dirty="0"/>
              <a:t>/@abhaysingh71711/gradient-boosting-explained-turning-weak-models-into-winners-c5d145dca9ab</a:t>
            </a:r>
          </a:p>
        </p:txBody>
      </p:sp>
    </p:spTree>
    <p:extLst>
      <p:ext uri="{BB962C8B-B14F-4D97-AF65-F5344CB8AC3E}">
        <p14:creationId xmlns:p14="http://schemas.microsoft.com/office/powerpoint/2010/main" val="148223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F728B1-CB41-A41E-C1AF-662DA5388F58}"/>
              </a:ext>
            </a:extLst>
          </p:cNvPr>
          <p:cNvSpPr/>
          <p:nvPr/>
        </p:nvSpPr>
        <p:spPr>
          <a:xfrm>
            <a:off x="468104" y="994741"/>
            <a:ext cx="1756228" cy="638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0.5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C477CF9-F25E-6596-C707-FBE62CA95E79}"/>
              </a:ext>
            </a:extLst>
          </p:cNvPr>
          <p:cNvSpPr/>
          <p:nvPr/>
        </p:nvSpPr>
        <p:spPr>
          <a:xfrm>
            <a:off x="2629817" y="1105071"/>
            <a:ext cx="1901371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A64718-CF2A-4556-A2B6-6771ABB68675}"/>
              </a:ext>
            </a:extLst>
          </p:cNvPr>
          <p:cNvSpPr txBox="1"/>
          <p:nvPr/>
        </p:nvSpPr>
        <p:spPr>
          <a:xfrm>
            <a:off x="4763392" y="784541"/>
            <a:ext cx="1086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/>
              <a:t>η</a:t>
            </a:r>
            <a:r>
              <a:rPr lang="en-US" sz="4800" dirty="0"/>
              <a:t>  </a:t>
            </a:r>
            <a:r>
              <a:rPr lang="en-US" sz="3200" dirty="0"/>
              <a:t>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76F670-7F1F-F9F1-EAE6-C34A329EB8A5}"/>
              </a:ext>
            </a:extLst>
          </p:cNvPr>
          <p:cNvCxnSpPr>
            <a:cxnSpLocks/>
          </p:cNvCxnSpPr>
          <p:nvPr/>
        </p:nvCxnSpPr>
        <p:spPr>
          <a:xfrm flipH="1">
            <a:off x="6634845" y="877230"/>
            <a:ext cx="464464" cy="499963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0EE55D-FB91-0B6F-E182-245280B7CF10}"/>
              </a:ext>
            </a:extLst>
          </p:cNvPr>
          <p:cNvCxnSpPr>
            <a:cxnSpLocks/>
          </p:cNvCxnSpPr>
          <p:nvPr/>
        </p:nvCxnSpPr>
        <p:spPr>
          <a:xfrm>
            <a:off x="7460369" y="895124"/>
            <a:ext cx="395492" cy="427662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B4AFC4B-BB0E-06BC-CF3D-1C2F3F0DB4D8}"/>
              </a:ext>
            </a:extLst>
          </p:cNvPr>
          <p:cNvSpPr/>
          <p:nvPr/>
        </p:nvSpPr>
        <p:spPr>
          <a:xfrm>
            <a:off x="5962638" y="1440808"/>
            <a:ext cx="949795" cy="394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BC572A-031E-E915-FA21-5CAC18D06DE7}"/>
              </a:ext>
            </a:extLst>
          </p:cNvPr>
          <p:cNvSpPr/>
          <p:nvPr/>
        </p:nvSpPr>
        <p:spPr>
          <a:xfrm>
            <a:off x="6579515" y="431422"/>
            <a:ext cx="1385201" cy="330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3A91B4-2670-665E-AA7E-712211940CBE}"/>
              </a:ext>
            </a:extLst>
          </p:cNvPr>
          <p:cNvCxnSpPr>
            <a:cxnSpLocks/>
          </p:cNvCxnSpPr>
          <p:nvPr/>
        </p:nvCxnSpPr>
        <p:spPr>
          <a:xfrm flipH="1">
            <a:off x="5967184" y="1912518"/>
            <a:ext cx="351971" cy="499963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B33D5BE-ACD9-4D0C-9296-AE1D6ADA7164}"/>
              </a:ext>
            </a:extLst>
          </p:cNvPr>
          <p:cNvCxnSpPr>
            <a:cxnSpLocks/>
          </p:cNvCxnSpPr>
          <p:nvPr/>
        </p:nvCxnSpPr>
        <p:spPr>
          <a:xfrm>
            <a:off x="6519640" y="1951650"/>
            <a:ext cx="224057" cy="46083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20EC9A-F226-6F1C-5182-F161E223C210}"/>
              </a:ext>
            </a:extLst>
          </p:cNvPr>
          <p:cNvCxnSpPr>
            <a:cxnSpLocks/>
          </p:cNvCxnSpPr>
          <p:nvPr/>
        </p:nvCxnSpPr>
        <p:spPr>
          <a:xfrm>
            <a:off x="8159755" y="1933524"/>
            <a:ext cx="241296" cy="457949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DDF021-763A-1850-8381-DE1C9EEFDD8E}"/>
              </a:ext>
            </a:extLst>
          </p:cNvPr>
          <p:cNvCxnSpPr>
            <a:cxnSpLocks/>
          </p:cNvCxnSpPr>
          <p:nvPr/>
        </p:nvCxnSpPr>
        <p:spPr>
          <a:xfrm flipH="1">
            <a:off x="7834084" y="1951650"/>
            <a:ext cx="155570" cy="50855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4AF0D49-B9FF-8214-DD14-8DEB8B75F887}"/>
              </a:ext>
            </a:extLst>
          </p:cNvPr>
          <p:cNvSpPr/>
          <p:nvPr/>
        </p:nvSpPr>
        <p:spPr>
          <a:xfrm>
            <a:off x="5546278" y="2471177"/>
            <a:ext cx="682168" cy="676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0116CA1-1E97-7D5F-0139-1636C439836F}"/>
              </a:ext>
            </a:extLst>
          </p:cNvPr>
          <p:cNvSpPr/>
          <p:nvPr/>
        </p:nvSpPr>
        <p:spPr>
          <a:xfrm>
            <a:off x="6464305" y="2486812"/>
            <a:ext cx="682168" cy="676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F8C3BB1-84C4-B86A-DE7A-2F5FB7F2F843}"/>
              </a:ext>
            </a:extLst>
          </p:cNvPr>
          <p:cNvSpPr/>
          <p:nvPr/>
        </p:nvSpPr>
        <p:spPr>
          <a:xfrm>
            <a:off x="7424513" y="2467815"/>
            <a:ext cx="682168" cy="676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F13F23E-F92C-326A-FA19-F3E09970F3FF}"/>
              </a:ext>
            </a:extLst>
          </p:cNvPr>
          <p:cNvSpPr/>
          <p:nvPr/>
        </p:nvSpPr>
        <p:spPr>
          <a:xfrm>
            <a:off x="8280403" y="2486812"/>
            <a:ext cx="682168" cy="676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6C02A1-31D4-D2E9-641F-2855C4EE3F6E}"/>
              </a:ext>
            </a:extLst>
          </p:cNvPr>
          <p:cNvSpPr txBox="1"/>
          <p:nvPr/>
        </p:nvSpPr>
        <p:spPr>
          <a:xfrm>
            <a:off x="6105073" y="3838377"/>
            <a:ext cx="1400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/>
              <a:t>η</a:t>
            </a:r>
            <a:r>
              <a:rPr lang="en-US" sz="4800" dirty="0"/>
              <a:t>  </a:t>
            </a:r>
            <a:r>
              <a:rPr lang="en-US" sz="3200" dirty="0"/>
              <a:t>x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7109D64-A3BB-EB77-56B5-D2CB4EDBBC0A}"/>
              </a:ext>
            </a:extLst>
          </p:cNvPr>
          <p:cNvSpPr/>
          <p:nvPr/>
        </p:nvSpPr>
        <p:spPr>
          <a:xfrm>
            <a:off x="7615464" y="1468601"/>
            <a:ext cx="949795" cy="394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A39654-785E-8C9F-FD75-591872E27D18}"/>
              </a:ext>
            </a:extLst>
          </p:cNvPr>
          <p:cNvSpPr/>
          <p:nvPr/>
        </p:nvSpPr>
        <p:spPr>
          <a:xfrm>
            <a:off x="7615464" y="4129521"/>
            <a:ext cx="1385201" cy="330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ADCC06-D24D-070D-55B9-D51D81331826}"/>
              </a:ext>
            </a:extLst>
          </p:cNvPr>
          <p:cNvCxnSpPr>
            <a:cxnSpLocks/>
          </p:cNvCxnSpPr>
          <p:nvPr/>
        </p:nvCxnSpPr>
        <p:spPr>
          <a:xfrm flipH="1">
            <a:off x="7747020" y="4495416"/>
            <a:ext cx="464464" cy="499963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DE26BF8-BF28-8AAE-873E-34CF80400345}"/>
              </a:ext>
            </a:extLst>
          </p:cNvPr>
          <p:cNvCxnSpPr>
            <a:cxnSpLocks/>
          </p:cNvCxnSpPr>
          <p:nvPr/>
        </p:nvCxnSpPr>
        <p:spPr>
          <a:xfrm>
            <a:off x="8426449" y="4501040"/>
            <a:ext cx="395492" cy="427662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6C322B9-FCF6-9420-BD92-555A47083C28}"/>
              </a:ext>
            </a:extLst>
          </p:cNvPr>
          <p:cNvSpPr/>
          <p:nvPr/>
        </p:nvSpPr>
        <p:spPr>
          <a:xfrm>
            <a:off x="7183217" y="5052435"/>
            <a:ext cx="949795" cy="394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DCB6E3-ADF9-C148-BAF3-9A858D179543}"/>
              </a:ext>
            </a:extLst>
          </p:cNvPr>
          <p:cNvSpPr/>
          <p:nvPr/>
        </p:nvSpPr>
        <p:spPr>
          <a:xfrm>
            <a:off x="8576172" y="5052435"/>
            <a:ext cx="949795" cy="394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82E58B0-124E-9F43-17A6-57505AC227F8}"/>
              </a:ext>
            </a:extLst>
          </p:cNvPr>
          <p:cNvCxnSpPr>
            <a:cxnSpLocks/>
          </p:cNvCxnSpPr>
          <p:nvPr/>
        </p:nvCxnSpPr>
        <p:spPr>
          <a:xfrm flipH="1">
            <a:off x="7188658" y="5462913"/>
            <a:ext cx="351971" cy="499963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405A293-6869-600E-7F1D-20D7298DDB2D}"/>
              </a:ext>
            </a:extLst>
          </p:cNvPr>
          <p:cNvCxnSpPr>
            <a:cxnSpLocks/>
          </p:cNvCxnSpPr>
          <p:nvPr/>
        </p:nvCxnSpPr>
        <p:spPr>
          <a:xfrm>
            <a:off x="7765597" y="5482478"/>
            <a:ext cx="224057" cy="46083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2BEB643-19A9-9848-EA32-B05B7544948A}"/>
              </a:ext>
            </a:extLst>
          </p:cNvPr>
          <p:cNvCxnSpPr>
            <a:cxnSpLocks/>
          </p:cNvCxnSpPr>
          <p:nvPr/>
        </p:nvCxnSpPr>
        <p:spPr>
          <a:xfrm flipH="1">
            <a:off x="8862800" y="5482478"/>
            <a:ext cx="87085" cy="48046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6B1FD08-3B74-4BF1-463D-ACB36DB552CB}"/>
              </a:ext>
            </a:extLst>
          </p:cNvPr>
          <p:cNvCxnSpPr>
            <a:cxnSpLocks/>
          </p:cNvCxnSpPr>
          <p:nvPr/>
        </p:nvCxnSpPr>
        <p:spPr>
          <a:xfrm>
            <a:off x="9191177" y="5493733"/>
            <a:ext cx="241296" cy="457949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905383EB-CA94-546A-3276-8C6AADE08F58}"/>
              </a:ext>
            </a:extLst>
          </p:cNvPr>
          <p:cNvSpPr/>
          <p:nvPr/>
        </p:nvSpPr>
        <p:spPr>
          <a:xfrm>
            <a:off x="6758225" y="6051649"/>
            <a:ext cx="682168" cy="676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BF60F70-163E-9776-840D-A07580ED6D40}"/>
              </a:ext>
            </a:extLst>
          </p:cNvPr>
          <p:cNvSpPr/>
          <p:nvPr/>
        </p:nvSpPr>
        <p:spPr>
          <a:xfrm>
            <a:off x="7659931" y="5957134"/>
            <a:ext cx="682168" cy="676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5F8AD8B-8CC8-0AC3-D2AA-E8D702E239CA}"/>
              </a:ext>
            </a:extLst>
          </p:cNvPr>
          <p:cNvSpPr/>
          <p:nvPr/>
        </p:nvSpPr>
        <p:spPr>
          <a:xfrm>
            <a:off x="8413754" y="5962876"/>
            <a:ext cx="682168" cy="676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3145B9A-5633-FF3A-068D-DF25698B94BC}"/>
              </a:ext>
            </a:extLst>
          </p:cNvPr>
          <p:cNvSpPr/>
          <p:nvPr/>
        </p:nvSpPr>
        <p:spPr>
          <a:xfrm>
            <a:off x="9214766" y="5951682"/>
            <a:ext cx="682168" cy="67661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35C0FF-6A44-E6A5-CA4C-69CA65FF81CC}"/>
              </a:ext>
            </a:extLst>
          </p:cNvPr>
          <p:cNvSpPr txBox="1"/>
          <p:nvPr/>
        </p:nvSpPr>
        <p:spPr>
          <a:xfrm>
            <a:off x="6913778" y="3268631"/>
            <a:ext cx="1045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8C95F5-0DE1-7F3B-0889-EA0613A5AD65}"/>
              </a:ext>
            </a:extLst>
          </p:cNvPr>
          <p:cNvSpPr txBox="1"/>
          <p:nvPr/>
        </p:nvSpPr>
        <p:spPr>
          <a:xfrm>
            <a:off x="10418092" y="5937926"/>
            <a:ext cx="1585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etc</a:t>
            </a:r>
            <a:r>
              <a:rPr lang="en-US" sz="3600" dirty="0"/>
              <a:t>…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4B4A40-DE54-7EE0-DED8-B7326DA8216A}"/>
              </a:ext>
            </a:extLst>
          </p:cNvPr>
          <p:cNvSpPr txBox="1"/>
          <p:nvPr/>
        </p:nvSpPr>
        <p:spPr>
          <a:xfrm>
            <a:off x="786900" y="4617594"/>
            <a:ext cx="25508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Ok, how does it do this???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7FEB15-CC61-2270-4A90-684F7F087D81}"/>
              </a:ext>
            </a:extLst>
          </p:cNvPr>
          <p:cNvSpPr txBox="1"/>
          <p:nvPr/>
        </p:nvSpPr>
        <p:spPr>
          <a:xfrm>
            <a:off x="9432473" y="2640455"/>
            <a:ext cx="2402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start at the leaves!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C91282EF-ADA9-8446-74A1-970489703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67" y="2111883"/>
            <a:ext cx="3036335" cy="83099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C1FC137-4E13-BD70-2E7D-77D18EFFF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67" y="3398814"/>
            <a:ext cx="2573559" cy="843313"/>
          </a:xfrm>
          <a:prstGeom prst="rect">
            <a:avLst/>
          </a:prstGeom>
        </p:spPr>
      </p:pic>
      <p:sp>
        <p:nvSpPr>
          <p:cNvPr id="73" name="Frame 72">
            <a:extLst>
              <a:ext uri="{FF2B5EF4-FFF2-40B4-BE49-F238E27FC236}">
                <a16:creationId xmlns:a16="http://schemas.microsoft.com/office/drawing/2014/main" id="{E2FA0F65-3A8D-6D5A-36B6-3F81310D34F4}"/>
              </a:ext>
            </a:extLst>
          </p:cNvPr>
          <p:cNvSpPr/>
          <p:nvPr/>
        </p:nvSpPr>
        <p:spPr>
          <a:xfrm>
            <a:off x="5123543" y="2316060"/>
            <a:ext cx="4308930" cy="111293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D9E474C4-40E2-F82F-A2A1-B01EEA7B6E97}"/>
              </a:ext>
            </a:extLst>
          </p:cNvPr>
          <p:cNvSpPr txBox="1">
            <a:spLocks/>
          </p:cNvSpPr>
          <p:nvPr/>
        </p:nvSpPr>
        <p:spPr>
          <a:xfrm>
            <a:off x="468104" y="232900"/>
            <a:ext cx="9905998" cy="61101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5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7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7459CC8-2A00-B7AF-3E39-21D01701CFCF}"/>
              </a:ext>
            </a:extLst>
          </p:cNvPr>
          <p:cNvSpPr/>
          <p:nvPr/>
        </p:nvSpPr>
        <p:spPr>
          <a:xfrm>
            <a:off x="2119085" y="1"/>
            <a:ext cx="7881257" cy="68580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CB54B-2544-4E09-4FE9-A7C81325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71" y="1580170"/>
            <a:ext cx="2093686" cy="10468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4FAE76-342E-4E48-7AE5-4DFA75F07731}"/>
              </a:ext>
            </a:extLst>
          </p:cNvPr>
          <p:cNvSpPr txBox="1"/>
          <p:nvPr/>
        </p:nvSpPr>
        <p:spPr>
          <a:xfrm>
            <a:off x="4898571" y="580571"/>
            <a:ext cx="2227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Leaf weights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99440-E6F5-45E6-2766-8B15B82B88AC}"/>
              </a:ext>
            </a:extLst>
          </p:cNvPr>
          <p:cNvSpPr txBox="1"/>
          <p:nvPr/>
        </p:nvSpPr>
        <p:spPr>
          <a:xfrm>
            <a:off x="4223657" y="3383970"/>
            <a:ext cx="4310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Optimal prediction value for samples that land in that leaf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Calculated using gradients, hessians, and lambda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6B212-C5D5-F293-18D6-2AFCF8296458}"/>
              </a:ext>
            </a:extLst>
          </p:cNvPr>
          <p:cNvSpPr txBox="1"/>
          <p:nvPr/>
        </p:nvSpPr>
        <p:spPr>
          <a:xfrm>
            <a:off x="3875314" y="5341257"/>
            <a:ext cx="418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does the leaf weight matter?</a:t>
            </a:r>
          </a:p>
        </p:txBody>
      </p:sp>
    </p:spTree>
    <p:extLst>
      <p:ext uri="{BB962C8B-B14F-4D97-AF65-F5344CB8AC3E}">
        <p14:creationId xmlns:p14="http://schemas.microsoft.com/office/powerpoint/2010/main" val="378544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606E1B-B00B-4EA0-91C9-93AF33751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7358" y="799063"/>
            <a:ext cx="7009395" cy="5260058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6B33B-14BC-9EC5-7311-39B1590CD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318" y="1176072"/>
            <a:ext cx="5855408" cy="46111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04148B-94B4-E1C2-0B04-46EA44620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887" y="5156200"/>
            <a:ext cx="1176113" cy="4090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0ED038-1E80-8A3C-BE7A-4055A1972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942" y="5168823"/>
            <a:ext cx="1176113" cy="4090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9FB3A7-B406-97A0-B151-DDE1FEBDE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509" y="5189649"/>
            <a:ext cx="1176113" cy="409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941B86-9BA7-A131-6612-5AE07A877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109" y="5165590"/>
            <a:ext cx="1176113" cy="4090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BF690B-904B-1DAC-070C-4A5FCCABA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087" y="3230770"/>
            <a:ext cx="1176113" cy="409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90174B-AA4F-69FD-5C7E-EA8F1858E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887" y="3224458"/>
            <a:ext cx="1176113" cy="409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274216-F7A8-7A8B-2BF7-F0A0FA443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565" y="1627337"/>
            <a:ext cx="1176113" cy="409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948C6E-AC7B-A58D-F920-08E96E6437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761" y="3072058"/>
            <a:ext cx="3340100" cy="3048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788E33-CFBC-EAB0-86C6-BE4232BDF209}"/>
              </a:ext>
            </a:extLst>
          </p:cNvPr>
          <p:cNvCxnSpPr/>
          <p:nvPr/>
        </p:nvCxnSpPr>
        <p:spPr>
          <a:xfrm>
            <a:off x="3803348" y="3240495"/>
            <a:ext cx="852529" cy="0"/>
          </a:xfrm>
          <a:prstGeom prst="straightConnector1">
            <a:avLst/>
          </a:prstGeom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CDDD1D-AA52-68C4-2F96-FFB3B0007D8A}"/>
              </a:ext>
            </a:extLst>
          </p:cNvPr>
          <p:cNvCxnSpPr/>
          <p:nvPr/>
        </p:nvCxnSpPr>
        <p:spPr>
          <a:xfrm>
            <a:off x="3803348" y="4852727"/>
            <a:ext cx="852529" cy="0"/>
          </a:xfrm>
          <a:prstGeom prst="straightConnector1">
            <a:avLst/>
          </a:prstGeom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C2DD5C2-3215-04D5-4B5F-EB5BB9CB6B49}"/>
              </a:ext>
            </a:extLst>
          </p:cNvPr>
          <p:cNvSpPr/>
          <p:nvPr/>
        </p:nvSpPr>
        <p:spPr>
          <a:xfrm>
            <a:off x="4919887" y="2759242"/>
            <a:ext cx="5280313" cy="10266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97D3F8-4153-7CBC-6ECB-F3E86125B782}"/>
              </a:ext>
            </a:extLst>
          </p:cNvPr>
          <p:cNvSpPr/>
          <p:nvPr/>
        </p:nvSpPr>
        <p:spPr>
          <a:xfrm>
            <a:off x="4655877" y="4286846"/>
            <a:ext cx="2978145" cy="1395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1E08B6-1C1F-545B-3FD9-72D057E95132}"/>
              </a:ext>
            </a:extLst>
          </p:cNvPr>
          <p:cNvSpPr/>
          <p:nvPr/>
        </p:nvSpPr>
        <p:spPr>
          <a:xfrm>
            <a:off x="7730107" y="4293406"/>
            <a:ext cx="2978145" cy="1395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66BBB8A-E6F7-73BD-73D0-33DDEF1E40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61" y="4624909"/>
            <a:ext cx="3340099" cy="36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7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6FD2-EB76-D17D-A59A-C594BD7C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Gradients and Hessians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AEE14-7966-4770-F613-9C42677E7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649" y="640080"/>
            <a:ext cx="8006079" cy="360273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6694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534EE-3461-BFE0-B5E2-D0375DE5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611018"/>
          </a:xfrm>
        </p:spPr>
        <p:txBody>
          <a:bodyPr/>
          <a:lstStyle/>
          <a:p>
            <a:r>
              <a:rPr lang="en-US" dirty="0"/>
              <a:t>My 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CE83F1-C1F4-8C83-C619-AA4D5C6798A7}"/>
              </a:ext>
            </a:extLst>
          </p:cNvPr>
          <p:cNvSpPr/>
          <p:nvPr/>
        </p:nvSpPr>
        <p:spPr>
          <a:xfrm>
            <a:off x="5277853" y="770021"/>
            <a:ext cx="6545179" cy="56307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A87545-42FF-DA7C-06AA-25B254E4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61" y="914754"/>
            <a:ext cx="4150728" cy="3303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14AA9F-C231-9B27-393D-EF9C0935F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218" y="4363128"/>
            <a:ext cx="6221814" cy="16553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995A9B-89E5-9581-76ED-9402EEB32A93}"/>
              </a:ext>
            </a:extLst>
          </p:cNvPr>
          <p:cNvSpPr txBox="1"/>
          <p:nvPr/>
        </p:nvSpPr>
        <p:spPr>
          <a:xfrm>
            <a:off x="780377" y="2613392"/>
            <a:ext cx="4016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Same accuracy, 36x faster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RMSE and R^2 identical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 speed from parallel split finding</a:t>
            </a:r>
          </a:p>
        </p:txBody>
      </p:sp>
    </p:spTree>
    <p:extLst>
      <p:ext uri="{BB962C8B-B14F-4D97-AF65-F5344CB8AC3E}">
        <p14:creationId xmlns:p14="http://schemas.microsoft.com/office/powerpoint/2010/main" val="2350006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05DA-A0EA-DBF3-D626-0C6C96D6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CCE37-81A0-F908-F4ED-A2C78DD46A90}"/>
              </a:ext>
            </a:extLst>
          </p:cNvPr>
          <p:cNvSpPr txBox="1"/>
          <p:nvPr/>
        </p:nvSpPr>
        <p:spPr>
          <a:xfrm>
            <a:off x="1255363" y="2514600"/>
            <a:ext cx="91130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extends GBM’s core framework with second order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Hessian makes lambda and gamma powerful – regularization built into the math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70,000 records, same accuracy 36x 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always more accurate, but more efficient and scalable than GBM</a:t>
            </a:r>
          </a:p>
        </p:txBody>
      </p:sp>
    </p:spTree>
    <p:extLst>
      <p:ext uri="{BB962C8B-B14F-4D97-AF65-F5344CB8AC3E}">
        <p14:creationId xmlns:p14="http://schemas.microsoft.com/office/powerpoint/2010/main" val="974364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1540</TotalTime>
  <Words>916</Words>
  <Application>Microsoft Macintosh PowerPoint</Application>
  <PresentationFormat>Widescreen</PresentationFormat>
  <Paragraphs>77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Century Gothic</vt:lpstr>
      <vt:lpstr>Wingdings</vt:lpstr>
      <vt:lpstr>Mesh</vt:lpstr>
      <vt:lpstr>Comparing Gradient Boosting Machines and XGBoost</vt:lpstr>
      <vt:lpstr>Gradient Boosting Machines (GBM)</vt:lpstr>
      <vt:lpstr>PowerPoint Presentation</vt:lpstr>
      <vt:lpstr>PowerPoint Presentation</vt:lpstr>
      <vt:lpstr>PowerPoint Presentation</vt:lpstr>
      <vt:lpstr>Gradients and Hessians</vt:lpstr>
      <vt:lpstr>My Models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Neary, Jack</dc:creator>
  <cp:lastModifiedBy>Neary, Jack</cp:lastModifiedBy>
  <cp:revision>6</cp:revision>
  <dcterms:created xsi:type="dcterms:W3CDTF">2026-06-07T03:25:00Z</dcterms:created>
  <dcterms:modified xsi:type="dcterms:W3CDTF">2026-06-08T05:05:53Z</dcterms:modified>
</cp:coreProperties>
</file>