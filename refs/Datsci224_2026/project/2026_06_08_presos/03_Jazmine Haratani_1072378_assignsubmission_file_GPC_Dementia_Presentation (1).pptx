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3A6A"/>
    <a:srgbClr val="6D284F"/>
    <a:srgbClr val="B31166"/>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315" autoAdjust="0"/>
  </p:normalViewPr>
  <p:slideViewPr>
    <p:cSldViewPr snapToGrid="0" snapToObjects="1">
      <p:cViewPr varScale="1">
        <p:scale>
          <a:sx n="133" d="100"/>
          <a:sy n="133" d="100"/>
        </p:scale>
        <p:origin x="10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902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Rather than learning fixed parameters (log regression coefficients), GPC learns a distribution over possible decision boundaries</a:t>
            </a:r>
          </a:p>
          <a:p>
            <a:pPr marL="0" indent="0">
              <a:buFont typeface="Arial" panose="020B0604020202020204" pitchFamily="34" charset="0"/>
              <a:buNone/>
            </a:pPr>
            <a:endParaRPr lang="en-US" dirty="0"/>
          </a:p>
          <a:p>
            <a:pPr>
              <a:buFont typeface="Arial" panose="020B0604020202020204" pitchFamily="34" charset="0"/>
              <a:buChar char="•"/>
            </a:pPr>
            <a:r>
              <a:rPr lang="en-US" sz="1200" b="1" dirty="0"/>
              <a:t>Why? </a:t>
            </a:r>
            <a:r>
              <a:rPr lang="en-US" sz="1200" dirty="0"/>
              <a:t>Small to medium sample size, heterogenous predictors, calibrated uncertainty, no distributional assumptions (unlike LDA)</a:t>
            </a:r>
          </a:p>
          <a:p>
            <a:pPr marL="0" indent="0">
              <a:buNone/>
            </a:pPr>
            <a:endParaRPr lang="en-US" sz="1200" b="1" dirty="0"/>
          </a:p>
          <a:p>
            <a:pPr>
              <a:buFont typeface="Arial" panose="020B0604020202020204" pitchFamily="34" charset="0"/>
              <a:buChar char="•"/>
            </a:pPr>
            <a:r>
              <a:rPr lang="en-US" sz="1200" b="1" dirty="0"/>
              <a:t> How? </a:t>
            </a:r>
            <a:r>
              <a:rPr lang="en-US" sz="1200" dirty="0"/>
              <a:t>Using a kernel to measure covariance (variance for each patient’s features as well as compared to others), approximations for initial latent risk scores, probabilities reflecting uncertainty, confidence in results, and a predicted outcome class</a:t>
            </a:r>
          </a:p>
          <a:p>
            <a:pPr>
              <a:buFont typeface="Arial" panose="020B0604020202020204" pitchFamily="34" charset="0"/>
              <a:buNone/>
            </a:pPr>
            <a:endParaRPr lang="en-US" dirty="0"/>
          </a:p>
          <a:p>
            <a:pPr marL="171450" indent="-171450">
              <a:buFont typeface="Arial" panose="020B0604020202020204" pitchFamily="34" charset="0"/>
              <a:buChar char="•"/>
            </a:pPr>
            <a:r>
              <a:rPr lang="en-US" dirty="0"/>
              <a:t>The sample size allows GPC to avoid overfitting due to overparameterizing</a:t>
            </a:r>
          </a:p>
          <a:p>
            <a:pPr marL="171450" indent="-171450">
              <a:buFont typeface="Arial" panose="020B0604020202020204" pitchFamily="34" charset="0"/>
              <a:buChar char="•"/>
            </a:pPr>
            <a:r>
              <a:rPr lang="en-US" dirty="0"/>
              <a:t>The ability to measure how confident the model is = very important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 Each patient has a set of features (Age, Education, SES, </a:t>
            </a:r>
            <a:r>
              <a:rPr lang="en-US" dirty="0" err="1"/>
              <a:t>nWBV</a:t>
            </a:r>
            <a:r>
              <a:rPr lang="en-US" dirty="0"/>
              <a:t>, Sex) and a known outcome CDR label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 what are the most plausible risk scores before seeing any data</a:t>
            </a:r>
          </a:p>
          <a:p>
            <a:r>
              <a:rPr lang="en-US" dirty="0"/>
              <a:t>Likelihood – how well do these scores explain the observed CDR labels?</a:t>
            </a:r>
          </a:p>
          <a:p>
            <a:r>
              <a:rPr lang="en-US" dirty="0"/>
              <a:t>Latent risk scores – peak of the posterior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 We take each patient and see how similar they are by features; using this comparison we build a matrix with “scores” associated with similarity between a pair of patients (the similarity matrix for our dataset)</a:t>
            </a:r>
          </a:p>
          <a:p>
            <a:pPr lvl="1">
              <a:buFont typeface="Arial" panose="020B0604020202020204" pitchFamily="34" charset="0"/>
              <a:buChar char="•"/>
            </a:pPr>
            <a:r>
              <a:rPr lang="en-US" dirty="0"/>
              <a:t> Keep in mind that we use an optimizer to find the best length scales – essentially just climbing the log marginal likelihood surface with respect to length scales; its like adjusting this metaphorical dial to change the length scales until the kernel structure fits the data </a:t>
            </a:r>
            <a:r>
              <a:rPr lang="en-US"/>
              <a:t>the best</a:t>
            </a:r>
            <a:endParaRPr lang="en-US" dirty="0"/>
          </a:p>
          <a:p>
            <a:pPr>
              <a:buFont typeface="Arial" panose="020B0604020202020204" pitchFamily="34" charset="0"/>
              <a:buChar char="•"/>
            </a:pPr>
            <a:r>
              <a:rPr lang="en-US" dirty="0"/>
              <a:t> Now this matrix is our GP prior – we are saying similar inputs (i.e. patient data) should have similar risk scores for CDR label = Demented</a:t>
            </a:r>
          </a:p>
          <a:p>
            <a:pPr>
              <a:buFont typeface="Arial" panose="020B0604020202020204" pitchFamily="34" charset="0"/>
              <a:buChar char="•"/>
            </a:pPr>
            <a:r>
              <a:rPr lang="en-US" dirty="0"/>
              <a:t> Our output here is our kernel that we will use in our GPC model function – keep in mind that the length-scales are also relaying information about the feature importance</a:t>
            </a:r>
          </a:p>
          <a:p>
            <a:pPr>
              <a:buFont typeface="Arial" panose="020B0604020202020204" pitchFamily="34" charset="0"/>
              <a:buChar char="•"/>
            </a:pPr>
            <a:r>
              <a:rPr lang="en-US" dirty="0"/>
              <a:t> Our length scales are a part of our optimized kernel – we initialize them before training and set them all to 1 as a starting point — but those initial values are just a starting guess, not the final values. The optimizer then adjusts them during fitting</a:t>
            </a:r>
          </a:p>
          <a:p>
            <a:pPr>
              <a:buFont typeface="Arial" panose="020B0604020202020204" pitchFamily="34" charset="0"/>
              <a:buChar char="•"/>
            </a:pPr>
            <a:r>
              <a:rPr lang="en-US" dirty="0"/>
              <a:t> we derive them by maximizing the log marginal likelihood (probability of observing the training labels y given the input features X and the kernel hyperparameters)</a:t>
            </a:r>
          </a:p>
          <a:p>
            <a:pPr>
              <a:buFont typeface="Arial" panose="020B0604020202020204" pitchFamily="34" charset="0"/>
              <a:buChar char="•"/>
            </a:pPr>
            <a:r>
              <a:rPr lang="en-US" dirty="0"/>
              <a:t> Basically asking - Which features, when I make the model sensitive to them, best explain why the patients who have dementia have CDR &gt; 0 and the patients who don't have CDR = 0?</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 predictive mean is our predicted latent risk score which is ultimately from the kernel vector, the inverse of the training kernel, and the latent scores from Newton’s method</a:t>
            </a:r>
          </a:p>
          <a:p>
            <a:pPr>
              <a:buFont typeface="Arial" panose="020B0604020202020204" pitchFamily="34" charset="0"/>
              <a:buChar char="•"/>
            </a:pPr>
            <a:r>
              <a:rPr lang="en-US" dirty="0"/>
              <a:t> Predictive variance is computed by comparing the training data to the predicted patient’s input</a:t>
            </a:r>
          </a:p>
          <a:p>
            <a:pPr>
              <a:buFont typeface="Arial" panose="020B0604020202020204" pitchFamily="34" charset="0"/>
              <a:buChar char="•"/>
            </a:pPr>
            <a:r>
              <a:rPr lang="en-US" dirty="0"/>
              <a:t> Then we ask for any given latent risk score, how probable is it that it will match the CDR label observed (Bernoulli because outcome CDR label is binary) – this is our likelihood</a:t>
            </a:r>
          </a:p>
          <a:p>
            <a:pPr>
              <a:buFont typeface="Arial" panose="020B0604020202020204" pitchFamily="34" charset="0"/>
              <a:buChar char="•"/>
            </a:pPr>
            <a:r>
              <a:rPr lang="en-US" dirty="0"/>
              <a:t> Instead of usual approach multiplying the GP prior and Bernoulli likelihood to get our posterior, we use Newton’s method to find the most plausible set of latent risk scores for our patients, and wrap a Gaussian around that (LaPlace approx.) to find our posterior approximation</a:t>
            </a:r>
          </a:p>
          <a:p>
            <a:pPr>
              <a:buFont typeface="Arial" panose="020B0604020202020204" pitchFamily="34" charset="0"/>
              <a:buChar char="•"/>
            </a:pPr>
            <a:endParaRPr lang="en-US" dirty="0"/>
          </a:p>
          <a:p>
            <a:pPr marL="171450" indent="-171450">
              <a:buFont typeface="Arial" panose="020B0604020202020204" pitchFamily="34" charset="0"/>
              <a:buChar char="•"/>
            </a:pPr>
            <a:r>
              <a:rPr lang="en-US" dirty="0"/>
              <a:t>At any point f, we can compute the posterior and log posterior using our typical prior x likelihood formulas (likelihood - plug each f into the sigmoid function, compare to the known label y, get a number / prior - plug f into the multivariate Gaussian formula with covariance K, get a number)</a:t>
            </a:r>
          </a:p>
          <a:p>
            <a:pPr marL="171450" indent="-171450">
              <a:buFont typeface="Arial" panose="020B0604020202020204" pitchFamily="34" charset="0"/>
              <a:buChar char="•"/>
            </a:pPr>
            <a:r>
              <a:rPr lang="en-US" dirty="0"/>
              <a:t>We could use gradient ascent to find the f input that scores the highest log posterior, but its too slow – instead, Newton’s uses the curvature of the function (not only the slope) to find it in a smarter way</a:t>
            </a:r>
          </a:p>
          <a:p>
            <a:pPr marL="171450" indent="-171450">
              <a:buFont typeface="Arial" panose="020B0604020202020204" pitchFamily="34" charset="0"/>
              <a:buChar char="•"/>
            </a:pPr>
            <a:r>
              <a:rPr lang="en-US" dirty="0"/>
              <a:t>Newton’s method - iteratively re-weighted least squares (where the Hessian of the log-likelihood is diagonal (because the likelihood factorizes across data points)</a:t>
            </a:r>
          </a:p>
          <a:p>
            <a:pPr marL="171450" indent="-171450">
              <a:buFont typeface="Arial" panose="020B0604020202020204" pitchFamily="34" charset="0"/>
              <a:buChar char="•"/>
            </a:pPr>
            <a:r>
              <a:rPr lang="en-US" dirty="0"/>
              <a:t>Once we find the most plausible latent risk score – our peak, we fit a Gaussian using second-order Taylor expansion to provide a full distribution of uncertainty around it</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length-scale for each feature is literally just a dial that controls how much that feature gets to influence whether two patients are considered similar or not — and the optimizer turns those dials to whatever setting best explains your training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is honest uncertainty like 50/50 probability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3A"/>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B31166">
              <a:alpha val="12000"/>
            </a:srgbClr>
          </a:solidFill>
          <a:ln/>
        </p:spPr>
        <p:txBody>
          <a:bodyPr/>
          <a:lstStyle/>
          <a:p>
            <a:endParaRPr lang="en-US"/>
          </a:p>
        </p:txBody>
      </p:sp>
      <p:sp>
        <p:nvSpPr>
          <p:cNvPr id="3" name="Shape 1"/>
          <p:cNvSpPr/>
          <p:nvPr/>
        </p:nvSpPr>
        <p:spPr>
          <a:xfrm>
            <a:off x="7406640" y="2560320"/>
            <a:ext cx="2560320" cy="2560320"/>
          </a:xfrm>
          <a:prstGeom prst="ellipse">
            <a:avLst/>
          </a:prstGeom>
          <a:solidFill>
            <a:srgbClr val="9B6BF2">
              <a:alpha val="15000"/>
            </a:srgbClr>
          </a:solidFill>
          <a:ln/>
        </p:spPr>
        <p:txBody>
          <a:bodyPr/>
          <a:lstStyle/>
          <a:p>
            <a:endParaRPr lang="en-US"/>
          </a:p>
        </p:txBody>
      </p:sp>
      <p:sp>
        <p:nvSpPr>
          <p:cNvPr id="4" name="Text 2"/>
          <p:cNvSpPr/>
          <p:nvPr/>
        </p:nvSpPr>
        <p:spPr>
          <a:xfrm>
            <a:off x="548640" y="1280160"/>
            <a:ext cx="6583680" cy="640080"/>
          </a:xfrm>
          <a:prstGeom prst="rect">
            <a:avLst/>
          </a:prstGeom>
          <a:noFill/>
          <a:ln/>
        </p:spPr>
        <p:txBody>
          <a:bodyPr wrap="square" lIns="0" tIns="0" rIns="0" bIns="0" rtlCol="0" anchor="ctr"/>
          <a:lstStyle/>
          <a:p>
            <a:pPr marL="0" indent="0" algn="l">
              <a:buNone/>
            </a:pPr>
            <a:r>
              <a:rPr lang="en-US" sz="3200" dirty="0">
                <a:solidFill>
                  <a:srgbClr val="C4BCDA"/>
                </a:solidFill>
                <a:latin typeface="Trebuchet MS" pitchFamily="34" charset="0"/>
                <a:ea typeface="Trebuchet MS" pitchFamily="34" charset="-122"/>
                <a:cs typeface="Trebuchet MS" pitchFamily="34" charset="-120"/>
              </a:rPr>
              <a:t>Dementia Risk Prediction with</a:t>
            </a:r>
            <a:endParaRPr lang="en-US" sz="3200" dirty="0"/>
          </a:p>
        </p:txBody>
      </p:sp>
      <p:sp>
        <p:nvSpPr>
          <p:cNvPr id="5" name="Text 3"/>
          <p:cNvSpPr/>
          <p:nvPr/>
        </p:nvSpPr>
        <p:spPr>
          <a:xfrm>
            <a:off x="548640" y="1828800"/>
            <a:ext cx="6858000" cy="1371600"/>
          </a:xfrm>
          <a:prstGeom prst="rect">
            <a:avLst/>
          </a:prstGeom>
          <a:noFill/>
          <a:ln/>
        </p:spPr>
        <p:txBody>
          <a:bodyPr wrap="square" lIns="0" tIns="0" rIns="0" bIns="0" rtlCol="0" anchor="ctr"/>
          <a:lstStyle/>
          <a:p>
            <a:pPr marL="0" indent="0" algn="l">
              <a:buNone/>
            </a:pPr>
            <a:r>
              <a:rPr lang="en-US" sz="4200" b="1" dirty="0">
                <a:solidFill>
                  <a:srgbClr val="FFFFFF"/>
                </a:solidFill>
                <a:latin typeface="Trebuchet MS" pitchFamily="34" charset="0"/>
                <a:ea typeface="Trebuchet MS" pitchFamily="34" charset="-122"/>
                <a:cs typeface="Trebuchet MS" pitchFamily="34" charset="-120"/>
              </a:rPr>
              <a:t>Gaussian Process</a:t>
            </a:r>
            <a:endParaRPr lang="en-US" sz="4200" dirty="0"/>
          </a:p>
          <a:p>
            <a:pPr marL="0" indent="0" algn="l">
              <a:buNone/>
            </a:pPr>
            <a:r>
              <a:rPr lang="en-US" sz="4200" b="1" dirty="0">
                <a:solidFill>
                  <a:srgbClr val="FFFFFF"/>
                </a:solidFill>
                <a:latin typeface="Trebuchet MS" pitchFamily="34" charset="0"/>
                <a:ea typeface="Trebuchet MS" pitchFamily="34" charset="-122"/>
                <a:cs typeface="Trebuchet MS" pitchFamily="34" charset="-120"/>
              </a:rPr>
              <a:t>Classification</a:t>
            </a:r>
            <a:endParaRPr lang="en-US" sz="4200" dirty="0"/>
          </a:p>
        </p:txBody>
      </p:sp>
      <p:sp>
        <p:nvSpPr>
          <p:cNvPr id="6" name="Shape 4"/>
          <p:cNvSpPr/>
          <p:nvPr/>
        </p:nvSpPr>
        <p:spPr>
          <a:xfrm>
            <a:off x="548640" y="3310128"/>
            <a:ext cx="2011680" cy="54864"/>
          </a:xfrm>
          <a:prstGeom prst="rect">
            <a:avLst/>
          </a:prstGeom>
          <a:solidFill>
            <a:srgbClr val="B31166"/>
          </a:solidFill>
          <a:ln/>
        </p:spPr>
        <p:txBody>
          <a:bodyPr/>
          <a:lstStyle/>
          <a:p>
            <a:endParaRPr lang="en-US"/>
          </a:p>
        </p:txBody>
      </p:sp>
      <p:sp>
        <p:nvSpPr>
          <p:cNvPr id="7" name="Text 5"/>
          <p:cNvSpPr/>
          <p:nvPr/>
        </p:nvSpPr>
        <p:spPr>
          <a:xfrm>
            <a:off x="548640" y="3474720"/>
            <a:ext cx="7315200" cy="365760"/>
          </a:xfrm>
          <a:prstGeom prst="rect">
            <a:avLst/>
          </a:prstGeom>
          <a:noFill/>
          <a:ln/>
        </p:spPr>
        <p:txBody>
          <a:bodyPr wrap="square" lIns="0" tIns="0" rIns="0" bIns="0" rtlCol="0" anchor="ctr"/>
          <a:lstStyle/>
          <a:p>
            <a:pPr marL="0" indent="0" algn="l">
              <a:buNone/>
            </a:pPr>
            <a:r>
              <a:rPr lang="en-US" sz="1300" dirty="0">
                <a:solidFill>
                  <a:srgbClr val="C4BCDA"/>
                </a:solidFill>
                <a:latin typeface="Calibri" pitchFamily="34" charset="0"/>
                <a:ea typeface="Calibri" pitchFamily="34" charset="-122"/>
                <a:cs typeface="Calibri" pitchFamily="34" charset="-120"/>
              </a:rPr>
              <a:t>Jazmine Haratani  |  DATASCI 224  |  OASIS-2 Dataset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B3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The Clinical Problem</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Shape 2"/>
          <p:cNvSpPr/>
          <p:nvPr/>
        </p:nvSpPr>
        <p:spPr>
          <a:xfrm>
            <a:off x="411480" y="1005840"/>
            <a:ext cx="8321040" cy="1188720"/>
          </a:xfrm>
          <a:prstGeom prst="roundRect">
            <a:avLst>
              <a:gd name="adj" fmla="val 7692"/>
            </a:avLst>
          </a:prstGeom>
          <a:solidFill>
            <a:srgbClr val="B31166">
              <a:alpha val="18000"/>
            </a:srgbClr>
          </a:solidFill>
          <a:ln w="12700">
            <a:solidFill>
              <a:srgbClr val="B31166"/>
            </a:solidFill>
            <a:prstDash val="solid"/>
          </a:ln>
        </p:spPr>
        <p:txBody>
          <a:bodyPr/>
          <a:lstStyle/>
          <a:p>
            <a:endParaRPr lang="en-US"/>
          </a:p>
        </p:txBody>
      </p:sp>
      <p:sp>
        <p:nvSpPr>
          <p:cNvPr id="5" name="Text 3"/>
          <p:cNvSpPr/>
          <p:nvPr/>
        </p:nvSpPr>
        <p:spPr>
          <a:xfrm>
            <a:off x="502920" y="1005840"/>
            <a:ext cx="8138160" cy="1188720"/>
          </a:xfrm>
          <a:prstGeom prst="rect">
            <a:avLst/>
          </a:prstGeom>
          <a:noFill/>
          <a:ln/>
        </p:spPr>
        <p:txBody>
          <a:bodyPr wrap="square" lIns="1905" tIns="1905" rIns="1905" bIns="1905" rtlCol="0" anchor="ctr"/>
          <a:lstStyle/>
          <a:p>
            <a:pPr marL="0" indent="0" algn="ctr">
              <a:buNone/>
            </a:pPr>
            <a:r>
              <a:rPr lang="en-US" sz="1900" dirty="0">
                <a:solidFill>
                  <a:srgbClr val="FFFFFF"/>
                </a:solidFill>
                <a:latin typeface="Trebuchet MS" pitchFamily="34" charset="0"/>
                <a:ea typeface="Trebuchet MS" pitchFamily="34" charset="-122"/>
                <a:cs typeface="Trebuchet MS" pitchFamily="34" charset="-120"/>
              </a:rPr>
              <a:t>Can we predict dementia from basic patient information alone —</a:t>
            </a:r>
            <a:endParaRPr lang="en-US" sz="1900" dirty="0"/>
          </a:p>
          <a:p>
            <a:pPr marL="0" indent="0" algn="ctr">
              <a:buNone/>
            </a:pPr>
            <a:r>
              <a:rPr lang="en-US" sz="1900" dirty="0">
                <a:solidFill>
                  <a:srgbClr val="FFFFFF"/>
                </a:solidFill>
                <a:latin typeface="Trebuchet MS" pitchFamily="34" charset="0"/>
                <a:ea typeface="Trebuchet MS" pitchFamily="34" charset="-122"/>
                <a:cs typeface="Trebuchet MS" pitchFamily="34" charset="-120"/>
              </a:rPr>
              <a:t>and know how confident we are in that prediction?</a:t>
            </a:r>
            <a:endParaRPr lang="en-US" sz="1900" dirty="0"/>
          </a:p>
        </p:txBody>
      </p:sp>
      <p:sp>
        <p:nvSpPr>
          <p:cNvPr id="6" name="Text 4"/>
          <p:cNvSpPr/>
          <p:nvPr/>
        </p:nvSpPr>
        <p:spPr>
          <a:xfrm>
            <a:off x="411480" y="2377440"/>
            <a:ext cx="3931920" cy="365760"/>
          </a:xfrm>
          <a:prstGeom prst="rect">
            <a:avLst/>
          </a:prstGeom>
          <a:noFill/>
          <a:ln/>
        </p:spPr>
        <p:txBody>
          <a:bodyPr wrap="square" lIns="0" tIns="0" rIns="0" bIns="0" rtlCol="0" anchor="ctr"/>
          <a:lstStyle/>
          <a:p>
            <a:pPr marL="0" indent="0" algn="l">
              <a:buNone/>
            </a:pPr>
            <a:r>
              <a:rPr lang="en-US" sz="1500" b="1" dirty="0">
                <a:solidFill>
                  <a:srgbClr val="E33D6F"/>
                </a:solidFill>
                <a:latin typeface="Trebuchet MS" pitchFamily="34" charset="0"/>
                <a:ea typeface="Trebuchet MS" pitchFamily="34" charset="-122"/>
                <a:cs typeface="Trebuchet MS" pitchFamily="34" charset="-120"/>
              </a:rPr>
              <a:t>Why it matters</a:t>
            </a:r>
            <a:endParaRPr lang="en-US" sz="1500" dirty="0"/>
          </a:p>
        </p:txBody>
      </p:sp>
      <p:sp>
        <p:nvSpPr>
          <p:cNvPr id="7" name="Text 5"/>
          <p:cNvSpPr/>
          <p:nvPr/>
        </p:nvSpPr>
        <p:spPr>
          <a:xfrm>
            <a:off x="411480" y="2743200"/>
            <a:ext cx="3931920" cy="1920240"/>
          </a:xfrm>
          <a:prstGeom prst="rect">
            <a:avLst/>
          </a:prstGeom>
          <a:noFill/>
          <a:ln/>
        </p:spPr>
        <p:txBody>
          <a:bodyPr wrap="square" lIns="0" tIns="0" rIns="0" bIns="0" rtlCol="0" anchor="t"/>
          <a:lstStyle/>
          <a:p>
            <a:pPr marL="342900" indent="-342900" algn="l">
              <a:buSzPct val="100000"/>
              <a:buChar char="•"/>
            </a:pPr>
            <a:r>
              <a:rPr lang="en-US" sz="1350" dirty="0">
                <a:solidFill>
                  <a:srgbClr val="C4BCDA"/>
                </a:solidFill>
                <a:latin typeface="Calibri" pitchFamily="34" charset="0"/>
                <a:ea typeface="Calibri" pitchFamily="34" charset="-122"/>
                <a:cs typeface="Calibri" pitchFamily="34" charset="-120"/>
              </a:rPr>
              <a:t>Dementia affects 55M+ people worldwide</a:t>
            </a:r>
            <a:endParaRPr lang="en-US" sz="1350" dirty="0"/>
          </a:p>
          <a:p>
            <a:pPr marL="342900" indent="-342900" algn="l">
              <a:buSzPct val="100000"/>
              <a:buChar char="•"/>
            </a:pPr>
            <a:r>
              <a:rPr lang="en-US" sz="1350" dirty="0">
                <a:solidFill>
                  <a:srgbClr val="C4BCDA"/>
                </a:solidFill>
                <a:latin typeface="Calibri" pitchFamily="34" charset="0"/>
                <a:ea typeface="Calibri" pitchFamily="34" charset="-122"/>
                <a:cs typeface="Calibri" pitchFamily="34" charset="-120"/>
              </a:rPr>
              <a:t>Early detection enables intervention</a:t>
            </a:r>
            <a:endParaRPr lang="en-US" sz="1350" dirty="0"/>
          </a:p>
          <a:p>
            <a:pPr marL="342900" indent="-342900" algn="l">
              <a:buSzPct val="100000"/>
              <a:buChar char="•"/>
            </a:pPr>
            <a:r>
              <a:rPr lang="en-US" sz="1350" dirty="0">
                <a:solidFill>
                  <a:srgbClr val="C4BCDA"/>
                </a:solidFill>
                <a:latin typeface="Calibri" pitchFamily="34" charset="0"/>
                <a:ea typeface="Calibri" pitchFamily="34" charset="-122"/>
                <a:cs typeface="Calibri" pitchFamily="34" charset="-120"/>
              </a:rPr>
              <a:t>Standard classifiers give predictions without confidence — risky in clinical settings</a:t>
            </a:r>
            <a:endParaRPr lang="en-US" sz="1350" dirty="0"/>
          </a:p>
        </p:txBody>
      </p:sp>
      <p:sp>
        <p:nvSpPr>
          <p:cNvPr id="8" name="Text 6"/>
          <p:cNvSpPr/>
          <p:nvPr/>
        </p:nvSpPr>
        <p:spPr>
          <a:xfrm>
            <a:off x="4754880" y="2377440"/>
            <a:ext cx="3931920" cy="365760"/>
          </a:xfrm>
          <a:prstGeom prst="rect">
            <a:avLst/>
          </a:prstGeom>
          <a:noFill/>
          <a:ln/>
        </p:spPr>
        <p:txBody>
          <a:bodyPr wrap="square" lIns="0" tIns="0" rIns="0" bIns="0" rtlCol="0" anchor="ctr"/>
          <a:lstStyle/>
          <a:p>
            <a:pPr marL="0" indent="0" algn="l">
              <a:buNone/>
            </a:pPr>
            <a:r>
              <a:rPr lang="en-US" sz="1500" b="1" dirty="0">
                <a:solidFill>
                  <a:srgbClr val="9B6BF2"/>
                </a:solidFill>
                <a:latin typeface="Trebuchet MS" pitchFamily="34" charset="0"/>
                <a:ea typeface="Trebuchet MS" pitchFamily="34" charset="-122"/>
                <a:cs typeface="Trebuchet MS" pitchFamily="34" charset="-120"/>
              </a:rPr>
              <a:t>Our approach: GPC</a:t>
            </a:r>
            <a:endParaRPr lang="en-US" sz="1500" dirty="0"/>
          </a:p>
        </p:txBody>
      </p:sp>
      <p:sp>
        <p:nvSpPr>
          <p:cNvPr id="9" name="Text 7"/>
          <p:cNvSpPr/>
          <p:nvPr/>
        </p:nvSpPr>
        <p:spPr>
          <a:xfrm>
            <a:off x="4754880" y="2743200"/>
            <a:ext cx="3931920" cy="1920240"/>
          </a:xfrm>
          <a:prstGeom prst="rect">
            <a:avLst/>
          </a:prstGeom>
          <a:noFill/>
          <a:ln/>
        </p:spPr>
        <p:txBody>
          <a:bodyPr wrap="square" lIns="0" tIns="0" rIns="0" bIns="0" rtlCol="0" anchor="t"/>
          <a:lstStyle/>
          <a:p>
            <a:pPr marL="342900" indent="-342900" algn="l">
              <a:buSzPct val="100000"/>
              <a:buChar char="•"/>
            </a:pPr>
            <a:r>
              <a:rPr lang="en-US" sz="1350" dirty="0">
                <a:solidFill>
                  <a:srgbClr val="C4BCDA"/>
                </a:solidFill>
                <a:latin typeface="Calibri" pitchFamily="34" charset="0"/>
                <a:ea typeface="Calibri" pitchFamily="34" charset="-122"/>
                <a:cs typeface="Calibri" pitchFamily="34" charset="-120"/>
              </a:rPr>
              <a:t>Non-parametric Bayesian classifier</a:t>
            </a:r>
            <a:endParaRPr lang="en-US" sz="1350" dirty="0"/>
          </a:p>
          <a:p>
            <a:pPr marL="342900" indent="-342900" algn="l">
              <a:buSzPct val="100000"/>
              <a:buChar char="•"/>
            </a:pPr>
            <a:r>
              <a:rPr lang="en-US" sz="1350" dirty="0">
                <a:solidFill>
                  <a:srgbClr val="C4BCDA"/>
                </a:solidFill>
                <a:latin typeface="Calibri" pitchFamily="34" charset="0"/>
                <a:ea typeface="Calibri" pitchFamily="34" charset="-122"/>
                <a:cs typeface="Calibri" pitchFamily="34" charset="-120"/>
              </a:rPr>
              <a:t>Produces calibrated probabilities with honest uncertainty</a:t>
            </a:r>
            <a:endParaRPr lang="en-US" sz="1350" dirty="0"/>
          </a:p>
          <a:p>
            <a:pPr marL="342900" indent="-342900" algn="l">
              <a:buSzPct val="100000"/>
              <a:buChar char="•"/>
            </a:pPr>
            <a:r>
              <a:rPr lang="en-US" sz="1350" dirty="0">
                <a:solidFill>
                  <a:srgbClr val="C4BCDA"/>
                </a:solidFill>
                <a:latin typeface="Calibri" pitchFamily="34" charset="0"/>
                <a:ea typeface="Calibri" pitchFamily="34" charset="-122"/>
                <a:cs typeface="Calibri" pitchFamily="34" charset="-120"/>
              </a:rPr>
              <a:t>Feature relevance built into the model via ARD kernel</a:t>
            </a:r>
            <a:endParaRPr lang="en-US" sz="1350" dirty="0"/>
          </a:p>
        </p:txBody>
      </p:sp>
      <p:sp>
        <p:nvSpPr>
          <p:cNvPr id="10" name="Shape 8"/>
          <p:cNvSpPr/>
          <p:nvPr/>
        </p:nvSpPr>
        <p:spPr>
          <a:xfrm>
            <a:off x="4480560" y="2331720"/>
            <a:ext cx="36576" cy="2423160"/>
          </a:xfrm>
          <a:prstGeom prst="rect">
            <a:avLst/>
          </a:prstGeom>
          <a:solidFill>
            <a:srgbClr val="C4BCDA">
              <a:alpha val="30000"/>
            </a:srgbClr>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1E1B3A"/>
                </a:solidFill>
                <a:latin typeface="Trebuchet MS" pitchFamily="34" charset="0"/>
                <a:ea typeface="Trebuchet MS" pitchFamily="34" charset="-122"/>
                <a:cs typeface="Trebuchet MS" pitchFamily="34" charset="-120"/>
              </a:rPr>
              <a:t>Dataset: OASIS-2 Longitudinal</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Shape 2"/>
          <p:cNvSpPr/>
          <p:nvPr/>
        </p:nvSpPr>
        <p:spPr>
          <a:xfrm>
            <a:off x="411480" y="960120"/>
            <a:ext cx="1920240" cy="1051560"/>
          </a:xfrm>
          <a:prstGeom prst="roundRect">
            <a:avLst>
              <a:gd name="adj" fmla="val 8696"/>
            </a:avLst>
          </a:prstGeom>
          <a:solidFill>
            <a:srgbClr val="1E1B3A"/>
          </a:solidFill>
          <a:ln/>
        </p:spPr>
        <p:txBody>
          <a:bodyPr/>
          <a:lstStyle/>
          <a:p>
            <a:endParaRPr lang="en-US"/>
          </a:p>
        </p:txBody>
      </p:sp>
      <p:sp>
        <p:nvSpPr>
          <p:cNvPr id="5" name="Text 3"/>
          <p:cNvSpPr/>
          <p:nvPr/>
        </p:nvSpPr>
        <p:spPr>
          <a:xfrm>
            <a:off x="411480" y="1005840"/>
            <a:ext cx="192024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150</a:t>
            </a:r>
            <a:endParaRPr lang="en-US" sz="3000" dirty="0"/>
          </a:p>
        </p:txBody>
      </p:sp>
      <p:sp>
        <p:nvSpPr>
          <p:cNvPr id="6" name="Text 4"/>
          <p:cNvSpPr/>
          <p:nvPr/>
        </p:nvSpPr>
        <p:spPr>
          <a:xfrm>
            <a:off x="411480" y="1572768"/>
            <a:ext cx="1920240" cy="347472"/>
          </a:xfrm>
          <a:prstGeom prst="rect">
            <a:avLst/>
          </a:prstGeom>
          <a:noFill/>
          <a:ln/>
        </p:spPr>
        <p:txBody>
          <a:bodyPr wrap="square" lIns="0" tIns="0" rIns="0" bIns="0" rtlCol="0" anchor="ctr"/>
          <a:lstStyle/>
          <a:p>
            <a:pPr marL="0" indent="0" algn="ctr">
              <a:buNone/>
            </a:pPr>
            <a:r>
              <a:rPr lang="en-US" sz="1100" dirty="0">
                <a:solidFill>
                  <a:srgbClr val="C4BCDA"/>
                </a:solidFill>
                <a:latin typeface="Calibri" pitchFamily="34" charset="0"/>
                <a:ea typeface="Calibri" pitchFamily="34" charset="-122"/>
                <a:cs typeface="Calibri" pitchFamily="34" charset="-120"/>
              </a:rPr>
              <a:t>subjects</a:t>
            </a:r>
            <a:endParaRPr lang="en-US" sz="1100" dirty="0"/>
          </a:p>
        </p:txBody>
      </p:sp>
      <p:sp>
        <p:nvSpPr>
          <p:cNvPr id="7" name="Shape 5"/>
          <p:cNvSpPr/>
          <p:nvPr/>
        </p:nvSpPr>
        <p:spPr>
          <a:xfrm>
            <a:off x="2560320" y="960120"/>
            <a:ext cx="1920240" cy="1051560"/>
          </a:xfrm>
          <a:prstGeom prst="roundRect">
            <a:avLst>
              <a:gd name="adj" fmla="val 8696"/>
            </a:avLst>
          </a:prstGeom>
          <a:solidFill>
            <a:srgbClr val="3B3059"/>
          </a:solidFill>
          <a:ln/>
        </p:spPr>
        <p:txBody>
          <a:bodyPr/>
          <a:lstStyle/>
          <a:p>
            <a:endParaRPr lang="en-US"/>
          </a:p>
        </p:txBody>
      </p:sp>
      <p:sp>
        <p:nvSpPr>
          <p:cNvPr id="8" name="Text 6"/>
          <p:cNvSpPr/>
          <p:nvPr/>
        </p:nvSpPr>
        <p:spPr>
          <a:xfrm>
            <a:off x="2560320" y="1005840"/>
            <a:ext cx="192024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373</a:t>
            </a:r>
            <a:endParaRPr lang="en-US" sz="3000" dirty="0"/>
          </a:p>
        </p:txBody>
      </p:sp>
      <p:sp>
        <p:nvSpPr>
          <p:cNvPr id="9" name="Text 7"/>
          <p:cNvSpPr/>
          <p:nvPr/>
        </p:nvSpPr>
        <p:spPr>
          <a:xfrm>
            <a:off x="2560320" y="1572768"/>
            <a:ext cx="1920240" cy="347472"/>
          </a:xfrm>
          <a:prstGeom prst="rect">
            <a:avLst/>
          </a:prstGeom>
          <a:noFill/>
          <a:ln/>
        </p:spPr>
        <p:txBody>
          <a:bodyPr wrap="square" lIns="0" tIns="0" rIns="0" bIns="0" rtlCol="0" anchor="ctr"/>
          <a:lstStyle/>
          <a:p>
            <a:pPr marL="0" indent="0" algn="ctr">
              <a:buNone/>
            </a:pPr>
            <a:r>
              <a:rPr lang="en-US" sz="1100" dirty="0">
                <a:solidFill>
                  <a:srgbClr val="C4BCDA"/>
                </a:solidFill>
                <a:latin typeface="Calibri" pitchFamily="34" charset="0"/>
                <a:ea typeface="Calibri" pitchFamily="34" charset="-122"/>
                <a:cs typeface="Calibri" pitchFamily="34" charset="-120"/>
              </a:rPr>
              <a:t>visits</a:t>
            </a:r>
            <a:endParaRPr lang="en-US" sz="1100" dirty="0"/>
          </a:p>
        </p:txBody>
      </p:sp>
      <p:sp>
        <p:nvSpPr>
          <p:cNvPr id="10" name="Shape 8"/>
          <p:cNvSpPr/>
          <p:nvPr/>
        </p:nvSpPr>
        <p:spPr>
          <a:xfrm>
            <a:off x="4709160" y="960120"/>
            <a:ext cx="1920240" cy="1051560"/>
          </a:xfrm>
          <a:prstGeom prst="roundRect">
            <a:avLst>
              <a:gd name="adj" fmla="val 8696"/>
            </a:avLst>
          </a:prstGeom>
          <a:solidFill>
            <a:srgbClr val="1E1B3A"/>
          </a:solidFill>
          <a:ln/>
        </p:spPr>
        <p:txBody>
          <a:bodyPr/>
          <a:lstStyle/>
          <a:p>
            <a:endParaRPr lang="en-US"/>
          </a:p>
        </p:txBody>
      </p:sp>
      <p:sp>
        <p:nvSpPr>
          <p:cNvPr id="11" name="Text 9"/>
          <p:cNvSpPr/>
          <p:nvPr/>
        </p:nvSpPr>
        <p:spPr>
          <a:xfrm>
            <a:off x="4709160" y="1005840"/>
            <a:ext cx="192024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60–95</a:t>
            </a:r>
            <a:endParaRPr lang="en-US" sz="3000" dirty="0"/>
          </a:p>
        </p:txBody>
      </p:sp>
      <p:sp>
        <p:nvSpPr>
          <p:cNvPr id="12" name="Text 10"/>
          <p:cNvSpPr/>
          <p:nvPr/>
        </p:nvSpPr>
        <p:spPr>
          <a:xfrm>
            <a:off x="4709160" y="1572768"/>
            <a:ext cx="1920240" cy="347472"/>
          </a:xfrm>
          <a:prstGeom prst="rect">
            <a:avLst/>
          </a:prstGeom>
          <a:noFill/>
          <a:ln/>
        </p:spPr>
        <p:txBody>
          <a:bodyPr wrap="square" lIns="0" tIns="0" rIns="0" bIns="0" rtlCol="0" anchor="ctr"/>
          <a:lstStyle/>
          <a:p>
            <a:pPr marL="0" indent="0" algn="ctr">
              <a:buNone/>
            </a:pPr>
            <a:r>
              <a:rPr lang="en-US" sz="1100" dirty="0">
                <a:solidFill>
                  <a:srgbClr val="C4BCDA"/>
                </a:solidFill>
                <a:latin typeface="Calibri" pitchFamily="34" charset="0"/>
                <a:ea typeface="Calibri" pitchFamily="34" charset="-122"/>
                <a:cs typeface="Calibri" pitchFamily="34" charset="-120"/>
              </a:rPr>
              <a:t>age range (yrs)</a:t>
            </a:r>
            <a:endParaRPr lang="en-US" sz="1100" dirty="0"/>
          </a:p>
        </p:txBody>
      </p:sp>
      <p:sp>
        <p:nvSpPr>
          <p:cNvPr id="13" name="Shape 11"/>
          <p:cNvSpPr/>
          <p:nvPr/>
        </p:nvSpPr>
        <p:spPr>
          <a:xfrm>
            <a:off x="6858000" y="960120"/>
            <a:ext cx="1920240" cy="1051560"/>
          </a:xfrm>
          <a:prstGeom prst="roundRect">
            <a:avLst>
              <a:gd name="adj" fmla="val 8696"/>
            </a:avLst>
          </a:prstGeom>
          <a:solidFill>
            <a:srgbClr val="3B3059"/>
          </a:solidFill>
          <a:ln/>
        </p:spPr>
        <p:txBody>
          <a:bodyPr/>
          <a:lstStyle/>
          <a:p>
            <a:endParaRPr lang="en-US"/>
          </a:p>
        </p:txBody>
      </p:sp>
      <p:sp>
        <p:nvSpPr>
          <p:cNvPr id="14" name="Text 12"/>
          <p:cNvSpPr/>
          <p:nvPr/>
        </p:nvSpPr>
        <p:spPr>
          <a:xfrm>
            <a:off x="6858000" y="1005840"/>
            <a:ext cx="192024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Binary</a:t>
            </a:r>
            <a:endParaRPr lang="en-US" sz="3000" dirty="0"/>
          </a:p>
        </p:txBody>
      </p:sp>
      <p:sp>
        <p:nvSpPr>
          <p:cNvPr id="15" name="Text 13"/>
          <p:cNvSpPr/>
          <p:nvPr/>
        </p:nvSpPr>
        <p:spPr>
          <a:xfrm>
            <a:off x="6858000" y="1572768"/>
            <a:ext cx="1920240" cy="347472"/>
          </a:xfrm>
          <a:prstGeom prst="rect">
            <a:avLst/>
          </a:prstGeom>
          <a:noFill/>
          <a:ln/>
        </p:spPr>
        <p:txBody>
          <a:bodyPr wrap="square" lIns="0" tIns="0" rIns="0" bIns="0" rtlCol="0" anchor="ctr"/>
          <a:lstStyle/>
          <a:p>
            <a:pPr marL="0" indent="0" algn="ctr">
              <a:buNone/>
            </a:pPr>
            <a:r>
              <a:rPr lang="en-US" sz="1100" dirty="0">
                <a:solidFill>
                  <a:srgbClr val="C4BCDA"/>
                </a:solidFill>
                <a:latin typeface="Calibri" pitchFamily="34" charset="0"/>
                <a:ea typeface="Calibri" pitchFamily="34" charset="-122"/>
                <a:cs typeface="Calibri" pitchFamily="34" charset="-120"/>
              </a:rPr>
              <a:t>CDR outcome</a:t>
            </a:r>
            <a:endParaRPr lang="en-US" sz="1100" dirty="0"/>
          </a:p>
        </p:txBody>
      </p:sp>
      <p:sp>
        <p:nvSpPr>
          <p:cNvPr id="16" name="Text 14"/>
          <p:cNvSpPr/>
          <p:nvPr/>
        </p:nvSpPr>
        <p:spPr>
          <a:xfrm>
            <a:off x="411480" y="2240280"/>
            <a:ext cx="4160520" cy="347472"/>
          </a:xfrm>
          <a:prstGeom prst="rect">
            <a:avLst/>
          </a:prstGeom>
          <a:noFill/>
          <a:ln/>
        </p:spPr>
        <p:txBody>
          <a:bodyPr wrap="square" lIns="0" tIns="0" rIns="0" bIns="0" rtlCol="0" anchor="ctr"/>
          <a:lstStyle/>
          <a:p>
            <a:pPr marL="0" indent="0" algn="l">
              <a:buNone/>
            </a:pPr>
            <a:r>
              <a:rPr lang="en-US" sz="1400" b="1" dirty="0">
                <a:solidFill>
                  <a:srgbClr val="1E1B3A"/>
                </a:solidFill>
                <a:latin typeface="Trebuchet MS" pitchFamily="34" charset="0"/>
                <a:ea typeface="Trebuchet MS" pitchFamily="34" charset="-122"/>
                <a:cs typeface="Trebuchet MS" pitchFamily="34" charset="-120"/>
              </a:rPr>
              <a:t>Predictor variables (X)</a:t>
            </a:r>
            <a:endParaRPr lang="en-US" sz="1400" dirty="0"/>
          </a:p>
        </p:txBody>
      </p:sp>
      <p:sp>
        <p:nvSpPr>
          <p:cNvPr id="17" name="Shape 15"/>
          <p:cNvSpPr/>
          <p:nvPr/>
        </p:nvSpPr>
        <p:spPr>
          <a:xfrm>
            <a:off x="411480" y="2706624"/>
            <a:ext cx="73152" cy="228600"/>
          </a:xfrm>
          <a:prstGeom prst="rect">
            <a:avLst/>
          </a:prstGeom>
          <a:solidFill>
            <a:srgbClr val="B31166"/>
          </a:solidFill>
          <a:ln/>
        </p:spPr>
        <p:txBody>
          <a:bodyPr/>
          <a:lstStyle/>
          <a:p>
            <a:endParaRPr lang="en-US"/>
          </a:p>
        </p:txBody>
      </p:sp>
      <p:sp>
        <p:nvSpPr>
          <p:cNvPr id="18" name="Text 16"/>
          <p:cNvSpPr/>
          <p:nvPr/>
        </p:nvSpPr>
        <p:spPr>
          <a:xfrm>
            <a:off x="594360" y="2633472"/>
            <a:ext cx="3749040" cy="384048"/>
          </a:xfrm>
          <a:prstGeom prst="rect">
            <a:avLst/>
          </a:prstGeom>
          <a:noFill/>
          <a:ln/>
        </p:spPr>
        <p:txBody>
          <a:bodyPr wrap="square" lIns="0" tIns="0" rIns="0" bIns="0" rtlCol="0" anchor="ctr"/>
          <a:lstStyle/>
          <a:p>
            <a:pPr marL="0" indent="0" algn="l">
              <a:buNone/>
            </a:pPr>
            <a:r>
              <a:rPr lang="en-US" sz="1300" b="1" dirty="0">
                <a:solidFill>
                  <a:srgbClr val="1E1B3A"/>
                </a:solidFill>
                <a:latin typeface="Calibri" pitchFamily="34" charset="0"/>
                <a:ea typeface="Calibri" pitchFamily="34" charset="-122"/>
                <a:cs typeface="Calibri" pitchFamily="34" charset="-120"/>
              </a:rPr>
              <a:t>Age  </a:t>
            </a:r>
            <a:r>
              <a:rPr lang="en-US" sz="1300" dirty="0">
                <a:solidFill>
                  <a:srgbClr val="666688"/>
                </a:solidFill>
                <a:latin typeface="Calibri" pitchFamily="34" charset="0"/>
                <a:ea typeface="Calibri" pitchFamily="34" charset="-122"/>
                <a:cs typeface="Calibri" pitchFamily="34" charset="-120"/>
              </a:rPr>
              <a:t>years, continuous</a:t>
            </a:r>
            <a:endParaRPr lang="en-US" sz="1300" dirty="0"/>
          </a:p>
        </p:txBody>
      </p:sp>
      <p:sp>
        <p:nvSpPr>
          <p:cNvPr id="19" name="Shape 17"/>
          <p:cNvSpPr/>
          <p:nvPr/>
        </p:nvSpPr>
        <p:spPr>
          <a:xfrm>
            <a:off x="411480" y="3108960"/>
            <a:ext cx="73152" cy="228600"/>
          </a:xfrm>
          <a:prstGeom prst="rect">
            <a:avLst/>
          </a:prstGeom>
          <a:solidFill>
            <a:srgbClr val="B31166"/>
          </a:solidFill>
          <a:ln/>
        </p:spPr>
        <p:txBody>
          <a:bodyPr/>
          <a:lstStyle/>
          <a:p>
            <a:endParaRPr lang="en-US"/>
          </a:p>
        </p:txBody>
      </p:sp>
      <p:sp>
        <p:nvSpPr>
          <p:cNvPr id="20" name="Text 18"/>
          <p:cNvSpPr/>
          <p:nvPr/>
        </p:nvSpPr>
        <p:spPr>
          <a:xfrm>
            <a:off x="594360" y="3035808"/>
            <a:ext cx="3749040" cy="384048"/>
          </a:xfrm>
          <a:prstGeom prst="rect">
            <a:avLst/>
          </a:prstGeom>
          <a:noFill/>
          <a:ln/>
        </p:spPr>
        <p:txBody>
          <a:bodyPr wrap="square" lIns="0" tIns="0" rIns="0" bIns="0" rtlCol="0" anchor="ctr"/>
          <a:lstStyle/>
          <a:p>
            <a:pPr marL="0" indent="0" algn="l">
              <a:buNone/>
            </a:pPr>
            <a:r>
              <a:rPr lang="en-US" sz="1300" b="1" dirty="0">
                <a:solidFill>
                  <a:srgbClr val="1E1B3A"/>
                </a:solidFill>
                <a:latin typeface="Calibri" pitchFamily="34" charset="0"/>
                <a:ea typeface="Calibri" pitchFamily="34" charset="-122"/>
                <a:cs typeface="Calibri" pitchFamily="34" charset="-120"/>
              </a:rPr>
              <a:t>Education (EDUC)  </a:t>
            </a:r>
            <a:r>
              <a:rPr lang="en-US" sz="1300" dirty="0">
                <a:solidFill>
                  <a:srgbClr val="666688"/>
                </a:solidFill>
                <a:latin typeface="Calibri" pitchFamily="34" charset="0"/>
                <a:ea typeface="Calibri" pitchFamily="34" charset="-122"/>
                <a:cs typeface="Calibri" pitchFamily="34" charset="-120"/>
              </a:rPr>
              <a:t>years of schooling</a:t>
            </a:r>
            <a:endParaRPr lang="en-US" sz="1300" dirty="0"/>
          </a:p>
        </p:txBody>
      </p:sp>
      <p:sp>
        <p:nvSpPr>
          <p:cNvPr id="21" name="Shape 19"/>
          <p:cNvSpPr/>
          <p:nvPr/>
        </p:nvSpPr>
        <p:spPr>
          <a:xfrm>
            <a:off x="411480" y="3511296"/>
            <a:ext cx="73152" cy="228600"/>
          </a:xfrm>
          <a:prstGeom prst="rect">
            <a:avLst/>
          </a:prstGeom>
          <a:solidFill>
            <a:srgbClr val="B31166"/>
          </a:solidFill>
          <a:ln/>
        </p:spPr>
        <p:txBody>
          <a:bodyPr/>
          <a:lstStyle/>
          <a:p>
            <a:endParaRPr lang="en-US"/>
          </a:p>
        </p:txBody>
      </p:sp>
      <p:sp>
        <p:nvSpPr>
          <p:cNvPr id="22" name="Text 20"/>
          <p:cNvSpPr/>
          <p:nvPr/>
        </p:nvSpPr>
        <p:spPr>
          <a:xfrm>
            <a:off x="594360" y="3438144"/>
            <a:ext cx="3749040" cy="384048"/>
          </a:xfrm>
          <a:prstGeom prst="rect">
            <a:avLst/>
          </a:prstGeom>
          <a:noFill/>
          <a:ln/>
        </p:spPr>
        <p:txBody>
          <a:bodyPr wrap="square" lIns="0" tIns="0" rIns="0" bIns="0" rtlCol="0" anchor="ctr"/>
          <a:lstStyle/>
          <a:p>
            <a:pPr marL="0" indent="0" algn="l">
              <a:buNone/>
            </a:pPr>
            <a:r>
              <a:rPr lang="en-US" sz="1300" b="1" dirty="0">
                <a:solidFill>
                  <a:srgbClr val="1E1B3A"/>
                </a:solidFill>
                <a:latin typeface="Calibri" pitchFamily="34" charset="0"/>
                <a:ea typeface="Calibri" pitchFamily="34" charset="-122"/>
                <a:cs typeface="Calibri" pitchFamily="34" charset="-120"/>
              </a:rPr>
              <a:t>SES  </a:t>
            </a:r>
            <a:r>
              <a:rPr lang="en-US" sz="1300" dirty="0">
                <a:solidFill>
                  <a:srgbClr val="666688"/>
                </a:solidFill>
                <a:latin typeface="Calibri" pitchFamily="34" charset="0"/>
                <a:ea typeface="Calibri" pitchFamily="34" charset="-122"/>
                <a:cs typeface="Calibri" pitchFamily="34" charset="-120"/>
              </a:rPr>
              <a:t>socioeconomic status (1–5)</a:t>
            </a:r>
            <a:endParaRPr lang="en-US" sz="1300" dirty="0"/>
          </a:p>
        </p:txBody>
      </p:sp>
      <p:sp>
        <p:nvSpPr>
          <p:cNvPr id="23" name="Shape 21"/>
          <p:cNvSpPr/>
          <p:nvPr/>
        </p:nvSpPr>
        <p:spPr>
          <a:xfrm>
            <a:off x="411480" y="3913632"/>
            <a:ext cx="73152" cy="228600"/>
          </a:xfrm>
          <a:prstGeom prst="rect">
            <a:avLst/>
          </a:prstGeom>
          <a:solidFill>
            <a:srgbClr val="B31166"/>
          </a:solidFill>
          <a:ln/>
        </p:spPr>
        <p:txBody>
          <a:bodyPr/>
          <a:lstStyle/>
          <a:p>
            <a:endParaRPr lang="en-US"/>
          </a:p>
        </p:txBody>
      </p:sp>
      <p:sp>
        <p:nvSpPr>
          <p:cNvPr id="24" name="Text 22"/>
          <p:cNvSpPr/>
          <p:nvPr/>
        </p:nvSpPr>
        <p:spPr>
          <a:xfrm>
            <a:off x="594360" y="3840480"/>
            <a:ext cx="3749040" cy="384048"/>
          </a:xfrm>
          <a:prstGeom prst="rect">
            <a:avLst/>
          </a:prstGeom>
          <a:noFill/>
          <a:ln/>
        </p:spPr>
        <p:txBody>
          <a:bodyPr wrap="square" lIns="0" tIns="0" rIns="0" bIns="0" rtlCol="0" anchor="ctr"/>
          <a:lstStyle/>
          <a:p>
            <a:pPr marL="0" indent="0" algn="l">
              <a:buNone/>
            </a:pPr>
            <a:r>
              <a:rPr lang="en-US" sz="1300" b="1" dirty="0">
                <a:solidFill>
                  <a:srgbClr val="1E1B3A"/>
                </a:solidFill>
                <a:latin typeface="Calibri" pitchFamily="34" charset="0"/>
                <a:ea typeface="Calibri" pitchFamily="34" charset="-122"/>
                <a:cs typeface="Calibri" pitchFamily="34" charset="-120"/>
              </a:rPr>
              <a:t>Sex (M/F)  </a:t>
            </a:r>
            <a:r>
              <a:rPr lang="en-US" sz="1300" dirty="0">
                <a:solidFill>
                  <a:srgbClr val="666688"/>
                </a:solidFill>
                <a:latin typeface="Calibri" pitchFamily="34" charset="0"/>
                <a:ea typeface="Calibri" pitchFamily="34" charset="-122"/>
                <a:cs typeface="Calibri" pitchFamily="34" charset="-120"/>
              </a:rPr>
              <a:t>binary encoded</a:t>
            </a:r>
            <a:endParaRPr lang="en-US" sz="1300" dirty="0"/>
          </a:p>
        </p:txBody>
      </p:sp>
      <p:sp>
        <p:nvSpPr>
          <p:cNvPr id="25" name="Shape 23"/>
          <p:cNvSpPr/>
          <p:nvPr/>
        </p:nvSpPr>
        <p:spPr>
          <a:xfrm>
            <a:off x="411480" y="4315968"/>
            <a:ext cx="73152" cy="228600"/>
          </a:xfrm>
          <a:prstGeom prst="rect">
            <a:avLst/>
          </a:prstGeom>
          <a:solidFill>
            <a:srgbClr val="B31166"/>
          </a:solidFill>
          <a:ln/>
        </p:spPr>
        <p:txBody>
          <a:bodyPr/>
          <a:lstStyle/>
          <a:p>
            <a:endParaRPr lang="en-US"/>
          </a:p>
        </p:txBody>
      </p:sp>
      <p:sp>
        <p:nvSpPr>
          <p:cNvPr id="26" name="Text 24"/>
          <p:cNvSpPr/>
          <p:nvPr/>
        </p:nvSpPr>
        <p:spPr>
          <a:xfrm>
            <a:off x="594360" y="4242816"/>
            <a:ext cx="3749040" cy="384048"/>
          </a:xfrm>
          <a:prstGeom prst="rect">
            <a:avLst/>
          </a:prstGeom>
          <a:noFill/>
          <a:ln/>
        </p:spPr>
        <p:txBody>
          <a:bodyPr wrap="square" lIns="0" tIns="0" rIns="0" bIns="0" rtlCol="0" anchor="ctr"/>
          <a:lstStyle/>
          <a:p>
            <a:pPr marL="0" indent="0" algn="l">
              <a:buNone/>
            </a:pPr>
            <a:r>
              <a:rPr lang="en-US" sz="1300" b="1" dirty="0">
                <a:solidFill>
                  <a:srgbClr val="1E1B3A"/>
                </a:solidFill>
                <a:latin typeface="Calibri" pitchFamily="34" charset="0"/>
                <a:ea typeface="Calibri" pitchFamily="34" charset="-122"/>
                <a:cs typeface="Calibri" pitchFamily="34" charset="-120"/>
              </a:rPr>
              <a:t>nWBV  </a:t>
            </a:r>
            <a:r>
              <a:rPr lang="en-US" sz="1300" dirty="0">
                <a:solidFill>
                  <a:srgbClr val="666688"/>
                </a:solidFill>
                <a:latin typeface="Calibri" pitchFamily="34" charset="0"/>
                <a:ea typeface="Calibri" pitchFamily="34" charset="-122"/>
                <a:cs typeface="Calibri" pitchFamily="34" charset="-120"/>
              </a:rPr>
              <a:t>normalized whole brain volume</a:t>
            </a:r>
            <a:endParaRPr lang="en-US" sz="1300" dirty="0"/>
          </a:p>
        </p:txBody>
      </p:sp>
      <p:sp>
        <p:nvSpPr>
          <p:cNvPr id="27" name="Shape 25"/>
          <p:cNvSpPr/>
          <p:nvPr/>
        </p:nvSpPr>
        <p:spPr>
          <a:xfrm>
            <a:off x="4892040" y="2240280"/>
            <a:ext cx="3840480" cy="2606040"/>
          </a:xfrm>
          <a:prstGeom prst="roundRect">
            <a:avLst>
              <a:gd name="adj" fmla="val 4211"/>
            </a:avLst>
          </a:prstGeom>
          <a:solidFill>
            <a:srgbClr val="1E1B3A"/>
          </a:solidFill>
          <a:ln/>
        </p:spPr>
        <p:txBody>
          <a:bodyPr/>
          <a:lstStyle/>
          <a:p>
            <a:endParaRPr lang="en-US"/>
          </a:p>
        </p:txBody>
      </p:sp>
      <p:sp>
        <p:nvSpPr>
          <p:cNvPr id="28" name="Text 26"/>
          <p:cNvSpPr/>
          <p:nvPr/>
        </p:nvSpPr>
        <p:spPr>
          <a:xfrm>
            <a:off x="5029200" y="2359152"/>
            <a:ext cx="356616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Outcome variable (y)</a:t>
            </a:r>
            <a:endParaRPr lang="en-US" sz="1400" dirty="0"/>
          </a:p>
        </p:txBody>
      </p:sp>
      <p:sp>
        <p:nvSpPr>
          <p:cNvPr id="29" name="Text 27"/>
          <p:cNvSpPr/>
          <p:nvPr/>
        </p:nvSpPr>
        <p:spPr>
          <a:xfrm>
            <a:off x="5029200" y="2743200"/>
            <a:ext cx="3566160" cy="347472"/>
          </a:xfrm>
          <a:prstGeom prst="rect">
            <a:avLst/>
          </a:prstGeom>
          <a:noFill/>
          <a:ln/>
        </p:spPr>
        <p:txBody>
          <a:bodyPr wrap="square" lIns="0" tIns="0" rIns="0" bIns="0" rtlCol="0" anchor="ctr"/>
          <a:lstStyle/>
          <a:p>
            <a:pPr marL="0" indent="0" algn="l">
              <a:buNone/>
            </a:pPr>
            <a:r>
              <a:rPr lang="en-US" sz="1300" dirty="0">
                <a:solidFill>
                  <a:srgbClr val="C4BCDA"/>
                </a:solidFill>
                <a:latin typeface="Calibri" pitchFamily="34" charset="0"/>
                <a:ea typeface="Calibri" pitchFamily="34" charset="-122"/>
                <a:cs typeface="Calibri" pitchFamily="34" charset="-120"/>
              </a:rPr>
              <a:t>Clinical Dementia Rating (CDR)</a:t>
            </a:r>
            <a:endParaRPr lang="en-US" sz="1300" dirty="0"/>
          </a:p>
        </p:txBody>
      </p:sp>
      <p:sp>
        <p:nvSpPr>
          <p:cNvPr id="30" name="Shape 28"/>
          <p:cNvSpPr/>
          <p:nvPr/>
        </p:nvSpPr>
        <p:spPr>
          <a:xfrm>
            <a:off x="5029200" y="3154680"/>
            <a:ext cx="868680" cy="320040"/>
          </a:xfrm>
          <a:prstGeom prst="roundRect">
            <a:avLst>
              <a:gd name="adj" fmla="val 17143"/>
            </a:avLst>
          </a:prstGeom>
          <a:solidFill>
            <a:srgbClr val="02A676"/>
          </a:solidFill>
          <a:ln/>
        </p:spPr>
        <p:txBody>
          <a:bodyPr/>
          <a:lstStyle/>
          <a:p>
            <a:endParaRPr lang="en-US"/>
          </a:p>
        </p:txBody>
      </p:sp>
      <p:sp>
        <p:nvSpPr>
          <p:cNvPr id="31" name="Text 29"/>
          <p:cNvSpPr/>
          <p:nvPr/>
        </p:nvSpPr>
        <p:spPr>
          <a:xfrm>
            <a:off x="5029200" y="3154680"/>
            <a:ext cx="86868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CDR = 0</a:t>
            </a:r>
            <a:endParaRPr lang="en-US" sz="1050" dirty="0"/>
          </a:p>
        </p:txBody>
      </p:sp>
      <p:sp>
        <p:nvSpPr>
          <p:cNvPr id="32" name="Text 30"/>
          <p:cNvSpPr/>
          <p:nvPr/>
        </p:nvSpPr>
        <p:spPr>
          <a:xfrm>
            <a:off x="5989320" y="3154680"/>
            <a:ext cx="2560320" cy="320040"/>
          </a:xfrm>
          <a:prstGeom prst="rect">
            <a:avLst/>
          </a:prstGeom>
          <a:noFill/>
          <a:ln/>
        </p:spPr>
        <p:txBody>
          <a:bodyPr wrap="square" lIns="0" tIns="0" rIns="0" bIns="0" rtlCol="0" anchor="ctr"/>
          <a:lstStyle/>
          <a:p>
            <a:pPr marL="0" indent="0" algn="l">
              <a:buNone/>
            </a:pPr>
            <a:r>
              <a:rPr lang="en-US" sz="1150" dirty="0">
                <a:solidFill>
                  <a:srgbClr val="C4BCDA"/>
                </a:solidFill>
                <a:latin typeface="Calibri" pitchFamily="34" charset="0"/>
                <a:ea typeface="Calibri" pitchFamily="34" charset="-122"/>
                <a:cs typeface="Calibri" pitchFamily="34" charset="-120"/>
              </a:rPr>
              <a:t>No dementia</a:t>
            </a:r>
            <a:endParaRPr lang="en-US" sz="1150" dirty="0"/>
          </a:p>
        </p:txBody>
      </p:sp>
      <p:sp>
        <p:nvSpPr>
          <p:cNvPr id="33" name="Shape 31"/>
          <p:cNvSpPr/>
          <p:nvPr/>
        </p:nvSpPr>
        <p:spPr>
          <a:xfrm>
            <a:off x="5029200" y="3575304"/>
            <a:ext cx="868680" cy="320040"/>
          </a:xfrm>
          <a:prstGeom prst="roundRect">
            <a:avLst>
              <a:gd name="adj" fmla="val 17143"/>
            </a:avLst>
          </a:prstGeom>
          <a:solidFill>
            <a:srgbClr val="9B6BF2"/>
          </a:solidFill>
          <a:ln/>
        </p:spPr>
        <p:txBody>
          <a:bodyPr/>
          <a:lstStyle/>
          <a:p>
            <a:endParaRPr lang="en-US"/>
          </a:p>
        </p:txBody>
      </p:sp>
      <p:sp>
        <p:nvSpPr>
          <p:cNvPr id="34" name="Text 32"/>
          <p:cNvSpPr/>
          <p:nvPr/>
        </p:nvSpPr>
        <p:spPr>
          <a:xfrm>
            <a:off x="5029200" y="3575304"/>
            <a:ext cx="86868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CDR = 0.5</a:t>
            </a:r>
            <a:endParaRPr lang="en-US" sz="1050" dirty="0"/>
          </a:p>
        </p:txBody>
      </p:sp>
      <p:sp>
        <p:nvSpPr>
          <p:cNvPr id="35" name="Text 33"/>
          <p:cNvSpPr/>
          <p:nvPr/>
        </p:nvSpPr>
        <p:spPr>
          <a:xfrm>
            <a:off x="5989320" y="3575304"/>
            <a:ext cx="2560320" cy="320040"/>
          </a:xfrm>
          <a:prstGeom prst="rect">
            <a:avLst/>
          </a:prstGeom>
          <a:noFill/>
          <a:ln/>
        </p:spPr>
        <p:txBody>
          <a:bodyPr wrap="square" lIns="0" tIns="0" rIns="0" bIns="0" rtlCol="0" anchor="ctr"/>
          <a:lstStyle/>
          <a:p>
            <a:pPr marL="0" indent="0" algn="l">
              <a:buNone/>
            </a:pPr>
            <a:r>
              <a:rPr lang="en-US" sz="1150" dirty="0">
                <a:solidFill>
                  <a:srgbClr val="C4BCDA"/>
                </a:solidFill>
                <a:latin typeface="Calibri" pitchFamily="34" charset="0"/>
                <a:ea typeface="Calibri" pitchFamily="34" charset="-122"/>
                <a:cs typeface="Calibri" pitchFamily="34" charset="-120"/>
              </a:rPr>
              <a:t>Mild / questionable</a:t>
            </a:r>
            <a:endParaRPr lang="en-US" sz="1150" dirty="0"/>
          </a:p>
        </p:txBody>
      </p:sp>
      <p:sp>
        <p:nvSpPr>
          <p:cNvPr id="36" name="Shape 34"/>
          <p:cNvSpPr/>
          <p:nvPr/>
        </p:nvSpPr>
        <p:spPr>
          <a:xfrm>
            <a:off x="5029200" y="3995928"/>
            <a:ext cx="868680" cy="320040"/>
          </a:xfrm>
          <a:prstGeom prst="roundRect">
            <a:avLst>
              <a:gd name="adj" fmla="val 17143"/>
            </a:avLst>
          </a:prstGeom>
          <a:solidFill>
            <a:srgbClr val="B31166"/>
          </a:solidFill>
          <a:ln/>
        </p:spPr>
        <p:txBody>
          <a:bodyPr/>
          <a:lstStyle/>
          <a:p>
            <a:endParaRPr lang="en-US"/>
          </a:p>
        </p:txBody>
      </p:sp>
      <p:sp>
        <p:nvSpPr>
          <p:cNvPr id="37" name="Text 35"/>
          <p:cNvSpPr/>
          <p:nvPr/>
        </p:nvSpPr>
        <p:spPr>
          <a:xfrm>
            <a:off x="5029200" y="3995928"/>
            <a:ext cx="86868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CDR = 1+</a:t>
            </a:r>
            <a:endParaRPr lang="en-US" sz="1050" dirty="0"/>
          </a:p>
        </p:txBody>
      </p:sp>
      <p:sp>
        <p:nvSpPr>
          <p:cNvPr id="38" name="Text 36"/>
          <p:cNvSpPr/>
          <p:nvPr/>
        </p:nvSpPr>
        <p:spPr>
          <a:xfrm>
            <a:off x="5989320" y="3995928"/>
            <a:ext cx="2560320" cy="320040"/>
          </a:xfrm>
          <a:prstGeom prst="rect">
            <a:avLst/>
          </a:prstGeom>
          <a:noFill/>
          <a:ln/>
        </p:spPr>
        <p:txBody>
          <a:bodyPr wrap="square" lIns="0" tIns="0" rIns="0" bIns="0" rtlCol="0" anchor="ctr"/>
          <a:lstStyle/>
          <a:p>
            <a:pPr marL="0" indent="0" algn="l">
              <a:buNone/>
            </a:pPr>
            <a:r>
              <a:rPr lang="en-US" sz="1150" dirty="0">
                <a:solidFill>
                  <a:srgbClr val="C4BCDA"/>
                </a:solidFill>
                <a:latin typeface="Calibri" pitchFamily="34" charset="0"/>
                <a:ea typeface="Calibri" pitchFamily="34" charset="-122"/>
                <a:cs typeface="Calibri" pitchFamily="34" charset="-120"/>
              </a:rPr>
              <a:t>Dementia</a:t>
            </a:r>
            <a:endParaRPr lang="en-US" sz="1150" dirty="0"/>
          </a:p>
        </p:txBody>
      </p:sp>
      <p:sp>
        <p:nvSpPr>
          <p:cNvPr id="39" name="Shape 37"/>
          <p:cNvSpPr/>
          <p:nvPr/>
        </p:nvSpPr>
        <p:spPr>
          <a:xfrm>
            <a:off x="5029200" y="4480560"/>
            <a:ext cx="3566160" cy="45720"/>
          </a:xfrm>
          <a:prstGeom prst="rect">
            <a:avLst/>
          </a:prstGeom>
          <a:solidFill>
            <a:srgbClr val="B31166"/>
          </a:solidFill>
          <a:ln/>
        </p:spPr>
        <p:txBody>
          <a:bodyPr/>
          <a:lstStyle/>
          <a:p>
            <a:endParaRPr lang="en-US"/>
          </a:p>
        </p:txBody>
      </p:sp>
      <p:sp>
        <p:nvSpPr>
          <p:cNvPr id="40" name="Text 38"/>
          <p:cNvSpPr/>
          <p:nvPr/>
        </p:nvSpPr>
        <p:spPr>
          <a:xfrm>
            <a:off x="5029200" y="4553712"/>
            <a:ext cx="3566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Binarized: CDR = 0  vs.  CDR &gt; 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1E1B3A"/>
                </a:solidFill>
                <a:latin typeface="Trebuchet MS" pitchFamily="34" charset="0"/>
                <a:ea typeface="Trebuchet MS" pitchFamily="34" charset="-122"/>
                <a:cs typeface="Trebuchet MS" pitchFamily="34" charset="-120"/>
              </a:rPr>
              <a:t>What is GPC — and why use it?</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Shape 2"/>
          <p:cNvSpPr/>
          <p:nvPr/>
        </p:nvSpPr>
        <p:spPr>
          <a:xfrm>
            <a:off x="411480" y="1005840"/>
            <a:ext cx="2697480" cy="3794760"/>
          </a:xfrm>
          <a:prstGeom prst="roundRect">
            <a:avLst>
              <a:gd name="adj" fmla="val 4068"/>
            </a:avLst>
          </a:prstGeom>
          <a:solidFill>
            <a:srgbClr val="1E1B3A"/>
          </a:solidFill>
          <a:ln/>
        </p:spPr>
        <p:txBody>
          <a:bodyPr/>
          <a:lstStyle/>
          <a:p>
            <a:endParaRPr lang="en-US"/>
          </a:p>
        </p:txBody>
      </p:sp>
      <p:sp>
        <p:nvSpPr>
          <p:cNvPr id="5" name="Shape 3"/>
          <p:cNvSpPr/>
          <p:nvPr/>
        </p:nvSpPr>
        <p:spPr>
          <a:xfrm>
            <a:off x="521208" y="1115568"/>
            <a:ext cx="1005840" cy="384048"/>
          </a:xfrm>
          <a:prstGeom prst="roundRect">
            <a:avLst>
              <a:gd name="adj" fmla="val 16667"/>
            </a:avLst>
          </a:prstGeom>
          <a:solidFill>
            <a:srgbClr val="B31166"/>
          </a:solidFill>
          <a:ln/>
        </p:spPr>
        <p:txBody>
          <a:bodyPr/>
          <a:lstStyle/>
          <a:p>
            <a:endParaRPr lang="en-US"/>
          </a:p>
        </p:txBody>
      </p:sp>
      <p:sp>
        <p:nvSpPr>
          <p:cNvPr id="6" name="Text 4"/>
          <p:cNvSpPr/>
          <p:nvPr/>
        </p:nvSpPr>
        <p:spPr>
          <a:xfrm>
            <a:off x="521208" y="1115568"/>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GP Prior</a:t>
            </a:r>
            <a:endParaRPr lang="en-US" sz="1100" dirty="0"/>
          </a:p>
        </p:txBody>
      </p:sp>
      <p:sp>
        <p:nvSpPr>
          <p:cNvPr id="7" name="Text 5"/>
          <p:cNvSpPr/>
          <p:nvPr/>
        </p:nvSpPr>
        <p:spPr>
          <a:xfrm>
            <a:off x="521208" y="1600200"/>
            <a:ext cx="2487168" cy="457200"/>
          </a:xfrm>
          <a:prstGeom prst="rect">
            <a:avLst/>
          </a:prstGeom>
          <a:noFill/>
          <a:ln/>
        </p:spPr>
        <p:txBody>
          <a:bodyPr wrap="square" lIns="0" tIns="0" rIns="0" bIns="0" rtlCol="0" anchor="t"/>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Distribution over functions</a:t>
            </a:r>
            <a:endParaRPr lang="en-US" sz="1400" dirty="0"/>
          </a:p>
        </p:txBody>
      </p:sp>
      <p:sp>
        <p:nvSpPr>
          <p:cNvPr id="8" name="Text 6"/>
          <p:cNvSpPr/>
          <p:nvPr/>
        </p:nvSpPr>
        <p:spPr>
          <a:xfrm>
            <a:off x="521208" y="2148840"/>
            <a:ext cx="2487168" cy="2468880"/>
          </a:xfrm>
          <a:prstGeom prst="rect">
            <a:avLst/>
          </a:prstGeom>
          <a:noFill/>
          <a:ln/>
        </p:spPr>
        <p:txBody>
          <a:bodyPr wrap="square" lIns="0" tIns="0" rIns="0" bIns="0" rtlCol="0" anchor="t"/>
          <a:lstStyle/>
          <a:p>
            <a:pPr marL="0" indent="0" algn="l">
              <a:buNone/>
            </a:pPr>
            <a:r>
              <a:rPr lang="en-US" sz="1250" dirty="0">
                <a:solidFill>
                  <a:srgbClr val="C4BCDA"/>
                </a:solidFill>
                <a:latin typeface="Calibri" pitchFamily="34" charset="0"/>
                <a:ea typeface="Calibri" pitchFamily="34" charset="-122"/>
                <a:cs typeface="Calibri" pitchFamily="34" charset="-120"/>
              </a:rPr>
              <a:t>Rather than fixed parameters, GPC places a prior over all plausible latent risk functions. The kernel defines how similar patients should have similar risk scores.</a:t>
            </a:r>
            <a:endParaRPr lang="en-US" sz="1250" dirty="0"/>
          </a:p>
        </p:txBody>
      </p:sp>
      <p:sp>
        <p:nvSpPr>
          <p:cNvPr id="9" name="Shape 7"/>
          <p:cNvSpPr/>
          <p:nvPr/>
        </p:nvSpPr>
        <p:spPr>
          <a:xfrm>
            <a:off x="3319272" y="1005840"/>
            <a:ext cx="2697480" cy="3794760"/>
          </a:xfrm>
          <a:prstGeom prst="roundRect">
            <a:avLst>
              <a:gd name="adj" fmla="val 4068"/>
            </a:avLst>
          </a:prstGeom>
          <a:solidFill>
            <a:srgbClr val="3B3059"/>
          </a:solidFill>
          <a:ln/>
        </p:spPr>
        <p:txBody>
          <a:bodyPr/>
          <a:lstStyle/>
          <a:p>
            <a:endParaRPr lang="en-US"/>
          </a:p>
        </p:txBody>
      </p:sp>
      <p:sp>
        <p:nvSpPr>
          <p:cNvPr id="10" name="Shape 8"/>
          <p:cNvSpPr/>
          <p:nvPr/>
        </p:nvSpPr>
        <p:spPr>
          <a:xfrm>
            <a:off x="3429000" y="1115568"/>
            <a:ext cx="1005840" cy="384048"/>
          </a:xfrm>
          <a:prstGeom prst="roundRect">
            <a:avLst>
              <a:gd name="adj" fmla="val 16667"/>
            </a:avLst>
          </a:prstGeom>
          <a:solidFill>
            <a:srgbClr val="B31166"/>
          </a:solidFill>
          <a:ln/>
        </p:spPr>
        <p:txBody>
          <a:bodyPr/>
          <a:lstStyle/>
          <a:p>
            <a:endParaRPr lang="en-US"/>
          </a:p>
        </p:txBody>
      </p:sp>
      <p:sp>
        <p:nvSpPr>
          <p:cNvPr id="11" name="Text 9"/>
          <p:cNvSpPr/>
          <p:nvPr/>
        </p:nvSpPr>
        <p:spPr>
          <a:xfrm>
            <a:off x="3429000" y="1115568"/>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Posterior</a:t>
            </a:r>
            <a:endParaRPr lang="en-US" sz="1100" dirty="0"/>
          </a:p>
        </p:txBody>
      </p:sp>
      <p:sp>
        <p:nvSpPr>
          <p:cNvPr id="12" name="Text 10"/>
          <p:cNvSpPr/>
          <p:nvPr/>
        </p:nvSpPr>
        <p:spPr>
          <a:xfrm>
            <a:off x="3429000" y="1600200"/>
            <a:ext cx="2487168" cy="457200"/>
          </a:xfrm>
          <a:prstGeom prst="rect">
            <a:avLst/>
          </a:prstGeom>
          <a:noFill/>
          <a:ln/>
        </p:spPr>
        <p:txBody>
          <a:bodyPr wrap="square" lIns="0" tIns="0" rIns="0" bIns="0" rtlCol="0" anchor="t"/>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Learning from labels</a:t>
            </a:r>
            <a:endParaRPr lang="en-US" sz="1400" dirty="0"/>
          </a:p>
        </p:txBody>
      </p:sp>
      <p:sp>
        <p:nvSpPr>
          <p:cNvPr id="13" name="Text 11"/>
          <p:cNvSpPr/>
          <p:nvPr/>
        </p:nvSpPr>
        <p:spPr>
          <a:xfrm>
            <a:off x="3429000" y="2148840"/>
            <a:ext cx="2487168" cy="2468880"/>
          </a:xfrm>
          <a:prstGeom prst="rect">
            <a:avLst/>
          </a:prstGeom>
          <a:noFill/>
          <a:ln/>
        </p:spPr>
        <p:txBody>
          <a:bodyPr wrap="square" lIns="0" tIns="0" rIns="0" bIns="0" rtlCol="0" anchor="t"/>
          <a:lstStyle/>
          <a:p>
            <a:pPr marL="0" indent="0" algn="l">
              <a:buNone/>
            </a:pPr>
            <a:r>
              <a:rPr lang="en-US" sz="1250" dirty="0">
                <a:solidFill>
                  <a:srgbClr val="C4BCDA"/>
                </a:solidFill>
                <a:latin typeface="Calibri" pitchFamily="34" charset="0"/>
                <a:ea typeface="Calibri" pitchFamily="34" charset="-122"/>
                <a:cs typeface="Calibri" pitchFamily="34" charset="-120"/>
              </a:rPr>
              <a:t>Observed CDR labels update the prior via Bayes' rule. Because the likelihood is Bernoulli (binary outcome), the posterior is intractable — requiring the Laplace approximation.</a:t>
            </a:r>
            <a:endParaRPr lang="en-US" sz="1250" dirty="0"/>
          </a:p>
        </p:txBody>
      </p:sp>
      <p:sp>
        <p:nvSpPr>
          <p:cNvPr id="14" name="Shape 12"/>
          <p:cNvSpPr/>
          <p:nvPr/>
        </p:nvSpPr>
        <p:spPr>
          <a:xfrm>
            <a:off x="6227064" y="1005840"/>
            <a:ext cx="2697480" cy="3794760"/>
          </a:xfrm>
          <a:prstGeom prst="roundRect">
            <a:avLst>
              <a:gd name="adj" fmla="val 4068"/>
            </a:avLst>
          </a:prstGeom>
          <a:solidFill>
            <a:srgbClr val="B31166"/>
          </a:solidFill>
          <a:ln/>
        </p:spPr>
        <p:txBody>
          <a:bodyPr/>
          <a:lstStyle/>
          <a:p>
            <a:endParaRPr lang="en-US" dirty="0"/>
          </a:p>
        </p:txBody>
      </p:sp>
      <p:sp>
        <p:nvSpPr>
          <p:cNvPr id="15" name="Shape 13"/>
          <p:cNvSpPr/>
          <p:nvPr/>
        </p:nvSpPr>
        <p:spPr>
          <a:xfrm>
            <a:off x="6336792" y="1115568"/>
            <a:ext cx="1005840" cy="384048"/>
          </a:xfrm>
          <a:prstGeom prst="roundRect">
            <a:avLst>
              <a:gd name="adj" fmla="val 16667"/>
            </a:avLst>
          </a:prstGeom>
          <a:solidFill>
            <a:srgbClr val="B31166">
              <a:alpha val="60000"/>
            </a:srgbClr>
          </a:solidFill>
          <a:ln/>
        </p:spPr>
        <p:txBody>
          <a:bodyPr/>
          <a:lstStyle/>
          <a:p>
            <a:endParaRPr lang="en-US"/>
          </a:p>
        </p:txBody>
      </p:sp>
      <p:sp>
        <p:nvSpPr>
          <p:cNvPr id="16" name="Text 14"/>
          <p:cNvSpPr/>
          <p:nvPr/>
        </p:nvSpPr>
        <p:spPr>
          <a:xfrm>
            <a:off x="6336792" y="1115568"/>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Predictions</a:t>
            </a:r>
            <a:endParaRPr lang="en-US" sz="1100" dirty="0"/>
          </a:p>
        </p:txBody>
      </p:sp>
      <p:sp>
        <p:nvSpPr>
          <p:cNvPr id="17" name="Text 15"/>
          <p:cNvSpPr/>
          <p:nvPr/>
        </p:nvSpPr>
        <p:spPr>
          <a:xfrm>
            <a:off x="6336792" y="1600200"/>
            <a:ext cx="2487168" cy="457200"/>
          </a:xfrm>
          <a:prstGeom prst="rect">
            <a:avLst/>
          </a:prstGeom>
          <a:noFill/>
          <a:ln/>
        </p:spPr>
        <p:txBody>
          <a:bodyPr wrap="square" lIns="0" tIns="0" rIns="0" bIns="0" rtlCol="0" anchor="t"/>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Calibrated uncertainty</a:t>
            </a:r>
            <a:endParaRPr lang="en-US" sz="1400" dirty="0"/>
          </a:p>
        </p:txBody>
      </p:sp>
      <p:sp>
        <p:nvSpPr>
          <p:cNvPr id="18" name="Text 16"/>
          <p:cNvSpPr/>
          <p:nvPr/>
        </p:nvSpPr>
        <p:spPr>
          <a:xfrm>
            <a:off x="6336792" y="2148840"/>
            <a:ext cx="2487168" cy="2468880"/>
          </a:xfrm>
          <a:prstGeom prst="rect">
            <a:avLst/>
          </a:prstGeom>
          <a:noFill/>
          <a:ln/>
        </p:spPr>
        <p:txBody>
          <a:bodyPr wrap="square" lIns="0" tIns="0" rIns="0" bIns="0" rtlCol="0" anchor="t"/>
          <a:lstStyle/>
          <a:p>
            <a:pPr marL="0" indent="0" algn="l">
              <a:buNone/>
            </a:pPr>
            <a:r>
              <a:rPr lang="en-US" sz="1250" dirty="0">
                <a:solidFill>
                  <a:srgbClr val="C4BCDA"/>
                </a:solidFill>
                <a:latin typeface="Calibri" pitchFamily="34" charset="0"/>
                <a:ea typeface="Calibri" pitchFamily="34" charset="-122"/>
                <a:cs typeface="Calibri" pitchFamily="34" charset="-120"/>
              </a:rPr>
              <a:t>Every prediction comes with a variance σ²∗. In sparse regions of the input space, the model hedges toward 0.5 rather than forcing a confident prediction.</a:t>
            </a:r>
            <a:endParaRPr lang="en-US" sz="1250" dirty="0"/>
          </a:p>
        </p:txBody>
      </p:sp>
      <p:sp>
        <p:nvSpPr>
          <p:cNvPr id="19" name="Text 17"/>
          <p:cNvSpPr/>
          <p:nvPr/>
        </p:nvSpPr>
        <p:spPr>
          <a:xfrm>
            <a:off x="411480" y="4828032"/>
            <a:ext cx="8321040" cy="256032"/>
          </a:xfrm>
          <a:prstGeom prst="rect">
            <a:avLst/>
          </a:prstGeom>
          <a:noFill/>
          <a:ln/>
        </p:spPr>
        <p:txBody>
          <a:bodyPr wrap="square" lIns="0" tIns="0" rIns="0" bIns="0" rtlCol="0" anchor="ctr"/>
          <a:lstStyle/>
          <a:p>
            <a:pPr marL="0" indent="0" algn="ctr">
              <a:buNone/>
            </a:pPr>
            <a:r>
              <a:rPr lang="en-US" sz="1150" i="1" dirty="0">
                <a:solidFill>
                  <a:srgbClr val="888888"/>
                </a:solidFill>
                <a:latin typeface="Calibri" pitchFamily="34" charset="0"/>
                <a:ea typeface="Calibri" pitchFamily="34" charset="-122"/>
                <a:cs typeface="Calibri" pitchFamily="34" charset="-120"/>
              </a:rPr>
              <a:t>GPC vs. Logistic Regression: LR gives confident predictions everywhere — GPC communicates honest uncertainty where data is sparse.</a:t>
            </a:r>
            <a:endParaRPr lang="en-US" sz="1150" dirty="0"/>
          </a:p>
        </p:txBody>
      </p:sp>
      <p:sp>
        <p:nvSpPr>
          <p:cNvPr id="20" name="Shape 4">
            <a:extLst>
              <a:ext uri="{FF2B5EF4-FFF2-40B4-BE49-F238E27FC236}">
                <a16:creationId xmlns:a16="http://schemas.microsoft.com/office/drawing/2014/main" id="{810F059C-B23D-DEDF-6001-544DE23276BB}"/>
              </a:ext>
            </a:extLst>
          </p:cNvPr>
          <p:cNvSpPr/>
          <p:nvPr/>
        </p:nvSpPr>
        <p:spPr>
          <a:xfrm>
            <a:off x="2727592" y="3429000"/>
            <a:ext cx="4114800" cy="1188720"/>
          </a:xfrm>
          <a:prstGeom prst="roundRect">
            <a:avLst>
              <a:gd name="adj" fmla="val 7692"/>
            </a:avLst>
          </a:prstGeom>
          <a:solidFill>
            <a:srgbClr val="002060"/>
          </a:solidFill>
          <a:ln/>
        </p:spPr>
        <p:txBody>
          <a:bodyPr/>
          <a:lstStyle/>
          <a:p>
            <a:endParaRPr lang="en-US"/>
          </a:p>
        </p:txBody>
      </p:sp>
      <mc:AlternateContent xmlns:mc="http://schemas.openxmlformats.org/markup-compatibility/2006" xmlns:a14="http://schemas.microsoft.com/office/drawing/2010/main">
        <mc:Choice Requires="a14">
          <p:sp>
            <p:nvSpPr>
              <p:cNvPr id="22" name="Text 6">
                <a:extLst>
                  <a:ext uri="{FF2B5EF4-FFF2-40B4-BE49-F238E27FC236}">
                    <a16:creationId xmlns:a16="http://schemas.microsoft.com/office/drawing/2014/main" id="{01912098-519C-1C5E-C678-AAB138352236}"/>
                  </a:ext>
                </a:extLst>
              </p:cNvPr>
              <p:cNvSpPr/>
              <p:nvPr/>
            </p:nvSpPr>
            <p:spPr>
              <a:xfrm>
                <a:off x="2864752" y="3650742"/>
                <a:ext cx="3840480" cy="457200"/>
              </a:xfrm>
              <a:prstGeom prst="rect">
                <a:avLst/>
              </a:prstGeom>
              <a:solidFill>
                <a:srgbClr val="002060"/>
              </a:solid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pt-BR" sz="1600" b="1" i="1" smtClean="0">
                          <a:solidFill>
                            <a:schemeClr val="bg1"/>
                          </a:solidFill>
                          <a:latin typeface="Cambria Math" panose="02040503050406030204" pitchFamily="18" charset="0"/>
                        </a:rPr>
                        <m:t>𝒇</m:t>
                      </m:r>
                      <m:d>
                        <m:dPr>
                          <m:ctrlPr>
                            <a:rPr lang="en-US" sz="1600" b="1" i="1">
                              <a:solidFill>
                                <a:schemeClr val="bg1"/>
                              </a:solidFill>
                              <a:latin typeface="Cambria Math" panose="02040503050406030204" pitchFamily="18" charset="0"/>
                            </a:rPr>
                          </m:ctrlPr>
                        </m:dPr>
                        <m:e>
                          <m:r>
                            <a:rPr lang="en-US" sz="1600" b="1" i="1">
                              <a:solidFill>
                                <a:schemeClr val="bg1"/>
                              </a:solidFill>
                              <a:latin typeface="Cambria Math" panose="02040503050406030204" pitchFamily="18" charset="0"/>
                            </a:rPr>
                            <m:t>𝒙</m:t>
                          </m:r>
                        </m:e>
                      </m:d>
                      <m:r>
                        <a:rPr lang="en-US" sz="1600" b="1" i="1">
                          <a:solidFill>
                            <a:schemeClr val="bg1"/>
                          </a:solidFill>
                          <a:latin typeface="Cambria Math" panose="02040503050406030204" pitchFamily="18" charset="0"/>
                        </a:rPr>
                        <m:t>~ </m:t>
                      </m:r>
                      <m:r>
                        <a:rPr lang="en-US" sz="1600" b="1" i="1">
                          <a:solidFill>
                            <a:schemeClr val="bg1"/>
                          </a:solidFill>
                          <a:latin typeface="Cambria Math" panose="02040503050406030204" pitchFamily="18" charset="0"/>
                        </a:rPr>
                        <m:t>𝑮𝑷</m:t>
                      </m:r>
                      <m:r>
                        <a:rPr lang="en-US" sz="1600" b="1" i="1">
                          <a:solidFill>
                            <a:schemeClr val="bg1"/>
                          </a:solidFill>
                          <a:latin typeface="Cambria Math" panose="02040503050406030204" pitchFamily="18" charset="0"/>
                        </a:rPr>
                        <m:t>(</m:t>
                      </m:r>
                      <m:r>
                        <a:rPr lang="en-US" sz="1600" b="1" i="1">
                          <a:solidFill>
                            <a:schemeClr val="bg1"/>
                          </a:solidFill>
                          <a:latin typeface="Cambria Math" panose="02040503050406030204" pitchFamily="18" charset="0"/>
                        </a:rPr>
                        <m:t>𝒎</m:t>
                      </m:r>
                      <m:d>
                        <m:dPr>
                          <m:ctrlPr>
                            <a:rPr lang="en-US" sz="1600" b="1" i="1">
                              <a:solidFill>
                                <a:schemeClr val="bg1"/>
                              </a:solidFill>
                              <a:latin typeface="Cambria Math" panose="02040503050406030204" pitchFamily="18" charset="0"/>
                            </a:rPr>
                          </m:ctrlPr>
                        </m:dPr>
                        <m:e>
                          <m:r>
                            <a:rPr lang="en-US" sz="1600" b="1" i="1">
                              <a:solidFill>
                                <a:schemeClr val="bg1"/>
                              </a:solidFill>
                              <a:latin typeface="Cambria Math" panose="02040503050406030204" pitchFamily="18" charset="0"/>
                            </a:rPr>
                            <m:t>𝒙</m:t>
                          </m:r>
                        </m:e>
                      </m:d>
                      <m:r>
                        <a:rPr lang="en-US" sz="1600" b="1" i="1">
                          <a:solidFill>
                            <a:schemeClr val="bg1"/>
                          </a:solidFill>
                          <a:latin typeface="Cambria Math" panose="02040503050406030204" pitchFamily="18" charset="0"/>
                        </a:rPr>
                        <m:t>, </m:t>
                      </m:r>
                      <m:r>
                        <a:rPr lang="en-US" sz="1600" b="1" i="1">
                          <a:solidFill>
                            <a:schemeClr val="bg1"/>
                          </a:solidFill>
                          <a:latin typeface="Cambria Math" panose="02040503050406030204" pitchFamily="18" charset="0"/>
                        </a:rPr>
                        <m:t>𝒌</m:t>
                      </m:r>
                      <m:d>
                        <m:dPr>
                          <m:ctrlPr>
                            <a:rPr lang="en-US" sz="1600" b="1" i="1">
                              <a:solidFill>
                                <a:schemeClr val="bg1"/>
                              </a:solidFill>
                              <a:latin typeface="Cambria Math" panose="02040503050406030204" pitchFamily="18" charset="0"/>
                            </a:rPr>
                          </m:ctrlPr>
                        </m:dPr>
                        <m:e>
                          <m:r>
                            <a:rPr lang="en-US" sz="1600" b="1" i="1">
                              <a:solidFill>
                                <a:schemeClr val="bg1"/>
                              </a:solidFill>
                              <a:latin typeface="Cambria Math" panose="02040503050406030204" pitchFamily="18" charset="0"/>
                            </a:rPr>
                            <m:t>𝒙</m:t>
                          </m:r>
                          <m:r>
                            <a:rPr lang="en-US" sz="1600" b="1" i="1">
                              <a:solidFill>
                                <a:schemeClr val="bg1"/>
                              </a:solidFill>
                              <a:latin typeface="Cambria Math" panose="02040503050406030204" pitchFamily="18" charset="0"/>
                            </a:rPr>
                            <m:t>, </m:t>
                          </m:r>
                          <m:sSup>
                            <m:sSupPr>
                              <m:ctrlPr>
                                <a:rPr lang="en-US" sz="1600" b="1" i="1">
                                  <a:solidFill>
                                    <a:schemeClr val="bg1"/>
                                  </a:solidFill>
                                  <a:latin typeface="Cambria Math" panose="02040503050406030204" pitchFamily="18" charset="0"/>
                                </a:rPr>
                              </m:ctrlPr>
                            </m:sSupPr>
                            <m:e>
                              <m:r>
                                <a:rPr lang="en-US" sz="1600" b="1" i="1">
                                  <a:solidFill>
                                    <a:schemeClr val="bg1"/>
                                  </a:solidFill>
                                  <a:latin typeface="Cambria Math" panose="02040503050406030204" pitchFamily="18" charset="0"/>
                                </a:rPr>
                                <m:t>𝒙</m:t>
                              </m:r>
                            </m:e>
                            <m:sup>
                              <m:r>
                                <a:rPr lang="en-US" sz="1600" b="1" i="1">
                                  <a:solidFill>
                                    <a:schemeClr val="bg1"/>
                                  </a:solidFill>
                                  <a:latin typeface="Cambria Math" panose="02040503050406030204" pitchFamily="18" charset="0"/>
                                </a:rPr>
                                <m:t>′</m:t>
                              </m:r>
                            </m:sup>
                          </m:sSup>
                        </m:e>
                      </m:d>
                      <m:r>
                        <a:rPr lang="en-US" sz="1600" b="1" i="1">
                          <a:solidFill>
                            <a:schemeClr val="bg1"/>
                          </a:solidFill>
                          <a:latin typeface="Cambria Math" panose="02040503050406030204" pitchFamily="18" charset="0"/>
                        </a:rPr>
                        <m:t>)</m:t>
                      </m:r>
                    </m:oMath>
                  </m:oMathPara>
                </a14:m>
                <a:endParaRPr lang="en-US" sz="1600" b="1" dirty="0">
                  <a:solidFill>
                    <a:schemeClr val="bg1"/>
                  </a:solidFill>
                </a:endParaRPr>
              </a:p>
            </p:txBody>
          </p:sp>
        </mc:Choice>
        <mc:Fallback xmlns="">
          <p:sp>
            <p:nvSpPr>
              <p:cNvPr id="22" name="Text 6">
                <a:extLst>
                  <a:ext uri="{FF2B5EF4-FFF2-40B4-BE49-F238E27FC236}">
                    <a16:creationId xmlns:a16="http://schemas.microsoft.com/office/drawing/2014/main" id="{01912098-519C-1C5E-C678-AAB138352236}"/>
                  </a:ext>
                </a:extLst>
              </p:cNvPr>
              <p:cNvSpPr>
                <a:spLocks noRot="1" noChangeAspect="1" noMove="1" noResize="1" noEditPoints="1" noAdjustHandles="1" noChangeArrowheads="1" noChangeShapeType="1" noTextEdit="1"/>
              </p:cNvSpPr>
              <p:nvPr/>
            </p:nvSpPr>
            <p:spPr>
              <a:xfrm>
                <a:off x="2864752" y="3650742"/>
                <a:ext cx="3840480" cy="457200"/>
              </a:xfrm>
              <a:prstGeom prst="rect">
                <a:avLst/>
              </a:prstGeom>
              <a:blipFill>
                <a:blip r:embed="rId3"/>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68688E14-F74D-4F97-F5CF-D0BCE2472FC7}"/>
                  </a:ext>
                </a:extLst>
              </p:cNvPr>
              <p:cNvSpPr/>
              <p:nvPr/>
            </p:nvSpPr>
            <p:spPr>
              <a:xfrm>
                <a:off x="2764168" y="4151376"/>
                <a:ext cx="3840480" cy="320040"/>
              </a:xfrm>
              <a:prstGeom prst="rect">
                <a:avLst/>
              </a:prstGeom>
              <a:solidFill>
                <a:srgbClr val="002060"/>
              </a:solidFill>
              <a:ln/>
            </p:spPr>
            <p:txBody>
              <a:bodyPr wrap="square" lIns="0" tIns="0" rIns="0" bIns="0" rtlCol="0" anchor="ctr"/>
              <a:lstStyle/>
              <a:p>
                <a:pPr algn="ctr"/>
                <a14:m>
                  <m:oMath xmlns:m="http://schemas.openxmlformats.org/officeDocument/2006/math">
                    <m:r>
                      <a:rPr lang="pt-BR" sz="1100" b="1" i="1" smtClean="0">
                        <a:solidFill>
                          <a:srgbClr val="D13A6A"/>
                        </a:solidFill>
                        <a:latin typeface="Cambria Math" panose="02040503050406030204" pitchFamily="18" charset="0"/>
                      </a:rPr>
                      <m:t>𝒇</m:t>
                    </m:r>
                    <m:d>
                      <m:dPr>
                        <m:ctrlPr>
                          <a:rPr lang="en-US" sz="1100" b="1" i="1">
                            <a:solidFill>
                              <a:srgbClr val="D13A6A"/>
                            </a:solidFill>
                            <a:latin typeface="Cambria Math" panose="02040503050406030204" pitchFamily="18" charset="0"/>
                          </a:rPr>
                        </m:ctrlPr>
                      </m:dPr>
                      <m:e>
                        <m:r>
                          <a:rPr lang="en-US" sz="1100" b="1" i="1">
                            <a:solidFill>
                              <a:srgbClr val="D13A6A"/>
                            </a:solidFill>
                            <a:latin typeface="Cambria Math" panose="02040503050406030204" pitchFamily="18" charset="0"/>
                          </a:rPr>
                          <m:t>𝒙</m:t>
                        </m:r>
                      </m:e>
                    </m:d>
                  </m:oMath>
                </a14:m>
                <a:r>
                  <a:rPr lang="en-US" sz="1100" b="1" i="1" dirty="0">
                    <a:solidFill>
                      <a:srgbClr val="D13A6A"/>
                    </a:solidFill>
                    <a:latin typeface="Calibri" pitchFamily="34" charset="0"/>
                    <a:ea typeface="Calibri" pitchFamily="34" charset="-122"/>
                    <a:cs typeface="Calibri" pitchFamily="34" charset="-120"/>
                  </a:rPr>
                  <a:t> = latent risk score</a:t>
                </a:r>
              </a:p>
              <a:p>
                <a:pPr algn="ctr"/>
                <a:r>
                  <a:rPr lang="en-US" sz="1100" b="1" dirty="0">
                    <a:solidFill>
                      <a:srgbClr val="D13A6A"/>
                    </a:solidFill>
                  </a:rPr>
                  <a:t>m(x) – mean function (usually 0)</a:t>
                </a:r>
              </a:p>
              <a:p>
                <a:pPr algn="ctr"/>
                <a:r>
                  <a:rPr lang="en-US" sz="1100" b="1" dirty="0">
                    <a:solidFill>
                      <a:srgbClr val="D13A6A"/>
                    </a:solidFill>
                  </a:rPr>
                  <a:t>k(x, x’) – our kernel with x, x’ being two inputs</a:t>
                </a:r>
              </a:p>
            </p:txBody>
          </p:sp>
        </mc:Choice>
        <mc:Fallback xmlns="">
          <p:sp>
            <p:nvSpPr>
              <p:cNvPr id="23" name="Text 7">
                <a:extLst>
                  <a:ext uri="{FF2B5EF4-FFF2-40B4-BE49-F238E27FC236}">
                    <a16:creationId xmlns:a16="http://schemas.microsoft.com/office/drawing/2014/main" id="{68688E14-F74D-4F97-F5CF-D0BCE2472FC7}"/>
                  </a:ext>
                </a:extLst>
              </p:cNvPr>
              <p:cNvSpPr>
                <a:spLocks noRot="1" noChangeAspect="1" noMove="1" noResize="1" noEditPoints="1" noAdjustHandles="1" noChangeArrowheads="1" noChangeShapeType="1" noTextEdit="1"/>
              </p:cNvSpPr>
              <p:nvPr/>
            </p:nvSpPr>
            <p:spPr>
              <a:xfrm>
                <a:off x="2764168" y="4151376"/>
                <a:ext cx="3840480" cy="320040"/>
              </a:xfrm>
              <a:prstGeom prst="rect">
                <a:avLst/>
              </a:prstGeom>
              <a:blipFill>
                <a:blip r:embed="rId4"/>
                <a:stretch>
                  <a:fillRect t="-41509" b="-52830"/>
                </a:stretch>
              </a:blipFill>
              <a:ln/>
            </p:spPr>
            <p:txBody>
              <a:bodyPr/>
              <a:lstStyle/>
              <a:p>
                <a:r>
                  <a:rPr lang="en-US">
                    <a:noFill/>
                  </a:rPr>
                  <a:t> </a:t>
                </a:r>
              </a:p>
            </p:txBody>
          </p:sp>
        </mc:Fallback>
      </mc:AlternateContent>
      <p:sp>
        <p:nvSpPr>
          <p:cNvPr id="21" name="Text 5">
            <a:extLst>
              <a:ext uri="{FF2B5EF4-FFF2-40B4-BE49-F238E27FC236}">
                <a16:creationId xmlns:a16="http://schemas.microsoft.com/office/drawing/2014/main" id="{1B387F83-3901-C6C6-50F6-892B4FDE32ED}"/>
              </a:ext>
            </a:extLst>
          </p:cNvPr>
          <p:cNvSpPr/>
          <p:nvPr/>
        </p:nvSpPr>
        <p:spPr>
          <a:xfrm>
            <a:off x="2864752" y="3493008"/>
            <a:ext cx="3840480" cy="274320"/>
          </a:xfrm>
          <a:prstGeom prst="rect">
            <a:avLst/>
          </a:prstGeom>
          <a:solidFill>
            <a:srgbClr val="002060"/>
          </a:solidFill>
          <a:ln/>
        </p:spPr>
        <p:txBody>
          <a:bodyPr wrap="square" lIns="0" tIns="0" rIns="0" bIns="0" rtlCol="0" anchor="ctr"/>
          <a:lstStyle/>
          <a:p>
            <a:pPr marL="0" indent="0" algn="l">
              <a:buNone/>
            </a:pPr>
            <a:r>
              <a:rPr lang="en-US" sz="1200" b="1" dirty="0">
                <a:solidFill>
                  <a:srgbClr val="C4BCDA"/>
                </a:solidFill>
                <a:latin typeface="Calibri" pitchFamily="34" charset="0"/>
                <a:ea typeface="Calibri" pitchFamily="34" charset="-122"/>
                <a:cs typeface="Calibri" pitchFamily="34" charset="-120"/>
              </a:rPr>
              <a:t>GP Regression function: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1E1B3A"/>
                </a:solidFill>
                <a:latin typeface="Trebuchet MS" pitchFamily="34" charset="0"/>
                <a:ea typeface="Trebuchet MS" pitchFamily="34" charset="-122"/>
                <a:cs typeface="Trebuchet MS" pitchFamily="34" charset="-120"/>
              </a:rPr>
              <a:t>Algorithm: Prior &amp; Kernel</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Text 2"/>
          <p:cNvSpPr/>
          <p:nvPr/>
        </p:nvSpPr>
        <p:spPr>
          <a:xfrm>
            <a:off x="411480" y="960120"/>
            <a:ext cx="4114800" cy="365760"/>
          </a:xfrm>
          <a:prstGeom prst="rect">
            <a:avLst/>
          </a:prstGeom>
          <a:noFill/>
          <a:ln/>
        </p:spPr>
        <p:txBody>
          <a:bodyPr wrap="square" lIns="0" tIns="0" rIns="0" bIns="0" rtlCol="0" anchor="ctr"/>
          <a:lstStyle/>
          <a:p>
            <a:pPr marL="0" indent="0" algn="l">
              <a:buNone/>
            </a:pPr>
            <a:r>
              <a:rPr lang="en-US" sz="1500" b="1" dirty="0">
                <a:solidFill>
                  <a:srgbClr val="1E1B3A"/>
                </a:solidFill>
                <a:latin typeface="Trebuchet MS" pitchFamily="34" charset="0"/>
                <a:ea typeface="Trebuchet MS" pitchFamily="34" charset="-122"/>
                <a:cs typeface="Trebuchet MS" pitchFamily="34" charset="-120"/>
              </a:rPr>
              <a:t>Step 1 — Build the GP Prior</a:t>
            </a:r>
            <a:endParaRPr lang="en-US" sz="1500" dirty="0"/>
          </a:p>
        </p:txBody>
      </p:sp>
      <p:sp>
        <p:nvSpPr>
          <p:cNvPr id="5" name="Text 3"/>
          <p:cNvSpPr/>
          <p:nvPr/>
        </p:nvSpPr>
        <p:spPr>
          <a:xfrm>
            <a:off x="411480" y="1389888"/>
            <a:ext cx="4114800" cy="2286000"/>
          </a:xfrm>
          <a:prstGeom prst="rect">
            <a:avLst/>
          </a:prstGeom>
          <a:noFill/>
          <a:ln/>
        </p:spPr>
        <p:txBody>
          <a:bodyPr wrap="square" lIns="0" tIns="0" rIns="0" bIns="0" rtlCol="0" anchor="t"/>
          <a:lstStyle/>
          <a:p>
            <a:pPr marL="342900" indent="-342900" algn="l">
              <a:buSzPct val="100000"/>
              <a:buChar char="•"/>
            </a:pPr>
            <a:r>
              <a:rPr lang="en-US" sz="1300" dirty="0">
                <a:solidFill>
                  <a:srgbClr val="1E1B3A"/>
                </a:solidFill>
                <a:latin typeface="Calibri" pitchFamily="34" charset="0"/>
                <a:ea typeface="Calibri" pitchFamily="34" charset="-122"/>
                <a:cs typeface="Calibri" pitchFamily="34" charset="-120"/>
              </a:rPr>
              <a:t>For every pair of patients, compute kernel similarity k(xᵢ, xⱼ)</a:t>
            </a:r>
            <a:endParaRPr lang="en-US" sz="1300" dirty="0"/>
          </a:p>
          <a:p>
            <a:pPr marL="342900" indent="-342900" algn="l">
              <a:buSzPct val="100000"/>
              <a:buChar char="•"/>
            </a:pPr>
            <a:r>
              <a:rPr lang="en-US" sz="1300" dirty="0">
                <a:solidFill>
                  <a:srgbClr val="1E1B3A"/>
                </a:solidFill>
                <a:latin typeface="Calibri" pitchFamily="34" charset="0"/>
                <a:ea typeface="Calibri" pitchFamily="34" charset="-122"/>
                <a:cs typeface="Calibri" pitchFamily="34" charset="-120"/>
              </a:rPr>
              <a:t>Patients with similar features (Age, nWBV, SES...) get high k values</a:t>
            </a:r>
            <a:endParaRPr lang="en-US" sz="1300" dirty="0"/>
          </a:p>
          <a:p>
            <a:pPr marL="342900" indent="-342900" algn="l">
              <a:buSzPct val="100000"/>
              <a:buChar char="•"/>
            </a:pPr>
            <a:r>
              <a:rPr lang="en-US" sz="1300" dirty="0">
                <a:solidFill>
                  <a:srgbClr val="1E1B3A"/>
                </a:solidFill>
                <a:latin typeface="Calibri" pitchFamily="34" charset="0"/>
                <a:ea typeface="Calibri" pitchFamily="34" charset="-122"/>
                <a:cs typeface="Calibri" pitchFamily="34" charset="-120"/>
              </a:rPr>
              <a:t>Assemble into n×n covariance matrix K — this encodes prior belief</a:t>
            </a:r>
            <a:endParaRPr lang="en-US" sz="1300" dirty="0"/>
          </a:p>
          <a:p>
            <a:pPr marL="342900" indent="-342900" algn="l">
              <a:buSzPct val="100000"/>
              <a:buChar char="•"/>
            </a:pPr>
            <a:r>
              <a:rPr lang="en-US" sz="1300" b="1" dirty="0">
                <a:solidFill>
                  <a:srgbClr val="1E1B3A"/>
                </a:solidFill>
                <a:latin typeface="Calibri" pitchFamily="34" charset="0"/>
                <a:ea typeface="Calibri" pitchFamily="34" charset="-122"/>
                <a:cs typeface="Calibri" pitchFamily="34" charset="-120"/>
              </a:rPr>
              <a:t>GP prior over latent risk scores:  f ~ N(0, K)</a:t>
            </a:r>
            <a:endParaRPr lang="en-US" sz="1300" dirty="0"/>
          </a:p>
        </p:txBody>
      </p:sp>
      <p:sp>
        <p:nvSpPr>
          <p:cNvPr id="6" name="Shape 4"/>
          <p:cNvSpPr/>
          <p:nvPr/>
        </p:nvSpPr>
        <p:spPr>
          <a:xfrm>
            <a:off x="411480" y="3703320"/>
            <a:ext cx="4114800" cy="1188720"/>
          </a:xfrm>
          <a:prstGeom prst="roundRect">
            <a:avLst>
              <a:gd name="adj" fmla="val 7692"/>
            </a:avLst>
          </a:prstGeom>
          <a:solidFill>
            <a:srgbClr val="1E1B3A"/>
          </a:solidFill>
          <a:ln/>
        </p:spPr>
        <p:txBody>
          <a:bodyPr/>
          <a:lstStyle/>
          <a:p>
            <a:endParaRPr lang="en-US"/>
          </a:p>
        </p:txBody>
      </p:sp>
      <p:sp>
        <p:nvSpPr>
          <p:cNvPr id="7" name="Text 5"/>
          <p:cNvSpPr/>
          <p:nvPr/>
        </p:nvSpPr>
        <p:spPr>
          <a:xfrm>
            <a:off x="548640" y="3767328"/>
            <a:ext cx="3840480" cy="274320"/>
          </a:xfrm>
          <a:prstGeom prst="rect">
            <a:avLst/>
          </a:prstGeom>
          <a:noFill/>
          <a:ln/>
        </p:spPr>
        <p:txBody>
          <a:bodyPr wrap="square" lIns="0" tIns="0" rIns="0" bIns="0" rtlCol="0" anchor="ctr"/>
          <a:lstStyle/>
          <a:p>
            <a:pPr marL="0" indent="0" algn="l">
              <a:buNone/>
            </a:pPr>
            <a:r>
              <a:rPr lang="en-US" sz="1100" b="1" dirty="0">
                <a:solidFill>
                  <a:srgbClr val="C4BCDA"/>
                </a:solidFill>
                <a:latin typeface="Calibri" pitchFamily="34" charset="0"/>
                <a:ea typeface="Calibri" pitchFamily="34" charset="-122"/>
                <a:cs typeface="Calibri" pitchFamily="34" charset="-120"/>
              </a:rPr>
              <a:t>ARD Kernel (one ℓ per feature):</a:t>
            </a:r>
            <a:endParaRPr lang="en-US" sz="1100" dirty="0"/>
          </a:p>
        </p:txBody>
      </p:sp>
      <mc:AlternateContent xmlns:mc="http://schemas.openxmlformats.org/markup-compatibility/2006" xmlns:a14="http://schemas.microsoft.com/office/drawing/2010/main">
        <mc:Choice Requires="a14">
          <p:sp>
            <p:nvSpPr>
              <p:cNvPr id="8" name="Text 6"/>
              <p:cNvSpPr/>
              <p:nvPr/>
            </p:nvSpPr>
            <p:spPr>
              <a:xfrm>
                <a:off x="548640" y="4059936"/>
                <a:ext cx="3840480" cy="457200"/>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k(x, x’) = exp(</a:t>
                </a:r>
                <a14:m>
                  <m:oMath xmlns:m="http://schemas.openxmlformats.org/officeDocument/2006/math">
                    <m:f>
                      <m:fPr>
                        <m:ctrlPr>
                          <a:rPr lang="en-US" sz="1600" b="1" i="1" smtClean="0">
                            <a:solidFill>
                              <a:srgbClr val="FFFFFF"/>
                            </a:solidFill>
                            <a:latin typeface="Cambria Math" panose="02040503050406030204" pitchFamily="18" charset="0"/>
                            <a:ea typeface="Cambria" pitchFamily="34" charset="-122"/>
                          </a:rPr>
                        </m:ctrlPr>
                      </m:fPr>
                      <m:num>
                        <m:r>
                          <m:rPr>
                            <m:nor/>
                          </m:rPr>
                          <a:rPr lang="en-US" sz="1600" b="1" dirty="0">
                            <a:solidFill>
                              <a:srgbClr val="FFFFFF"/>
                            </a:solidFill>
                            <a:latin typeface="Cambria" pitchFamily="34" charset="0"/>
                            <a:ea typeface="Cambria" pitchFamily="34" charset="-122"/>
                            <a:cs typeface="Cambria" pitchFamily="34" charset="-120"/>
                          </a:rPr>
                          <m:t>− </m:t>
                        </m:r>
                        <m:r>
                          <m:rPr>
                            <m:nor/>
                          </m:rPr>
                          <a:rPr lang="en-US" sz="1600" b="1" dirty="0">
                            <a:solidFill>
                              <a:srgbClr val="FFFFFF"/>
                            </a:solidFill>
                            <a:latin typeface="Cambria" pitchFamily="34" charset="0"/>
                            <a:ea typeface="Cambria" pitchFamily="34" charset="-122"/>
                            <a:cs typeface="Cambria" pitchFamily="34" charset="-120"/>
                          </a:rPr>
                          <m:t>Σ</m:t>
                        </m:r>
                        <m:r>
                          <m:rPr>
                            <m:nor/>
                          </m:rPr>
                          <a:rPr lang="en-US" sz="1600" b="1" dirty="0">
                            <a:solidFill>
                              <a:srgbClr val="FFFFFF"/>
                            </a:solidFill>
                            <a:latin typeface="Cambria" pitchFamily="34" charset="0"/>
                            <a:ea typeface="Cambria" pitchFamily="34" charset="-122"/>
                            <a:cs typeface="Cambria" pitchFamily="34" charset="-120"/>
                          </a:rPr>
                          <m:t> (</m:t>
                        </m:r>
                        <m:r>
                          <a:rPr lang="en-US" sz="1600" b="1" i="1" dirty="0">
                            <a:solidFill>
                              <a:srgbClr val="FFFFFF"/>
                            </a:solidFill>
                            <a:latin typeface="Cambria Math" panose="02040503050406030204" pitchFamily="18" charset="0"/>
                            <a:ea typeface="Cambria" pitchFamily="34" charset="-122"/>
                            <a:cs typeface="Cambria" pitchFamily="34" charset="-120"/>
                          </a:rPr>
                          <m:t>𝒙</m:t>
                        </m:r>
                        <m:r>
                          <a:rPr lang="en-US" sz="1600" b="1" i="1" dirty="0">
                            <a:solidFill>
                              <a:srgbClr val="FFFFFF"/>
                            </a:solidFill>
                            <a:latin typeface="Cambria Math" panose="02040503050406030204" pitchFamily="18" charset="0"/>
                            <a:ea typeface="Cambria" pitchFamily="34" charset="-122"/>
                            <a:cs typeface="Cambria" pitchFamily="34" charset="-120"/>
                          </a:rPr>
                          <m:t>ᵈ</m:t>
                        </m:r>
                        <m:r>
                          <m:rPr>
                            <m:nor/>
                          </m:rPr>
                          <a:rPr lang="en-US" sz="1600" b="1" dirty="0">
                            <a:solidFill>
                              <a:srgbClr val="FFFFFF"/>
                            </a:solidFill>
                            <a:latin typeface="Cambria" pitchFamily="34" charset="0"/>
                            <a:ea typeface="Cambria" pitchFamily="34" charset="-122"/>
                            <a:cs typeface="Cambria" pitchFamily="34" charset="-120"/>
                          </a:rPr>
                          <m:t> − </m:t>
                        </m:r>
                        <m:r>
                          <m:rPr>
                            <m:nor/>
                          </m:rPr>
                          <a:rPr lang="en-US" sz="1600" b="1" dirty="0">
                            <a:solidFill>
                              <a:srgbClr val="FFFFFF"/>
                            </a:solidFill>
                            <a:latin typeface="Cambria" pitchFamily="34" charset="0"/>
                            <a:ea typeface="Cambria" pitchFamily="34" charset="-122"/>
                            <a:cs typeface="Cambria" pitchFamily="34" charset="-120"/>
                          </a:rPr>
                          <m:t>x</m:t>
                        </m:r>
                        <m:r>
                          <m:rPr>
                            <m:nor/>
                          </m:rPr>
                          <a:rPr lang="en-US" sz="1600" b="1" dirty="0">
                            <a:solidFill>
                              <a:srgbClr val="FFFFFF"/>
                            </a:solidFill>
                            <a:latin typeface="Cambria" pitchFamily="34" charset="0"/>
                            <a:ea typeface="Cambria" pitchFamily="34" charset="-122"/>
                            <a:cs typeface="Cambria" pitchFamily="34" charset="-120"/>
                          </a:rPr>
                          <m:t>’ᵈ)²</m:t>
                        </m:r>
                      </m:num>
                      <m:den>
                        <m:r>
                          <m:rPr>
                            <m:nor/>
                          </m:rPr>
                          <a:rPr lang="en-US" sz="1600" b="1" dirty="0">
                            <a:solidFill>
                              <a:srgbClr val="FFFFFF"/>
                            </a:solidFill>
                            <a:latin typeface="Cambria" pitchFamily="34" charset="0"/>
                            <a:ea typeface="Cambria" pitchFamily="34" charset="-122"/>
                            <a:cs typeface="Cambria" pitchFamily="34" charset="-120"/>
                          </a:rPr>
                          <m:t>2ℓᵈ²</m:t>
                        </m:r>
                      </m:den>
                    </m:f>
                  </m:oMath>
                </a14:m>
                <a:r>
                  <a:rPr lang="en-US" sz="1600" b="1" dirty="0">
                    <a:solidFill>
                      <a:srgbClr val="FFFFFF"/>
                    </a:solidFill>
                    <a:latin typeface="Cambria" pitchFamily="34" charset="0"/>
                    <a:ea typeface="Cambria" pitchFamily="34" charset="-122"/>
                    <a:cs typeface="Cambria" pitchFamily="34" charset="-120"/>
                  </a:rPr>
                  <a:t>)</a:t>
                </a:r>
                <a:endParaRPr lang="en-US" sz="1600" dirty="0"/>
              </a:p>
            </p:txBody>
          </p:sp>
        </mc:Choice>
        <mc:Fallback xmlns="">
          <p:sp>
            <p:nvSpPr>
              <p:cNvPr id="8" name="Text 6"/>
              <p:cNvSpPr>
                <a:spLocks noRot="1" noChangeAspect="1" noMove="1" noResize="1" noEditPoints="1" noAdjustHandles="1" noChangeArrowheads="1" noChangeShapeType="1" noTextEdit="1"/>
              </p:cNvSpPr>
              <p:nvPr/>
            </p:nvSpPr>
            <p:spPr>
              <a:xfrm>
                <a:off x="548640" y="4059936"/>
                <a:ext cx="3840480" cy="457200"/>
              </a:xfrm>
              <a:prstGeom prst="rect">
                <a:avLst/>
              </a:prstGeom>
              <a:blipFill>
                <a:blip r:embed="rId3"/>
                <a:stretch>
                  <a:fillRect b="-8000"/>
                </a:stretch>
              </a:blipFill>
              <a:ln/>
            </p:spPr>
            <p:txBody>
              <a:bodyPr/>
              <a:lstStyle/>
              <a:p>
                <a:r>
                  <a:rPr lang="en-US">
                    <a:noFill/>
                  </a:rPr>
                  <a:t> </a:t>
                </a:r>
              </a:p>
            </p:txBody>
          </p:sp>
        </mc:Fallback>
      </mc:AlternateContent>
      <p:sp>
        <p:nvSpPr>
          <p:cNvPr id="9" name="Text 7"/>
          <p:cNvSpPr/>
          <p:nvPr/>
        </p:nvSpPr>
        <p:spPr>
          <a:xfrm>
            <a:off x="548640" y="4498848"/>
            <a:ext cx="3840480" cy="320040"/>
          </a:xfrm>
          <a:prstGeom prst="rect">
            <a:avLst/>
          </a:prstGeom>
          <a:noFill/>
          <a:ln/>
        </p:spPr>
        <p:txBody>
          <a:bodyPr wrap="square" lIns="0" tIns="0" rIns="0" bIns="0" rtlCol="0" anchor="ctr"/>
          <a:lstStyle/>
          <a:p>
            <a:pPr marL="0" indent="0" algn="ctr">
              <a:buNone/>
            </a:pPr>
            <a:r>
              <a:rPr lang="en-US" sz="1100" i="1" dirty="0">
                <a:solidFill>
                  <a:srgbClr val="E33D6F"/>
                </a:solidFill>
                <a:latin typeface="Calibri" pitchFamily="34" charset="0"/>
                <a:ea typeface="Calibri" pitchFamily="34" charset="-122"/>
                <a:cs typeface="Calibri" pitchFamily="34" charset="-120"/>
              </a:rPr>
              <a:t>Small ℓᵈ = feature is influential</a:t>
            </a:r>
            <a:endParaRPr lang="en-US" sz="1100" dirty="0"/>
          </a:p>
        </p:txBody>
      </p:sp>
      <p:sp>
        <p:nvSpPr>
          <p:cNvPr id="10" name="Text 8"/>
          <p:cNvSpPr/>
          <p:nvPr/>
        </p:nvSpPr>
        <p:spPr>
          <a:xfrm>
            <a:off x="4892040" y="818570"/>
            <a:ext cx="3840480" cy="365760"/>
          </a:xfrm>
          <a:prstGeom prst="rect">
            <a:avLst/>
          </a:prstGeom>
          <a:noFill/>
          <a:ln/>
        </p:spPr>
        <p:txBody>
          <a:bodyPr wrap="square" lIns="0" tIns="0" rIns="0" bIns="0" rtlCol="0" anchor="ctr"/>
          <a:lstStyle/>
          <a:p>
            <a:pPr marL="0" indent="0" algn="l">
              <a:buNone/>
            </a:pPr>
            <a:r>
              <a:rPr lang="en-US" sz="1500" b="1" dirty="0">
                <a:solidFill>
                  <a:srgbClr val="1E1B3A"/>
                </a:solidFill>
                <a:latin typeface="Trebuchet MS" pitchFamily="34" charset="0"/>
                <a:ea typeface="Trebuchet MS" pitchFamily="34" charset="-122"/>
                <a:cs typeface="Trebuchet MS" pitchFamily="34" charset="-120"/>
              </a:rPr>
              <a:t>Covariance matrix K</a:t>
            </a:r>
            <a:endParaRPr lang="en-US" sz="1500" dirty="0"/>
          </a:p>
        </p:txBody>
      </p:sp>
      <p:sp>
        <p:nvSpPr>
          <p:cNvPr id="11" name="Text 9"/>
          <p:cNvSpPr/>
          <p:nvPr/>
        </p:nvSpPr>
        <p:spPr>
          <a:xfrm>
            <a:off x="5285232" y="1097280"/>
            <a:ext cx="521208" cy="274320"/>
          </a:xfrm>
          <a:prstGeom prst="rect">
            <a:avLst/>
          </a:prstGeom>
          <a:noFill/>
          <a:ln/>
        </p:spPr>
        <p:txBody>
          <a:bodyPr wrap="square" lIns="0" tIns="0" rIns="0" bIns="0" rtlCol="0" anchor="ctr"/>
          <a:lstStyle/>
          <a:p>
            <a:pPr marL="0" indent="0" algn="ctr">
              <a:buNone/>
            </a:pPr>
            <a:r>
              <a:rPr lang="en-US" sz="1000" b="1" dirty="0">
                <a:solidFill>
                  <a:srgbClr val="1E1B3A"/>
                </a:solidFill>
                <a:latin typeface="Calibri" pitchFamily="34" charset="0"/>
                <a:ea typeface="Calibri" pitchFamily="34" charset="-122"/>
                <a:cs typeface="Calibri" pitchFamily="34" charset="-120"/>
              </a:rPr>
              <a:t>P1</a:t>
            </a:r>
            <a:endParaRPr lang="en-US" sz="1000" dirty="0"/>
          </a:p>
        </p:txBody>
      </p:sp>
      <p:sp>
        <p:nvSpPr>
          <p:cNvPr id="12" name="Text 10"/>
          <p:cNvSpPr/>
          <p:nvPr/>
        </p:nvSpPr>
        <p:spPr>
          <a:xfrm>
            <a:off x="4828032" y="1527048"/>
            <a:ext cx="347472" cy="320040"/>
          </a:xfrm>
          <a:prstGeom prst="rect">
            <a:avLst/>
          </a:prstGeom>
          <a:noFill/>
          <a:ln/>
        </p:spPr>
        <p:txBody>
          <a:bodyPr wrap="square" lIns="0" tIns="0" rIns="0" bIns="0" rtlCol="0" anchor="ctr"/>
          <a:lstStyle/>
          <a:p>
            <a:pPr marL="0" indent="0" algn="r">
              <a:buNone/>
            </a:pPr>
            <a:r>
              <a:rPr lang="en-US" sz="1000" b="1" dirty="0">
                <a:solidFill>
                  <a:srgbClr val="1E1B3A"/>
                </a:solidFill>
                <a:latin typeface="Calibri" pitchFamily="34" charset="0"/>
                <a:ea typeface="Calibri" pitchFamily="34" charset="-122"/>
                <a:cs typeface="Calibri" pitchFamily="34" charset="-120"/>
              </a:rPr>
              <a:t>P1</a:t>
            </a:r>
            <a:endParaRPr lang="en-US" sz="1000" dirty="0"/>
          </a:p>
        </p:txBody>
      </p:sp>
      <p:sp>
        <p:nvSpPr>
          <p:cNvPr id="13" name="Shape 11"/>
          <p:cNvSpPr/>
          <p:nvPr/>
        </p:nvSpPr>
        <p:spPr>
          <a:xfrm>
            <a:off x="5248656" y="1453896"/>
            <a:ext cx="493776" cy="493776"/>
          </a:xfrm>
          <a:prstGeom prst="rect">
            <a:avLst/>
          </a:prstGeom>
          <a:solidFill>
            <a:srgbClr val="0F6E56"/>
          </a:solidFill>
          <a:ln w="12700">
            <a:solidFill>
              <a:srgbClr val="FFFFFF"/>
            </a:solidFill>
            <a:prstDash val="solid"/>
          </a:ln>
        </p:spPr>
        <p:txBody>
          <a:bodyPr/>
          <a:lstStyle/>
          <a:p>
            <a:endParaRPr lang="en-US"/>
          </a:p>
        </p:txBody>
      </p:sp>
      <p:sp>
        <p:nvSpPr>
          <p:cNvPr id="14" name="Shape 12"/>
          <p:cNvSpPr/>
          <p:nvPr/>
        </p:nvSpPr>
        <p:spPr>
          <a:xfrm>
            <a:off x="5815584" y="1453896"/>
            <a:ext cx="493776" cy="493776"/>
          </a:xfrm>
          <a:prstGeom prst="rect">
            <a:avLst/>
          </a:prstGeom>
          <a:solidFill>
            <a:srgbClr val="1D9E75"/>
          </a:solidFill>
          <a:ln w="12700">
            <a:solidFill>
              <a:srgbClr val="FFFFFF"/>
            </a:solidFill>
            <a:prstDash val="solid"/>
          </a:ln>
        </p:spPr>
        <p:txBody>
          <a:bodyPr/>
          <a:lstStyle/>
          <a:p>
            <a:endParaRPr lang="en-US"/>
          </a:p>
        </p:txBody>
      </p:sp>
      <p:sp>
        <p:nvSpPr>
          <p:cNvPr id="15" name="Shape 13"/>
          <p:cNvSpPr/>
          <p:nvPr/>
        </p:nvSpPr>
        <p:spPr>
          <a:xfrm>
            <a:off x="6382512" y="1453896"/>
            <a:ext cx="493776" cy="493776"/>
          </a:xfrm>
          <a:prstGeom prst="rect">
            <a:avLst/>
          </a:prstGeom>
          <a:solidFill>
            <a:srgbClr val="5DCAA5"/>
          </a:solidFill>
          <a:ln w="12700">
            <a:solidFill>
              <a:srgbClr val="FFFFFF"/>
            </a:solidFill>
            <a:prstDash val="solid"/>
          </a:ln>
        </p:spPr>
        <p:txBody>
          <a:bodyPr/>
          <a:lstStyle/>
          <a:p>
            <a:endParaRPr lang="en-US"/>
          </a:p>
        </p:txBody>
      </p:sp>
      <p:sp>
        <p:nvSpPr>
          <p:cNvPr id="16" name="Shape 14"/>
          <p:cNvSpPr/>
          <p:nvPr/>
        </p:nvSpPr>
        <p:spPr>
          <a:xfrm>
            <a:off x="6949440" y="1453896"/>
            <a:ext cx="493776" cy="493776"/>
          </a:xfrm>
          <a:prstGeom prst="rect">
            <a:avLst/>
          </a:prstGeom>
          <a:solidFill>
            <a:srgbClr val="E1F5EE"/>
          </a:solidFill>
          <a:ln w="12700">
            <a:solidFill>
              <a:srgbClr val="FFFFFF"/>
            </a:solidFill>
            <a:prstDash val="solid"/>
          </a:ln>
        </p:spPr>
        <p:txBody>
          <a:bodyPr/>
          <a:lstStyle/>
          <a:p>
            <a:endParaRPr lang="en-US"/>
          </a:p>
        </p:txBody>
      </p:sp>
      <p:sp>
        <p:nvSpPr>
          <p:cNvPr id="17" name="Shape 15"/>
          <p:cNvSpPr/>
          <p:nvPr/>
        </p:nvSpPr>
        <p:spPr>
          <a:xfrm>
            <a:off x="7516368" y="1453896"/>
            <a:ext cx="493776" cy="493776"/>
          </a:xfrm>
          <a:prstGeom prst="rect">
            <a:avLst/>
          </a:prstGeom>
          <a:solidFill>
            <a:srgbClr val="E1F5EE"/>
          </a:solidFill>
          <a:ln w="12700">
            <a:solidFill>
              <a:srgbClr val="FFFFFF"/>
            </a:solidFill>
            <a:prstDash val="solid"/>
          </a:ln>
        </p:spPr>
        <p:txBody>
          <a:bodyPr/>
          <a:lstStyle/>
          <a:p>
            <a:endParaRPr lang="en-US"/>
          </a:p>
        </p:txBody>
      </p:sp>
      <p:sp>
        <p:nvSpPr>
          <p:cNvPr id="18" name="Text 16"/>
          <p:cNvSpPr/>
          <p:nvPr/>
        </p:nvSpPr>
        <p:spPr>
          <a:xfrm>
            <a:off x="5852160" y="1097280"/>
            <a:ext cx="521208" cy="274320"/>
          </a:xfrm>
          <a:prstGeom prst="rect">
            <a:avLst/>
          </a:prstGeom>
          <a:noFill/>
          <a:ln/>
        </p:spPr>
        <p:txBody>
          <a:bodyPr wrap="square" lIns="0" tIns="0" rIns="0" bIns="0" rtlCol="0" anchor="ctr"/>
          <a:lstStyle/>
          <a:p>
            <a:pPr marL="0" indent="0" algn="ctr">
              <a:buNone/>
            </a:pPr>
            <a:r>
              <a:rPr lang="en-US" sz="1000" b="1" dirty="0">
                <a:solidFill>
                  <a:srgbClr val="1E1B3A"/>
                </a:solidFill>
                <a:latin typeface="Calibri" pitchFamily="34" charset="0"/>
                <a:ea typeface="Calibri" pitchFamily="34" charset="-122"/>
                <a:cs typeface="Calibri" pitchFamily="34" charset="-120"/>
              </a:rPr>
              <a:t>P2</a:t>
            </a:r>
            <a:endParaRPr lang="en-US" sz="1000" dirty="0"/>
          </a:p>
        </p:txBody>
      </p:sp>
      <p:sp>
        <p:nvSpPr>
          <p:cNvPr id="19" name="Text 17"/>
          <p:cNvSpPr/>
          <p:nvPr/>
        </p:nvSpPr>
        <p:spPr>
          <a:xfrm>
            <a:off x="4828032" y="2093976"/>
            <a:ext cx="347472" cy="320040"/>
          </a:xfrm>
          <a:prstGeom prst="rect">
            <a:avLst/>
          </a:prstGeom>
          <a:noFill/>
          <a:ln/>
        </p:spPr>
        <p:txBody>
          <a:bodyPr wrap="square" lIns="0" tIns="0" rIns="0" bIns="0" rtlCol="0" anchor="ctr"/>
          <a:lstStyle/>
          <a:p>
            <a:pPr marL="0" indent="0" algn="r">
              <a:buNone/>
            </a:pPr>
            <a:r>
              <a:rPr lang="en-US" sz="1000" b="1" dirty="0">
                <a:solidFill>
                  <a:srgbClr val="1E1B3A"/>
                </a:solidFill>
                <a:latin typeface="Calibri" pitchFamily="34" charset="0"/>
                <a:ea typeface="Calibri" pitchFamily="34" charset="-122"/>
                <a:cs typeface="Calibri" pitchFamily="34" charset="-120"/>
              </a:rPr>
              <a:t>P2</a:t>
            </a:r>
            <a:endParaRPr lang="en-US" sz="1000" dirty="0"/>
          </a:p>
        </p:txBody>
      </p:sp>
      <p:sp>
        <p:nvSpPr>
          <p:cNvPr id="20" name="Shape 18"/>
          <p:cNvSpPr/>
          <p:nvPr/>
        </p:nvSpPr>
        <p:spPr>
          <a:xfrm>
            <a:off x="5248656" y="2020824"/>
            <a:ext cx="493776" cy="493776"/>
          </a:xfrm>
          <a:prstGeom prst="rect">
            <a:avLst/>
          </a:prstGeom>
          <a:solidFill>
            <a:srgbClr val="1D9E75"/>
          </a:solidFill>
          <a:ln w="12700">
            <a:solidFill>
              <a:srgbClr val="FFFFFF"/>
            </a:solidFill>
            <a:prstDash val="solid"/>
          </a:ln>
        </p:spPr>
        <p:txBody>
          <a:bodyPr/>
          <a:lstStyle/>
          <a:p>
            <a:endParaRPr lang="en-US"/>
          </a:p>
        </p:txBody>
      </p:sp>
      <p:sp>
        <p:nvSpPr>
          <p:cNvPr id="21" name="Shape 19"/>
          <p:cNvSpPr/>
          <p:nvPr/>
        </p:nvSpPr>
        <p:spPr>
          <a:xfrm>
            <a:off x="5815584" y="2020824"/>
            <a:ext cx="493776" cy="493776"/>
          </a:xfrm>
          <a:prstGeom prst="rect">
            <a:avLst/>
          </a:prstGeom>
          <a:solidFill>
            <a:srgbClr val="0F6E56"/>
          </a:solidFill>
          <a:ln w="12700">
            <a:solidFill>
              <a:srgbClr val="FFFFFF"/>
            </a:solidFill>
            <a:prstDash val="solid"/>
          </a:ln>
        </p:spPr>
        <p:txBody>
          <a:bodyPr/>
          <a:lstStyle/>
          <a:p>
            <a:endParaRPr lang="en-US"/>
          </a:p>
        </p:txBody>
      </p:sp>
      <p:sp>
        <p:nvSpPr>
          <p:cNvPr id="22" name="Shape 20"/>
          <p:cNvSpPr/>
          <p:nvPr/>
        </p:nvSpPr>
        <p:spPr>
          <a:xfrm>
            <a:off x="6382512" y="2020824"/>
            <a:ext cx="493776" cy="493776"/>
          </a:xfrm>
          <a:prstGeom prst="rect">
            <a:avLst/>
          </a:prstGeom>
          <a:solidFill>
            <a:srgbClr val="9FE1CB"/>
          </a:solidFill>
          <a:ln w="12700">
            <a:solidFill>
              <a:srgbClr val="FFFFFF"/>
            </a:solidFill>
            <a:prstDash val="solid"/>
          </a:ln>
        </p:spPr>
        <p:txBody>
          <a:bodyPr/>
          <a:lstStyle/>
          <a:p>
            <a:endParaRPr lang="en-US"/>
          </a:p>
        </p:txBody>
      </p:sp>
      <p:sp>
        <p:nvSpPr>
          <p:cNvPr id="23" name="Shape 21"/>
          <p:cNvSpPr/>
          <p:nvPr/>
        </p:nvSpPr>
        <p:spPr>
          <a:xfrm>
            <a:off x="6949440" y="2020824"/>
            <a:ext cx="493776" cy="493776"/>
          </a:xfrm>
          <a:prstGeom prst="rect">
            <a:avLst/>
          </a:prstGeom>
          <a:solidFill>
            <a:srgbClr val="E1F5EE"/>
          </a:solidFill>
          <a:ln w="12700">
            <a:solidFill>
              <a:srgbClr val="FFFFFF"/>
            </a:solidFill>
            <a:prstDash val="solid"/>
          </a:ln>
        </p:spPr>
        <p:txBody>
          <a:bodyPr/>
          <a:lstStyle/>
          <a:p>
            <a:endParaRPr lang="en-US"/>
          </a:p>
        </p:txBody>
      </p:sp>
      <p:sp>
        <p:nvSpPr>
          <p:cNvPr id="24" name="Shape 22"/>
          <p:cNvSpPr/>
          <p:nvPr/>
        </p:nvSpPr>
        <p:spPr>
          <a:xfrm>
            <a:off x="7516368" y="2020824"/>
            <a:ext cx="493776" cy="493776"/>
          </a:xfrm>
          <a:prstGeom prst="rect">
            <a:avLst/>
          </a:prstGeom>
          <a:solidFill>
            <a:srgbClr val="E1F5EE"/>
          </a:solidFill>
          <a:ln w="12700">
            <a:solidFill>
              <a:srgbClr val="FFFFFF"/>
            </a:solidFill>
            <a:prstDash val="solid"/>
          </a:ln>
        </p:spPr>
        <p:txBody>
          <a:bodyPr/>
          <a:lstStyle/>
          <a:p>
            <a:endParaRPr lang="en-US"/>
          </a:p>
        </p:txBody>
      </p:sp>
      <p:sp>
        <p:nvSpPr>
          <p:cNvPr id="25" name="Text 23"/>
          <p:cNvSpPr/>
          <p:nvPr/>
        </p:nvSpPr>
        <p:spPr>
          <a:xfrm>
            <a:off x="6419088" y="1097280"/>
            <a:ext cx="521208" cy="274320"/>
          </a:xfrm>
          <a:prstGeom prst="rect">
            <a:avLst/>
          </a:prstGeom>
          <a:noFill/>
          <a:ln/>
        </p:spPr>
        <p:txBody>
          <a:bodyPr wrap="square" lIns="0" tIns="0" rIns="0" bIns="0" rtlCol="0" anchor="ctr"/>
          <a:lstStyle/>
          <a:p>
            <a:pPr marL="0" indent="0" algn="ctr">
              <a:buNone/>
            </a:pPr>
            <a:r>
              <a:rPr lang="en-US" sz="1000" b="1" dirty="0">
                <a:solidFill>
                  <a:srgbClr val="1E1B3A"/>
                </a:solidFill>
                <a:latin typeface="Calibri" pitchFamily="34" charset="0"/>
                <a:ea typeface="Calibri" pitchFamily="34" charset="-122"/>
                <a:cs typeface="Calibri" pitchFamily="34" charset="-120"/>
              </a:rPr>
              <a:t>P3</a:t>
            </a:r>
            <a:endParaRPr lang="en-US" sz="1000" dirty="0"/>
          </a:p>
        </p:txBody>
      </p:sp>
      <p:sp>
        <p:nvSpPr>
          <p:cNvPr id="26" name="Text 24"/>
          <p:cNvSpPr/>
          <p:nvPr/>
        </p:nvSpPr>
        <p:spPr>
          <a:xfrm>
            <a:off x="4828032" y="2660904"/>
            <a:ext cx="347472" cy="320040"/>
          </a:xfrm>
          <a:prstGeom prst="rect">
            <a:avLst/>
          </a:prstGeom>
          <a:noFill/>
          <a:ln/>
        </p:spPr>
        <p:txBody>
          <a:bodyPr wrap="square" lIns="0" tIns="0" rIns="0" bIns="0" rtlCol="0" anchor="ctr"/>
          <a:lstStyle/>
          <a:p>
            <a:pPr marL="0" indent="0" algn="r">
              <a:buNone/>
            </a:pPr>
            <a:r>
              <a:rPr lang="en-US" sz="1000" b="1" dirty="0">
                <a:solidFill>
                  <a:srgbClr val="1E1B3A"/>
                </a:solidFill>
                <a:latin typeface="Calibri" pitchFamily="34" charset="0"/>
                <a:ea typeface="Calibri" pitchFamily="34" charset="-122"/>
                <a:cs typeface="Calibri" pitchFamily="34" charset="-120"/>
              </a:rPr>
              <a:t>P3</a:t>
            </a:r>
            <a:endParaRPr lang="en-US" sz="1000" dirty="0"/>
          </a:p>
        </p:txBody>
      </p:sp>
      <p:sp>
        <p:nvSpPr>
          <p:cNvPr id="27" name="Shape 25"/>
          <p:cNvSpPr/>
          <p:nvPr/>
        </p:nvSpPr>
        <p:spPr>
          <a:xfrm>
            <a:off x="5248656" y="2587752"/>
            <a:ext cx="493776" cy="493776"/>
          </a:xfrm>
          <a:prstGeom prst="rect">
            <a:avLst/>
          </a:prstGeom>
          <a:solidFill>
            <a:srgbClr val="5DCAA5"/>
          </a:solidFill>
          <a:ln w="12700">
            <a:solidFill>
              <a:srgbClr val="FFFFFF"/>
            </a:solidFill>
            <a:prstDash val="solid"/>
          </a:ln>
        </p:spPr>
        <p:txBody>
          <a:bodyPr/>
          <a:lstStyle/>
          <a:p>
            <a:endParaRPr lang="en-US"/>
          </a:p>
        </p:txBody>
      </p:sp>
      <p:sp>
        <p:nvSpPr>
          <p:cNvPr id="28" name="Shape 26"/>
          <p:cNvSpPr/>
          <p:nvPr/>
        </p:nvSpPr>
        <p:spPr>
          <a:xfrm>
            <a:off x="5815584" y="2587752"/>
            <a:ext cx="493776" cy="493776"/>
          </a:xfrm>
          <a:prstGeom prst="rect">
            <a:avLst/>
          </a:prstGeom>
          <a:solidFill>
            <a:srgbClr val="9FE1CB"/>
          </a:solidFill>
          <a:ln w="12700">
            <a:solidFill>
              <a:srgbClr val="FFFFFF"/>
            </a:solidFill>
            <a:prstDash val="solid"/>
          </a:ln>
        </p:spPr>
        <p:txBody>
          <a:bodyPr/>
          <a:lstStyle/>
          <a:p>
            <a:endParaRPr lang="en-US"/>
          </a:p>
        </p:txBody>
      </p:sp>
      <p:sp>
        <p:nvSpPr>
          <p:cNvPr id="29" name="Shape 27"/>
          <p:cNvSpPr/>
          <p:nvPr/>
        </p:nvSpPr>
        <p:spPr>
          <a:xfrm>
            <a:off x="6382512" y="2587752"/>
            <a:ext cx="493776" cy="493776"/>
          </a:xfrm>
          <a:prstGeom prst="rect">
            <a:avLst/>
          </a:prstGeom>
          <a:solidFill>
            <a:srgbClr val="0F6E56"/>
          </a:solidFill>
          <a:ln w="12700">
            <a:solidFill>
              <a:srgbClr val="FFFFFF"/>
            </a:solidFill>
            <a:prstDash val="solid"/>
          </a:ln>
        </p:spPr>
        <p:txBody>
          <a:bodyPr/>
          <a:lstStyle/>
          <a:p>
            <a:endParaRPr lang="en-US"/>
          </a:p>
        </p:txBody>
      </p:sp>
      <p:sp>
        <p:nvSpPr>
          <p:cNvPr id="30" name="Shape 28"/>
          <p:cNvSpPr/>
          <p:nvPr/>
        </p:nvSpPr>
        <p:spPr>
          <a:xfrm>
            <a:off x="6949440" y="2587752"/>
            <a:ext cx="493776" cy="493776"/>
          </a:xfrm>
          <a:prstGeom prst="rect">
            <a:avLst/>
          </a:prstGeom>
          <a:solidFill>
            <a:srgbClr val="5DCAA5"/>
          </a:solidFill>
          <a:ln w="12700">
            <a:solidFill>
              <a:srgbClr val="FFFFFF"/>
            </a:solidFill>
            <a:prstDash val="solid"/>
          </a:ln>
        </p:spPr>
        <p:txBody>
          <a:bodyPr/>
          <a:lstStyle/>
          <a:p>
            <a:endParaRPr lang="en-US"/>
          </a:p>
        </p:txBody>
      </p:sp>
      <p:sp>
        <p:nvSpPr>
          <p:cNvPr id="31" name="Shape 29"/>
          <p:cNvSpPr/>
          <p:nvPr/>
        </p:nvSpPr>
        <p:spPr>
          <a:xfrm>
            <a:off x="7516368" y="2587752"/>
            <a:ext cx="493776" cy="493776"/>
          </a:xfrm>
          <a:prstGeom prst="rect">
            <a:avLst/>
          </a:prstGeom>
          <a:solidFill>
            <a:srgbClr val="E1F5EE"/>
          </a:solidFill>
          <a:ln w="12700">
            <a:solidFill>
              <a:srgbClr val="FFFFFF"/>
            </a:solidFill>
            <a:prstDash val="solid"/>
          </a:ln>
        </p:spPr>
        <p:txBody>
          <a:bodyPr/>
          <a:lstStyle/>
          <a:p>
            <a:endParaRPr lang="en-US"/>
          </a:p>
        </p:txBody>
      </p:sp>
      <p:sp>
        <p:nvSpPr>
          <p:cNvPr id="32" name="Text 30"/>
          <p:cNvSpPr/>
          <p:nvPr/>
        </p:nvSpPr>
        <p:spPr>
          <a:xfrm>
            <a:off x="6986016" y="1097280"/>
            <a:ext cx="521208" cy="274320"/>
          </a:xfrm>
          <a:prstGeom prst="rect">
            <a:avLst/>
          </a:prstGeom>
          <a:noFill/>
          <a:ln/>
        </p:spPr>
        <p:txBody>
          <a:bodyPr wrap="square" lIns="0" tIns="0" rIns="0" bIns="0" rtlCol="0" anchor="ctr"/>
          <a:lstStyle/>
          <a:p>
            <a:pPr marL="0" indent="0" algn="ctr">
              <a:buNone/>
            </a:pPr>
            <a:r>
              <a:rPr lang="en-US" sz="1000" b="1" dirty="0">
                <a:solidFill>
                  <a:srgbClr val="1E1B3A"/>
                </a:solidFill>
                <a:latin typeface="Calibri" pitchFamily="34" charset="0"/>
                <a:ea typeface="Calibri" pitchFamily="34" charset="-122"/>
                <a:cs typeface="Calibri" pitchFamily="34" charset="-120"/>
              </a:rPr>
              <a:t>P4</a:t>
            </a:r>
            <a:endParaRPr lang="en-US" sz="1000" dirty="0"/>
          </a:p>
        </p:txBody>
      </p:sp>
      <p:sp>
        <p:nvSpPr>
          <p:cNvPr id="33" name="Text 31"/>
          <p:cNvSpPr/>
          <p:nvPr/>
        </p:nvSpPr>
        <p:spPr>
          <a:xfrm>
            <a:off x="4828032" y="3227832"/>
            <a:ext cx="347472" cy="320040"/>
          </a:xfrm>
          <a:prstGeom prst="rect">
            <a:avLst/>
          </a:prstGeom>
          <a:noFill/>
          <a:ln/>
        </p:spPr>
        <p:txBody>
          <a:bodyPr wrap="square" lIns="0" tIns="0" rIns="0" bIns="0" rtlCol="0" anchor="ctr"/>
          <a:lstStyle/>
          <a:p>
            <a:pPr marL="0" indent="0" algn="r">
              <a:buNone/>
            </a:pPr>
            <a:r>
              <a:rPr lang="en-US" sz="1000" b="1" dirty="0">
                <a:solidFill>
                  <a:srgbClr val="1E1B3A"/>
                </a:solidFill>
                <a:latin typeface="Calibri" pitchFamily="34" charset="0"/>
                <a:ea typeface="Calibri" pitchFamily="34" charset="-122"/>
                <a:cs typeface="Calibri" pitchFamily="34" charset="-120"/>
              </a:rPr>
              <a:t>P4</a:t>
            </a:r>
            <a:endParaRPr lang="en-US" sz="1000" dirty="0"/>
          </a:p>
        </p:txBody>
      </p:sp>
      <p:sp>
        <p:nvSpPr>
          <p:cNvPr id="34" name="Shape 32"/>
          <p:cNvSpPr/>
          <p:nvPr/>
        </p:nvSpPr>
        <p:spPr>
          <a:xfrm>
            <a:off x="5248656" y="3154680"/>
            <a:ext cx="493776" cy="493776"/>
          </a:xfrm>
          <a:prstGeom prst="rect">
            <a:avLst/>
          </a:prstGeom>
          <a:solidFill>
            <a:srgbClr val="E1F5EE"/>
          </a:solidFill>
          <a:ln w="12700">
            <a:solidFill>
              <a:srgbClr val="FFFFFF"/>
            </a:solidFill>
            <a:prstDash val="solid"/>
          </a:ln>
        </p:spPr>
        <p:txBody>
          <a:bodyPr/>
          <a:lstStyle/>
          <a:p>
            <a:endParaRPr lang="en-US"/>
          </a:p>
        </p:txBody>
      </p:sp>
      <p:sp>
        <p:nvSpPr>
          <p:cNvPr id="35" name="Shape 33"/>
          <p:cNvSpPr/>
          <p:nvPr/>
        </p:nvSpPr>
        <p:spPr>
          <a:xfrm>
            <a:off x="5815584" y="3154680"/>
            <a:ext cx="493776" cy="493776"/>
          </a:xfrm>
          <a:prstGeom prst="rect">
            <a:avLst/>
          </a:prstGeom>
          <a:solidFill>
            <a:srgbClr val="E1F5EE"/>
          </a:solidFill>
          <a:ln w="12700">
            <a:solidFill>
              <a:srgbClr val="FFFFFF"/>
            </a:solidFill>
            <a:prstDash val="solid"/>
          </a:ln>
        </p:spPr>
        <p:txBody>
          <a:bodyPr/>
          <a:lstStyle/>
          <a:p>
            <a:endParaRPr lang="en-US"/>
          </a:p>
        </p:txBody>
      </p:sp>
      <p:sp>
        <p:nvSpPr>
          <p:cNvPr id="36" name="Shape 34"/>
          <p:cNvSpPr/>
          <p:nvPr/>
        </p:nvSpPr>
        <p:spPr>
          <a:xfrm>
            <a:off x="6382512" y="3154680"/>
            <a:ext cx="493776" cy="493776"/>
          </a:xfrm>
          <a:prstGeom prst="rect">
            <a:avLst/>
          </a:prstGeom>
          <a:solidFill>
            <a:srgbClr val="5DCAA5"/>
          </a:solidFill>
          <a:ln w="12700">
            <a:solidFill>
              <a:srgbClr val="FFFFFF"/>
            </a:solidFill>
            <a:prstDash val="solid"/>
          </a:ln>
        </p:spPr>
        <p:txBody>
          <a:bodyPr/>
          <a:lstStyle/>
          <a:p>
            <a:endParaRPr lang="en-US"/>
          </a:p>
        </p:txBody>
      </p:sp>
      <p:sp>
        <p:nvSpPr>
          <p:cNvPr id="37" name="Shape 35"/>
          <p:cNvSpPr/>
          <p:nvPr/>
        </p:nvSpPr>
        <p:spPr>
          <a:xfrm>
            <a:off x="6949440" y="3154680"/>
            <a:ext cx="493776" cy="493776"/>
          </a:xfrm>
          <a:prstGeom prst="rect">
            <a:avLst/>
          </a:prstGeom>
          <a:solidFill>
            <a:srgbClr val="0F6E56"/>
          </a:solidFill>
          <a:ln w="12700">
            <a:solidFill>
              <a:srgbClr val="FFFFFF"/>
            </a:solidFill>
            <a:prstDash val="solid"/>
          </a:ln>
        </p:spPr>
        <p:txBody>
          <a:bodyPr/>
          <a:lstStyle/>
          <a:p>
            <a:endParaRPr lang="en-US"/>
          </a:p>
        </p:txBody>
      </p:sp>
      <p:sp>
        <p:nvSpPr>
          <p:cNvPr id="38" name="Shape 36"/>
          <p:cNvSpPr/>
          <p:nvPr/>
        </p:nvSpPr>
        <p:spPr>
          <a:xfrm>
            <a:off x="7516368" y="3154680"/>
            <a:ext cx="493776" cy="493776"/>
          </a:xfrm>
          <a:prstGeom prst="rect">
            <a:avLst/>
          </a:prstGeom>
          <a:solidFill>
            <a:srgbClr val="1D9E75"/>
          </a:solidFill>
          <a:ln w="12700">
            <a:solidFill>
              <a:srgbClr val="FFFFFF"/>
            </a:solidFill>
            <a:prstDash val="solid"/>
          </a:ln>
        </p:spPr>
        <p:txBody>
          <a:bodyPr/>
          <a:lstStyle/>
          <a:p>
            <a:endParaRPr lang="en-US"/>
          </a:p>
        </p:txBody>
      </p:sp>
      <p:sp>
        <p:nvSpPr>
          <p:cNvPr id="39" name="Text 37"/>
          <p:cNvSpPr/>
          <p:nvPr/>
        </p:nvSpPr>
        <p:spPr>
          <a:xfrm>
            <a:off x="7552944" y="1097280"/>
            <a:ext cx="521208" cy="274320"/>
          </a:xfrm>
          <a:prstGeom prst="rect">
            <a:avLst/>
          </a:prstGeom>
          <a:noFill/>
          <a:ln/>
        </p:spPr>
        <p:txBody>
          <a:bodyPr wrap="square" lIns="0" tIns="0" rIns="0" bIns="0" rtlCol="0" anchor="ctr"/>
          <a:lstStyle/>
          <a:p>
            <a:pPr marL="0" indent="0" algn="ctr">
              <a:buNone/>
            </a:pPr>
            <a:r>
              <a:rPr lang="en-US" sz="1000" b="1" dirty="0">
                <a:solidFill>
                  <a:srgbClr val="1E1B3A"/>
                </a:solidFill>
                <a:latin typeface="Calibri" pitchFamily="34" charset="0"/>
                <a:ea typeface="Calibri" pitchFamily="34" charset="-122"/>
                <a:cs typeface="Calibri" pitchFamily="34" charset="-120"/>
              </a:rPr>
              <a:t>P5</a:t>
            </a:r>
            <a:endParaRPr lang="en-US" sz="1000" dirty="0"/>
          </a:p>
        </p:txBody>
      </p:sp>
      <p:sp>
        <p:nvSpPr>
          <p:cNvPr id="40" name="Text 38"/>
          <p:cNvSpPr/>
          <p:nvPr/>
        </p:nvSpPr>
        <p:spPr>
          <a:xfrm>
            <a:off x="4828032" y="3794760"/>
            <a:ext cx="347472" cy="320040"/>
          </a:xfrm>
          <a:prstGeom prst="rect">
            <a:avLst/>
          </a:prstGeom>
          <a:noFill/>
          <a:ln/>
        </p:spPr>
        <p:txBody>
          <a:bodyPr wrap="square" lIns="0" tIns="0" rIns="0" bIns="0" rtlCol="0" anchor="ctr"/>
          <a:lstStyle/>
          <a:p>
            <a:pPr marL="0" indent="0" algn="r">
              <a:buNone/>
            </a:pPr>
            <a:r>
              <a:rPr lang="en-US" sz="1000" b="1" dirty="0">
                <a:solidFill>
                  <a:srgbClr val="1E1B3A"/>
                </a:solidFill>
                <a:latin typeface="Calibri" pitchFamily="34" charset="0"/>
                <a:ea typeface="Calibri" pitchFamily="34" charset="-122"/>
                <a:cs typeface="Calibri" pitchFamily="34" charset="-120"/>
              </a:rPr>
              <a:t>P5</a:t>
            </a:r>
            <a:endParaRPr lang="en-US" sz="1000" dirty="0"/>
          </a:p>
        </p:txBody>
      </p:sp>
      <p:sp>
        <p:nvSpPr>
          <p:cNvPr id="41" name="Shape 39"/>
          <p:cNvSpPr/>
          <p:nvPr/>
        </p:nvSpPr>
        <p:spPr>
          <a:xfrm>
            <a:off x="5248656" y="3721608"/>
            <a:ext cx="493776" cy="493776"/>
          </a:xfrm>
          <a:prstGeom prst="rect">
            <a:avLst/>
          </a:prstGeom>
          <a:solidFill>
            <a:srgbClr val="E1F5EE"/>
          </a:solidFill>
          <a:ln w="12700">
            <a:solidFill>
              <a:srgbClr val="FFFFFF"/>
            </a:solidFill>
            <a:prstDash val="solid"/>
          </a:ln>
        </p:spPr>
        <p:txBody>
          <a:bodyPr/>
          <a:lstStyle/>
          <a:p>
            <a:endParaRPr lang="en-US"/>
          </a:p>
        </p:txBody>
      </p:sp>
      <p:sp>
        <p:nvSpPr>
          <p:cNvPr id="42" name="Shape 40"/>
          <p:cNvSpPr/>
          <p:nvPr/>
        </p:nvSpPr>
        <p:spPr>
          <a:xfrm>
            <a:off x="5815584" y="3721608"/>
            <a:ext cx="493776" cy="493776"/>
          </a:xfrm>
          <a:prstGeom prst="rect">
            <a:avLst/>
          </a:prstGeom>
          <a:solidFill>
            <a:srgbClr val="E1F5EE"/>
          </a:solidFill>
          <a:ln w="12700">
            <a:solidFill>
              <a:srgbClr val="FFFFFF"/>
            </a:solidFill>
            <a:prstDash val="solid"/>
          </a:ln>
        </p:spPr>
        <p:txBody>
          <a:bodyPr/>
          <a:lstStyle/>
          <a:p>
            <a:endParaRPr lang="en-US"/>
          </a:p>
        </p:txBody>
      </p:sp>
      <p:sp>
        <p:nvSpPr>
          <p:cNvPr id="43" name="Shape 41"/>
          <p:cNvSpPr/>
          <p:nvPr/>
        </p:nvSpPr>
        <p:spPr>
          <a:xfrm>
            <a:off x="6382512" y="3721608"/>
            <a:ext cx="493776" cy="493776"/>
          </a:xfrm>
          <a:prstGeom prst="rect">
            <a:avLst/>
          </a:prstGeom>
          <a:solidFill>
            <a:srgbClr val="E1F5EE"/>
          </a:solidFill>
          <a:ln w="12700">
            <a:solidFill>
              <a:srgbClr val="FFFFFF"/>
            </a:solidFill>
            <a:prstDash val="solid"/>
          </a:ln>
        </p:spPr>
        <p:txBody>
          <a:bodyPr/>
          <a:lstStyle/>
          <a:p>
            <a:endParaRPr lang="en-US"/>
          </a:p>
        </p:txBody>
      </p:sp>
      <p:sp>
        <p:nvSpPr>
          <p:cNvPr id="44" name="Shape 42"/>
          <p:cNvSpPr/>
          <p:nvPr/>
        </p:nvSpPr>
        <p:spPr>
          <a:xfrm>
            <a:off x="6949440" y="3721608"/>
            <a:ext cx="493776" cy="493776"/>
          </a:xfrm>
          <a:prstGeom prst="rect">
            <a:avLst/>
          </a:prstGeom>
          <a:solidFill>
            <a:srgbClr val="1D9E75"/>
          </a:solidFill>
          <a:ln w="12700">
            <a:solidFill>
              <a:srgbClr val="FFFFFF"/>
            </a:solidFill>
            <a:prstDash val="solid"/>
          </a:ln>
        </p:spPr>
        <p:txBody>
          <a:bodyPr/>
          <a:lstStyle/>
          <a:p>
            <a:endParaRPr lang="en-US"/>
          </a:p>
        </p:txBody>
      </p:sp>
      <p:sp>
        <p:nvSpPr>
          <p:cNvPr id="45" name="Shape 43"/>
          <p:cNvSpPr/>
          <p:nvPr/>
        </p:nvSpPr>
        <p:spPr>
          <a:xfrm>
            <a:off x="7516368" y="3721608"/>
            <a:ext cx="493776" cy="493776"/>
          </a:xfrm>
          <a:prstGeom prst="rect">
            <a:avLst/>
          </a:prstGeom>
          <a:solidFill>
            <a:srgbClr val="0F6E56"/>
          </a:solidFill>
          <a:ln w="12700">
            <a:solidFill>
              <a:srgbClr val="FFFFFF"/>
            </a:solidFill>
            <a:prstDash val="solid"/>
          </a:ln>
        </p:spPr>
        <p:txBody>
          <a:bodyPr/>
          <a:lstStyle/>
          <a:p>
            <a:endParaRPr lang="en-US"/>
          </a:p>
        </p:txBody>
      </p:sp>
      <p:sp>
        <p:nvSpPr>
          <p:cNvPr id="46" name="Text 44"/>
          <p:cNvSpPr/>
          <p:nvPr/>
        </p:nvSpPr>
        <p:spPr>
          <a:xfrm>
            <a:off x="4892040" y="4343400"/>
            <a:ext cx="1828800" cy="256032"/>
          </a:xfrm>
          <a:prstGeom prst="rect">
            <a:avLst/>
          </a:prstGeom>
          <a:noFill/>
          <a:ln/>
        </p:spPr>
        <p:txBody>
          <a:bodyPr wrap="square" lIns="0" tIns="0" rIns="0" bIns="0" rtlCol="0" anchor="ctr"/>
          <a:lstStyle/>
          <a:p>
            <a:pPr marL="0" indent="0" algn="l">
              <a:buNone/>
            </a:pPr>
            <a:r>
              <a:rPr lang="en-US" sz="1050" b="1" dirty="0">
                <a:solidFill>
                  <a:srgbClr val="0F6E56"/>
                </a:solidFill>
                <a:latin typeface="Calibri" pitchFamily="34" charset="0"/>
                <a:ea typeface="Calibri" pitchFamily="34" charset="-122"/>
                <a:cs typeface="Calibri" pitchFamily="34" charset="-120"/>
              </a:rPr>
              <a:t>High similarity</a:t>
            </a:r>
            <a:endParaRPr lang="en-US" sz="1050" dirty="0"/>
          </a:p>
        </p:txBody>
      </p:sp>
      <p:sp>
        <p:nvSpPr>
          <p:cNvPr id="47" name="Text 45"/>
          <p:cNvSpPr/>
          <p:nvPr/>
        </p:nvSpPr>
        <p:spPr>
          <a:xfrm>
            <a:off x="6766560" y="4343400"/>
            <a:ext cx="1828800" cy="256032"/>
          </a:xfrm>
          <a:prstGeom prst="rect">
            <a:avLst/>
          </a:prstGeom>
          <a:noFill/>
          <a:ln/>
        </p:spPr>
        <p:txBody>
          <a:bodyPr wrap="square" lIns="0" tIns="0" rIns="0" bIns="0" rtlCol="0" anchor="ctr"/>
          <a:lstStyle/>
          <a:p>
            <a:pPr marL="0" indent="0" algn="l">
              <a:buNone/>
            </a:pPr>
            <a:r>
              <a:rPr lang="en-US" sz="1050" b="1" dirty="0">
                <a:solidFill>
                  <a:srgbClr val="5CAAAA"/>
                </a:solidFill>
                <a:latin typeface="Calibri" pitchFamily="34" charset="0"/>
                <a:ea typeface="Calibri" pitchFamily="34" charset="-122"/>
                <a:cs typeface="Calibri" pitchFamily="34" charset="-120"/>
              </a:rPr>
              <a:t>Low similarity</a:t>
            </a:r>
            <a:endParaRPr lang="en-US" sz="1050" dirty="0"/>
          </a:p>
        </p:txBody>
      </p:sp>
      <p:sp>
        <p:nvSpPr>
          <p:cNvPr id="48" name="Shape 46"/>
          <p:cNvSpPr/>
          <p:nvPr/>
        </p:nvSpPr>
        <p:spPr>
          <a:xfrm>
            <a:off x="4892040" y="4617720"/>
            <a:ext cx="1737360" cy="201168"/>
          </a:xfrm>
          <a:prstGeom prst="rect">
            <a:avLst/>
          </a:prstGeom>
          <a:solidFill>
            <a:srgbClr val="0F6E56"/>
          </a:solidFill>
          <a:ln/>
        </p:spPr>
        <p:txBody>
          <a:bodyPr/>
          <a:lstStyle/>
          <a:p>
            <a:endParaRPr lang="en-US"/>
          </a:p>
        </p:txBody>
      </p:sp>
      <p:sp>
        <p:nvSpPr>
          <p:cNvPr id="49" name="Shape 47"/>
          <p:cNvSpPr/>
          <p:nvPr/>
        </p:nvSpPr>
        <p:spPr>
          <a:xfrm>
            <a:off x="6629400" y="4617720"/>
            <a:ext cx="1737360" cy="201168"/>
          </a:xfrm>
          <a:prstGeom prst="rect">
            <a:avLst/>
          </a:prstGeom>
          <a:solidFill>
            <a:srgbClr val="E1F5EE"/>
          </a:solidFill>
          <a:ln/>
        </p:spPr>
        <p:txBody>
          <a:bodyPr/>
          <a:lstStyle/>
          <a:p>
            <a:endParaRPr lang="en-US"/>
          </a:p>
        </p:txBody>
      </p:sp>
      <p:sp>
        <p:nvSpPr>
          <p:cNvPr id="50" name="Text 48"/>
          <p:cNvSpPr/>
          <p:nvPr/>
        </p:nvSpPr>
        <p:spPr>
          <a:xfrm>
            <a:off x="4892040" y="4846320"/>
            <a:ext cx="3840480" cy="228600"/>
          </a:xfrm>
          <a:prstGeom prst="rect">
            <a:avLst/>
          </a:prstGeom>
          <a:noFill/>
          <a:ln/>
        </p:spPr>
        <p:txBody>
          <a:bodyPr wrap="square" lIns="0" tIns="0" rIns="0" bIns="0" rtlCol="0" anchor="ctr"/>
          <a:lstStyle/>
          <a:p>
            <a:pPr marL="0" indent="0" algn="ctr">
              <a:buNone/>
            </a:pPr>
            <a:r>
              <a:rPr lang="en-US" sz="1050" i="1" dirty="0">
                <a:solidFill>
                  <a:srgbClr val="888888"/>
                </a:solidFill>
                <a:latin typeface="Calibri" pitchFamily="34" charset="0"/>
                <a:ea typeface="Calibri" pitchFamily="34" charset="-122"/>
                <a:cs typeface="Calibri" pitchFamily="34" charset="-120"/>
              </a:rPr>
              <a:t>Identical patients on diagonal = k = 1</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1E1B3A"/>
                </a:solidFill>
                <a:latin typeface="Trebuchet MS" pitchFamily="34" charset="0"/>
                <a:ea typeface="Trebuchet MS" pitchFamily="34" charset="-122"/>
                <a:cs typeface="Trebuchet MS" pitchFamily="34" charset="-120"/>
              </a:rPr>
              <a:t>Algorithm: Laplace Approximation &amp; Predictions</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Text 2"/>
          <p:cNvSpPr/>
          <p:nvPr/>
        </p:nvSpPr>
        <p:spPr>
          <a:xfrm>
            <a:off x="411480" y="960120"/>
            <a:ext cx="8321040" cy="347472"/>
          </a:xfrm>
          <a:prstGeom prst="rect">
            <a:avLst/>
          </a:prstGeom>
          <a:noFill/>
          <a:ln/>
        </p:spPr>
        <p:txBody>
          <a:bodyPr wrap="square" lIns="0" tIns="0" rIns="0" bIns="0" rtlCol="0" anchor="ctr"/>
          <a:lstStyle/>
          <a:p>
            <a:pPr marL="0" indent="0" algn="l">
              <a:buNone/>
            </a:pPr>
            <a:r>
              <a:rPr lang="en-US" sz="1500" b="1" dirty="0">
                <a:solidFill>
                  <a:srgbClr val="1E1B3A"/>
                </a:solidFill>
                <a:latin typeface="Trebuchet MS" pitchFamily="34" charset="0"/>
                <a:ea typeface="Trebuchet MS" pitchFamily="34" charset="-122"/>
                <a:cs typeface="Trebuchet MS" pitchFamily="34" charset="-120"/>
              </a:rPr>
              <a:t>Step 2 — Approximate the Posterior (Laplace)</a:t>
            </a:r>
            <a:endParaRPr lang="en-US" sz="1500" dirty="0"/>
          </a:p>
        </p:txBody>
      </p:sp>
      <p:sp>
        <p:nvSpPr>
          <p:cNvPr id="5" name="Shape 3"/>
          <p:cNvSpPr/>
          <p:nvPr/>
        </p:nvSpPr>
        <p:spPr>
          <a:xfrm>
            <a:off x="411480" y="1371600"/>
            <a:ext cx="3931920" cy="1417320"/>
          </a:xfrm>
          <a:prstGeom prst="roundRect">
            <a:avLst>
              <a:gd name="adj" fmla="val 6452"/>
            </a:avLst>
          </a:prstGeom>
          <a:solidFill>
            <a:srgbClr val="FAECE7"/>
          </a:solidFill>
          <a:ln/>
        </p:spPr>
        <p:txBody>
          <a:bodyPr/>
          <a:lstStyle/>
          <a:p>
            <a:endParaRPr lang="en-US"/>
          </a:p>
        </p:txBody>
      </p:sp>
      <p:sp>
        <p:nvSpPr>
          <p:cNvPr id="6" name="Text 4"/>
          <p:cNvSpPr/>
          <p:nvPr/>
        </p:nvSpPr>
        <p:spPr>
          <a:xfrm>
            <a:off x="548640" y="1444752"/>
            <a:ext cx="3657600" cy="292608"/>
          </a:xfrm>
          <a:prstGeom prst="rect">
            <a:avLst/>
          </a:prstGeom>
          <a:noFill/>
          <a:ln/>
        </p:spPr>
        <p:txBody>
          <a:bodyPr wrap="square" lIns="0" tIns="0" rIns="0" bIns="0" rtlCol="0" anchor="ctr"/>
          <a:lstStyle/>
          <a:p>
            <a:pPr marL="0" indent="0" algn="l">
              <a:buNone/>
            </a:pPr>
            <a:r>
              <a:rPr lang="en-US" sz="1200" b="1" dirty="0">
                <a:solidFill>
                  <a:srgbClr val="993C1D"/>
                </a:solidFill>
                <a:latin typeface="Calibri" pitchFamily="34" charset="0"/>
                <a:ea typeface="Calibri" pitchFamily="34" charset="-122"/>
                <a:cs typeface="Calibri" pitchFamily="34" charset="-120"/>
              </a:rPr>
              <a:t>The problem</a:t>
            </a:r>
            <a:endParaRPr lang="en-US" sz="1200" dirty="0"/>
          </a:p>
        </p:txBody>
      </p:sp>
      <p:sp>
        <p:nvSpPr>
          <p:cNvPr id="7" name="Text 5"/>
          <p:cNvSpPr/>
          <p:nvPr/>
        </p:nvSpPr>
        <p:spPr>
          <a:xfrm>
            <a:off x="548640" y="1755648"/>
            <a:ext cx="3657600" cy="822960"/>
          </a:xfrm>
          <a:prstGeom prst="rect">
            <a:avLst/>
          </a:prstGeom>
          <a:noFill/>
          <a:ln/>
        </p:spPr>
        <p:txBody>
          <a:bodyPr wrap="square" lIns="0" tIns="0" rIns="0" bIns="0" rtlCol="0" anchor="t"/>
          <a:lstStyle/>
          <a:p>
            <a:pPr marL="0" indent="0" algn="l">
              <a:buNone/>
            </a:pPr>
            <a:r>
              <a:rPr lang="en-US" sz="1250" dirty="0">
                <a:solidFill>
                  <a:srgbClr val="1E1B3A"/>
                </a:solidFill>
                <a:latin typeface="Calibri" pitchFamily="34" charset="0"/>
                <a:ea typeface="Calibri" pitchFamily="34" charset="-122"/>
                <a:cs typeface="Calibri" pitchFamily="34" charset="-120"/>
              </a:rPr>
              <a:t>Prior (Gaussian) × Likelihood (Bernoulli) = Posterior with no closed form</a:t>
            </a:r>
            <a:endParaRPr lang="en-US" sz="1250" dirty="0"/>
          </a:p>
        </p:txBody>
      </p:sp>
      <p:sp>
        <p:nvSpPr>
          <p:cNvPr id="8" name="Shape 6"/>
          <p:cNvSpPr/>
          <p:nvPr/>
        </p:nvSpPr>
        <p:spPr>
          <a:xfrm>
            <a:off x="4800600" y="1371600"/>
            <a:ext cx="3931920" cy="1417320"/>
          </a:xfrm>
          <a:prstGeom prst="roundRect">
            <a:avLst>
              <a:gd name="adj" fmla="val 6452"/>
            </a:avLst>
          </a:prstGeom>
          <a:solidFill>
            <a:srgbClr val="E1F5EE"/>
          </a:solidFill>
          <a:ln/>
        </p:spPr>
        <p:txBody>
          <a:bodyPr/>
          <a:lstStyle/>
          <a:p>
            <a:endParaRPr lang="en-US"/>
          </a:p>
        </p:txBody>
      </p:sp>
      <p:sp>
        <p:nvSpPr>
          <p:cNvPr id="9" name="Text 7"/>
          <p:cNvSpPr/>
          <p:nvPr/>
        </p:nvSpPr>
        <p:spPr>
          <a:xfrm>
            <a:off x="4937760" y="1444752"/>
            <a:ext cx="3657600" cy="292608"/>
          </a:xfrm>
          <a:prstGeom prst="rect">
            <a:avLst/>
          </a:prstGeom>
          <a:noFill/>
          <a:ln/>
        </p:spPr>
        <p:txBody>
          <a:bodyPr wrap="square" lIns="0" tIns="0" rIns="0" bIns="0" rtlCol="0" anchor="ctr"/>
          <a:lstStyle/>
          <a:p>
            <a:pPr marL="0" indent="0" algn="l">
              <a:buNone/>
            </a:pPr>
            <a:r>
              <a:rPr lang="en-US" sz="1200" b="1" dirty="0">
                <a:solidFill>
                  <a:srgbClr val="085041"/>
                </a:solidFill>
                <a:latin typeface="Calibri" pitchFamily="34" charset="0"/>
                <a:ea typeface="Calibri" pitchFamily="34" charset="-122"/>
                <a:cs typeface="Calibri" pitchFamily="34" charset="-120"/>
              </a:rPr>
              <a:t>The solution</a:t>
            </a:r>
            <a:endParaRPr lang="en-US" sz="1200" dirty="0"/>
          </a:p>
        </p:txBody>
      </p:sp>
      <p:sp>
        <p:nvSpPr>
          <p:cNvPr id="10" name="Text 8"/>
          <p:cNvSpPr/>
          <p:nvPr/>
        </p:nvSpPr>
        <p:spPr>
          <a:xfrm>
            <a:off x="4937760" y="1755648"/>
            <a:ext cx="3657600" cy="868680"/>
          </a:xfrm>
          <a:prstGeom prst="rect">
            <a:avLst/>
          </a:prstGeom>
          <a:noFill/>
          <a:ln/>
        </p:spPr>
        <p:txBody>
          <a:bodyPr wrap="square" lIns="0" tIns="0" rIns="0" bIns="0" rtlCol="0" anchor="t"/>
          <a:lstStyle/>
          <a:p>
            <a:pPr marL="0" indent="0" algn="l">
              <a:buNone/>
            </a:pPr>
            <a:r>
              <a:rPr lang="en-US" sz="1250" dirty="0">
                <a:solidFill>
                  <a:srgbClr val="1E1B3A"/>
                </a:solidFill>
                <a:latin typeface="Calibri" pitchFamily="34" charset="0"/>
                <a:ea typeface="Calibri" pitchFamily="34" charset="-122"/>
                <a:cs typeface="Calibri" pitchFamily="34" charset="-120"/>
              </a:rPr>
              <a:t>Newton’s method climbs the log posterior to find the peak ƒ̂, then Laplace fits a Gaussian around it: </a:t>
            </a:r>
          </a:p>
          <a:p>
            <a:pPr marL="0" indent="0" algn="l">
              <a:buNone/>
            </a:pPr>
            <a:endParaRPr lang="en-US" sz="1250" dirty="0">
              <a:solidFill>
                <a:srgbClr val="1E1B3A"/>
              </a:solidFill>
              <a:latin typeface="Calibri" pitchFamily="34" charset="0"/>
              <a:ea typeface="Calibri" pitchFamily="34" charset="-122"/>
              <a:cs typeface="Calibri" pitchFamily="34" charset="-120"/>
            </a:endParaRPr>
          </a:p>
          <a:p>
            <a:pPr marL="0" indent="0" algn="ctr">
              <a:buNone/>
            </a:pPr>
            <a:r>
              <a:rPr lang="en-US" sz="1250" dirty="0">
                <a:solidFill>
                  <a:srgbClr val="1E1B3A"/>
                </a:solidFill>
                <a:latin typeface="Calibri" pitchFamily="34" charset="0"/>
                <a:ea typeface="Calibri" pitchFamily="34" charset="-122"/>
                <a:cs typeface="Calibri" pitchFamily="34" charset="-120"/>
              </a:rPr>
              <a:t>q(f|y) = N(ƒ̂, Σ)</a:t>
            </a:r>
            <a:endParaRPr lang="en-US" sz="1250" dirty="0"/>
          </a:p>
        </p:txBody>
      </p:sp>
      <p:sp>
        <p:nvSpPr>
          <p:cNvPr id="11" name="Shape 9"/>
          <p:cNvSpPr/>
          <p:nvPr/>
        </p:nvSpPr>
        <p:spPr>
          <a:xfrm>
            <a:off x="4370832" y="1810512"/>
            <a:ext cx="411480" cy="502920"/>
          </a:xfrm>
          <a:prstGeom prst="rightArrow">
            <a:avLst/>
          </a:prstGeom>
          <a:solidFill>
            <a:srgbClr val="B31166"/>
          </a:solidFill>
          <a:ln/>
        </p:spPr>
        <p:txBody>
          <a:bodyPr/>
          <a:lstStyle/>
          <a:p>
            <a:endParaRPr lang="en-US"/>
          </a:p>
        </p:txBody>
      </p:sp>
      <p:sp>
        <p:nvSpPr>
          <p:cNvPr id="12" name="Text 10"/>
          <p:cNvSpPr/>
          <p:nvPr/>
        </p:nvSpPr>
        <p:spPr>
          <a:xfrm>
            <a:off x="411480" y="2841844"/>
            <a:ext cx="8321040" cy="347472"/>
          </a:xfrm>
          <a:prstGeom prst="rect">
            <a:avLst/>
          </a:prstGeom>
          <a:noFill/>
          <a:ln/>
        </p:spPr>
        <p:txBody>
          <a:bodyPr wrap="square" lIns="0" tIns="0" rIns="0" bIns="0" rtlCol="0" anchor="ctr"/>
          <a:lstStyle/>
          <a:p>
            <a:pPr marL="0" indent="0" algn="l">
              <a:buNone/>
            </a:pPr>
            <a:r>
              <a:rPr lang="en-US" sz="1500" b="1" dirty="0">
                <a:solidFill>
                  <a:srgbClr val="1E1B3A"/>
                </a:solidFill>
                <a:latin typeface="Trebuchet MS" pitchFamily="34" charset="0"/>
                <a:ea typeface="Trebuchet MS" pitchFamily="34" charset="-122"/>
                <a:cs typeface="Trebuchet MS" pitchFamily="34" charset="-120"/>
              </a:rPr>
              <a:t>Step 3 — Predict for a New Patient</a:t>
            </a:r>
            <a:endParaRPr lang="en-US" sz="1500" dirty="0"/>
          </a:p>
        </p:txBody>
      </p:sp>
      <p:sp>
        <p:nvSpPr>
          <p:cNvPr id="13" name="Shape 11"/>
          <p:cNvSpPr/>
          <p:nvPr/>
        </p:nvSpPr>
        <p:spPr>
          <a:xfrm>
            <a:off x="411480" y="3271612"/>
            <a:ext cx="1993392" cy="1481328"/>
          </a:xfrm>
          <a:prstGeom prst="roundRect">
            <a:avLst>
              <a:gd name="adj" fmla="val 6173"/>
            </a:avLst>
          </a:prstGeom>
          <a:solidFill>
            <a:srgbClr val="1E1B3A"/>
          </a:solidFill>
          <a:ln/>
        </p:spPr>
        <p:txBody>
          <a:bodyPr/>
          <a:lstStyle/>
          <a:p>
            <a:endParaRPr lang="en-US"/>
          </a:p>
        </p:txBody>
      </p:sp>
      <p:sp>
        <p:nvSpPr>
          <p:cNvPr id="14" name="Text 12"/>
          <p:cNvSpPr/>
          <p:nvPr/>
        </p:nvSpPr>
        <p:spPr>
          <a:xfrm>
            <a:off x="411480" y="3344764"/>
            <a:ext cx="199339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Features</a:t>
            </a:r>
            <a:endParaRPr lang="en-US" sz="1600" dirty="0"/>
          </a:p>
          <a:p>
            <a:pPr marL="0" indent="0" algn="ctr">
              <a:buNone/>
            </a:pPr>
            <a:r>
              <a:rPr lang="en-US" sz="1600" b="1" dirty="0">
                <a:solidFill>
                  <a:srgbClr val="FFFFFF"/>
                </a:solidFill>
                <a:latin typeface="Trebuchet MS" pitchFamily="34" charset="0"/>
                <a:ea typeface="Trebuchet MS" pitchFamily="34" charset="-122"/>
                <a:cs typeface="Trebuchet MS" pitchFamily="34" charset="-120"/>
              </a:rPr>
              <a:t>x∗</a:t>
            </a:r>
            <a:endParaRPr lang="en-US" sz="1600" dirty="0"/>
          </a:p>
        </p:txBody>
      </p:sp>
      <p:sp>
        <p:nvSpPr>
          <p:cNvPr id="15" name="Text 13"/>
          <p:cNvSpPr/>
          <p:nvPr/>
        </p:nvSpPr>
        <p:spPr>
          <a:xfrm>
            <a:off x="411480" y="3875116"/>
            <a:ext cx="1993392" cy="804672"/>
          </a:xfrm>
          <a:prstGeom prst="rect">
            <a:avLst/>
          </a:prstGeom>
          <a:noFill/>
          <a:ln/>
        </p:spPr>
        <p:txBody>
          <a:bodyPr wrap="square" lIns="1016" tIns="1016" rIns="1016" bIns="1016" rtlCol="0" anchor="t"/>
          <a:lstStyle/>
          <a:p>
            <a:pPr marL="0" indent="0" algn="ctr">
              <a:buNone/>
            </a:pPr>
            <a:r>
              <a:rPr lang="en-US" sz="1100" dirty="0">
                <a:solidFill>
                  <a:srgbClr val="C4BCDA"/>
                </a:solidFill>
                <a:latin typeface="Calibri" pitchFamily="34" charset="0"/>
                <a:ea typeface="Calibri" pitchFamily="34" charset="-122"/>
                <a:cs typeface="Calibri" pitchFamily="34" charset="-120"/>
              </a:rPr>
              <a:t>Age, nWBV,</a:t>
            </a:r>
            <a:endParaRPr lang="en-US" sz="1100" dirty="0"/>
          </a:p>
          <a:p>
            <a:pPr marL="0" indent="0" algn="ctr">
              <a:buNone/>
            </a:pPr>
            <a:r>
              <a:rPr lang="en-US" sz="1100" dirty="0">
                <a:solidFill>
                  <a:srgbClr val="C4BCDA"/>
                </a:solidFill>
                <a:latin typeface="Calibri" pitchFamily="34" charset="0"/>
                <a:ea typeface="Calibri" pitchFamily="34" charset="-122"/>
                <a:cs typeface="Calibri" pitchFamily="34" charset="-120"/>
              </a:rPr>
              <a:t>SES, Educ, Sex</a:t>
            </a:r>
            <a:endParaRPr lang="en-US" sz="1100" dirty="0"/>
          </a:p>
        </p:txBody>
      </p:sp>
      <p:sp>
        <p:nvSpPr>
          <p:cNvPr id="16" name="Shape 14"/>
          <p:cNvSpPr/>
          <p:nvPr/>
        </p:nvSpPr>
        <p:spPr>
          <a:xfrm>
            <a:off x="2441448" y="3801964"/>
            <a:ext cx="164592" cy="320040"/>
          </a:xfrm>
          <a:prstGeom prst="rightArrow">
            <a:avLst/>
          </a:prstGeom>
          <a:solidFill>
            <a:srgbClr val="B31166"/>
          </a:solidFill>
          <a:ln/>
        </p:spPr>
        <p:txBody>
          <a:bodyPr/>
          <a:lstStyle/>
          <a:p>
            <a:endParaRPr lang="en-US"/>
          </a:p>
        </p:txBody>
      </p:sp>
      <p:sp>
        <p:nvSpPr>
          <p:cNvPr id="17" name="Shape 15"/>
          <p:cNvSpPr/>
          <p:nvPr/>
        </p:nvSpPr>
        <p:spPr>
          <a:xfrm>
            <a:off x="2624328" y="3271612"/>
            <a:ext cx="1993392" cy="1481328"/>
          </a:xfrm>
          <a:prstGeom prst="roundRect">
            <a:avLst>
              <a:gd name="adj" fmla="val 6173"/>
            </a:avLst>
          </a:prstGeom>
          <a:solidFill>
            <a:srgbClr val="3B3059"/>
          </a:solidFill>
          <a:ln/>
        </p:spPr>
        <p:txBody>
          <a:bodyPr/>
          <a:lstStyle/>
          <a:p>
            <a:endParaRPr lang="en-US"/>
          </a:p>
        </p:txBody>
      </p:sp>
      <p:sp>
        <p:nvSpPr>
          <p:cNvPr id="18" name="Text 16"/>
          <p:cNvSpPr/>
          <p:nvPr/>
        </p:nvSpPr>
        <p:spPr>
          <a:xfrm>
            <a:off x="2624328" y="3344764"/>
            <a:ext cx="199339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Kernel</a:t>
            </a:r>
            <a:endParaRPr lang="en-US" sz="1600" dirty="0"/>
          </a:p>
          <a:p>
            <a:pPr marL="0" indent="0" algn="ctr">
              <a:buNone/>
            </a:pPr>
            <a:r>
              <a:rPr lang="en-US" sz="1600" b="1" dirty="0">
                <a:solidFill>
                  <a:srgbClr val="FFFFFF"/>
                </a:solidFill>
                <a:latin typeface="Trebuchet MS" pitchFamily="34" charset="0"/>
                <a:ea typeface="Trebuchet MS" pitchFamily="34" charset="-122"/>
                <a:cs typeface="Trebuchet MS" pitchFamily="34" charset="-120"/>
              </a:rPr>
              <a:t>weights</a:t>
            </a:r>
            <a:endParaRPr lang="en-US" sz="1600" dirty="0"/>
          </a:p>
        </p:txBody>
      </p:sp>
      <p:sp>
        <p:nvSpPr>
          <p:cNvPr id="19" name="Text 17"/>
          <p:cNvSpPr/>
          <p:nvPr/>
        </p:nvSpPr>
        <p:spPr>
          <a:xfrm>
            <a:off x="2624328" y="3875116"/>
            <a:ext cx="1993392" cy="804672"/>
          </a:xfrm>
          <a:prstGeom prst="rect">
            <a:avLst/>
          </a:prstGeom>
          <a:noFill/>
          <a:ln/>
        </p:spPr>
        <p:txBody>
          <a:bodyPr wrap="square" lIns="1016" tIns="1016" rIns="1016" bIns="1016" rtlCol="0" anchor="t"/>
          <a:lstStyle/>
          <a:p>
            <a:pPr marL="0" indent="0" algn="ctr">
              <a:buNone/>
            </a:pPr>
            <a:r>
              <a:rPr lang="en-US" sz="1100" dirty="0">
                <a:solidFill>
                  <a:srgbClr val="C4BCDA"/>
                </a:solidFill>
                <a:latin typeface="Calibri" pitchFamily="34" charset="0"/>
                <a:ea typeface="Calibri" pitchFamily="34" charset="-122"/>
                <a:cs typeface="Calibri" pitchFamily="34" charset="-120"/>
              </a:rPr>
              <a:t>How similar is</a:t>
            </a:r>
            <a:endParaRPr lang="en-US" sz="1100" dirty="0"/>
          </a:p>
          <a:p>
            <a:pPr marL="0" indent="0" algn="ctr">
              <a:buNone/>
            </a:pPr>
            <a:r>
              <a:rPr lang="en-US" sz="1100" dirty="0">
                <a:solidFill>
                  <a:srgbClr val="C4BCDA"/>
                </a:solidFill>
                <a:latin typeface="Calibri" pitchFamily="34" charset="0"/>
                <a:ea typeface="Calibri" pitchFamily="34" charset="-122"/>
                <a:cs typeface="Calibri" pitchFamily="34" charset="-120"/>
              </a:rPr>
              <a:t>this patient to</a:t>
            </a:r>
            <a:endParaRPr lang="en-US" sz="1100" dirty="0"/>
          </a:p>
          <a:p>
            <a:pPr marL="0" indent="0" algn="ctr">
              <a:buNone/>
            </a:pPr>
            <a:r>
              <a:rPr lang="en-US" sz="1100" dirty="0">
                <a:solidFill>
                  <a:srgbClr val="C4BCDA"/>
                </a:solidFill>
                <a:latin typeface="Calibri" pitchFamily="34" charset="0"/>
                <a:ea typeface="Calibri" pitchFamily="34" charset="-122"/>
                <a:cs typeface="Calibri" pitchFamily="34" charset="-120"/>
              </a:rPr>
              <a:t>training data?</a:t>
            </a:r>
            <a:endParaRPr lang="en-US" sz="1100" dirty="0"/>
          </a:p>
        </p:txBody>
      </p:sp>
      <p:sp>
        <p:nvSpPr>
          <p:cNvPr id="20" name="Shape 18"/>
          <p:cNvSpPr/>
          <p:nvPr/>
        </p:nvSpPr>
        <p:spPr>
          <a:xfrm>
            <a:off x="4654296" y="3801964"/>
            <a:ext cx="164592" cy="320040"/>
          </a:xfrm>
          <a:prstGeom prst="rightArrow">
            <a:avLst/>
          </a:prstGeom>
          <a:solidFill>
            <a:srgbClr val="B31166"/>
          </a:solidFill>
          <a:ln/>
        </p:spPr>
        <p:txBody>
          <a:bodyPr/>
          <a:lstStyle/>
          <a:p>
            <a:endParaRPr lang="en-US"/>
          </a:p>
        </p:txBody>
      </p:sp>
      <p:sp>
        <p:nvSpPr>
          <p:cNvPr id="21" name="Shape 19"/>
          <p:cNvSpPr/>
          <p:nvPr/>
        </p:nvSpPr>
        <p:spPr>
          <a:xfrm>
            <a:off x="4837176" y="3271612"/>
            <a:ext cx="1993392" cy="1481328"/>
          </a:xfrm>
          <a:prstGeom prst="roundRect">
            <a:avLst>
              <a:gd name="adj" fmla="val 6173"/>
            </a:avLst>
          </a:prstGeom>
          <a:solidFill>
            <a:srgbClr val="B31166"/>
          </a:solidFill>
          <a:ln/>
        </p:spPr>
        <p:txBody>
          <a:bodyPr/>
          <a:lstStyle/>
          <a:p>
            <a:endParaRPr lang="en-US"/>
          </a:p>
        </p:txBody>
      </p:sp>
      <p:sp>
        <p:nvSpPr>
          <p:cNvPr id="22" name="Text 20"/>
          <p:cNvSpPr/>
          <p:nvPr/>
        </p:nvSpPr>
        <p:spPr>
          <a:xfrm>
            <a:off x="4837176" y="3344764"/>
            <a:ext cx="199339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μ∗, σ²∗</a:t>
            </a:r>
            <a:endParaRPr lang="en-US" sz="1600" dirty="0"/>
          </a:p>
        </p:txBody>
      </p:sp>
      <p:sp>
        <p:nvSpPr>
          <p:cNvPr id="23" name="Text 21"/>
          <p:cNvSpPr/>
          <p:nvPr/>
        </p:nvSpPr>
        <p:spPr>
          <a:xfrm>
            <a:off x="4837176" y="3875116"/>
            <a:ext cx="1993392" cy="804672"/>
          </a:xfrm>
          <a:prstGeom prst="rect">
            <a:avLst/>
          </a:prstGeom>
          <a:noFill/>
          <a:ln/>
        </p:spPr>
        <p:txBody>
          <a:bodyPr wrap="square" lIns="1016" tIns="1016" rIns="1016" bIns="1016" rtlCol="0" anchor="t"/>
          <a:lstStyle/>
          <a:p>
            <a:pPr marL="0" indent="0" algn="ctr">
              <a:buNone/>
            </a:pPr>
            <a:r>
              <a:rPr lang="en-US" sz="1100" dirty="0">
                <a:solidFill>
                  <a:srgbClr val="C4BCDA"/>
                </a:solidFill>
                <a:latin typeface="Calibri" pitchFamily="34" charset="0"/>
                <a:ea typeface="Calibri" pitchFamily="34" charset="-122"/>
                <a:cs typeface="Calibri" pitchFamily="34" charset="-120"/>
              </a:rPr>
              <a:t>Predictive mean</a:t>
            </a:r>
            <a:endParaRPr lang="en-US" sz="1100" dirty="0"/>
          </a:p>
          <a:p>
            <a:pPr marL="0" indent="0" algn="ctr">
              <a:buNone/>
            </a:pPr>
            <a:r>
              <a:rPr lang="en-US" sz="1100" dirty="0">
                <a:solidFill>
                  <a:srgbClr val="C4BCDA"/>
                </a:solidFill>
                <a:latin typeface="Calibri" pitchFamily="34" charset="0"/>
                <a:ea typeface="Calibri" pitchFamily="34" charset="-122"/>
                <a:cs typeface="Calibri" pitchFamily="34" charset="-120"/>
              </a:rPr>
              <a:t>&amp; variance</a:t>
            </a:r>
            <a:endParaRPr lang="en-US" sz="1100" dirty="0"/>
          </a:p>
        </p:txBody>
      </p:sp>
      <p:sp>
        <p:nvSpPr>
          <p:cNvPr id="24" name="Shape 22"/>
          <p:cNvSpPr/>
          <p:nvPr/>
        </p:nvSpPr>
        <p:spPr>
          <a:xfrm>
            <a:off x="6867144" y="3801964"/>
            <a:ext cx="164592" cy="320040"/>
          </a:xfrm>
          <a:prstGeom prst="rightArrow">
            <a:avLst/>
          </a:prstGeom>
          <a:solidFill>
            <a:srgbClr val="B31166"/>
          </a:solidFill>
          <a:ln/>
        </p:spPr>
        <p:txBody>
          <a:bodyPr/>
          <a:lstStyle/>
          <a:p>
            <a:endParaRPr lang="en-US"/>
          </a:p>
        </p:txBody>
      </p:sp>
      <p:sp>
        <p:nvSpPr>
          <p:cNvPr id="25" name="Shape 23"/>
          <p:cNvSpPr/>
          <p:nvPr/>
        </p:nvSpPr>
        <p:spPr>
          <a:xfrm>
            <a:off x="7050024" y="3271612"/>
            <a:ext cx="1993392" cy="1481328"/>
          </a:xfrm>
          <a:prstGeom prst="roundRect">
            <a:avLst>
              <a:gd name="adj" fmla="val 6173"/>
            </a:avLst>
          </a:prstGeom>
          <a:solidFill>
            <a:srgbClr val="02A676"/>
          </a:solidFill>
          <a:ln/>
        </p:spPr>
        <p:txBody>
          <a:bodyPr/>
          <a:lstStyle/>
          <a:p>
            <a:endParaRPr lang="en-US"/>
          </a:p>
        </p:txBody>
      </p:sp>
      <p:sp>
        <p:nvSpPr>
          <p:cNvPr id="26" name="Text 24"/>
          <p:cNvSpPr/>
          <p:nvPr/>
        </p:nvSpPr>
        <p:spPr>
          <a:xfrm>
            <a:off x="7050024" y="3344764"/>
            <a:ext cx="199339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P(CDR&gt;0)</a:t>
            </a:r>
            <a:endParaRPr lang="en-US" sz="1600" dirty="0"/>
          </a:p>
        </p:txBody>
      </p:sp>
      <p:sp>
        <p:nvSpPr>
          <p:cNvPr id="27" name="Text 25"/>
          <p:cNvSpPr/>
          <p:nvPr/>
        </p:nvSpPr>
        <p:spPr>
          <a:xfrm>
            <a:off x="7050024" y="3875116"/>
            <a:ext cx="1993392" cy="804672"/>
          </a:xfrm>
          <a:prstGeom prst="rect">
            <a:avLst/>
          </a:prstGeom>
          <a:noFill/>
          <a:ln/>
        </p:spPr>
        <p:txBody>
          <a:bodyPr wrap="square" lIns="1016" tIns="1016" rIns="1016" bIns="1016" rtlCol="0" anchor="t"/>
          <a:lstStyle/>
          <a:p>
            <a:pPr marL="0" indent="0" algn="ctr">
              <a:buNone/>
            </a:pPr>
            <a:r>
              <a:rPr lang="en-US" sz="1100" dirty="0">
                <a:solidFill>
                  <a:schemeClr val="bg1">
                    <a:lumMod val="95000"/>
                  </a:schemeClr>
                </a:solidFill>
                <a:latin typeface="Calibri" pitchFamily="34" charset="0"/>
                <a:ea typeface="Calibri" pitchFamily="34" charset="-122"/>
                <a:cs typeface="Calibri" pitchFamily="34" charset="-120"/>
              </a:rPr>
              <a:t>sigmoid squash</a:t>
            </a:r>
            <a:endParaRPr lang="en-US" sz="1100" dirty="0">
              <a:solidFill>
                <a:schemeClr val="bg1">
                  <a:lumMod val="95000"/>
                </a:schemeClr>
              </a:solidFill>
            </a:endParaRPr>
          </a:p>
          <a:p>
            <a:pPr marL="0" indent="0" algn="ctr">
              <a:buNone/>
            </a:pPr>
            <a:r>
              <a:rPr lang="en-US" sz="1100" dirty="0">
                <a:solidFill>
                  <a:schemeClr val="bg1">
                    <a:lumMod val="95000"/>
                  </a:schemeClr>
                </a:solidFill>
                <a:latin typeface="Calibri" pitchFamily="34" charset="0"/>
                <a:ea typeface="Calibri" pitchFamily="34" charset="-122"/>
                <a:cs typeface="Calibri" pitchFamily="34" charset="-120"/>
              </a:rPr>
              <a:t>with uncertainty</a:t>
            </a:r>
            <a:endParaRPr lang="en-US" sz="1100" dirty="0">
              <a:solidFill>
                <a:schemeClr val="bg1">
                  <a:lumMod val="95000"/>
                </a:schemeClr>
              </a:solidFill>
            </a:endParaRPr>
          </a:p>
        </p:txBody>
      </p:sp>
      <p:sp>
        <p:nvSpPr>
          <p:cNvPr id="28" name="Shape 26"/>
          <p:cNvSpPr/>
          <p:nvPr/>
        </p:nvSpPr>
        <p:spPr>
          <a:xfrm>
            <a:off x="411480" y="4789516"/>
            <a:ext cx="8321040" cy="292608"/>
          </a:xfrm>
          <a:prstGeom prst="roundRect">
            <a:avLst>
              <a:gd name="adj" fmla="val 21875"/>
            </a:avLst>
          </a:prstGeom>
          <a:solidFill>
            <a:srgbClr val="1E1B3A">
              <a:alpha val="90000"/>
            </a:srgbClr>
          </a:solidFill>
          <a:ln/>
        </p:spPr>
        <p:txBody>
          <a:bodyPr/>
          <a:lstStyle/>
          <a:p>
            <a:endParaRPr lang="en-US"/>
          </a:p>
        </p:txBody>
      </p:sp>
      <p:sp>
        <p:nvSpPr>
          <p:cNvPr id="29" name="Text 27"/>
          <p:cNvSpPr/>
          <p:nvPr/>
        </p:nvSpPr>
        <p:spPr>
          <a:xfrm>
            <a:off x="502920" y="4789516"/>
            <a:ext cx="8138160" cy="292608"/>
          </a:xfrm>
          <a:prstGeom prst="rect">
            <a:avLst/>
          </a:prstGeom>
          <a:noFill/>
          <a:ln/>
        </p:spPr>
        <p:txBody>
          <a:bodyPr wrap="square" lIns="0" tIns="0" rIns="0" bIns="0" rtlCol="0" anchor="ctr"/>
          <a:lstStyle/>
          <a:p>
            <a:pPr marL="0" indent="0" algn="ctr">
              <a:buNone/>
            </a:pPr>
            <a:r>
              <a:rPr lang="en-US" sz="1150" i="1" dirty="0">
                <a:solidFill>
                  <a:srgbClr val="FFFFFF"/>
                </a:solidFill>
                <a:latin typeface="Calibri" pitchFamily="34" charset="0"/>
                <a:ea typeface="Calibri" pitchFamily="34" charset="-122"/>
                <a:cs typeface="Calibri" pitchFamily="34" charset="-120"/>
              </a:rPr>
              <a:t>Large σ²∗ = model hedges toward 0.5 (honest uncertainty)     |     Small σ²∗ = confident, like logistic regression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1E1B3A"/>
                </a:solidFill>
                <a:latin typeface="Trebuchet MS" pitchFamily="34" charset="0"/>
                <a:ea typeface="Trebuchet MS" pitchFamily="34" charset="-122"/>
                <a:cs typeface="Trebuchet MS" pitchFamily="34" charset="-120"/>
              </a:rPr>
              <a:t>Results: Model Performance &amp; Feature Relevance</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Shape 2"/>
          <p:cNvSpPr/>
          <p:nvPr/>
        </p:nvSpPr>
        <p:spPr>
          <a:xfrm>
            <a:off x="411480" y="960120"/>
            <a:ext cx="2743200" cy="2560320"/>
          </a:xfrm>
          <a:prstGeom prst="roundRect">
            <a:avLst>
              <a:gd name="adj" fmla="val 4286"/>
            </a:avLst>
          </a:prstGeom>
          <a:solidFill>
            <a:srgbClr val="1E1B3A"/>
          </a:solidFill>
          <a:ln/>
        </p:spPr>
        <p:txBody>
          <a:bodyPr/>
          <a:lstStyle/>
          <a:p>
            <a:endParaRPr lang="en-US"/>
          </a:p>
        </p:txBody>
      </p:sp>
      <p:sp>
        <p:nvSpPr>
          <p:cNvPr id="5" name="Text 3"/>
          <p:cNvSpPr/>
          <p:nvPr/>
        </p:nvSpPr>
        <p:spPr>
          <a:xfrm>
            <a:off x="502920" y="1078992"/>
            <a:ext cx="2560320" cy="347472"/>
          </a:xfrm>
          <a:prstGeom prst="rect">
            <a:avLst/>
          </a:prstGeom>
          <a:noFill/>
          <a:ln/>
        </p:spPr>
        <p:txBody>
          <a:bodyPr wrap="square" lIns="0" tIns="0" rIns="0" bIns="0" rtlCol="0" anchor="ctr"/>
          <a:lstStyle/>
          <a:p>
            <a:pPr marL="0" indent="0" algn="ctr">
              <a:buNone/>
            </a:pPr>
            <a:r>
              <a:rPr lang="en-US" sz="1400" b="1" dirty="0">
                <a:solidFill>
                  <a:srgbClr val="C4BCDA"/>
                </a:solidFill>
                <a:latin typeface="Trebuchet MS" pitchFamily="34" charset="0"/>
                <a:ea typeface="Trebuchet MS" pitchFamily="34" charset="-122"/>
                <a:cs typeface="Trebuchet MS" pitchFamily="34" charset="-120"/>
              </a:rPr>
              <a:t>AUC-ROC</a:t>
            </a:r>
            <a:endParaRPr lang="en-US" sz="1400" dirty="0"/>
          </a:p>
        </p:txBody>
      </p:sp>
      <p:sp>
        <p:nvSpPr>
          <p:cNvPr id="6" name="Text 4"/>
          <p:cNvSpPr/>
          <p:nvPr/>
        </p:nvSpPr>
        <p:spPr>
          <a:xfrm>
            <a:off x="502920" y="1463040"/>
            <a:ext cx="2560320" cy="777240"/>
          </a:xfrm>
          <a:prstGeom prst="rect">
            <a:avLst/>
          </a:prstGeom>
          <a:noFill/>
          <a:ln/>
        </p:spPr>
        <p:txBody>
          <a:bodyPr wrap="square" lIns="0" tIns="0" rIns="0" bIns="0" rtlCol="0" anchor="ctr"/>
          <a:lstStyle/>
          <a:p>
            <a:pPr marL="0" indent="0" algn="ctr">
              <a:buNone/>
            </a:pPr>
            <a:r>
              <a:rPr lang="en-US" sz="5200" b="1" dirty="0">
                <a:solidFill>
                  <a:srgbClr val="FFFFFF"/>
                </a:solidFill>
                <a:latin typeface="Trebuchet MS" pitchFamily="34" charset="0"/>
                <a:ea typeface="Trebuchet MS" pitchFamily="34" charset="-122"/>
                <a:cs typeface="Trebuchet MS" pitchFamily="34" charset="-120"/>
              </a:rPr>
              <a:t>0.775</a:t>
            </a:r>
            <a:endParaRPr lang="en-US" sz="5200" dirty="0"/>
          </a:p>
        </p:txBody>
      </p:sp>
      <p:sp>
        <p:nvSpPr>
          <p:cNvPr id="7" name="Text 5"/>
          <p:cNvSpPr/>
          <p:nvPr/>
        </p:nvSpPr>
        <p:spPr>
          <a:xfrm>
            <a:off x="502920" y="2267712"/>
            <a:ext cx="2560320" cy="274320"/>
          </a:xfrm>
          <a:prstGeom prst="rect">
            <a:avLst/>
          </a:prstGeom>
          <a:noFill/>
          <a:ln/>
        </p:spPr>
        <p:txBody>
          <a:bodyPr wrap="square" lIns="0" tIns="0" rIns="0" bIns="0" rtlCol="0" anchor="ctr"/>
          <a:lstStyle/>
          <a:p>
            <a:pPr marL="0" indent="0" algn="ctr">
              <a:buNone/>
            </a:pPr>
            <a:r>
              <a:rPr lang="en-US" sz="1200" dirty="0">
                <a:solidFill>
                  <a:srgbClr val="C4BCDA"/>
                </a:solidFill>
                <a:latin typeface="Calibri" pitchFamily="34" charset="0"/>
                <a:ea typeface="Calibri" pitchFamily="34" charset="-122"/>
                <a:cs typeface="Calibri" pitchFamily="34" charset="-120"/>
              </a:rPr>
              <a:t>±0.046 across 5 folds</a:t>
            </a:r>
            <a:endParaRPr lang="en-US" sz="1200" dirty="0"/>
          </a:p>
        </p:txBody>
      </p:sp>
      <p:sp>
        <p:nvSpPr>
          <p:cNvPr id="8" name="Shape 6"/>
          <p:cNvSpPr/>
          <p:nvPr/>
        </p:nvSpPr>
        <p:spPr>
          <a:xfrm>
            <a:off x="685800" y="2578608"/>
            <a:ext cx="2194560" cy="45720"/>
          </a:xfrm>
          <a:prstGeom prst="rect">
            <a:avLst/>
          </a:prstGeom>
          <a:solidFill>
            <a:srgbClr val="B31166"/>
          </a:solidFill>
          <a:ln/>
        </p:spPr>
        <p:txBody>
          <a:bodyPr/>
          <a:lstStyle/>
          <a:p>
            <a:endParaRPr lang="en-US"/>
          </a:p>
        </p:txBody>
      </p:sp>
      <p:sp>
        <p:nvSpPr>
          <p:cNvPr id="9" name="Text 7"/>
          <p:cNvSpPr/>
          <p:nvPr/>
        </p:nvSpPr>
        <p:spPr>
          <a:xfrm>
            <a:off x="502920" y="2651760"/>
            <a:ext cx="2560320" cy="640080"/>
          </a:xfrm>
          <a:prstGeom prst="rect">
            <a:avLst/>
          </a:prstGeom>
          <a:noFill/>
          <a:ln/>
        </p:spPr>
        <p:txBody>
          <a:bodyPr wrap="square" lIns="0" tIns="0" rIns="0" bIns="0" rtlCol="0" anchor="t"/>
          <a:lstStyle/>
          <a:p>
            <a:pPr marL="0" indent="0" algn="ctr">
              <a:buNone/>
            </a:pPr>
            <a:r>
              <a:rPr lang="en-US" sz="1100" dirty="0">
                <a:solidFill>
                  <a:srgbClr val="C4BCDA"/>
                </a:solidFill>
                <a:latin typeface="Calibri" pitchFamily="34" charset="0"/>
                <a:ea typeface="Calibri" pitchFamily="34" charset="-122"/>
                <a:cs typeface="Calibri" pitchFamily="34" charset="-120"/>
              </a:rPr>
              <a:t>Moderate discrimination</a:t>
            </a:r>
            <a:endParaRPr lang="en-US" sz="1100" dirty="0"/>
          </a:p>
          <a:p>
            <a:pPr marL="0" indent="0" algn="ctr">
              <a:buNone/>
            </a:pPr>
            <a:r>
              <a:rPr lang="en-US" sz="1100" dirty="0">
                <a:solidFill>
                  <a:srgbClr val="C4BCDA"/>
                </a:solidFill>
                <a:latin typeface="Calibri" pitchFamily="34" charset="0"/>
                <a:ea typeface="Calibri" pitchFamily="34" charset="-122"/>
                <a:cs typeface="Calibri" pitchFamily="34" charset="-120"/>
              </a:rPr>
              <a:t>5-fold stratified CV</a:t>
            </a:r>
            <a:endParaRPr lang="en-US" sz="1100" dirty="0"/>
          </a:p>
        </p:txBody>
      </p:sp>
      <p:sp>
        <p:nvSpPr>
          <p:cNvPr id="10" name="Text 8"/>
          <p:cNvSpPr/>
          <p:nvPr/>
        </p:nvSpPr>
        <p:spPr>
          <a:xfrm>
            <a:off x="3429000" y="960120"/>
            <a:ext cx="5303520" cy="347472"/>
          </a:xfrm>
          <a:prstGeom prst="rect">
            <a:avLst/>
          </a:prstGeom>
          <a:noFill/>
          <a:ln/>
        </p:spPr>
        <p:txBody>
          <a:bodyPr wrap="square" lIns="0" tIns="0" rIns="0" bIns="0" rtlCol="0" anchor="ctr"/>
          <a:lstStyle/>
          <a:p>
            <a:pPr marL="0" indent="0" algn="l">
              <a:buNone/>
            </a:pPr>
            <a:r>
              <a:rPr lang="en-US" sz="1400" b="1" dirty="0">
                <a:solidFill>
                  <a:srgbClr val="1E1B3A"/>
                </a:solidFill>
                <a:latin typeface="Trebuchet MS" pitchFamily="34" charset="0"/>
                <a:ea typeface="Trebuchet MS" pitchFamily="34" charset="-122"/>
                <a:cs typeface="Trebuchet MS" pitchFamily="34" charset="-120"/>
              </a:rPr>
              <a:t>ARD Length-scales (smaller = more influential)</a:t>
            </a:r>
            <a:endParaRPr lang="en-US" sz="1400" dirty="0"/>
          </a:p>
        </p:txBody>
      </p:sp>
      <p:sp>
        <p:nvSpPr>
          <p:cNvPr id="11" name="Text 9"/>
          <p:cNvSpPr/>
          <p:nvPr/>
        </p:nvSpPr>
        <p:spPr>
          <a:xfrm>
            <a:off x="3429000" y="1315593"/>
            <a:ext cx="777240" cy="384048"/>
          </a:xfrm>
          <a:prstGeom prst="rect">
            <a:avLst/>
          </a:prstGeom>
          <a:noFill/>
          <a:ln/>
        </p:spPr>
        <p:txBody>
          <a:bodyPr wrap="square" lIns="0" tIns="0" rIns="0" bIns="0" rtlCol="0" anchor="ctr"/>
          <a:lstStyle/>
          <a:p>
            <a:pPr marL="0" indent="0" algn="r">
              <a:buNone/>
            </a:pPr>
            <a:r>
              <a:rPr lang="en-US" sz="1300" b="1" dirty="0">
                <a:solidFill>
                  <a:srgbClr val="B31166"/>
                </a:solidFill>
                <a:latin typeface="Calibri" pitchFamily="34" charset="0"/>
                <a:ea typeface="Calibri" pitchFamily="34" charset="-122"/>
                <a:cs typeface="Calibri" pitchFamily="34" charset="-120"/>
              </a:rPr>
              <a:t>EDUC</a:t>
            </a:r>
            <a:endParaRPr lang="en-US" sz="1300" dirty="0"/>
          </a:p>
        </p:txBody>
      </p:sp>
      <p:sp>
        <p:nvSpPr>
          <p:cNvPr id="12" name="Shape 10"/>
          <p:cNvSpPr/>
          <p:nvPr/>
        </p:nvSpPr>
        <p:spPr>
          <a:xfrm>
            <a:off x="4251960" y="1370457"/>
            <a:ext cx="914857" cy="274320"/>
          </a:xfrm>
          <a:prstGeom prst="roundRect">
            <a:avLst>
              <a:gd name="adj" fmla="val 16667"/>
            </a:avLst>
          </a:prstGeom>
          <a:solidFill>
            <a:srgbClr val="B31166"/>
          </a:solidFill>
          <a:ln/>
        </p:spPr>
        <p:txBody>
          <a:bodyPr/>
          <a:lstStyle/>
          <a:p>
            <a:endParaRPr lang="en-US"/>
          </a:p>
        </p:txBody>
      </p:sp>
      <p:sp>
        <p:nvSpPr>
          <p:cNvPr id="13" name="Text 11"/>
          <p:cNvSpPr/>
          <p:nvPr/>
        </p:nvSpPr>
        <p:spPr>
          <a:xfrm>
            <a:off x="5258257" y="1315593"/>
            <a:ext cx="640080" cy="384048"/>
          </a:xfrm>
          <a:prstGeom prst="rect">
            <a:avLst/>
          </a:prstGeom>
          <a:noFill/>
          <a:ln/>
        </p:spPr>
        <p:txBody>
          <a:bodyPr wrap="square" lIns="0" tIns="0" rIns="0" bIns="0" rtlCol="0" anchor="ctr"/>
          <a:lstStyle/>
          <a:p>
            <a:pPr marL="0" indent="0" algn="l">
              <a:buNone/>
            </a:pPr>
            <a:r>
              <a:rPr lang="en-US" sz="1200" dirty="0">
                <a:solidFill>
                  <a:srgbClr val="1E1B3A"/>
                </a:solidFill>
                <a:latin typeface="Calibri" pitchFamily="34" charset="0"/>
                <a:ea typeface="Calibri" pitchFamily="34" charset="-122"/>
                <a:cs typeface="Calibri" pitchFamily="34" charset="-120"/>
              </a:rPr>
              <a:t>0.667</a:t>
            </a:r>
            <a:endParaRPr lang="en-US" sz="1200" dirty="0"/>
          </a:p>
        </p:txBody>
      </p:sp>
      <p:sp>
        <p:nvSpPr>
          <p:cNvPr id="14" name="Text 12"/>
          <p:cNvSpPr/>
          <p:nvPr/>
        </p:nvSpPr>
        <p:spPr>
          <a:xfrm>
            <a:off x="5944057" y="1315593"/>
            <a:ext cx="1371600" cy="384048"/>
          </a:xfrm>
          <a:prstGeom prst="rect">
            <a:avLst/>
          </a:prstGeom>
          <a:noFill/>
          <a:ln/>
        </p:spPr>
        <p:txBody>
          <a:bodyPr wrap="square" lIns="0" tIns="0" rIns="0" bIns="0" rtlCol="0" anchor="ctr"/>
          <a:lstStyle/>
          <a:p>
            <a:pPr marL="0" indent="0" algn="l">
              <a:buNone/>
            </a:pPr>
            <a:r>
              <a:rPr lang="en-US" sz="1100" i="1" dirty="0">
                <a:solidFill>
                  <a:srgbClr val="B31166"/>
                </a:solidFill>
                <a:latin typeface="Calibri" pitchFamily="34" charset="0"/>
                <a:ea typeface="Calibri" pitchFamily="34" charset="-122"/>
                <a:cs typeface="Calibri" pitchFamily="34" charset="-120"/>
              </a:rPr>
              <a:t>Most influential</a:t>
            </a:r>
            <a:endParaRPr lang="en-US" sz="1100" dirty="0"/>
          </a:p>
        </p:txBody>
      </p:sp>
      <p:sp>
        <p:nvSpPr>
          <p:cNvPr id="15" name="Text 13"/>
          <p:cNvSpPr/>
          <p:nvPr/>
        </p:nvSpPr>
        <p:spPr>
          <a:xfrm>
            <a:off x="3429000" y="1845945"/>
            <a:ext cx="777240" cy="384048"/>
          </a:xfrm>
          <a:prstGeom prst="rect">
            <a:avLst/>
          </a:prstGeom>
          <a:noFill/>
          <a:ln/>
        </p:spPr>
        <p:txBody>
          <a:bodyPr wrap="square" lIns="0" tIns="0" rIns="0" bIns="0" rtlCol="0" anchor="ctr"/>
          <a:lstStyle/>
          <a:p>
            <a:pPr marL="0" indent="0" algn="r">
              <a:buNone/>
            </a:pPr>
            <a:r>
              <a:rPr lang="en-US" sz="1300" dirty="0">
                <a:solidFill>
                  <a:srgbClr val="1E1B3A"/>
                </a:solidFill>
                <a:latin typeface="Calibri" pitchFamily="34" charset="0"/>
                <a:ea typeface="Calibri" pitchFamily="34" charset="-122"/>
                <a:cs typeface="Calibri" pitchFamily="34" charset="-120"/>
              </a:rPr>
              <a:t>nWBV</a:t>
            </a:r>
            <a:endParaRPr lang="en-US" sz="1300" dirty="0"/>
          </a:p>
        </p:txBody>
      </p:sp>
      <p:sp>
        <p:nvSpPr>
          <p:cNvPr id="16" name="Shape 14"/>
          <p:cNvSpPr/>
          <p:nvPr/>
        </p:nvSpPr>
        <p:spPr>
          <a:xfrm>
            <a:off x="4251960" y="1900809"/>
            <a:ext cx="1459382" cy="274320"/>
          </a:xfrm>
          <a:prstGeom prst="roundRect">
            <a:avLst>
              <a:gd name="adj" fmla="val 16667"/>
            </a:avLst>
          </a:prstGeom>
          <a:solidFill>
            <a:srgbClr val="9B6BF2"/>
          </a:solidFill>
          <a:ln/>
        </p:spPr>
        <p:txBody>
          <a:bodyPr/>
          <a:lstStyle/>
          <a:p>
            <a:endParaRPr lang="en-US"/>
          </a:p>
        </p:txBody>
      </p:sp>
      <p:sp>
        <p:nvSpPr>
          <p:cNvPr id="17" name="Text 15"/>
          <p:cNvSpPr/>
          <p:nvPr/>
        </p:nvSpPr>
        <p:spPr>
          <a:xfrm>
            <a:off x="5802782" y="1845945"/>
            <a:ext cx="640080" cy="384048"/>
          </a:xfrm>
          <a:prstGeom prst="rect">
            <a:avLst/>
          </a:prstGeom>
          <a:noFill/>
          <a:ln/>
        </p:spPr>
        <p:txBody>
          <a:bodyPr wrap="square" lIns="0" tIns="0" rIns="0" bIns="0" rtlCol="0" anchor="ctr"/>
          <a:lstStyle/>
          <a:p>
            <a:pPr marL="0" indent="0" algn="l">
              <a:buNone/>
            </a:pPr>
            <a:r>
              <a:rPr lang="en-US" sz="1200" dirty="0">
                <a:solidFill>
                  <a:srgbClr val="1E1B3A"/>
                </a:solidFill>
                <a:latin typeface="Calibri" pitchFamily="34" charset="0"/>
                <a:ea typeface="Calibri" pitchFamily="34" charset="-122"/>
                <a:cs typeface="Calibri" pitchFamily="34" charset="-120"/>
              </a:rPr>
              <a:t>1.064</a:t>
            </a:r>
            <a:endParaRPr lang="en-US" sz="1200" dirty="0"/>
          </a:p>
        </p:txBody>
      </p:sp>
      <p:sp>
        <p:nvSpPr>
          <p:cNvPr id="18" name="Text 16"/>
          <p:cNvSpPr/>
          <p:nvPr/>
        </p:nvSpPr>
        <p:spPr>
          <a:xfrm>
            <a:off x="3429000" y="2376297"/>
            <a:ext cx="777240" cy="384048"/>
          </a:xfrm>
          <a:prstGeom prst="rect">
            <a:avLst/>
          </a:prstGeom>
          <a:noFill/>
          <a:ln/>
        </p:spPr>
        <p:txBody>
          <a:bodyPr wrap="square" lIns="0" tIns="0" rIns="0" bIns="0" rtlCol="0" anchor="ctr"/>
          <a:lstStyle/>
          <a:p>
            <a:pPr marL="0" indent="0" algn="r">
              <a:buNone/>
            </a:pPr>
            <a:r>
              <a:rPr lang="en-US" sz="1300" dirty="0">
                <a:solidFill>
                  <a:srgbClr val="1E1B3A"/>
                </a:solidFill>
                <a:latin typeface="Calibri" pitchFamily="34" charset="0"/>
                <a:ea typeface="Calibri" pitchFamily="34" charset="-122"/>
                <a:cs typeface="Calibri" pitchFamily="34" charset="-120"/>
              </a:rPr>
              <a:t>Age</a:t>
            </a:r>
            <a:endParaRPr lang="en-US" sz="1300" dirty="0"/>
          </a:p>
        </p:txBody>
      </p:sp>
      <p:sp>
        <p:nvSpPr>
          <p:cNvPr id="19" name="Shape 17"/>
          <p:cNvSpPr/>
          <p:nvPr/>
        </p:nvSpPr>
        <p:spPr>
          <a:xfrm>
            <a:off x="4251960" y="2431161"/>
            <a:ext cx="1741932" cy="274320"/>
          </a:xfrm>
          <a:prstGeom prst="roundRect">
            <a:avLst>
              <a:gd name="adj" fmla="val 16667"/>
            </a:avLst>
          </a:prstGeom>
          <a:solidFill>
            <a:srgbClr val="9B6BF2"/>
          </a:solidFill>
          <a:ln/>
        </p:spPr>
        <p:txBody>
          <a:bodyPr/>
          <a:lstStyle/>
          <a:p>
            <a:endParaRPr lang="en-US"/>
          </a:p>
        </p:txBody>
      </p:sp>
      <p:sp>
        <p:nvSpPr>
          <p:cNvPr id="20" name="Text 18"/>
          <p:cNvSpPr/>
          <p:nvPr/>
        </p:nvSpPr>
        <p:spPr>
          <a:xfrm>
            <a:off x="6085332" y="2376297"/>
            <a:ext cx="640080" cy="384048"/>
          </a:xfrm>
          <a:prstGeom prst="rect">
            <a:avLst/>
          </a:prstGeom>
          <a:noFill/>
          <a:ln/>
        </p:spPr>
        <p:txBody>
          <a:bodyPr wrap="square" lIns="0" tIns="0" rIns="0" bIns="0" rtlCol="0" anchor="ctr"/>
          <a:lstStyle/>
          <a:p>
            <a:pPr marL="0" indent="0" algn="l">
              <a:buNone/>
            </a:pPr>
            <a:r>
              <a:rPr lang="en-US" sz="1200" dirty="0">
                <a:solidFill>
                  <a:srgbClr val="1E1B3A"/>
                </a:solidFill>
                <a:latin typeface="Calibri" pitchFamily="34" charset="0"/>
                <a:ea typeface="Calibri" pitchFamily="34" charset="-122"/>
                <a:cs typeface="Calibri" pitchFamily="34" charset="-120"/>
              </a:rPr>
              <a:t>1.270</a:t>
            </a:r>
            <a:endParaRPr lang="en-US" sz="1200" dirty="0"/>
          </a:p>
        </p:txBody>
      </p:sp>
      <p:sp>
        <p:nvSpPr>
          <p:cNvPr id="21" name="Text 19"/>
          <p:cNvSpPr/>
          <p:nvPr/>
        </p:nvSpPr>
        <p:spPr>
          <a:xfrm>
            <a:off x="3429000" y="2906649"/>
            <a:ext cx="777240" cy="384048"/>
          </a:xfrm>
          <a:prstGeom prst="rect">
            <a:avLst/>
          </a:prstGeom>
          <a:noFill/>
          <a:ln/>
        </p:spPr>
        <p:txBody>
          <a:bodyPr wrap="square" lIns="0" tIns="0" rIns="0" bIns="0" rtlCol="0" anchor="ctr"/>
          <a:lstStyle/>
          <a:p>
            <a:pPr marL="0" indent="0" algn="r">
              <a:buNone/>
            </a:pPr>
            <a:r>
              <a:rPr lang="en-US" sz="1300" dirty="0">
                <a:solidFill>
                  <a:srgbClr val="1E1B3A"/>
                </a:solidFill>
                <a:latin typeface="Calibri" pitchFamily="34" charset="0"/>
                <a:ea typeface="Calibri" pitchFamily="34" charset="-122"/>
                <a:cs typeface="Calibri" pitchFamily="34" charset="-120"/>
              </a:rPr>
              <a:t>Sex</a:t>
            </a:r>
            <a:endParaRPr lang="en-US" sz="1300" dirty="0"/>
          </a:p>
        </p:txBody>
      </p:sp>
      <p:sp>
        <p:nvSpPr>
          <p:cNvPr id="22" name="Shape 20"/>
          <p:cNvSpPr/>
          <p:nvPr/>
        </p:nvSpPr>
        <p:spPr>
          <a:xfrm>
            <a:off x="4251960" y="2961513"/>
            <a:ext cx="3608680" cy="274320"/>
          </a:xfrm>
          <a:prstGeom prst="roundRect">
            <a:avLst>
              <a:gd name="adj" fmla="val 16667"/>
            </a:avLst>
          </a:prstGeom>
          <a:solidFill>
            <a:srgbClr val="C4BCDA"/>
          </a:solidFill>
          <a:ln/>
        </p:spPr>
        <p:txBody>
          <a:bodyPr/>
          <a:lstStyle/>
          <a:p>
            <a:endParaRPr lang="en-US"/>
          </a:p>
        </p:txBody>
      </p:sp>
      <p:sp>
        <p:nvSpPr>
          <p:cNvPr id="23" name="Text 21"/>
          <p:cNvSpPr/>
          <p:nvPr/>
        </p:nvSpPr>
        <p:spPr>
          <a:xfrm>
            <a:off x="7952080" y="2906649"/>
            <a:ext cx="640080" cy="384048"/>
          </a:xfrm>
          <a:prstGeom prst="rect">
            <a:avLst/>
          </a:prstGeom>
          <a:noFill/>
          <a:ln/>
        </p:spPr>
        <p:txBody>
          <a:bodyPr wrap="square" lIns="0" tIns="0" rIns="0" bIns="0" rtlCol="0" anchor="ctr"/>
          <a:lstStyle/>
          <a:p>
            <a:pPr marL="0" indent="0" algn="l">
              <a:buNone/>
            </a:pPr>
            <a:r>
              <a:rPr lang="en-US" sz="1200" dirty="0">
                <a:solidFill>
                  <a:srgbClr val="1E1B3A"/>
                </a:solidFill>
                <a:latin typeface="Calibri" pitchFamily="34" charset="0"/>
                <a:ea typeface="Calibri" pitchFamily="34" charset="-122"/>
                <a:cs typeface="Calibri" pitchFamily="34" charset="-120"/>
              </a:rPr>
              <a:t>2.631</a:t>
            </a:r>
            <a:endParaRPr lang="en-US" sz="1200" dirty="0"/>
          </a:p>
        </p:txBody>
      </p:sp>
      <p:sp>
        <p:nvSpPr>
          <p:cNvPr id="24" name="Text 22"/>
          <p:cNvSpPr/>
          <p:nvPr/>
        </p:nvSpPr>
        <p:spPr>
          <a:xfrm>
            <a:off x="3429000" y="3437001"/>
            <a:ext cx="777240" cy="384048"/>
          </a:xfrm>
          <a:prstGeom prst="rect">
            <a:avLst/>
          </a:prstGeom>
          <a:noFill/>
          <a:ln/>
        </p:spPr>
        <p:txBody>
          <a:bodyPr wrap="square" lIns="0" tIns="0" rIns="0" bIns="0" rtlCol="0" anchor="ctr"/>
          <a:lstStyle/>
          <a:p>
            <a:pPr marL="0" indent="0" algn="r">
              <a:buNone/>
            </a:pPr>
            <a:r>
              <a:rPr lang="en-US" sz="1300" dirty="0">
                <a:solidFill>
                  <a:srgbClr val="1E1B3A"/>
                </a:solidFill>
                <a:latin typeface="Calibri" pitchFamily="34" charset="0"/>
                <a:ea typeface="Calibri" pitchFamily="34" charset="-122"/>
                <a:cs typeface="Calibri" pitchFamily="34" charset="-120"/>
              </a:rPr>
              <a:t>SES</a:t>
            </a:r>
            <a:endParaRPr lang="en-US" sz="1300" dirty="0"/>
          </a:p>
        </p:txBody>
      </p:sp>
      <p:sp>
        <p:nvSpPr>
          <p:cNvPr id="25" name="Shape 23"/>
          <p:cNvSpPr/>
          <p:nvPr/>
        </p:nvSpPr>
        <p:spPr>
          <a:xfrm>
            <a:off x="4251960" y="3491865"/>
            <a:ext cx="3918661" cy="274320"/>
          </a:xfrm>
          <a:prstGeom prst="roundRect">
            <a:avLst>
              <a:gd name="adj" fmla="val 16667"/>
            </a:avLst>
          </a:prstGeom>
          <a:solidFill>
            <a:srgbClr val="C4BCDA"/>
          </a:solidFill>
          <a:ln/>
        </p:spPr>
        <p:txBody>
          <a:bodyPr/>
          <a:lstStyle/>
          <a:p>
            <a:endParaRPr lang="en-US"/>
          </a:p>
        </p:txBody>
      </p:sp>
      <p:sp>
        <p:nvSpPr>
          <p:cNvPr id="26" name="Text 24"/>
          <p:cNvSpPr/>
          <p:nvPr/>
        </p:nvSpPr>
        <p:spPr>
          <a:xfrm>
            <a:off x="8262061" y="3437001"/>
            <a:ext cx="640080" cy="384048"/>
          </a:xfrm>
          <a:prstGeom prst="rect">
            <a:avLst/>
          </a:prstGeom>
          <a:noFill/>
          <a:ln/>
        </p:spPr>
        <p:txBody>
          <a:bodyPr wrap="square" lIns="0" tIns="0" rIns="0" bIns="0" rtlCol="0" anchor="ctr"/>
          <a:lstStyle/>
          <a:p>
            <a:pPr marL="0" indent="0" algn="l">
              <a:buNone/>
            </a:pPr>
            <a:r>
              <a:rPr lang="en-US" sz="1200" dirty="0">
                <a:solidFill>
                  <a:srgbClr val="1E1B3A"/>
                </a:solidFill>
                <a:latin typeface="Calibri" pitchFamily="34" charset="0"/>
                <a:ea typeface="Calibri" pitchFamily="34" charset="-122"/>
                <a:cs typeface="Calibri" pitchFamily="34" charset="-120"/>
              </a:rPr>
              <a:t>2.857</a:t>
            </a:r>
            <a:endParaRPr lang="en-US" sz="1200" dirty="0"/>
          </a:p>
        </p:txBody>
      </p:sp>
      <p:sp>
        <p:nvSpPr>
          <p:cNvPr id="27" name="Shape 25"/>
          <p:cNvSpPr/>
          <p:nvPr/>
        </p:nvSpPr>
        <p:spPr>
          <a:xfrm>
            <a:off x="411480" y="3936492"/>
            <a:ext cx="8321040" cy="1143000"/>
          </a:xfrm>
          <a:prstGeom prst="roundRect">
            <a:avLst>
              <a:gd name="adj" fmla="val 8000"/>
            </a:avLst>
          </a:prstGeom>
          <a:solidFill>
            <a:srgbClr val="1E1B3A">
              <a:alpha val="90000"/>
            </a:srgbClr>
          </a:solidFill>
          <a:ln/>
        </p:spPr>
        <p:txBody>
          <a:bodyPr/>
          <a:lstStyle/>
          <a:p>
            <a:endParaRPr lang="en-US"/>
          </a:p>
        </p:txBody>
      </p:sp>
      <p:sp>
        <p:nvSpPr>
          <p:cNvPr id="28" name="Text 26"/>
          <p:cNvSpPr/>
          <p:nvPr/>
        </p:nvSpPr>
        <p:spPr>
          <a:xfrm>
            <a:off x="502920" y="3991149"/>
            <a:ext cx="8138160" cy="1051560"/>
          </a:xfrm>
          <a:prstGeom prst="rect">
            <a:avLst/>
          </a:prstGeom>
          <a:noFill/>
          <a:ln/>
        </p:spPr>
        <p:txBody>
          <a:bodyPr wrap="square" lIns="1016" tIns="1016" rIns="1016" bIns="1016"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Interpretation: </a:t>
            </a:r>
            <a:r>
              <a:rPr lang="en-US" sz="1200" dirty="0">
                <a:solidFill>
                  <a:srgbClr val="C4BCDA"/>
                </a:solidFill>
                <a:latin typeface="Calibri" pitchFamily="34" charset="0"/>
                <a:ea typeface="Calibri" pitchFamily="34" charset="-122"/>
                <a:cs typeface="Calibri" pitchFamily="34" charset="-120"/>
              </a:rPr>
              <a:t>Education has the smallest length-scale, suggesting the model is most sensitive to variation in EDUC. nWBV follows closely. SES and Sex have large length-scales, contributing minimally once other features are accounted for. The AUC of 0.775 reflects moderate discrimination — consistent with using indirect demographic and structural features rather than direct cognitive measures.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1E1B3A"/>
                </a:solidFill>
                <a:latin typeface="Trebuchet MS" pitchFamily="34" charset="0"/>
                <a:ea typeface="Trebuchet MS" pitchFamily="34" charset="-122"/>
                <a:cs typeface="Trebuchet MS" pitchFamily="34" charset="-120"/>
              </a:rPr>
              <a:t>Results: Predicted Probability Plots</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5" name="Text 3"/>
          <p:cNvSpPr/>
          <p:nvPr/>
        </p:nvSpPr>
        <p:spPr>
          <a:xfrm>
            <a:off x="274320" y="960120"/>
            <a:ext cx="4114800" cy="3291840"/>
          </a:xfrm>
          <a:prstGeom prst="rect">
            <a:avLst/>
          </a:prstGeom>
          <a:noFill/>
          <a:ln/>
        </p:spPr>
        <p:txBody>
          <a:bodyPr wrap="square" lIns="0" tIns="0" rIns="0" bIns="0" rtlCol="0" anchor="ctr"/>
          <a:lstStyle/>
          <a:p>
            <a:pPr marL="0" indent="0" algn="ctr">
              <a:buNone/>
            </a:pPr>
            <a:r>
              <a:rPr lang="en-US" sz="1300" i="1" dirty="0">
                <a:solidFill>
                  <a:srgbClr val="999999"/>
                </a:solidFill>
                <a:latin typeface="Calibri" pitchFamily="34" charset="0"/>
                <a:ea typeface="Calibri" pitchFamily="34" charset="-122"/>
                <a:cs typeface="Calibri" pitchFamily="34" charset="-120"/>
              </a:rPr>
              <a:t>Figure 1</a:t>
            </a:r>
            <a:endParaRPr lang="en-US" sz="1300" dirty="0"/>
          </a:p>
          <a:p>
            <a:pPr marL="0" indent="0" algn="ctr">
              <a:buNone/>
            </a:pPr>
            <a:r>
              <a:rPr lang="en-US" sz="1300" i="1" dirty="0">
                <a:solidFill>
                  <a:srgbClr val="999999"/>
                </a:solidFill>
                <a:latin typeface="Calibri" pitchFamily="34" charset="0"/>
                <a:ea typeface="Calibri" pitchFamily="34" charset="-122"/>
                <a:cs typeface="Calibri" pitchFamily="34" charset="-120"/>
              </a:rPr>
              <a:t>GPC Predicted P(CDR&gt;0)</a:t>
            </a:r>
            <a:endParaRPr lang="en-US" sz="1300" dirty="0"/>
          </a:p>
          <a:p>
            <a:pPr marL="0" indent="0" algn="ctr">
              <a:buNone/>
            </a:pPr>
            <a:r>
              <a:rPr lang="en-US" sz="1300" i="1" dirty="0">
                <a:solidFill>
                  <a:srgbClr val="999999"/>
                </a:solidFill>
                <a:latin typeface="Calibri" pitchFamily="34" charset="0"/>
                <a:ea typeface="Calibri" pitchFamily="34" charset="-122"/>
                <a:cs typeface="Calibri" pitchFamily="34" charset="-120"/>
              </a:rPr>
              <a:t>vs. EDUC</a:t>
            </a:r>
            <a:endParaRPr lang="en-US" sz="1300" dirty="0"/>
          </a:p>
        </p:txBody>
      </p:sp>
      <p:sp>
        <p:nvSpPr>
          <p:cNvPr id="7" name="Text 5"/>
          <p:cNvSpPr/>
          <p:nvPr/>
        </p:nvSpPr>
        <p:spPr>
          <a:xfrm>
            <a:off x="4754880" y="960120"/>
            <a:ext cx="4114800" cy="3291840"/>
          </a:xfrm>
          <a:prstGeom prst="rect">
            <a:avLst/>
          </a:prstGeom>
          <a:noFill/>
          <a:ln/>
        </p:spPr>
        <p:txBody>
          <a:bodyPr wrap="square" lIns="0" tIns="0" rIns="0" bIns="0" rtlCol="0" anchor="ctr"/>
          <a:lstStyle/>
          <a:p>
            <a:pPr marL="0" indent="0" algn="ctr">
              <a:buNone/>
            </a:pPr>
            <a:r>
              <a:rPr lang="en-US" sz="1300" i="1" dirty="0">
                <a:solidFill>
                  <a:srgbClr val="999999"/>
                </a:solidFill>
                <a:latin typeface="Calibri" pitchFamily="34" charset="0"/>
                <a:ea typeface="Calibri" pitchFamily="34" charset="-122"/>
                <a:cs typeface="Calibri" pitchFamily="34" charset="-120"/>
              </a:rPr>
              <a:t>Figure 2</a:t>
            </a:r>
            <a:endParaRPr lang="en-US" sz="1300" dirty="0"/>
          </a:p>
          <a:p>
            <a:pPr marL="0" indent="0" algn="ctr">
              <a:buNone/>
            </a:pPr>
            <a:r>
              <a:rPr lang="en-US" sz="1300" i="1" dirty="0">
                <a:solidFill>
                  <a:srgbClr val="999999"/>
                </a:solidFill>
                <a:latin typeface="Calibri" pitchFamily="34" charset="0"/>
                <a:ea typeface="Calibri" pitchFamily="34" charset="-122"/>
                <a:cs typeface="Calibri" pitchFamily="34" charset="-120"/>
              </a:rPr>
              <a:t>GPC Predicted P(CDR&gt;0)</a:t>
            </a:r>
            <a:endParaRPr lang="en-US" sz="1300" dirty="0"/>
          </a:p>
          <a:p>
            <a:pPr marL="0" indent="0" algn="ctr">
              <a:buNone/>
            </a:pPr>
            <a:r>
              <a:rPr lang="en-US" sz="1300" i="1" dirty="0">
                <a:solidFill>
                  <a:srgbClr val="999999"/>
                </a:solidFill>
                <a:latin typeface="Calibri" pitchFamily="34" charset="0"/>
                <a:ea typeface="Calibri" pitchFamily="34" charset="-122"/>
                <a:cs typeface="Calibri" pitchFamily="34" charset="-120"/>
              </a:rPr>
              <a:t>vs. nWBV</a:t>
            </a:r>
            <a:endParaRPr lang="en-US" sz="1300" dirty="0"/>
          </a:p>
        </p:txBody>
      </p:sp>
      <p:sp>
        <p:nvSpPr>
          <p:cNvPr id="9" name="Text 7"/>
          <p:cNvSpPr/>
          <p:nvPr/>
        </p:nvSpPr>
        <p:spPr>
          <a:xfrm>
            <a:off x="274320" y="4370625"/>
            <a:ext cx="8595360" cy="502920"/>
          </a:xfrm>
          <a:prstGeom prst="rect">
            <a:avLst/>
          </a:prstGeom>
          <a:noFill/>
          <a:ln/>
        </p:spPr>
        <p:txBody>
          <a:bodyPr wrap="square" lIns="0" tIns="0" rIns="0" bIns="0" rtlCol="0" anchor="t"/>
          <a:lstStyle/>
          <a:p>
            <a:pPr marL="342900" indent="-342900" algn="l">
              <a:buSzPct val="100000"/>
              <a:buChar char="•"/>
            </a:pPr>
            <a:r>
              <a:rPr lang="en-US" sz="1100" dirty="0">
                <a:solidFill>
                  <a:srgbClr val="1E1B3A"/>
                </a:solidFill>
                <a:latin typeface="Calibri" pitchFamily="34" charset="0"/>
                <a:ea typeface="Calibri" pitchFamily="34" charset="-122"/>
                <a:cs typeface="Calibri" pitchFamily="34" charset="-120"/>
              </a:rPr>
              <a:t>EDUC (Fig 1): Despite lowest length-scale, classes overlap substantially — no clean threshold separates dementia by education alone</a:t>
            </a:r>
            <a:endParaRPr lang="en-US" sz="1100" dirty="0"/>
          </a:p>
          <a:p>
            <a:pPr marL="342900" indent="-342900" algn="l">
              <a:buSzPct val="100000"/>
              <a:buChar char="•"/>
            </a:pPr>
            <a:r>
              <a:rPr lang="en-US" sz="1100" dirty="0">
                <a:solidFill>
                  <a:srgbClr val="1E1B3A"/>
                </a:solidFill>
                <a:latin typeface="Calibri" pitchFamily="34" charset="0"/>
                <a:ea typeface="Calibri" pitchFamily="34" charset="-122"/>
                <a:cs typeface="Calibri" pitchFamily="34" charset="-120"/>
              </a:rPr>
              <a:t>nWBV (Fig 2): Clear left-to-right gradient — lower brain volume associated with higher P(CDR&gt;0); overlap zone ~0.700–0.740 where GPC appropriately hedges</a:t>
            </a:r>
            <a:endParaRPr lang="en-US" sz="1100" dirty="0"/>
          </a:p>
          <a:p>
            <a:pPr marL="342900" indent="-342900" algn="l">
              <a:buSzPct val="100000"/>
              <a:buChar char="•"/>
            </a:pPr>
            <a:r>
              <a:rPr lang="en-US" sz="1100" dirty="0">
                <a:solidFill>
                  <a:srgbClr val="1E1B3A"/>
                </a:solidFill>
                <a:latin typeface="Calibri" pitchFamily="34" charset="0"/>
                <a:ea typeface="Calibri" pitchFamily="34" charset="-122"/>
                <a:cs typeface="Calibri" pitchFamily="34" charset="-120"/>
              </a:rPr>
              <a:t>Contrast illustrates why multivariate modeling with ARD is needed — no single feature cleanly separates the classes</a:t>
            </a:r>
            <a:endParaRPr lang="en-US" sz="1100" dirty="0"/>
          </a:p>
        </p:txBody>
      </p:sp>
      <p:pic>
        <p:nvPicPr>
          <p:cNvPr id="11" name="Picture 10">
            <a:extLst>
              <a:ext uri="{FF2B5EF4-FFF2-40B4-BE49-F238E27FC236}">
                <a16:creationId xmlns:a16="http://schemas.microsoft.com/office/drawing/2014/main" id="{4CA7D5D6-5238-C33C-1A52-EEE9747E7134}"/>
              </a:ext>
            </a:extLst>
          </p:cNvPr>
          <p:cNvPicPr>
            <a:picLocks noChangeAspect="1"/>
          </p:cNvPicPr>
          <p:nvPr/>
        </p:nvPicPr>
        <p:blipFill>
          <a:blip r:embed="rId3"/>
          <a:stretch>
            <a:fillRect/>
          </a:stretch>
        </p:blipFill>
        <p:spPr>
          <a:xfrm>
            <a:off x="115783" y="960120"/>
            <a:ext cx="4401913" cy="3349282"/>
          </a:xfrm>
          <a:prstGeom prst="rect">
            <a:avLst/>
          </a:prstGeom>
        </p:spPr>
      </p:pic>
      <p:pic>
        <p:nvPicPr>
          <p:cNvPr id="13" name="Picture 12">
            <a:extLst>
              <a:ext uri="{FF2B5EF4-FFF2-40B4-BE49-F238E27FC236}">
                <a16:creationId xmlns:a16="http://schemas.microsoft.com/office/drawing/2014/main" id="{21EBF469-F0A9-2FC6-0F6A-1E10DA50B51B}"/>
              </a:ext>
            </a:extLst>
          </p:cNvPr>
          <p:cNvPicPr>
            <a:picLocks noChangeAspect="1"/>
          </p:cNvPicPr>
          <p:nvPr/>
        </p:nvPicPr>
        <p:blipFill>
          <a:blip r:embed="rId4"/>
          <a:stretch>
            <a:fillRect/>
          </a:stretch>
        </p:blipFill>
        <p:spPr>
          <a:xfrm>
            <a:off x="4846779" y="960120"/>
            <a:ext cx="4136916" cy="33492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B3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Why GPC? Uncertainty Matters Clinically</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Shape 2"/>
          <p:cNvSpPr/>
          <p:nvPr/>
        </p:nvSpPr>
        <p:spPr>
          <a:xfrm>
            <a:off x="411480" y="960120"/>
            <a:ext cx="8321040" cy="685800"/>
          </a:xfrm>
          <a:prstGeom prst="roundRect">
            <a:avLst>
              <a:gd name="adj" fmla="val 10667"/>
            </a:avLst>
          </a:prstGeom>
          <a:solidFill>
            <a:srgbClr val="3B3059"/>
          </a:solidFill>
          <a:ln/>
        </p:spPr>
        <p:txBody>
          <a:bodyPr/>
          <a:lstStyle/>
          <a:p>
            <a:endParaRPr lang="en-US"/>
          </a:p>
        </p:txBody>
      </p:sp>
      <p:sp>
        <p:nvSpPr>
          <p:cNvPr id="5" name="Text 3"/>
          <p:cNvSpPr/>
          <p:nvPr/>
        </p:nvSpPr>
        <p:spPr>
          <a:xfrm>
            <a:off x="548640" y="960120"/>
            <a:ext cx="8046720" cy="685800"/>
          </a:xfrm>
          <a:prstGeom prst="rect">
            <a:avLst/>
          </a:prstGeom>
          <a:noFill/>
          <a:ln/>
        </p:spPr>
        <p:txBody>
          <a:bodyPr wrap="square" lIns="0" tIns="0" rIns="0" bIns="0" rtlCol="0" anchor="ctr"/>
          <a:lstStyle/>
          <a:p>
            <a:pPr marL="0" indent="0" algn="ctr">
              <a:buNone/>
            </a:pPr>
            <a:r>
              <a:rPr lang="en-US" sz="1500" dirty="0">
                <a:solidFill>
                  <a:srgbClr val="C4BCDA"/>
                </a:solidFill>
                <a:latin typeface="Trebuchet MS" pitchFamily="34" charset="0"/>
                <a:ea typeface="Trebuchet MS" pitchFamily="34" charset="-122"/>
                <a:cs typeface="Trebuchet MS" pitchFamily="34" charset="-120"/>
              </a:rPr>
              <a:t>Scenario: patient with nWBV = 0.720, in the overlap zone</a:t>
            </a:r>
            <a:endParaRPr lang="en-US" sz="1500" dirty="0"/>
          </a:p>
        </p:txBody>
      </p:sp>
      <p:sp>
        <p:nvSpPr>
          <p:cNvPr id="6" name="Shape 4"/>
          <p:cNvSpPr/>
          <p:nvPr/>
        </p:nvSpPr>
        <p:spPr>
          <a:xfrm>
            <a:off x="411480" y="1783080"/>
            <a:ext cx="3931920" cy="2560320"/>
          </a:xfrm>
          <a:prstGeom prst="roundRect">
            <a:avLst>
              <a:gd name="adj" fmla="val 4286"/>
            </a:avLst>
          </a:prstGeom>
          <a:solidFill>
            <a:srgbClr val="2A1A38"/>
          </a:solidFill>
          <a:ln w="12700">
            <a:solidFill>
              <a:srgbClr val="C4BCDA"/>
            </a:solidFill>
            <a:prstDash val="solid"/>
          </a:ln>
        </p:spPr>
        <p:txBody>
          <a:bodyPr/>
          <a:lstStyle/>
          <a:p>
            <a:endParaRPr lang="en-US"/>
          </a:p>
        </p:txBody>
      </p:sp>
      <p:sp>
        <p:nvSpPr>
          <p:cNvPr id="7" name="Text 5"/>
          <p:cNvSpPr/>
          <p:nvPr/>
        </p:nvSpPr>
        <p:spPr>
          <a:xfrm>
            <a:off x="548640" y="1901952"/>
            <a:ext cx="3657600" cy="347472"/>
          </a:xfrm>
          <a:prstGeom prst="rect">
            <a:avLst/>
          </a:prstGeom>
          <a:noFill/>
          <a:ln/>
        </p:spPr>
        <p:txBody>
          <a:bodyPr wrap="square" lIns="0" tIns="0" rIns="0" bIns="0" rtlCol="0" anchor="ctr"/>
          <a:lstStyle/>
          <a:p>
            <a:pPr marL="0" indent="0" algn="l">
              <a:buNone/>
            </a:pPr>
            <a:r>
              <a:rPr lang="en-US" sz="1400" b="1" dirty="0">
                <a:solidFill>
                  <a:srgbClr val="C4BCDA"/>
                </a:solidFill>
                <a:latin typeface="Trebuchet MS" pitchFamily="34" charset="0"/>
                <a:ea typeface="Trebuchet MS" pitchFamily="34" charset="-122"/>
                <a:cs typeface="Trebuchet MS" pitchFamily="34" charset="-120"/>
              </a:rPr>
              <a:t>Logistic Regression</a:t>
            </a:r>
            <a:endParaRPr lang="en-US" sz="1400" dirty="0"/>
          </a:p>
        </p:txBody>
      </p:sp>
      <p:sp>
        <p:nvSpPr>
          <p:cNvPr id="8" name="Text 6"/>
          <p:cNvSpPr/>
          <p:nvPr/>
        </p:nvSpPr>
        <p:spPr>
          <a:xfrm>
            <a:off x="548640" y="2331720"/>
            <a:ext cx="3657600" cy="566928"/>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P(CDR &gt; 0) = 0.61</a:t>
            </a:r>
            <a:endParaRPr lang="en-US" sz="2800" dirty="0"/>
          </a:p>
        </p:txBody>
      </p:sp>
      <p:sp>
        <p:nvSpPr>
          <p:cNvPr id="9" name="Text 7"/>
          <p:cNvSpPr/>
          <p:nvPr/>
        </p:nvSpPr>
        <p:spPr>
          <a:xfrm>
            <a:off x="548640" y="2971800"/>
            <a:ext cx="3657600" cy="1234440"/>
          </a:xfrm>
          <a:prstGeom prst="rect">
            <a:avLst/>
          </a:prstGeom>
          <a:noFill/>
          <a:ln/>
        </p:spPr>
        <p:txBody>
          <a:bodyPr wrap="square" lIns="0" tIns="0" rIns="0" bIns="0" rtlCol="0" anchor="t"/>
          <a:lstStyle/>
          <a:p>
            <a:pPr marL="342900" indent="-342900" algn="l">
              <a:buSzPct val="100000"/>
              <a:buChar char="•"/>
            </a:pPr>
            <a:r>
              <a:rPr lang="en-US" sz="1200" dirty="0">
                <a:solidFill>
                  <a:srgbClr val="C4BCDA"/>
                </a:solidFill>
                <a:latin typeface="Calibri" pitchFamily="34" charset="0"/>
                <a:ea typeface="Calibri" pitchFamily="34" charset="-122"/>
                <a:cs typeface="Calibri" pitchFamily="34" charset="-120"/>
              </a:rPr>
              <a:t>Confident prediction everywhere</a:t>
            </a:r>
            <a:endParaRPr lang="en-US" sz="1200" dirty="0"/>
          </a:p>
          <a:p>
            <a:pPr marL="342900" indent="-342900" algn="l">
              <a:buSzPct val="100000"/>
              <a:buChar char="•"/>
            </a:pPr>
            <a:r>
              <a:rPr lang="en-US" sz="1200" dirty="0">
                <a:solidFill>
                  <a:srgbClr val="C4BCDA"/>
                </a:solidFill>
                <a:latin typeface="Calibri" pitchFamily="34" charset="0"/>
                <a:ea typeface="Calibri" pitchFamily="34" charset="-122"/>
                <a:cs typeface="Calibri" pitchFamily="34" charset="-120"/>
              </a:rPr>
              <a:t>No concept of sparse regions</a:t>
            </a:r>
            <a:endParaRPr lang="en-US" sz="1200" dirty="0"/>
          </a:p>
          <a:p>
            <a:pPr marL="342900" indent="-342900" algn="l">
              <a:buSzPct val="100000"/>
              <a:buChar char="•"/>
            </a:pPr>
            <a:r>
              <a:rPr lang="en-US" sz="1200" dirty="0">
                <a:solidFill>
                  <a:srgbClr val="C4BCDA"/>
                </a:solidFill>
                <a:latin typeface="Calibri" pitchFamily="34" charset="0"/>
                <a:ea typeface="Calibri" pitchFamily="34" charset="-122"/>
                <a:cs typeface="Calibri" pitchFamily="34" charset="-120"/>
              </a:rPr>
              <a:t>Clinician reads: moderate evidence of dementia</a:t>
            </a:r>
            <a:endParaRPr lang="en-US" sz="1200" dirty="0"/>
          </a:p>
        </p:txBody>
      </p:sp>
      <p:sp>
        <p:nvSpPr>
          <p:cNvPr id="10" name="Shape 8"/>
          <p:cNvSpPr/>
          <p:nvPr/>
        </p:nvSpPr>
        <p:spPr>
          <a:xfrm>
            <a:off x="4800600" y="1783080"/>
            <a:ext cx="3931920" cy="2560320"/>
          </a:xfrm>
          <a:prstGeom prst="roundRect">
            <a:avLst>
              <a:gd name="adj" fmla="val 4286"/>
            </a:avLst>
          </a:prstGeom>
          <a:solidFill>
            <a:srgbClr val="0F1B2E"/>
          </a:solidFill>
          <a:ln w="12700">
            <a:solidFill>
              <a:srgbClr val="B31166"/>
            </a:solidFill>
            <a:prstDash val="solid"/>
          </a:ln>
        </p:spPr>
        <p:txBody>
          <a:bodyPr/>
          <a:lstStyle/>
          <a:p>
            <a:endParaRPr lang="en-US"/>
          </a:p>
        </p:txBody>
      </p:sp>
      <p:sp>
        <p:nvSpPr>
          <p:cNvPr id="11" name="Text 9"/>
          <p:cNvSpPr/>
          <p:nvPr/>
        </p:nvSpPr>
        <p:spPr>
          <a:xfrm>
            <a:off x="4937760" y="1901952"/>
            <a:ext cx="3657600" cy="347472"/>
          </a:xfrm>
          <a:prstGeom prst="rect">
            <a:avLst/>
          </a:prstGeom>
          <a:noFill/>
          <a:ln/>
        </p:spPr>
        <p:txBody>
          <a:bodyPr wrap="square" lIns="0" tIns="0" rIns="0" bIns="0" rtlCol="0" anchor="ctr"/>
          <a:lstStyle/>
          <a:p>
            <a:pPr marL="0" indent="0" algn="l">
              <a:buNone/>
            </a:pPr>
            <a:r>
              <a:rPr lang="en-US" sz="1400" b="1" dirty="0">
                <a:solidFill>
                  <a:srgbClr val="E33D6F"/>
                </a:solidFill>
                <a:latin typeface="Trebuchet MS" pitchFamily="34" charset="0"/>
                <a:ea typeface="Trebuchet MS" pitchFamily="34" charset="-122"/>
                <a:cs typeface="Trebuchet MS" pitchFamily="34" charset="-120"/>
              </a:rPr>
              <a:t>GPC</a:t>
            </a:r>
            <a:endParaRPr lang="en-US" sz="1400" dirty="0"/>
          </a:p>
        </p:txBody>
      </p:sp>
      <p:sp>
        <p:nvSpPr>
          <p:cNvPr id="12" name="Text 10"/>
          <p:cNvSpPr/>
          <p:nvPr/>
        </p:nvSpPr>
        <p:spPr>
          <a:xfrm>
            <a:off x="4937760" y="2331720"/>
            <a:ext cx="3657600" cy="566928"/>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P(CDR &gt; 0) ≈ 0.54</a:t>
            </a:r>
            <a:endParaRPr lang="en-US" sz="2800" dirty="0"/>
          </a:p>
        </p:txBody>
      </p:sp>
      <p:sp>
        <p:nvSpPr>
          <p:cNvPr id="13" name="Text 11"/>
          <p:cNvSpPr/>
          <p:nvPr/>
        </p:nvSpPr>
        <p:spPr>
          <a:xfrm>
            <a:off x="4937760" y="2971800"/>
            <a:ext cx="3657600" cy="1234440"/>
          </a:xfrm>
          <a:prstGeom prst="rect">
            <a:avLst/>
          </a:prstGeom>
          <a:noFill/>
          <a:ln/>
        </p:spPr>
        <p:txBody>
          <a:bodyPr wrap="square" lIns="0" tIns="0" rIns="0" bIns="0" rtlCol="0" anchor="t"/>
          <a:lstStyle/>
          <a:p>
            <a:pPr marL="342900" indent="-342900" algn="l">
              <a:buSzPct val="100000"/>
              <a:buChar char="•"/>
            </a:pPr>
            <a:r>
              <a:rPr lang="en-US" sz="1200" dirty="0">
                <a:solidFill>
                  <a:srgbClr val="C4BCDA"/>
                </a:solidFill>
                <a:latin typeface="Calibri" pitchFamily="34" charset="0"/>
                <a:ea typeface="Calibri" pitchFamily="34" charset="-122"/>
                <a:cs typeface="Calibri" pitchFamily="34" charset="-120"/>
              </a:rPr>
              <a:t>Uncertainty σ²∗ pulls toward 0.5</a:t>
            </a:r>
            <a:endParaRPr lang="en-US" sz="1200" dirty="0"/>
          </a:p>
          <a:p>
            <a:pPr marL="342900" indent="-342900" algn="l">
              <a:buSzPct val="100000"/>
              <a:buChar char="•"/>
            </a:pPr>
            <a:r>
              <a:rPr lang="en-US" sz="1200" dirty="0">
                <a:solidFill>
                  <a:srgbClr val="C4BCDA"/>
                </a:solidFill>
                <a:latin typeface="Calibri" pitchFamily="34" charset="0"/>
                <a:ea typeface="Calibri" pitchFamily="34" charset="-122"/>
                <a:cs typeface="Calibri" pitchFamily="34" charset="-120"/>
              </a:rPr>
              <a:t>Honest: “patient is in ambiguous zone”</a:t>
            </a:r>
            <a:endParaRPr lang="en-US" sz="1200" dirty="0"/>
          </a:p>
          <a:p>
            <a:pPr marL="342900" indent="-342900" algn="l">
              <a:buSzPct val="100000"/>
              <a:buChar char="•"/>
            </a:pPr>
            <a:r>
              <a:rPr lang="en-US" sz="1200" dirty="0">
                <a:solidFill>
                  <a:srgbClr val="C4BCDA"/>
                </a:solidFill>
                <a:latin typeface="Calibri" pitchFamily="34" charset="0"/>
                <a:ea typeface="Calibri" pitchFamily="34" charset="-122"/>
                <a:cs typeface="Calibri" pitchFamily="34" charset="-120"/>
              </a:rPr>
              <a:t>Clinician reads: more information needed</a:t>
            </a:r>
            <a:endParaRPr lang="en-US" sz="1200" dirty="0"/>
          </a:p>
        </p:txBody>
      </p:sp>
      <p:sp>
        <p:nvSpPr>
          <p:cNvPr id="14" name="Text 12"/>
          <p:cNvSpPr/>
          <p:nvPr/>
        </p:nvSpPr>
        <p:spPr>
          <a:xfrm>
            <a:off x="4251960" y="2560320"/>
            <a:ext cx="640080" cy="640080"/>
          </a:xfrm>
          <a:prstGeom prst="rect">
            <a:avLst/>
          </a:prstGeom>
          <a:noFill/>
          <a:ln/>
        </p:spPr>
        <p:txBody>
          <a:bodyPr wrap="square" lIns="0" tIns="0" rIns="0" bIns="0" rtlCol="0" anchor="ctr"/>
          <a:lstStyle/>
          <a:p>
            <a:pPr marL="0" indent="0" algn="ctr">
              <a:buNone/>
            </a:pPr>
            <a:r>
              <a:rPr lang="en-US" sz="1800" b="1" dirty="0">
                <a:solidFill>
                  <a:srgbClr val="B31166"/>
                </a:solidFill>
                <a:latin typeface="Trebuchet MS" pitchFamily="34" charset="0"/>
                <a:ea typeface="Trebuchet MS" pitchFamily="34" charset="-122"/>
                <a:cs typeface="Trebuchet MS" pitchFamily="34" charset="-120"/>
              </a:rPr>
              <a:t>vs</a:t>
            </a:r>
            <a:endParaRPr lang="en-US" sz="1800" dirty="0"/>
          </a:p>
        </p:txBody>
      </p:sp>
      <p:sp>
        <p:nvSpPr>
          <p:cNvPr id="15" name="Shape 13"/>
          <p:cNvSpPr/>
          <p:nvPr/>
        </p:nvSpPr>
        <p:spPr>
          <a:xfrm>
            <a:off x="411480" y="4480560"/>
            <a:ext cx="8321040" cy="566928"/>
          </a:xfrm>
          <a:prstGeom prst="roundRect">
            <a:avLst>
              <a:gd name="adj" fmla="val 12903"/>
            </a:avLst>
          </a:prstGeom>
          <a:solidFill>
            <a:srgbClr val="B31166">
              <a:alpha val="18000"/>
            </a:srgbClr>
          </a:solidFill>
          <a:ln/>
        </p:spPr>
        <p:txBody>
          <a:bodyPr/>
          <a:lstStyle/>
          <a:p>
            <a:endParaRPr lang="en-US"/>
          </a:p>
        </p:txBody>
      </p:sp>
      <p:sp>
        <p:nvSpPr>
          <p:cNvPr id="16" name="Text 14"/>
          <p:cNvSpPr/>
          <p:nvPr/>
        </p:nvSpPr>
        <p:spPr>
          <a:xfrm>
            <a:off x="548640" y="4480560"/>
            <a:ext cx="8046720" cy="566928"/>
          </a:xfrm>
          <a:prstGeom prst="rect">
            <a:avLst/>
          </a:prstGeom>
          <a:noFill/>
          <a:ln/>
        </p:spPr>
        <p:txBody>
          <a:bodyPr wrap="square" lIns="1016" tIns="1016" rIns="1016" bIns="1016"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In dementia screening, these are clinically different decisions — a model that communicates uncertainty is more informative than one that doesn’t.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B3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Limitations &amp; Conclusions</a:t>
            </a:r>
            <a:endParaRPr lang="en-US" sz="2800" dirty="0"/>
          </a:p>
        </p:txBody>
      </p:sp>
      <p:sp>
        <p:nvSpPr>
          <p:cNvPr id="3" name="Shape 1"/>
          <p:cNvSpPr/>
          <p:nvPr/>
        </p:nvSpPr>
        <p:spPr>
          <a:xfrm>
            <a:off x="411480" y="804672"/>
            <a:ext cx="1097280" cy="41148"/>
          </a:xfrm>
          <a:prstGeom prst="rect">
            <a:avLst/>
          </a:prstGeom>
          <a:solidFill>
            <a:srgbClr val="B31166"/>
          </a:solidFill>
          <a:ln/>
        </p:spPr>
        <p:txBody>
          <a:bodyPr/>
          <a:lstStyle/>
          <a:p>
            <a:endParaRPr lang="en-US"/>
          </a:p>
        </p:txBody>
      </p:sp>
      <p:sp>
        <p:nvSpPr>
          <p:cNvPr id="4" name="Text 2"/>
          <p:cNvSpPr/>
          <p:nvPr/>
        </p:nvSpPr>
        <p:spPr>
          <a:xfrm>
            <a:off x="411480" y="987552"/>
            <a:ext cx="4023360" cy="347472"/>
          </a:xfrm>
          <a:prstGeom prst="rect">
            <a:avLst/>
          </a:prstGeom>
          <a:noFill/>
          <a:ln/>
        </p:spPr>
        <p:txBody>
          <a:bodyPr wrap="square" lIns="0" tIns="0" rIns="0" bIns="0" rtlCol="0" anchor="ctr"/>
          <a:lstStyle/>
          <a:p>
            <a:pPr marL="0" indent="0" algn="l">
              <a:buNone/>
            </a:pPr>
            <a:r>
              <a:rPr lang="en-US" sz="1500" b="1" dirty="0">
                <a:solidFill>
                  <a:srgbClr val="E33D6F"/>
                </a:solidFill>
                <a:latin typeface="Trebuchet MS" pitchFamily="34" charset="0"/>
                <a:ea typeface="Trebuchet MS" pitchFamily="34" charset="-122"/>
                <a:cs typeface="Trebuchet MS" pitchFamily="34" charset="-120"/>
              </a:rPr>
              <a:t>Limitations</a:t>
            </a:r>
            <a:endParaRPr lang="en-US" sz="1500" dirty="0"/>
          </a:p>
        </p:txBody>
      </p:sp>
      <p:sp>
        <p:nvSpPr>
          <p:cNvPr id="5" name="Text 3"/>
          <p:cNvSpPr/>
          <p:nvPr/>
        </p:nvSpPr>
        <p:spPr>
          <a:xfrm>
            <a:off x="411480" y="1389888"/>
            <a:ext cx="4023360" cy="3017520"/>
          </a:xfrm>
          <a:prstGeom prst="rect">
            <a:avLst/>
          </a:prstGeom>
          <a:noFill/>
          <a:ln/>
        </p:spPr>
        <p:txBody>
          <a:bodyPr wrap="square" lIns="0" tIns="0" rIns="0" bIns="0" rtlCol="0" anchor="t"/>
          <a:lstStyle/>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Laplace approximation — uncertainty estimates carry error, especially in sparse regions; MCMC or Expectation Propagation would be more accurate at higher cost</a:t>
            </a:r>
            <a:endParaRPr lang="en-US" sz="1250" dirty="0"/>
          </a:p>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Repeated measures treated as independent — OASIS-2 has longitudinal structure that GPC does not natively model</a:t>
            </a:r>
            <a:endParaRPr lang="en-US" sz="1250" dirty="0"/>
          </a:p>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Small dataset — ~350 observations limits generalizability and cross-validation stability</a:t>
            </a:r>
            <a:endParaRPr lang="en-US" sz="1250" dirty="0"/>
          </a:p>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Binary outcome — CDR binarization loses ordinal information</a:t>
            </a:r>
            <a:endParaRPr lang="en-US" sz="1250" dirty="0"/>
          </a:p>
        </p:txBody>
      </p:sp>
      <p:sp>
        <p:nvSpPr>
          <p:cNvPr id="6" name="Shape 4"/>
          <p:cNvSpPr/>
          <p:nvPr/>
        </p:nvSpPr>
        <p:spPr>
          <a:xfrm>
            <a:off x="4663440" y="987552"/>
            <a:ext cx="36576" cy="3474720"/>
          </a:xfrm>
          <a:prstGeom prst="rect">
            <a:avLst/>
          </a:prstGeom>
          <a:solidFill>
            <a:srgbClr val="C4BCDA">
              <a:alpha val="30000"/>
            </a:srgbClr>
          </a:solidFill>
          <a:ln/>
        </p:spPr>
        <p:txBody>
          <a:bodyPr/>
          <a:lstStyle/>
          <a:p>
            <a:endParaRPr lang="en-US"/>
          </a:p>
        </p:txBody>
      </p:sp>
      <p:sp>
        <p:nvSpPr>
          <p:cNvPr id="7" name="Text 5"/>
          <p:cNvSpPr/>
          <p:nvPr/>
        </p:nvSpPr>
        <p:spPr>
          <a:xfrm>
            <a:off x="4846320" y="987552"/>
            <a:ext cx="3840480" cy="347472"/>
          </a:xfrm>
          <a:prstGeom prst="rect">
            <a:avLst/>
          </a:prstGeom>
          <a:noFill/>
          <a:ln/>
        </p:spPr>
        <p:txBody>
          <a:bodyPr wrap="square" lIns="0" tIns="0" rIns="0" bIns="0" rtlCol="0" anchor="ctr"/>
          <a:lstStyle/>
          <a:p>
            <a:pPr marL="0" indent="0" algn="l">
              <a:buNone/>
            </a:pPr>
            <a:r>
              <a:rPr lang="en-US" sz="1500" b="1" dirty="0">
                <a:solidFill>
                  <a:srgbClr val="9B6BF2"/>
                </a:solidFill>
                <a:latin typeface="Trebuchet MS" pitchFamily="34" charset="0"/>
                <a:ea typeface="Trebuchet MS" pitchFamily="34" charset="-122"/>
                <a:cs typeface="Trebuchet MS" pitchFamily="34" charset="-120"/>
              </a:rPr>
              <a:t>Conclusions</a:t>
            </a:r>
            <a:endParaRPr lang="en-US" sz="1500" dirty="0"/>
          </a:p>
        </p:txBody>
      </p:sp>
      <p:sp>
        <p:nvSpPr>
          <p:cNvPr id="8" name="Text 6"/>
          <p:cNvSpPr/>
          <p:nvPr/>
        </p:nvSpPr>
        <p:spPr>
          <a:xfrm>
            <a:off x="4846320" y="1389888"/>
            <a:ext cx="3840480" cy="3017520"/>
          </a:xfrm>
          <a:prstGeom prst="rect">
            <a:avLst/>
          </a:prstGeom>
          <a:noFill/>
          <a:ln/>
        </p:spPr>
        <p:txBody>
          <a:bodyPr wrap="square" lIns="0" tIns="0" rIns="0" bIns="0" rtlCol="0" anchor="t"/>
          <a:lstStyle/>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GPC achieved AUC = 0.775 using only demographic and structural features — moderate discrimination without direct cognitive measures</a:t>
            </a:r>
            <a:endParaRPr lang="en-US" sz="1250" dirty="0"/>
          </a:p>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ARD length-scales identified EDUC and nWBV as most influential; SES and Sex contributed least</a:t>
            </a:r>
            <a:endParaRPr lang="en-US" sz="1250" dirty="0"/>
          </a:p>
          <a:p>
            <a:pPr marL="342900" indent="-342900" algn="l">
              <a:buSzPct val="100000"/>
              <a:buChar char="•"/>
            </a:pPr>
            <a:r>
              <a:rPr lang="en-US" sz="1250" dirty="0">
                <a:solidFill>
                  <a:srgbClr val="C4BCDA"/>
                </a:solidFill>
                <a:latin typeface="Calibri" pitchFamily="34" charset="0"/>
                <a:ea typeface="Calibri" pitchFamily="34" charset="-122"/>
                <a:cs typeface="Calibri" pitchFamily="34" charset="-120"/>
              </a:rPr>
              <a:t>Calibrated uncertainty is GPC’s key advantage over logistic regression in a clinical screening context</a:t>
            </a:r>
            <a:endParaRPr lang="en-US" sz="1250" dirty="0"/>
          </a:p>
        </p:txBody>
      </p:sp>
      <p:sp>
        <p:nvSpPr>
          <p:cNvPr id="9" name="Shape 7"/>
          <p:cNvSpPr/>
          <p:nvPr/>
        </p:nvSpPr>
        <p:spPr>
          <a:xfrm>
            <a:off x="411480" y="4572000"/>
            <a:ext cx="8321040" cy="475488"/>
          </a:xfrm>
          <a:prstGeom prst="roundRect">
            <a:avLst>
              <a:gd name="adj" fmla="val 15385"/>
            </a:avLst>
          </a:prstGeom>
          <a:solidFill>
            <a:srgbClr val="B31166">
              <a:alpha val="22000"/>
            </a:srgbClr>
          </a:solidFill>
          <a:ln/>
        </p:spPr>
        <p:txBody>
          <a:bodyPr/>
          <a:lstStyle/>
          <a:p>
            <a:endParaRPr lang="en-US"/>
          </a:p>
        </p:txBody>
      </p:sp>
      <p:sp>
        <p:nvSpPr>
          <p:cNvPr id="10" name="Text 8"/>
          <p:cNvSpPr/>
          <p:nvPr/>
        </p:nvSpPr>
        <p:spPr>
          <a:xfrm>
            <a:off x="548640" y="4572000"/>
            <a:ext cx="8046720" cy="475488"/>
          </a:xfrm>
          <a:prstGeom prst="rect">
            <a:avLst/>
          </a:prstGeom>
          <a:noFill/>
          <a:ln/>
        </p:spPr>
        <p:txBody>
          <a:bodyPr wrap="square" lIns="0" tIns="0" rIns="0" bIns="0" rtlCol="0" anchor="ctr"/>
          <a:lstStyle/>
          <a:p>
            <a:pPr marL="0" indent="0" algn="ctr">
              <a:buNone/>
            </a:pPr>
            <a:r>
              <a:rPr lang="en-US" sz="1400" i="1" dirty="0">
                <a:solidFill>
                  <a:srgbClr val="FFFFFF"/>
                </a:solidFill>
                <a:latin typeface="Trebuchet MS" pitchFamily="34" charset="0"/>
                <a:ea typeface="Trebuchet MS" pitchFamily="34" charset="-122"/>
                <a:cs typeface="Trebuchet MS" pitchFamily="34" charset="-120"/>
              </a:rPr>
              <a:t>GPC is not just about prediction accuracy — it is about knowing when not to be confident.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1807</TotalTime>
  <Words>1821</Words>
  <Application>Microsoft Macintosh PowerPoint</Application>
  <PresentationFormat>On-screen Show (16:9)</PresentationFormat>
  <Paragraphs>197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vt:lpstr>
      <vt:lpstr>Cambria Math</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Dementia Risk Prediction with Gaussian Process Classification</dc:title>
  <dc:subject>PptxGenJS Presentation</dc:subject>
  <dc:creator>Jazmine Haratani</dc:creator>
  <cp:lastModifiedBy>Jazmine Haratani</cp:lastModifiedBy>
  <cp:revision>5</cp:revision>
  <dcterms:created xsi:type="dcterms:W3CDTF">2026-06-05T19:32:25Z</dcterms:created>
  <dcterms:modified xsi:type="dcterms:W3CDTF">2026-06-08T05:31:48Z</dcterms:modified>
</cp:coreProperties>
</file>