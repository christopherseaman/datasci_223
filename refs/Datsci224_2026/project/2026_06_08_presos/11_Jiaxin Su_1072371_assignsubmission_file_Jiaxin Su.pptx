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
  </p:notesMasterIdLst>
  <p:sldIdLst>
    <p:sldId id="256" r:id="rId3"/>
    <p:sldId id="257" r:id="rId4"/>
    <p:sldId id="258" r:id="rId5"/>
    <p:sldId id="259" r:id="rId7"/>
    <p:sldId id="260" r:id="rId8"/>
    <p:sldId id="261" r:id="rId9"/>
  </p:sldIdLst>
  <p:sldSz cx="18288000" cy="10287000"/>
  <p:notesSz cx="6858000" cy="9144000"/>
  <p:embeddedFontLst>
    <p:embeddedFont>
      <p:font typeface="DM Sans"/>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font" Target="fonts/font1.fntdata"/><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relu --&gt; less than 0, all equal to 0 and larger than 0, all follow the linear equation a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example, higher stress at the previous survey could shift the person’s latent state, which may show up as higher craving at the next survey, and that elevated craving may then increase the risk of being about to vape at the following time point. it illustrates how PLRNN can translate hidden dynamics into interpretable temporal relationships among variables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12590">
            <a:off x="5762787" y="-4137233"/>
            <a:ext cx="14596320" cy="16128530"/>
          </a:xfrm>
          <a:custGeom>
            <a:avLst/>
            <a:gdLst/>
            <a:ahLst/>
            <a:cxnLst/>
            <a:rect l="l" t="t" r="r" b="b"/>
            <a:pathLst>
              <a:path w="14596320" h="16128530">
                <a:moveTo>
                  <a:pt x="0" y="0"/>
                </a:moveTo>
                <a:lnTo>
                  <a:pt x="14596319" y="0"/>
                </a:lnTo>
                <a:lnTo>
                  <a:pt x="14596319" y="16128530"/>
                </a:lnTo>
                <a:lnTo>
                  <a:pt x="0" y="16128530"/>
                </a:lnTo>
                <a:lnTo>
                  <a:pt x="0" y="0"/>
                </a:lnTo>
                <a:close/>
              </a:path>
            </a:pathLst>
          </a:custGeom>
          <a:blipFill>
            <a:blip r:embed="rId1">
              <a:alphaModFix amt="15000"/>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1028700" y="8425986"/>
            <a:ext cx="832314" cy="83231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CB2C"/>
            </a:solidFill>
          </p:spPr>
        </p:sp>
        <p:sp>
          <p:nvSpPr>
            <p:cNvPr id="5" name="TextBox 5"/>
            <p:cNvSpPr txBox="1"/>
            <p:nvPr/>
          </p:nvSpPr>
          <p:spPr>
            <a:xfrm>
              <a:off x="76200" y="57150"/>
              <a:ext cx="660400" cy="679450"/>
            </a:xfrm>
            <a:prstGeom prst="rect">
              <a:avLst/>
            </a:prstGeom>
          </p:spPr>
          <p:txBody>
            <a:bodyPr lIns="50800" tIns="50800" rIns="50800" bIns="50800" rtlCol="0" anchor="ctr"/>
            <a:lstStyle/>
            <a:p>
              <a:pPr algn="ctr">
                <a:lnSpc>
                  <a:spcPts val="2860"/>
                </a:lnSpc>
              </a:pPr>
            </a:p>
          </p:txBody>
        </p:sp>
      </p:grpSp>
      <p:sp>
        <p:nvSpPr>
          <p:cNvPr id="6" name="Freeform 6"/>
          <p:cNvSpPr/>
          <p:nvPr/>
        </p:nvSpPr>
        <p:spPr>
          <a:xfrm>
            <a:off x="1271651" y="8624173"/>
            <a:ext cx="346413" cy="433016"/>
          </a:xfrm>
          <a:custGeom>
            <a:avLst/>
            <a:gdLst/>
            <a:ahLst/>
            <a:cxnLst/>
            <a:rect l="l" t="t" r="r" b="b"/>
            <a:pathLst>
              <a:path w="346413" h="433016">
                <a:moveTo>
                  <a:pt x="0" y="0"/>
                </a:moveTo>
                <a:lnTo>
                  <a:pt x="346412" y="0"/>
                </a:lnTo>
                <a:lnTo>
                  <a:pt x="346412" y="433016"/>
                </a:lnTo>
                <a:lnTo>
                  <a:pt x="0" y="4330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165467" y="9263018"/>
            <a:ext cx="2116311" cy="389255"/>
          </a:xfrm>
          <a:prstGeom prst="rect">
            <a:avLst/>
          </a:prstGeom>
        </p:spPr>
        <p:txBody>
          <a:bodyPr lIns="0" tIns="0" rIns="0" bIns="0" rtlCol="0" anchor="t">
            <a:spAutoFit/>
          </a:bodyPr>
          <a:lstStyle/>
          <a:p>
            <a:pPr algn="just">
              <a:lnSpc>
                <a:spcPts val="3220"/>
              </a:lnSpc>
            </a:pPr>
            <a:r>
              <a:rPr lang="en-US" sz="2300">
                <a:solidFill>
                  <a:srgbClr val="000000"/>
                </a:solidFill>
                <a:latin typeface="DM Sans"/>
                <a:ea typeface="DM Sans"/>
                <a:cs typeface="DM Sans"/>
                <a:sym typeface="DM Sans"/>
              </a:rPr>
              <a:t>June/08/2026</a:t>
            </a:r>
            <a:endParaRPr lang="en-US" sz="2300">
              <a:solidFill>
                <a:srgbClr val="000000"/>
              </a:solidFill>
              <a:latin typeface="DM Sans"/>
              <a:ea typeface="DM Sans"/>
              <a:cs typeface="DM Sans"/>
              <a:sym typeface="DM Sans"/>
            </a:endParaRPr>
          </a:p>
        </p:txBody>
      </p:sp>
      <p:sp>
        <p:nvSpPr>
          <p:cNvPr id="8" name="TextBox 8"/>
          <p:cNvSpPr txBox="1"/>
          <p:nvPr/>
        </p:nvSpPr>
        <p:spPr>
          <a:xfrm>
            <a:off x="1028700" y="2182081"/>
            <a:ext cx="16056017" cy="3629025"/>
          </a:xfrm>
          <a:prstGeom prst="rect">
            <a:avLst/>
          </a:prstGeom>
        </p:spPr>
        <p:txBody>
          <a:bodyPr lIns="0" tIns="0" rIns="0" bIns="0" rtlCol="0" anchor="t">
            <a:spAutoFit/>
          </a:bodyPr>
          <a:lstStyle/>
          <a:p>
            <a:pPr algn="l">
              <a:lnSpc>
                <a:spcPts val="9570"/>
              </a:lnSpc>
            </a:pPr>
            <a:r>
              <a:rPr lang="en-US" sz="7975" b="1">
                <a:solidFill>
                  <a:srgbClr val="2657C1"/>
                </a:solidFill>
                <a:latin typeface="Open Sauce Heavy"/>
                <a:ea typeface="Open Sauce Heavy"/>
                <a:cs typeface="Open Sauce Heavy"/>
                <a:sym typeface="Open Sauce Heavy"/>
              </a:rPr>
              <a:t>PIECEWISE-LINEAR RECURRENT NEURAL NETWORK - PLRNN</a:t>
            </a:r>
            <a:endParaRPr lang="en-US" sz="7975" b="1">
              <a:solidFill>
                <a:srgbClr val="2657C1"/>
              </a:solidFill>
              <a:latin typeface="Open Sauce Heavy"/>
              <a:ea typeface="Open Sauce Heavy"/>
              <a:cs typeface="Open Sauce Heavy"/>
              <a:sym typeface="Open Sauce Heavy"/>
            </a:endParaRPr>
          </a:p>
        </p:txBody>
      </p:sp>
      <p:sp>
        <p:nvSpPr>
          <p:cNvPr id="9" name="TextBox 9"/>
          <p:cNvSpPr txBox="1"/>
          <p:nvPr/>
        </p:nvSpPr>
        <p:spPr>
          <a:xfrm>
            <a:off x="2165467" y="8406936"/>
            <a:ext cx="4756684" cy="353060"/>
          </a:xfrm>
          <a:prstGeom prst="rect">
            <a:avLst/>
          </a:prstGeom>
        </p:spPr>
        <p:txBody>
          <a:bodyPr lIns="0" tIns="0" rIns="0" bIns="0" rtlCol="0" anchor="t">
            <a:spAutoFit/>
          </a:bodyPr>
          <a:lstStyle/>
          <a:p>
            <a:pPr marL="0" lvl="0" indent="0" algn="l">
              <a:lnSpc>
                <a:spcPts val="2860"/>
              </a:lnSpc>
              <a:spcBef>
                <a:spcPct val="0"/>
              </a:spcBef>
            </a:pPr>
            <a:r>
              <a:rPr lang="en-US" sz="2200" b="1">
                <a:solidFill>
                  <a:srgbClr val="2657C1"/>
                </a:solidFill>
                <a:latin typeface="Open Sauce Bold"/>
                <a:ea typeface="Open Sauce Bold"/>
                <a:cs typeface="Open Sauce Bold"/>
                <a:sym typeface="Open Sauce Bold"/>
              </a:rPr>
              <a:t>Presented By:</a:t>
            </a:r>
            <a:endParaRPr lang="en-US" sz="2200" b="1">
              <a:solidFill>
                <a:srgbClr val="2657C1"/>
              </a:solidFill>
              <a:latin typeface="Open Sauce Bold"/>
              <a:ea typeface="Open Sauce Bold"/>
              <a:cs typeface="Open Sauce Bold"/>
              <a:sym typeface="Open Sauce Bold"/>
            </a:endParaRPr>
          </a:p>
        </p:txBody>
      </p:sp>
      <p:sp>
        <p:nvSpPr>
          <p:cNvPr id="10" name="TextBox 10"/>
          <p:cNvSpPr txBox="1"/>
          <p:nvPr/>
        </p:nvSpPr>
        <p:spPr>
          <a:xfrm>
            <a:off x="2165467" y="8844553"/>
            <a:ext cx="4756684" cy="361315"/>
          </a:xfrm>
          <a:prstGeom prst="rect">
            <a:avLst/>
          </a:prstGeom>
        </p:spPr>
        <p:txBody>
          <a:bodyPr lIns="0" tIns="0" rIns="0" bIns="0" rtlCol="0" anchor="t">
            <a:spAutoFit/>
          </a:bodyPr>
          <a:lstStyle/>
          <a:p>
            <a:pPr marL="0" lvl="0" indent="0" algn="l">
              <a:lnSpc>
                <a:spcPts val="2990"/>
              </a:lnSpc>
              <a:spcBef>
                <a:spcPct val="0"/>
              </a:spcBef>
            </a:pPr>
            <a:r>
              <a:rPr lang="en-US" sz="2300">
                <a:solidFill>
                  <a:srgbClr val="000000"/>
                </a:solidFill>
                <a:latin typeface="DM Sans"/>
                <a:ea typeface="DM Sans"/>
                <a:cs typeface="DM Sans"/>
                <a:sym typeface="DM Sans"/>
              </a:rPr>
              <a:t>Jiaxin Su</a:t>
            </a:r>
            <a:endParaRPr lang="en-US" sz="2300">
              <a:solidFill>
                <a:srgbClr val="000000"/>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130631">
            <a:off x="4355455" y="-10998963"/>
            <a:ext cx="14596320" cy="16128530"/>
          </a:xfrm>
          <a:custGeom>
            <a:avLst/>
            <a:gdLst/>
            <a:ahLst/>
            <a:cxnLst/>
            <a:rect l="l" t="t" r="r" b="b"/>
            <a:pathLst>
              <a:path w="14596320" h="16128530">
                <a:moveTo>
                  <a:pt x="0" y="0"/>
                </a:moveTo>
                <a:lnTo>
                  <a:pt x="14596320" y="0"/>
                </a:lnTo>
                <a:lnTo>
                  <a:pt x="14596320" y="16128530"/>
                </a:lnTo>
                <a:lnTo>
                  <a:pt x="0" y="16128530"/>
                </a:lnTo>
                <a:lnTo>
                  <a:pt x="0" y="0"/>
                </a:lnTo>
                <a:close/>
              </a:path>
            </a:pathLst>
          </a:custGeom>
          <a:blipFill>
            <a:blip r:embed="rId1">
              <a:alphaModFix amt="8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1053190" y="3604941"/>
            <a:ext cx="13726792" cy="5414627"/>
            <a:chOff x="0" y="0"/>
            <a:chExt cx="2135843" cy="842498"/>
          </a:xfrm>
        </p:grpSpPr>
        <p:sp>
          <p:nvSpPr>
            <p:cNvPr id="4" name="Freeform 4"/>
            <p:cNvSpPr/>
            <p:nvPr/>
          </p:nvSpPr>
          <p:spPr>
            <a:xfrm>
              <a:off x="0" y="0"/>
              <a:ext cx="2135843" cy="842498"/>
            </a:xfrm>
            <a:custGeom>
              <a:avLst/>
              <a:gdLst/>
              <a:ahLst/>
              <a:cxnLst/>
              <a:rect l="l" t="t" r="r" b="b"/>
              <a:pathLst>
                <a:path w="2135843" h="842498">
                  <a:moveTo>
                    <a:pt x="29328" y="0"/>
                  </a:moveTo>
                  <a:lnTo>
                    <a:pt x="2106515" y="0"/>
                  </a:lnTo>
                  <a:cubicBezTo>
                    <a:pt x="2114293" y="0"/>
                    <a:pt x="2121753" y="3090"/>
                    <a:pt x="2127253" y="8590"/>
                  </a:cubicBezTo>
                  <a:cubicBezTo>
                    <a:pt x="2132753" y="14090"/>
                    <a:pt x="2135843" y="21550"/>
                    <a:pt x="2135843" y="29328"/>
                  </a:cubicBezTo>
                  <a:lnTo>
                    <a:pt x="2135843" y="813170"/>
                  </a:lnTo>
                  <a:cubicBezTo>
                    <a:pt x="2135843" y="829367"/>
                    <a:pt x="2122712" y="842498"/>
                    <a:pt x="2106515" y="842498"/>
                  </a:cubicBezTo>
                  <a:lnTo>
                    <a:pt x="29328" y="842498"/>
                  </a:lnTo>
                  <a:cubicBezTo>
                    <a:pt x="21550" y="842498"/>
                    <a:pt x="14090" y="839408"/>
                    <a:pt x="8590" y="833908"/>
                  </a:cubicBezTo>
                  <a:cubicBezTo>
                    <a:pt x="3090" y="828408"/>
                    <a:pt x="0" y="820948"/>
                    <a:pt x="0" y="813170"/>
                  </a:cubicBezTo>
                  <a:lnTo>
                    <a:pt x="0" y="29328"/>
                  </a:lnTo>
                  <a:cubicBezTo>
                    <a:pt x="0" y="13131"/>
                    <a:pt x="13131" y="0"/>
                    <a:pt x="29328" y="0"/>
                  </a:cubicBezTo>
                  <a:close/>
                </a:path>
              </a:pathLst>
            </a:custGeom>
            <a:solidFill>
              <a:srgbClr val="F4F4F6"/>
            </a:solidFill>
          </p:spPr>
        </p:sp>
        <p:sp>
          <p:nvSpPr>
            <p:cNvPr id="5" name="TextBox 5"/>
            <p:cNvSpPr txBox="1"/>
            <p:nvPr/>
          </p:nvSpPr>
          <p:spPr>
            <a:xfrm>
              <a:off x="0" y="-47625"/>
              <a:ext cx="2135843" cy="890123"/>
            </a:xfrm>
            <a:prstGeom prst="rect">
              <a:avLst/>
            </a:prstGeom>
          </p:spPr>
          <p:txBody>
            <a:bodyPr lIns="50800" tIns="50800" rIns="50800" bIns="50800" rtlCol="0" anchor="ctr"/>
            <a:lstStyle/>
            <a:p>
              <a:pPr algn="ctr">
                <a:lnSpc>
                  <a:spcPts val="3360"/>
                </a:lnSpc>
              </a:pPr>
            </a:p>
          </p:txBody>
        </p:sp>
      </p:grpSp>
      <p:sp>
        <p:nvSpPr>
          <p:cNvPr id="6" name="TextBox 6"/>
          <p:cNvSpPr txBox="1"/>
          <p:nvPr/>
        </p:nvSpPr>
        <p:spPr>
          <a:xfrm>
            <a:off x="1028700" y="2305764"/>
            <a:ext cx="13305234" cy="1152525"/>
          </a:xfrm>
          <a:prstGeom prst="rect">
            <a:avLst/>
          </a:prstGeom>
        </p:spPr>
        <p:txBody>
          <a:bodyPr lIns="0" tIns="0" rIns="0" bIns="0" rtlCol="0" anchor="t">
            <a:spAutoFit/>
          </a:bodyPr>
          <a:lstStyle/>
          <a:p>
            <a:pPr algn="l">
              <a:lnSpc>
                <a:spcPts val="9155"/>
              </a:lnSpc>
            </a:pPr>
            <a:r>
              <a:rPr lang="en-US" sz="7630" b="1">
                <a:solidFill>
                  <a:srgbClr val="2657C1"/>
                </a:solidFill>
                <a:latin typeface="Open Sauce Heavy"/>
                <a:ea typeface="Open Sauce Heavy"/>
                <a:cs typeface="Open Sauce Heavy"/>
                <a:sym typeface="Open Sauce Heavy"/>
              </a:rPr>
              <a:t>PLRNN</a:t>
            </a:r>
            <a:endParaRPr lang="en-US" sz="7630" b="1">
              <a:solidFill>
                <a:srgbClr val="2657C1"/>
              </a:solidFill>
              <a:latin typeface="Open Sauce Heavy"/>
              <a:ea typeface="Open Sauce Heavy"/>
              <a:cs typeface="Open Sauce Heavy"/>
              <a:sym typeface="Open Sauce Heavy"/>
            </a:endParaRPr>
          </a:p>
        </p:txBody>
      </p:sp>
      <p:sp>
        <p:nvSpPr>
          <p:cNvPr id="7" name="TextBox 7"/>
          <p:cNvSpPr txBox="1"/>
          <p:nvPr/>
        </p:nvSpPr>
        <p:spPr>
          <a:xfrm>
            <a:off x="1494228" y="4105116"/>
            <a:ext cx="12693109" cy="4172663"/>
          </a:xfrm>
          <a:prstGeom prst="rect">
            <a:avLst/>
          </a:prstGeom>
        </p:spPr>
        <p:txBody>
          <a:bodyPr lIns="0" tIns="0" rIns="0" bIns="0" rtlCol="0" anchor="t">
            <a:spAutoFit/>
          </a:bodyPr>
          <a:lstStyle/>
          <a:p>
            <a:pPr marL="641350" lvl="1" indent="-320675" algn="l">
              <a:lnSpc>
                <a:spcPts val="4160"/>
              </a:lnSpc>
              <a:buFont typeface="Arial" panose="020B0604020202090204"/>
              <a:buChar char="•"/>
            </a:pPr>
            <a:r>
              <a:rPr lang="en-US" sz="2970" b="1">
                <a:solidFill>
                  <a:srgbClr val="000000"/>
                </a:solidFill>
                <a:latin typeface="DM Sans Bold"/>
                <a:ea typeface="DM Sans Bold"/>
                <a:cs typeface="DM Sans Bold"/>
                <a:sym typeface="DM Sans Bold"/>
              </a:rPr>
              <a:t>Simple RNN</a:t>
            </a:r>
            <a:r>
              <a:rPr lang="en-US" sz="2970">
                <a:solidFill>
                  <a:srgbClr val="000000"/>
                </a:solidFill>
                <a:latin typeface="DM Sans"/>
                <a:ea typeface="DM Sans"/>
                <a:cs typeface="DM Sans"/>
                <a:sym typeface="DM Sans"/>
              </a:rPr>
              <a:t>: a basic neural network for sequential data, such as time-series data. It updates a hidden state over time so that past information can influence future predictions.</a:t>
            </a:r>
            <a:endParaRPr lang="en-US" sz="2970">
              <a:solidFill>
                <a:srgbClr val="000000"/>
              </a:solidFill>
              <a:latin typeface="DM Sans"/>
              <a:ea typeface="DM Sans"/>
              <a:cs typeface="DM Sans"/>
              <a:sym typeface="DM Sans"/>
            </a:endParaRPr>
          </a:p>
          <a:p>
            <a:pPr algn="l">
              <a:lnSpc>
                <a:spcPts val="4160"/>
              </a:lnSpc>
            </a:pPr>
          </a:p>
          <a:p>
            <a:pPr marL="641350" lvl="1" indent="-320675" algn="l">
              <a:lnSpc>
                <a:spcPts val="4160"/>
              </a:lnSpc>
              <a:buFont typeface="Arial" panose="020B0604020202090204"/>
              <a:buChar char="•"/>
            </a:pPr>
            <a:r>
              <a:rPr lang="en-US" sz="2970" b="1">
                <a:solidFill>
                  <a:srgbClr val="000000"/>
                </a:solidFill>
                <a:latin typeface="DM Sans Bold"/>
                <a:ea typeface="DM Sans Bold"/>
                <a:cs typeface="DM Sans Bold"/>
                <a:sym typeface="DM Sans Bold"/>
              </a:rPr>
              <a:t>PLRNN</a:t>
            </a:r>
            <a:r>
              <a:rPr lang="en-US" sz="2970">
                <a:solidFill>
                  <a:srgbClr val="000000"/>
                </a:solidFill>
                <a:latin typeface="DM Sans"/>
                <a:ea typeface="DM Sans"/>
                <a:cs typeface="DM Sans"/>
                <a:sym typeface="DM Sans"/>
              </a:rPr>
              <a:t>: a recurrent neural network formulated as a dynamical system. Like a simple RNN, it updates a hidden state over time, but it uses ReLU-based piecewise-linear rules, meaning the system follows different local linear rules in different regions of the latent space.</a:t>
            </a:r>
            <a:endParaRPr lang="en-US" sz="2970">
              <a:solidFill>
                <a:srgbClr val="000000"/>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130631">
            <a:off x="9694858" y="-16142500"/>
            <a:ext cx="14596320" cy="16128530"/>
          </a:xfrm>
          <a:custGeom>
            <a:avLst/>
            <a:gdLst/>
            <a:ahLst/>
            <a:cxnLst/>
            <a:rect l="l" t="t" r="r" b="b"/>
            <a:pathLst>
              <a:path w="14596320" h="16128530">
                <a:moveTo>
                  <a:pt x="0" y="0"/>
                </a:moveTo>
                <a:lnTo>
                  <a:pt x="14596320" y="0"/>
                </a:lnTo>
                <a:lnTo>
                  <a:pt x="14596320" y="16128530"/>
                </a:lnTo>
                <a:lnTo>
                  <a:pt x="0" y="16128530"/>
                </a:lnTo>
                <a:lnTo>
                  <a:pt x="0" y="0"/>
                </a:lnTo>
                <a:close/>
              </a:path>
            </a:pathLst>
          </a:custGeom>
          <a:blipFill>
            <a:blip r:embed="rId1">
              <a:alphaModFix amt="8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613341" y="2263342"/>
            <a:ext cx="17403275" cy="7810766"/>
            <a:chOff x="0" y="0"/>
            <a:chExt cx="2646588" cy="1187815"/>
          </a:xfrm>
        </p:grpSpPr>
        <p:sp>
          <p:nvSpPr>
            <p:cNvPr id="4" name="Freeform 4"/>
            <p:cNvSpPr/>
            <p:nvPr/>
          </p:nvSpPr>
          <p:spPr>
            <a:xfrm>
              <a:off x="0" y="0"/>
              <a:ext cx="2646588" cy="1187815"/>
            </a:xfrm>
            <a:custGeom>
              <a:avLst/>
              <a:gdLst/>
              <a:ahLst/>
              <a:cxnLst/>
              <a:rect l="l" t="t" r="r" b="b"/>
              <a:pathLst>
                <a:path w="2646588" h="1187815">
                  <a:moveTo>
                    <a:pt x="23132" y="0"/>
                  </a:moveTo>
                  <a:lnTo>
                    <a:pt x="2623455" y="0"/>
                  </a:lnTo>
                  <a:cubicBezTo>
                    <a:pt x="2636231" y="0"/>
                    <a:pt x="2646588" y="10357"/>
                    <a:pt x="2646588" y="23132"/>
                  </a:cubicBezTo>
                  <a:lnTo>
                    <a:pt x="2646588" y="1164683"/>
                  </a:lnTo>
                  <a:cubicBezTo>
                    <a:pt x="2646588" y="1177459"/>
                    <a:pt x="2636231" y="1187815"/>
                    <a:pt x="2623455" y="1187815"/>
                  </a:cubicBezTo>
                  <a:lnTo>
                    <a:pt x="23132" y="1187815"/>
                  </a:lnTo>
                  <a:cubicBezTo>
                    <a:pt x="10357" y="1187815"/>
                    <a:pt x="0" y="1177459"/>
                    <a:pt x="0" y="1164683"/>
                  </a:cubicBezTo>
                  <a:lnTo>
                    <a:pt x="0" y="23132"/>
                  </a:lnTo>
                  <a:cubicBezTo>
                    <a:pt x="0" y="10357"/>
                    <a:pt x="10357" y="0"/>
                    <a:pt x="23132" y="0"/>
                  </a:cubicBezTo>
                  <a:close/>
                </a:path>
              </a:pathLst>
            </a:custGeom>
            <a:solidFill>
              <a:srgbClr val="F4F4F6"/>
            </a:solidFill>
          </p:spPr>
        </p:sp>
        <p:sp>
          <p:nvSpPr>
            <p:cNvPr id="5" name="TextBox 5"/>
            <p:cNvSpPr txBox="1"/>
            <p:nvPr/>
          </p:nvSpPr>
          <p:spPr>
            <a:xfrm>
              <a:off x="0" y="-47625"/>
              <a:ext cx="2646588" cy="1235440"/>
            </a:xfrm>
            <a:prstGeom prst="rect">
              <a:avLst/>
            </a:prstGeom>
          </p:spPr>
          <p:txBody>
            <a:bodyPr lIns="50800" tIns="50800" rIns="50800" bIns="50800" rtlCol="0" anchor="ctr"/>
            <a:lstStyle/>
            <a:p>
              <a:pPr algn="ctr">
                <a:lnSpc>
                  <a:spcPts val="3360"/>
                </a:lnSpc>
              </a:pPr>
            </a:p>
          </p:txBody>
        </p:sp>
      </p:grpSp>
      <p:sp>
        <p:nvSpPr>
          <p:cNvPr id="6" name="Freeform 6"/>
          <p:cNvSpPr/>
          <p:nvPr/>
        </p:nvSpPr>
        <p:spPr>
          <a:xfrm>
            <a:off x="9936938" y="2539184"/>
            <a:ext cx="7905615" cy="6409958"/>
          </a:xfrm>
          <a:custGeom>
            <a:avLst/>
            <a:gdLst/>
            <a:ahLst/>
            <a:cxnLst/>
            <a:rect l="l" t="t" r="r" b="b"/>
            <a:pathLst>
              <a:path w="7905615" h="6409958">
                <a:moveTo>
                  <a:pt x="0" y="0"/>
                </a:moveTo>
                <a:lnTo>
                  <a:pt x="7905614" y="0"/>
                </a:lnTo>
                <a:lnTo>
                  <a:pt x="7905614" y="6409958"/>
                </a:lnTo>
                <a:lnTo>
                  <a:pt x="0" y="6409958"/>
                </a:lnTo>
                <a:lnTo>
                  <a:pt x="0" y="0"/>
                </a:lnTo>
                <a:close/>
              </a:path>
            </a:pathLst>
          </a:custGeom>
          <a:blipFill>
            <a:blip r:embed="rId3"/>
            <a:stretch>
              <a:fillRect/>
            </a:stretch>
          </a:blipFill>
        </p:spPr>
      </p:sp>
      <p:sp>
        <p:nvSpPr>
          <p:cNvPr id="7" name="Freeform 7"/>
          <p:cNvSpPr/>
          <p:nvPr/>
        </p:nvSpPr>
        <p:spPr>
          <a:xfrm>
            <a:off x="1214731" y="4190665"/>
            <a:ext cx="7676830" cy="883175"/>
          </a:xfrm>
          <a:custGeom>
            <a:avLst/>
            <a:gdLst/>
            <a:ahLst/>
            <a:cxnLst/>
            <a:rect l="l" t="t" r="r" b="b"/>
            <a:pathLst>
              <a:path w="7676830" h="883175">
                <a:moveTo>
                  <a:pt x="0" y="0"/>
                </a:moveTo>
                <a:lnTo>
                  <a:pt x="7676829" y="0"/>
                </a:lnTo>
                <a:lnTo>
                  <a:pt x="7676829" y="883175"/>
                </a:lnTo>
                <a:lnTo>
                  <a:pt x="0" y="883175"/>
                </a:lnTo>
                <a:lnTo>
                  <a:pt x="0" y="0"/>
                </a:lnTo>
                <a:close/>
              </a:path>
            </a:pathLst>
          </a:custGeom>
          <a:blipFill>
            <a:blip r:embed="rId4"/>
            <a:stretch>
              <a:fillRect/>
            </a:stretch>
          </a:blipFill>
        </p:spPr>
      </p:sp>
      <p:sp>
        <p:nvSpPr>
          <p:cNvPr id="8" name="Freeform 8"/>
          <p:cNvSpPr/>
          <p:nvPr/>
        </p:nvSpPr>
        <p:spPr>
          <a:xfrm>
            <a:off x="1078225" y="2911586"/>
            <a:ext cx="8637347" cy="974819"/>
          </a:xfrm>
          <a:custGeom>
            <a:avLst/>
            <a:gdLst/>
            <a:ahLst/>
            <a:cxnLst/>
            <a:rect l="l" t="t" r="r" b="b"/>
            <a:pathLst>
              <a:path w="8637347" h="974819">
                <a:moveTo>
                  <a:pt x="0" y="0"/>
                </a:moveTo>
                <a:lnTo>
                  <a:pt x="8637347" y="0"/>
                </a:lnTo>
                <a:lnTo>
                  <a:pt x="8637347" y="974818"/>
                </a:lnTo>
                <a:lnTo>
                  <a:pt x="0" y="974818"/>
                </a:lnTo>
                <a:lnTo>
                  <a:pt x="0" y="0"/>
                </a:lnTo>
                <a:close/>
              </a:path>
            </a:pathLst>
          </a:custGeom>
          <a:blipFill>
            <a:blip r:embed="rId5"/>
            <a:stretch>
              <a:fillRect/>
            </a:stretch>
          </a:blipFill>
        </p:spPr>
      </p:sp>
      <p:sp>
        <p:nvSpPr>
          <p:cNvPr id="9" name="Freeform 9"/>
          <p:cNvSpPr/>
          <p:nvPr/>
        </p:nvSpPr>
        <p:spPr>
          <a:xfrm>
            <a:off x="15063328" y="8000546"/>
            <a:ext cx="2195972" cy="1453217"/>
          </a:xfrm>
          <a:custGeom>
            <a:avLst/>
            <a:gdLst/>
            <a:ahLst/>
            <a:cxnLst/>
            <a:rect l="l" t="t" r="r" b="b"/>
            <a:pathLst>
              <a:path w="2195972" h="1453217">
                <a:moveTo>
                  <a:pt x="0" y="0"/>
                </a:moveTo>
                <a:lnTo>
                  <a:pt x="2195972" y="0"/>
                </a:lnTo>
                <a:lnTo>
                  <a:pt x="2195972" y="1453217"/>
                </a:lnTo>
                <a:lnTo>
                  <a:pt x="0" y="1453217"/>
                </a:lnTo>
                <a:lnTo>
                  <a:pt x="0" y="0"/>
                </a:lnTo>
                <a:close/>
              </a:path>
            </a:pathLst>
          </a:custGeom>
          <a:blipFill>
            <a:blip r:embed="rId6"/>
            <a:stretch>
              <a:fillRect/>
            </a:stretch>
          </a:blipFill>
        </p:spPr>
      </p:sp>
      <p:sp>
        <p:nvSpPr>
          <p:cNvPr id="10" name="TextBox 10"/>
          <p:cNvSpPr txBox="1"/>
          <p:nvPr/>
        </p:nvSpPr>
        <p:spPr>
          <a:xfrm>
            <a:off x="613341" y="1038225"/>
            <a:ext cx="13305234" cy="1152525"/>
          </a:xfrm>
          <a:prstGeom prst="rect">
            <a:avLst/>
          </a:prstGeom>
        </p:spPr>
        <p:txBody>
          <a:bodyPr lIns="0" tIns="0" rIns="0" bIns="0" rtlCol="0" anchor="t">
            <a:spAutoFit/>
          </a:bodyPr>
          <a:lstStyle/>
          <a:p>
            <a:pPr algn="l">
              <a:lnSpc>
                <a:spcPts val="9155"/>
              </a:lnSpc>
            </a:pPr>
            <a:r>
              <a:rPr lang="en-US" sz="7630" b="1">
                <a:solidFill>
                  <a:srgbClr val="2657C1"/>
                </a:solidFill>
                <a:latin typeface="Open Sauce Heavy"/>
                <a:ea typeface="Open Sauce Heavy"/>
                <a:cs typeface="Open Sauce Heavy"/>
                <a:sym typeface="Open Sauce Heavy"/>
              </a:rPr>
              <a:t>PLRNN</a:t>
            </a:r>
            <a:endParaRPr lang="en-US" sz="7630" b="1">
              <a:solidFill>
                <a:srgbClr val="2657C1"/>
              </a:solidFill>
              <a:latin typeface="Open Sauce Heavy"/>
              <a:ea typeface="Open Sauce Heavy"/>
              <a:cs typeface="Open Sauce Heavy"/>
              <a:sym typeface="Open Sauce Heavy"/>
            </a:endParaRPr>
          </a:p>
        </p:txBody>
      </p:sp>
      <p:sp>
        <p:nvSpPr>
          <p:cNvPr id="11" name="TextBox 11"/>
          <p:cNvSpPr txBox="1"/>
          <p:nvPr/>
        </p:nvSpPr>
        <p:spPr>
          <a:xfrm>
            <a:off x="1078225" y="5337854"/>
            <a:ext cx="7813335" cy="2843542"/>
          </a:xfrm>
          <a:prstGeom prst="rect">
            <a:avLst/>
          </a:prstGeom>
        </p:spPr>
        <p:txBody>
          <a:bodyPr lIns="0" tIns="0" rIns="0" bIns="0" rtlCol="0" anchor="t">
            <a:spAutoFit/>
          </a:bodyPr>
          <a:lstStyle/>
          <a:p>
            <a:pPr marL="508000" lvl="1" indent="-254000" algn="l">
              <a:lnSpc>
                <a:spcPts val="3295"/>
              </a:lnSpc>
              <a:buFont typeface="Arial" panose="020B0604020202090204"/>
              <a:buChar char="•"/>
            </a:pPr>
            <a:r>
              <a:rPr lang="en-US" sz="2355">
                <a:solidFill>
                  <a:srgbClr val="000000"/>
                </a:solidFill>
                <a:latin typeface="DM Sans"/>
                <a:ea typeface="DM Sans"/>
                <a:cs typeface="DM Sans"/>
                <a:sym typeface="DM Sans"/>
              </a:rPr>
              <a:t>assumes that the observed or self-reported variables, such as stress (0-10), are generated from an underlying latent state space Zt​ that captures the person’s hidden psychological dynamics.</a:t>
            </a:r>
            <a:endParaRPr lang="en-US" sz="2355">
              <a:solidFill>
                <a:srgbClr val="000000"/>
              </a:solidFill>
              <a:latin typeface="DM Sans"/>
              <a:ea typeface="DM Sans"/>
              <a:cs typeface="DM Sans"/>
              <a:sym typeface="DM Sans"/>
            </a:endParaRPr>
          </a:p>
          <a:p>
            <a:pPr marL="508000" lvl="1" indent="-254000" algn="l">
              <a:lnSpc>
                <a:spcPts val="3295"/>
              </a:lnSpc>
              <a:buFont typeface="Arial" panose="020B0604020202090204"/>
              <a:buChar char="•"/>
            </a:pPr>
            <a:r>
              <a:rPr lang="en-US" sz="2355">
                <a:solidFill>
                  <a:srgbClr val="000000"/>
                </a:solidFill>
                <a:latin typeface="DM Sans"/>
                <a:ea typeface="DM Sans"/>
                <a:cs typeface="DM Sans"/>
                <a:sym typeface="DM Sans"/>
              </a:rPr>
              <a:t>assumes this latent state evolves over time based on the previous latent state, external inputs, and piecewise-linear nonlinear rules</a:t>
            </a:r>
            <a:endParaRPr lang="en-US" sz="2355">
              <a:solidFill>
                <a:srgbClr val="000000"/>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130631">
            <a:off x="4355455" y="-10998963"/>
            <a:ext cx="14596320" cy="16128530"/>
          </a:xfrm>
          <a:custGeom>
            <a:avLst/>
            <a:gdLst/>
            <a:ahLst/>
            <a:cxnLst/>
            <a:rect l="l" t="t" r="r" b="b"/>
            <a:pathLst>
              <a:path w="14596320" h="16128530">
                <a:moveTo>
                  <a:pt x="0" y="0"/>
                </a:moveTo>
                <a:lnTo>
                  <a:pt x="14596320" y="0"/>
                </a:lnTo>
                <a:lnTo>
                  <a:pt x="14596320" y="16128530"/>
                </a:lnTo>
                <a:lnTo>
                  <a:pt x="0" y="16128530"/>
                </a:lnTo>
                <a:lnTo>
                  <a:pt x="0" y="0"/>
                </a:lnTo>
                <a:close/>
              </a:path>
            </a:pathLst>
          </a:custGeom>
          <a:blipFill>
            <a:blip r:embed="rId1">
              <a:alphaModFix amt="8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1053190" y="4310199"/>
            <a:ext cx="8267057" cy="4709368"/>
            <a:chOff x="0" y="0"/>
            <a:chExt cx="1478962" cy="842498"/>
          </a:xfrm>
        </p:grpSpPr>
        <p:sp>
          <p:nvSpPr>
            <p:cNvPr id="4" name="Freeform 4"/>
            <p:cNvSpPr/>
            <p:nvPr/>
          </p:nvSpPr>
          <p:spPr>
            <a:xfrm>
              <a:off x="0" y="0"/>
              <a:ext cx="1478962" cy="842498"/>
            </a:xfrm>
            <a:custGeom>
              <a:avLst/>
              <a:gdLst/>
              <a:ahLst/>
              <a:cxnLst/>
              <a:rect l="l" t="t" r="r" b="b"/>
              <a:pathLst>
                <a:path w="1478962" h="842498">
                  <a:moveTo>
                    <a:pt x="48697" y="0"/>
                  </a:moveTo>
                  <a:lnTo>
                    <a:pt x="1430265" y="0"/>
                  </a:lnTo>
                  <a:cubicBezTo>
                    <a:pt x="1457160" y="0"/>
                    <a:pt x="1478962" y="21802"/>
                    <a:pt x="1478962" y="48697"/>
                  </a:cubicBezTo>
                  <a:lnTo>
                    <a:pt x="1478962" y="793801"/>
                  </a:lnTo>
                  <a:cubicBezTo>
                    <a:pt x="1478962" y="820695"/>
                    <a:pt x="1457160" y="842498"/>
                    <a:pt x="1430265" y="842498"/>
                  </a:cubicBezTo>
                  <a:lnTo>
                    <a:pt x="48697" y="842498"/>
                  </a:lnTo>
                  <a:cubicBezTo>
                    <a:pt x="21802" y="842498"/>
                    <a:pt x="0" y="820695"/>
                    <a:pt x="0" y="793801"/>
                  </a:cubicBezTo>
                  <a:lnTo>
                    <a:pt x="0" y="48697"/>
                  </a:lnTo>
                  <a:cubicBezTo>
                    <a:pt x="0" y="21802"/>
                    <a:pt x="21802" y="0"/>
                    <a:pt x="48697" y="0"/>
                  </a:cubicBezTo>
                  <a:close/>
                </a:path>
              </a:pathLst>
            </a:custGeom>
            <a:solidFill>
              <a:srgbClr val="F4F4F6"/>
            </a:solidFill>
          </p:spPr>
        </p:sp>
        <p:sp>
          <p:nvSpPr>
            <p:cNvPr id="5" name="TextBox 5"/>
            <p:cNvSpPr txBox="1"/>
            <p:nvPr/>
          </p:nvSpPr>
          <p:spPr>
            <a:xfrm>
              <a:off x="0" y="-47625"/>
              <a:ext cx="1478962" cy="890123"/>
            </a:xfrm>
            <a:prstGeom prst="rect">
              <a:avLst/>
            </a:prstGeom>
          </p:spPr>
          <p:txBody>
            <a:bodyPr lIns="50800" tIns="50800" rIns="50800" bIns="50800" rtlCol="0" anchor="ctr"/>
            <a:lstStyle/>
            <a:p>
              <a:pPr algn="ctr">
                <a:lnSpc>
                  <a:spcPts val="3360"/>
                </a:lnSpc>
              </a:pPr>
            </a:p>
          </p:txBody>
        </p:sp>
      </p:grpSp>
      <p:sp>
        <p:nvSpPr>
          <p:cNvPr id="6" name="Freeform 6"/>
          <p:cNvSpPr/>
          <p:nvPr/>
        </p:nvSpPr>
        <p:spPr>
          <a:xfrm>
            <a:off x="9655116" y="3987258"/>
            <a:ext cx="7965104" cy="5355251"/>
          </a:xfrm>
          <a:custGeom>
            <a:avLst/>
            <a:gdLst/>
            <a:ahLst/>
            <a:cxnLst/>
            <a:rect l="l" t="t" r="r" b="b"/>
            <a:pathLst>
              <a:path w="7965104" h="5355251">
                <a:moveTo>
                  <a:pt x="0" y="0"/>
                </a:moveTo>
                <a:lnTo>
                  <a:pt x="7965105" y="0"/>
                </a:lnTo>
                <a:lnTo>
                  <a:pt x="7965105" y="5355251"/>
                </a:lnTo>
                <a:lnTo>
                  <a:pt x="0" y="5355251"/>
                </a:lnTo>
                <a:lnTo>
                  <a:pt x="0" y="0"/>
                </a:lnTo>
                <a:close/>
              </a:path>
            </a:pathLst>
          </a:custGeom>
          <a:blipFill>
            <a:blip r:embed="rId3"/>
            <a:stretch>
              <a:fillRect t="-64654"/>
            </a:stretch>
          </a:blipFill>
        </p:spPr>
      </p:sp>
      <p:sp>
        <p:nvSpPr>
          <p:cNvPr id="7" name="Freeform 7"/>
          <p:cNvSpPr/>
          <p:nvPr/>
        </p:nvSpPr>
        <p:spPr>
          <a:xfrm>
            <a:off x="1443930" y="5706805"/>
            <a:ext cx="7700070" cy="792245"/>
          </a:xfrm>
          <a:custGeom>
            <a:avLst/>
            <a:gdLst/>
            <a:ahLst/>
            <a:cxnLst/>
            <a:rect l="l" t="t" r="r" b="b"/>
            <a:pathLst>
              <a:path w="7700070" h="792245">
                <a:moveTo>
                  <a:pt x="0" y="0"/>
                </a:moveTo>
                <a:lnTo>
                  <a:pt x="7700070" y="0"/>
                </a:lnTo>
                <a:lnTo>
                  <a:pt x="7700070" y="792245"/>
                </a:lnTo>
                <a:lnTo>
                  <a:pt x="0" y="792245"/>
                </a:lnTo>
                <a:lnTo>
                  <a:pt x="0" y="0"/>
                </a:lnTo>
                <a:close/>
              </a:path>
            </a:pathLst>
          </a:custGeom>
          <a:blipFill>
            <a:blip r:embed="rId4"/>
            <a:stretch>
              <a:fillRect/>
            </a:stretch>
          </a:blipFill>
        </p:spPr>
      </p:sp>
      <p:sp>
        <p:nvSpPr>
          <p:cNvPr id="8" name="Freeform 8"/>
          <p:cNvSpPr/>
          <p:nvPr/>
        </p:nvSpPr>
        <p:spPr>
          <a:xfrm>
            <a:off x="1489245" y="7274112"/>
            <a:ext cx="6261496" cy="744610"/>
          </a:xfrm>
          <a:custGeom>
            <a:avLst/>
            <a:gdLst/>
            <a:ahLst/>
            <a:cxnLst/>
            <a:rect l="l" t="t" r="r" b="b"/>
            <a:pathLst>
              <a:path w="6261496" h="744610">
                <a:moveTo>
                  <a:pt x="0" y="0"/>
                </a:moveTo>
                <a:lnTo>
                  <a:pt x="6261496" y="0"/>
                </a:lnTo>
                <a:lnTo>
                  <a:pt x="6261496" y="744610"/>
                </a:lnTo>
                <a:lnTo>
                  <a:pt x="0" y="744610"/>
                </a:lnTo>
                <a:lnTo>
                  <a:pt x="0" y="0"/>
                </a:lnTo>
                <a:close/>
              </a:path>
            </a:pathLst>
          </a:custGeom>
          <a:blipFill>
            <a:blip r:embed="rId5"/>
            <a:stretch>
              <a:fillRect/>
            </a:stretch>
          </a:blipFill>
        </p:spPr>
      </p:sp>
      <p:sp>
        <p:nvSpPr>
          <p:cNvPr id="9" name="TextBox 9"/>
          <p:cNvSpPr txBox="1"/>
          <p:nvPr/>
        </p:nvSpPr>
        <p:spPr>
          <a:xfrm>
            <a:off x="1028700" y="2305764"/>
            <a:ext cx="13305234" cy="1152525"/>
          </a:xfrm>
          <a:prstGeom prst="rect">
            <a:avLst/>
          </a:prstGeom>
        </p:spPr>
        <p:txBody>
          <a:bodyPr lIns="0" tIns="0" rIns="0" bIns="0" rtlCol="0" anchor="t">
            <a:spAutoFit/>
          </a:bodyPr>
          <a:lstStyle/>
          <a:p>
            <a:pPr algn="l">
              <a:lnSpc>
                <a:spcPts val="9155"/>
              </a:lnSpc>
            </a:pPr>
            <a:r>
              <a:rPr lang="en-US" sz="7630" b="1">
                <a:solidFill>
                  <a:srgbClr val="2657C1"/>
                </a:solidFill>
                <a:latin typeface="Open Sauce Heavy"/>
                <a:ea typeface="Open Sauce Heavy"/>
                <a:cs typeface="Open Sauce Heavy"/>
                <a:sym typeface="Open Sauce Heavy"/>
              </a:rPr>
              <a:t>PLRNN</a:t>
            </a:r>
            <a:endParaRPr lang="en-US" sz="7630" b="1">
              <a:solidFill>
                <a:srgbClr val="2657C1"/>
              </a:solidFill>
              <a:latin typeface="Open Sauce Heavy"/>
              <a:ea typeface="Open Sauce Heavy"/>
              <a:cs typeface="Open Sauce Heavy"/>
              <a:sym typeface="Open Sauce Heav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064975">
            <a:off x="-11088060" y="9270076"/>
            <a:ext cx="14596320" cy="16128530"/>
          </a:xfrm>
          <a:custGeom>
            <a:avLst/>
            <a:gdLst/>
            <a:ahLst/>
            <a:cxnLst/>
            <a:rect l="l" t="t" r="r" b="b"/>
            <a:pathLst>
              <a:path w="14596320" h="16128530">
                <a:moveTo>
                  <a:pt x="0" y="0"/>
                </a:moveTo>
                <a:lnTo>
                  <a:pt x="14596320" y="0"/>
                </a:lnTo>
                <a:lnTo>
                  <a:pt x="14596320" y="16128531"/>
                </a:lnTo>
                <a:lnTo>
                  <a:pt x="0" y="16128531"/>
                </a:lnTo>
                <a:lnTo>
                  <a:pt x="0" y="0"/>
                </a:lnTo>
                <a:close/>
              </a:path>
            </a:pathLst>
          </a:custGeom>
          <a:blipFill>
            <a:blip r:embed="rId1">
              <a:alphaModFix amt="9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1747296" y="4896482"/>
            <a:ext cx="991794" cy="922318"/>
            <a:chOff x="0" y="0"/>
            <a:chExt cx="1246539" cy="1159218"/>
          </a:xfrm>
        </p:grpSpPr>
        <p:sp>
          <p:nvSpPr>
            <p:cNvPr id="4" name="Freeform 4"/>
            <p:cNvSpPr/>
            <p:nvPr/>
          </p:nvSpPr>
          <p:spPr>
            <a:xfrm>
              <a:off x="0" y="0"/>
              <a:ext cx="1246539" cy="1159218"/>
            </a:xfrm>
            <a:custGeom>
              <a:avLst/>
              <a:gdLst/>
              <a:ahLst/>
              <a:cxnLst/>
              <a:rect l="l" t="t" r="r" b="b"/>
              <a:pathLst>
                <a:path w="1246539" h="1159218">
                  <a:moveTo>
                    <a:pt x="623270" y="0"/>
                  </a:moveTo>
                  <a:cubicBezTo>
                    <a:pt x="279047" y="0"/>
                    <a:pt x="0" y="259500"/>
                    <a:pt x="0" y="579609"/>
                  </a:cubicBezTo>
                  <a:cubicBezTo>
                    <a:pt x="0" y="899718"/>
                    <a:pt x="279047" y="1159218"/>
                    <a:pt x="623270" y="1159218"/>
                  </a:cubicBezTo>
                  <a:cubicBezTo>
                    <a:pt x="967492" y="1159218"/>
                    <a:pt x="1246539" y="899718"/>
                    <a:pt x="1246539" y="579609"/>
                  </a:cubicBezTo>
                  <a:cubicBezTo>
                    <a:pt x="1246539" y="259500"/>
                    <a:pt x="967492" y="0"/>
                    <a:pt x="623270" y="0"/>
                  </a:cubicBezTo>
                  <a:close/>
                </a:path>
              </a:pathLst>
            </a:custGeom>
            <a:solidFill>
              <a:srgbClr val="F8CB2C"/>
            </a:solidFill>
          </p:spPr>
        </p:sp>
        <p:sp>
          <p:nvSpPr>
            <p:cNvPr id="5" name="TextBox 5"/>
            <p:cNvSpPr txBox="1"/>
            <p:nvPr/>
          </p:nvSpPr>
          <p:spPr>
            <a:xfrm>
              <a:off x="116863" y="61052"/>
              <a:ext cx="1012813" cy="989490"/>
            </a:xfrm>
            <a:prstGeom prst="rect">
              <a:avLst/>
            </a:prstGeom>
          </p:spPr>
          <p:txBody>
            <a:bodyPr lIns="50800" tIns="50800" rIns="50800" bIns="50800" rtlCol="0" anchor="ctr"/>
            <a:lstStyle/>
            <a:p>
              <a:pPr algn="ctr">
                <a:lnSpc>
                  <a:spcPts val="3360"/>
                </a:lnSpc>
              </a:pPr>
            </a:p>
          </p:txBody>
        </p:sp>
      </p:grpSp>
      <p:grpSp>
        <p:nvGrpSpPr>
          <p:cNvPr id="6" name="Group 6"/>
          <p:cNvGrpSpPr/>
          <p:nvPr/>
        </p:nvGrpSpPr>
        <p:grpSpPr>
          <a:xfrm rot="0">
            <a:off x="2243193" y="4568200"/>
            <a:ext cx="6254184" cy="4690100"/>
            <a:chOff x="0" y="0"/>
            <a:chExt cx="1618331" cy="1213609"/>
          </a:xfrm>
        </p:grpSpPr>
        <p:sp>
          <p:nvSpPr>
            <p:cNvPr id="7" name="Freeform 7"/>
            <p:cNvSpPr/>
            <p:nvPr/>
          </p:nvSpPr>
          <p:spPr>
            <a:xfrm>
              <a:off x="0" y="0"/>
              <a:ext cx="1618331" cy="1213609"/>
            </a:xfrm>
            <a:custGeom>
              <a:avLst/>
              <a:gdLst/>
              <a:ahLst/>
              <a:cxnLst/>
              <a:rect l="l" t="t" r="r" b="b"/>
              <a:pathLst>
                <a:path w="1618331" h="1213609">
                  <a:moveTo>
                    <a:pt x="58180" y="0"/>
                  </a:moveTo>
                  <a:lnTo>
                    <a:pt x="1560151" y="0"/>
                  </a:lnTo>
                  <a:cubicBezTo>
                    <a:pt x="1592283" y="0"/>
                    <a:pt x="1618331" y="26048"/>
                    <a:pt x="1618331" y="58180"/>
                  </a:cubicBezTo>
                  <a:lnTo>
                    <a:pt x="1618331" y="1155429"/>
                  </a:lnTo>
                  <a:cubicBezTo>
                    <a:pt x="1618331" y="1170859"/>
                    <a:pt x="1612202" y="1185658"/>
                    <a:pt x="1601291" y="1196569"/>
                  </a:cubicBezTo>
                  <a:cubicBezTo>
                    <a:pt x="1590380" y="1207480"/>
                    <a:pt x="1575581" y="1213609"/>
                    <a:pt x="1560151" y="1213609"/>
                  </a:cubicBezTo>
                  <a:lnTo>
                    <a:pt x="58180" y="1213609"/>
                  </a:lnTo>
                  <a:cubicBezTo>
                    <a:pt x="26048" y="1213609"/>
                    <a:pt x="0" y="1187561"/>
                    <a:pt x="0" y="1155429"/>
                  </a:cubicBezTo>
                  <a:lnTo>
                    <a:pt x="0" y="58180"/>
                  </a:lnTo>
                  <a:cubicBezTo>
                    <a:pt x="0" y="26048"/>
                    <a:pt x="26048" y="0"/>
                    <a:pt x="58180" y="0"/>
                  </a:cubicBezTo>
                  <a:close/>
                </a:path>
              </a:pathLst>
            </a:custGeom>
            <a:solidFill>
              <a:srgbClr val="F4F4F6"/>
            </a:solidFill>
          </p:spPr>
        </p:sp>
        <p:sp>
          <p:nvSpPr>
            <p:cNvPr id="8" name="TextBox 8"/>
            <p:cNvSpPr txBox="1"/>
            <p:nvPr/>
          </p:nvSpPr>
          <p:spPr>
            <a:xfrm>
              <a:off x="0" y="-47625"/>
              <a:ext cx="1618331" cy="1261234"/>
            </a:xfrm>
            <a:prstGeom prst="rect">
              <a:avLst/>
            </a:prstGeom>
          </p:spPr>
          <p:txBody>
            <a:bodyPr lIns="50800" tIns="50800" rIns="50800" bIns="50800" rtlCol="0" anchor="ctr"/>
            <a:lstStyle/>
            <a:p>
              <a:pPr algn="ctr">
                <a:lnSpc>
                  <a:spcPts val="3360"/>
                </a:lnSpc>
              </a:pPr>
            </a:p>
          </p:txBody>
        </p:sp>
      </p:grpSp>
      <p:grpSp>
        <p:nvGrpSpPr>
          <p:cNvPr id="9" name="Group 9"/>
          <p:cNvGrpSpPr/>
          <p:nvPr/>
        </p:nvGrpSpPr>
        <p:grpSpPr>
          <a:xfrm rot="0">
            <a:off x="2439455" y="4999840"/>
            <a:ext cx="1097470" cy="715600"/>
            <a:chOff x="0" y="0"/>
            <a:chExt cx="1246539" cy="812800"/>
          </a:xfrm>
        </p:grpSpPr>
        <p:sp>
          <p:nvSpPr>
            <p:cNvPr id="10" name="Freeform 10"/>
            <p:cNvSpPr/>
            <p:nvPr/>
          </p:nvSpPr>
          <p:spPr>
            <a:xfrm>
              <a:off x="0" y="0"/>
              <a:ext cx="1246539" cy="812800"/>
            </a:xfrm>
            <a:custGeom>
              <a:avLst/>
              <a:gdLst/>
              <a:ahLst/>
              <a:cxnLst/>
              <a:rect l="l" t="t" r="r" b="b"/>
              <a:pathLst>
                <a:path w="1246539" h="812800">
                  <a:moveTo>
                    <a:pt x="623270" y="0"/>
                  </a:moveTo>
                  <a:cubicBezTo>
                    <a:pt x="279047" y="0"/>
                    <a:pt x="0" y="181951"/>
                    <a:pt x="0" y="406400"/>
                  </a:cubicBezTo>
                  <a:cubicBezTo>
                    <a:pt x="0" y="630849"/>
                    <a:pt x="279047" y="812800"/>
                    <a:pt x="623270" y="812800"/>
                  </a:cubicBezTo>
                  <a:cubicBezTo>
                    <a:pt x="967492" y="812800"/>
                    <a:pt x="1246539" y="630849"/>
                    <a:pt x="1246539" y="406400"/>
                  </a:cubicBezTo>
                  <a:cubicBezTo>
                    <a:pt x="1246539" y="181951"/>
                    <a:pt x="967492" y="0"/>
                    <a:pt x="623270" y="0"/>
                  </a:cubicBezTo>
                  <a:close/>
                </a:path>
              </a:pathLst>
            </a:custGeom>
            <a:solidFill>
              <a:srgbClr val="2254C5"/>
            </a:solidFill>
          </p:spPr>
        </p:sp>
        <p:sp>
          <p:nvSpPr>
            <p:cNvPr id="11" name="TextBox 11"/>
            <p:cNvSpPr txBox="1"/>
            <p:nvPr/>
          </p:nvSpPr>
          <p:spPr>
            <a:xfrm>
              <a:off x="116863" y="28575"/>
              <a:ext cx="1012813" cy="708025"/>
            </a:xfrm>
            <a:prstGeom prst="rect">
              <a:avLst/>
            </a:prstGeom>
          </p:spPr>
          <p:txBody>
            <a:bodyPr lIns="50800" tIns="50800" rIns="50800" bIns="50800" rtlCol="0" anchor="ctr"/>
            <a:lstStyle/>
            <a:p>
              <a:pPr algn="ctr">
                <a:lnSpc>
                  <a:spcPts val="3360"/>
                </a:lnSpc>
              </a:pPr>
            </a:p>
          </p:txBody>
        </p:sp>
      </p:grpSp>
      <p:sp>
        <p:nvSpPr>
          <p:cNvPr id="12" name="Freeform 12"/>
          <p:cNvSpPr/>
          <p:nvPr/>
        </p:nvSpPr>
        <p:spPr>
          <a:xfrm>
            <a:off x="9017376" y="2421373"/>
            <a:ext cx="8441808" cy="952750"/>
          </a:xfrm>
          <a:custGeom>
            <a:avLst/>
            <a:gdLst/>
            <a:ahLst/>
            <a:cxnLst/>
            <a:rect l="l" t="t" r="r" b="b"/>
            <a:pathLst>
              <a:path w="8441808" h="952750">
                <a:moveTo>
                  <a:pt x="0" y="0"/>
                </a:moveTo>
                <a:lnTo>
                  <a:pt x="8441808" y="0"/>
                </a:lnTo>
                <a:lnTo>
                  <a:pt x="8441808" y="952750"/>
                </a:lnTo>
                <a:lnTo>
                  <a:pt x="0" y="952750"/>
                </a:lnTo>
                <a:lnTo>
                  <a:pt x="0" y="0"/>
                </a:lnTo>
                <a:close/>
              </a:path>
            </a:pathLst>
          </a:custGeom>
          <a:blipFill>
            <a:blip r:embed="rId3"/>
            <a:stretch>
              <a:fillRect/>
            </a:stretch>
          </a:blipFill>
        </p:spPr>
      </p:sp>
      <p:sp>
        <p:nvSpPr>
          <p:cNvPr id="13" name="Freeform 13"/>
          <p:cNvSpPr/>
          <p:nvPr/>
        </p:nvSpPr>
        <p:spPr>
          <a:xfrm>
            <a:off x="9593072" y="3268468"/>
            <a:ext cx="7503036" cy="863181"/>
          </a:xfrm>
          <a:custGeom>
            <a:avLst/>
            <a:gdLst/>
            <a:ahLst/>
            <a:cxnLst/>
            <a:rect l="l" t="t" r="r" b="b"/>
            <a:pathLst>
              <a:path w="7503036" h="863181">
                <a:moveTo>
                  <a:pt x="0" y="0"/>
                </a:moveTo>
                <a:lnTo>
                  <a:pt x="7503036" y="0"/>
                </a:lnTo>
                <a:lnTo>
                  <a:pt x="7503036" y="863181"/>
                </a:lnTo>
                <a:lnTo>
                  <a:pt x="0" y="863181"/>
                </a:lnTo>
                <a:lnTo>
                  <a:pt x="0" y="0"/>
                </a:lnTo>
                <a:close/>
              </a:path>
            </a:pathLst>
          </a:custGeom>
          <a:blipFill>
            <a:blip r:embed="rId4"/>
            <a:stretch>
              <a:fillRect/>
            </a:stretch>
          </a:blipFill>
        </p:spPr>
      </p:sp>
      <p:sp>
        <p:nvSpPr>
          <p:cNvPr id="14" name="TextBox 14"/>
          <p:cNvSpPr txBox="1"/>
          <p:nvPr/>
        </p:nvSpPr>
        <p:spPr>
          <a:xfrm>
            <a:off x="1028700" y="2430898"/>
            <a:ext cx="9405128" cy="1152525"/>
          </a:xfrm>
          <a:prstGeom prst="rect">
            <a:avLst/>
          </a:prstGeom>
        </p:spPr>
        <p:txBody>
          <a:bodyPr lIns="0" tIns="0" rIns="0" bIns="0" rtlCol="0" anchor="t">
            <a:spAutoFit/>
          </a:bodyPr>
          <a:lstStyle/>
          <a:p>
            <a:pPr algn="l">
              <a:lnSpc>
                <a:spcPts val="9155"/>
              </a:lnSpc>
            </a:pPr>
            <a:r>
              <a:rPr lang="en-US" sz="7630" b="1">
                <a:solidFill>
                  <a:srgbClr val="2657C1"/>
                </a:solidFill>
                <a:latin typeface="Open Sauce Heavy"/>
                <a:ea typeface="Open Sauce Heavy"/>
                <a:cs typeface="Open Sauce Heavy"/>
                <a:sym typeface="Open Sauce Heavy"/>
              </a:rPr>
              <a:t>Why PLRNN</a:t>
            </a:r>
            <a:endParaRPr lang="en-US" sz="7630" b="1">
              <a:solidFill>
                <a:srgbClr val="2657C1"/>
              </a:solidFill>
              <a:latin typeface="Open Sauce Heavy"/>
              <a:ea typeface="Open Sauce Heavy"/>
              <a:cs typeface="Open Sauce Heavy"/>
              <a:sym typeface="Open Sauce Heavy"/>
            </a:endParaRPr>
          </a:p>
        </p:txBody>
      </p:sp>
      <p:sp>
        <p:nvSpPr>
          <p:cNvPr id="15" name="TextBox 15"/>
          <p:cNvSpPr txBox="1"/>
          <p:nvPr/>
        </p:nvSpPr>
        <p:spPr>
          <a:xfrm>
            <a:off x="3610749" y="5106500"/>
            <a:ext cx="4883324" cy="445131"/>
          </a:xfrm>
          <a:prstGeom prst="rect">
            <a:avLst/>
          </a:prstGeom>
        </p:spPr>
        <p:txBody>
          <a:bodyPr lIns="0" tIns="0" rIns="0" bIns="0" rtlCol="0" anchor="t">
            <a:spAutoFit/>
          </a:bodyPr>
          <a:lstStyle/>
          <a:p>
            <a:pPr algn="l">
              <a:lnSpc>
                <a:spcPts val="3605"/>
              </a:lnSpc>
            </a:pPr>
            <a:r>
              <a:rPr lang="en-US" sz="2575" b="1">
                <a:solidFill>
                  <a:srgbClr val="2657C1"/>
                </a:solidFill>
                <a:latin typeface="DM Sans Bold"/>
                <a:ea typeface="DM Sans Bold"/>
                <a:cs typeface="DM Sans Bold"/>
                <a:sym typeface="DM Sans Bold"/>
              </a:rPr>
              <a:t>PLRNN is more structured</a:t>
            </a:r>
            <a:endParaRPr lang="en-US" sz="2575" b="1">
              <a:solidFill>
                <a:srgbClr val="2657C1"/>
              </a:solidFill>
              <a:latin typeface="DM Sans Bold"/>
              <a:ea typeface="DM Sans Bold"/>
              <a:cs typeface="DM Sans Bold"/>
              <a:sym typeface="DM Sans Bold"/>
            </a:endParaRPr>
          </a:p>
        </p:txBody>
      </p:sp>
      <p:sp>
        <p:nvSpPr>
          <p:cNvPr id="16" name="TextBox 16"/>
          <p:cNvSpPr txBox="1"/>
          <p:nvPr/>
        </p:nvSpPr>
        <p:spPr>
          <a:xfrm>
            <a:off x="2388152" y="5202105"/>
            <a:ext cx="1120251" cy="356127"/>
          </a:xfrm>
          <a:prstGeom prst="rect">
            <a:avLst/>
          </a:prstGeom>
        </p:spPr>
        <p:txBody>
          <a:bodyPr lIns="0" tIns="0" rIns="0" bIns="0" rtlCol="0" anchor="t">
            <a:spAutoFit/>
          </a:bodyPr>
          <a:lstStyle/>
          <a:p>
            <a:pPr algn="ctr">
              <a:lnSpc>
                <a:spcPts val="2840"/>
              </a:lnSpc>
            </a:pPr>
            <a:r>
              <a:rPr lang="en-US" sz="2365" b="1">
                <a:solidFill>
                  <a:srgbClr val="FFFFFF"/>
                </a:solidFill>
                <a:latin typeface="DM Sans Bold"/>
                <a:ea typeface="DM Sans Bold"/>
                <a:cs typeface="DM Sans Bold"/>
                <a:sym typeface="DM Sans Bold"/>
              </a:rPr>
              <a:t>01</a:t>
            </a:r>
            <a:endParaRPr lang="en-US" sz="2365" b="1">
              <a:solidFill>
                <a:srgbClr val="FFFFFF"/>
              </a:solidFill>
              <a:latin typeface="DM Sans Bold"/>
              <a:ea typeface="DM Sans Bold"/>
              <a:cs typeface="DM Sans Bold"/>
              <a:sym typeface="DM Sans Bold"/>
            </a:endParaRPr>
          </a:p>
        </p:txBody>
      </p:sp>
      <p:grpSp>
        <p:nvGrpSpPr>
          <p:cNvPr id="17" name="Group 17"/>
          <p:cNvGrpSpPr/>
          <p:nvPr/>
        </p:nvGrpSpPr>
        <p:grpSpPr>
          <a:xfrm rot="0">
            <a:off x="9593072" y="4807826"/>
            <a:ext cx="991794" cy="922318"/>
            <a:chOff x="0" y="0"/>
            <a:chExt cx="1246539" cy="1159218"/>
          </a:xfrm>
        </p:grpSpPr>
        <p:sp>
          <p:nvSpPr>
            <p:cNvPr id="18" name="Freeform 18"/>
            <p:cNvSpPr/>
            <p:nvPr/>
          </p:nvSpPr>
          <p:spPr>
            <a:xfrm>
              <a:off x="0" y="0"/>
              <a:ext cx="1246539" cy="1159218"/>
            </a:xfrm>
            <a:custGeom>
              <a:avLst/>
              <a:gdLst/>
              <a:ahLst/>
              <a:cxnLst/>
              <a:rect l="l" t="t" r="r" b="b"/>
              <a:pathLst>
                <a:path w="1246539" h="1159218">
                  <a:moveTo>
                    <a:pt x="623270" y="0"/>
                  </a:moveTo>
                  <a:cubicBezTo>
                    <a:pt x="279047" y="0"/>
                    <a:pt x="0" y="259500"/>
                    <a:pt x="0" y="579609"/>
                  </a:cubicBezTo>
                  <a:cubicBezTo>
                    <a:pt x="0" y="899718"/>
                    <a:pt x="279047" y="1159218"/>
                    <a:pt x="623270" y="1159218"/>
                  </a:cubicBezTo>
                  <a:cubicBezTo>
                    <a:pt x="967492" y="1159218"/>
                    <a:pt x="1246539" y="899718"/>
                    <a:pt x="1246539" y="579609"/>
                  </a:cubicBezTo>
                  <a:cubicBezTo>
                    <a:pt x="1246539" y="259500"/>
                    <a:pt x="967492" y="0"/>
                    <a:pt x="623270" y="0"/>
                  </a:cubicBezTo>
                  <a:close/>
                </a:path>
              </a:pathLst>
            </a:custGeom>
            <a:solidFill>
              <a:srgbClr val="F8CB2C"/>
            </a:solidFill>
          </p:spPr>
        </p:sp>
        <p:sp>
          <p:nvSpPr>
            <p:cNvPr id="19" name="TextBox 19"/>
            <p:cNvSpPr txBox="1"/>
            <p:nvPr/>
          </p:nvSpPr>
          <p:spPr>
            <a:xfrm>
              <a:off x="116863" y="61052"/>
              <a:ext cx="1012813" cy="989490"/>
            </a:xfrm>
            <a:prstGeom prst="rect">
              <a:avLst/>
            </a:prstGeom>
          </p:spPr>
          <p:txBody>
            <a:bodyPr lIns="50800" tIns="50800" rIns="50800" bIns="50800" rtlCol="0" anchor="ctr"/>
            <a:lstStyle/>
            <a:p>
              <a:pPr algn="ctr">
                <a:lnSpc>
                  <a:spcPts val="3360"/>
                </a:lnSpc>
              </a:pPr>
            </a:p>
          </p:txBody>
        </p:sp>
      </p:grpSp>
      <p:grpSp>
        <p:nvGrpSpPr>
          <p:cNvPr id="20" name="Group 20"/>
          <p:cNvGrpSpPr/>
          <p:nvPr/>
        </p:nvGrpSpPr>
        <p:grpSpPr>
          <a:xfrm rot="0">
            <a:off x="10088969" y="4568200"/>
            <a:ext cx="6254184" cy="4690100"/>
            <a:chOff x="0" y="0"/>
            <a:chExt cx="1618331" cy="1213609"/>
          </a:xfrm>
        </p:grpSpPr>
        <p:sp>
          <p:nvSpPr>
            <p:cNvPr id="21" name="Freeform 21"/>
            <p:cNvSpPr/>
            <p:nvPr/>
          </p:nvSpPr>
          <p:spPr>
            <a:xfrm>
              <a:off x="0" y="0"/>
              <a:ext cx="1618331" cy="1213609"/>
            </a:xfrm>
            <a:custGeom>
              <a:avLst/>
              <a:gdLst/>
              <a:ahLst/>
              <a:cxnLst/>
              <a:rect l="l" t="t" r="r" b="b"/>
              <a:pathLst>
                <a:path w="1618331" h="1213609">
                  <a:moveTo>
                    <a:pt x="58180" y="0"/>
                  </a:moveTo>
                  <a:lnTo>
                    <a:pt x="1560151" y="0"/>
                  </a:lnTo>
                  <a:cubicBezTo>
                    <a:pt x="1592283" y="0"/>
                    <a:pt x="1618331" y="26048"/>
                    <a:pt x="1618331" y="58180"/>
                  </a:cubicBezTo>
                  <a:lnTo>
                    <a:pt x="1618331" y="1155429"/>
                  </a:lnTo>
                  <a:cubicBezTo>
                    <a:pt x="1618331" y="1170859"/>
                    <a:pt x="1612202" y="1185658"/>
                    <a:pt x="1601291" y="1196569"/>
                  </a:cubicBezTo>
                  <a:cubicBezTo>
                    <a:pt x="1590380" y="1207480"/>
                    <a:pt x="1575581" y="1213609"/>
                    <a:pt x="1560151" y="1213609"/>
                  </a:cubicBezTo>
                  <a:lnTo>
                    <a:pt x="58180" y="1213609"/>
                  </a:lnTo>
                  <a:cubicBezTo>
                    <a:pt x="26048" y="1213609"/>
                    <a:pt x="0" y="1187561"/>
                    <a:pt x="0" y="1155429"/>
                  </a:cubicBezTo>
                  <a:lnTo>
                    <a:pt x="0" y="58180"/>
                  </a:lnTo>
                  <a:cubicBezTo>
                    <a:pt x="0" y="26048"/>
                    <a:pt x="26048" y="0"/>
                    <a:pt x="58180" y="0"/>
                  </a:cubicBezTo>
                  <a:close/>
                </a:path>
              </a:pathLst>
            </a:custGeom>
            <a:solidFill>
              <a:srgbClr val="F4F4F6"/>
            </a:solidFill>
          </p:spPr>
        </p:sp>
        <p:sp>
          <p:nvSpPr>
            <p:cNvPr id="22" name="TextBox 22"/>
            <p:cNvSpPr txBox="1"/>
            <p:nvPr/>
          </p:nvSpPr>
          <p:spPr>
            <a:xfrm>
              <a:off x="0" y="-47625"/>
              <a:ext cx="1618331" cy="1261234"/>
            </a:xfrm>
            <a:prstGeom prst="rect">
              <a:avLst/>
            </a:prstGeom>
          </p:spPr>
          <p:txBody>
            <a:bodyPr lIns="50800" tIns="50800" rIns="50800" bIns="50800" rtlCol="0" anchor="ctr"/>
            <a:lstStyle/>
            <a:p>
              <a:pPr algn="ctr">
                <a:lnSpc>
                  <a:spcPts val="3360"/>
                </a:lnSpc>
              </a:pPr>
            </a:p>
          </p:txBody>
        </p:sp>
      </p:grpSp>
      <p:grpSp>
        <p:nvGrpSpPr>
          <p:cNvPr id="23" name="Group 23"/>
          <p:cNvGrpSpPr/>
          <p:nvPr/>
        </p:nvGrpSpPr>
        <p:grpSpPr>
          <a:xfrm rot="0">
            <a:off x="10285231" y="4911185"/>
            <a:ext cx="1097470" cy="715600"/>
            <a:chOff x="0" y="0"/>
            <a:chExt cx="1246539" cy="812800"/>
          </a:xfrm>
        </p:grpSpPr>
        <p:sp>
          <p:nvSpPr>
            <p:cNvPr id="24" name="Freeform 24"/>
            <p:cNvSpPr/>
            <p:nvPr/>
          </p:nvSpPr>
          <p:spPr>
            <a:xfrm>
              <a:off x="0" y="0"/>
              <a:ext cx="1246539" cy="812800"/>
            </a:xfrm>
            <a:custGeom>
              <a:avLst/>
              <a:gdLst/>
              <a:ahLst/>
              <a:cxnLst/>
              <a:rect l="l" t="t" r="r" b="b"/>
              <a:pathLst>
                <a:path w="1246539" h="812800">
                  <a:moveTo>
                    <a:pt x="623270" y="0"/>
                  </a:moveTo>
                  <a:cubicBezTo>
                    <a:pt x="279047" y="0"/>
                    <a:pt x="0" y="181951"/>
                    <a:pt x="0" y="406400"/>
                  </a:cubicBezTo>
                  <a:cubicBezTo>
                    <a:pt x="0" y="630849"/>
                    <a:pt x="279047" y="812800"/>
                    <a:pt x="623270" y="812800"/>
                  </a:cubicBezTo>
                  <a:cubicBezTo>
                    <a:pt x="967492" y="812800"/>
                    <a:pt x="1246539" y="630849"/>
                    <a:pt x="1246539" y="406400"/>
                  </a:cubicBezTo>
                  <a:cubicBezTo>
                    <a:pt x="1246539" y="181951"/>
                    <a:pt x="967492" y="0"/>
                    <a:pt x="623270" y="0"/>
                  </a:cubicBezTo>
                  <a:close/>
                </a:path>
              </a:pathLst>
            </a:custGeom>
            <a:solidFill>
              <a:srgbClr val="2254C5"/>
            </a:solidFill>
          </p:spPr>
        </p:sp>
        <p:sp>
          <p:nvSpPr>
            <p:cNvPr id="25" name="TextBox 25"/>
            <p:cNvSpPr txBox="1"/>
            <p:nvPr/>
          </p:nvSpPr>
          <p:spPr>
            <a:xfrm>
              <a:off x="116863" y="28575"/>
              <a:ext cx="1012813" cy="708025"/>
            </a:xfrm>
            <a:prstGeom prst="rect">
              <a:avLst/>
            </a:prstGeom>
          </p:spPr>
          <p:txBody>
            <a:bodyPr lIns="50800" tIns="50800" rIns="50800" bIns="50800" rtlCol="0" anchor="ctr"/>
            <a:lstStyle/>
            <a:p>
              <a:pPr algn="ctr">
                <a:lnSpc>
                  <a:spcPts val="3360"/>
                </a:lnSpc>
              </a:pPr>
            </a:p>
          </p:txBody>
        </p:sp>
      </p:grpSp>
      <p:sp>
        <p:nvSpPr>
          <p:cNvPr id="26" name="TextBox 26"/>
          <p:cNvSpPr txBox="1"/>
          <p:nvPr/>
        </p:nvSpPr>
        <p:spPr>
          <a:xfrm>
            <a:off x="11505399" y="5017844"/>
            <a:ext cx="4982022" cy="445131"/>
          </a:xfrm>
          <a:prstGeom prst="rect">
            <a:avLst/>
          </a:prstGeom>
        </p:spPr>
        <p:txBody>
          <a:bodyPr lIns="0" tIns="0" rIns="0" bIns="0" rtlCol="0" anchor="t">
            <a:spAutoFit/>
          </a:bodyPr>
          <a:lstStyle/>
          <a:p>
            <a:pPr algn="l">
              <a:lnSpc>
                <a:spcPts val="3605"/>
              </a:lnSpc>
            </a:pPr>
            <a:r>
              <a:rPr lang="en-US" sz="2575" b="1">
                <a:solidFill>
                  <a:srgbClr val="2657C1"/>
                </a:solidFill>
                <a:latin typeface="DM Sans Bold"/>
                <a:ea typeface="DM Sans Bold"/>
                <a:cs typeface="DM Sans Bold"/>
                <a:sym typeface="DM Sans Bold"/>
              </a:rPr>
              <a:t>Interpretability Advantage</a:t>
            </a:r>
            <a:endParaRPr lang="en-US" sz="2575" b="1">
              <a:solidFill>
                <a:srgbClr val="2657C1"/>
              </a:solidFill>
              <a:latin typeface="DM Sans Bold"/>
              <a:ea typeface="DM Sans Bold"/>
              <a:cs typeface="DM Sans Bold"/>
              <a:sym typeface="DM Sans Bold"/>
            </a:endParaRPr>
          </a:p>
        </p:txBody>
      </p:sp>
      <p:sp>
        <p:nvSpPr>
          <p:cNvPr id="27" name="TextBox 27"/>
          <p:cNvSpPr txBox="1"/>
          <p:nvPr/>
        </p:nvSpPr>
        <p:spPr>
          <a:xfrm>
            <a:off x="10233928" y="5113449"/>
            <a:ext cx="1120251" cy="356127"/>
          </a:xfrm>
          <a:prstGeom prst="rect">
            <a:avLst/>
          </a:prstGeom>
        </p:spPr>
        <p:txBody>
          <a:bodyPr lIns="0" tIns="0" rIns="0" bIns="0" rtlCol="0" anchor="t">
            <a:spAutoFit/>
          </a:bodyPr>
          <a:lstStyle/>
          <a:p>
            <a:pPr algn="ctr">
              <a:lnSpc>
                <a:spcPts val="2840"/>
              </a:lnSpc>
            </a:pPr>
            <a:r>
              <a:rPr lang="en-US" sz="2365" b="1">
                <a:solidFill>
                  <a:srgbClr val="FFFFFF"/>
                </a:solidFill>
                <a:latin typeface="DM Sans Bold"/>
                <a:ea typeface="DM Sans Bold"/>
                <a:cs typeface="DM Sans Bold"/>
                <a:sym typeface="DM Sans Bold"/>
              </a:rPr>
              <a:t>02</a:t>
            </a:r>
            <a:endParaRPr lang="en-US" sz="2365" b="1">
              <a:solidFill>
                <a:srgbClr val="FFFFFF"/>
              </a:solidFill>
              <a:latin typeface="DM Sans Bold"/>
              <a:ea typeface="DM Sans Bold"/>
              <a:cs typeface="DM Sans Bold"/>
              <a:sym typeface="DM Sans Bold"/>
            </a:endParaRPr>
          </a:p>
        </p:txBody>
      </p:sp>
      <p:sp>
        <p:nvSpPr>
          <p:cNvPr id="28" name="TextBox 28"/>
          <p:cNvSpPr txBox="1"/>
          <p:nvPr/>
        </p:nvSpPr>
        <p:spPr>
          <a:xfrm>
            <a:off x="10231753" y="5972634"/>
            <a:ext cx="6111401" cy="2421574"/>
          </a:xfrm>
          <a:prstGeom prst="rect">
            <a:avLst/>
          </a:prstGeom>
        </p:spPr>
        <p:txBody>
          <a:bodyPr lIns="0" tIns="0" rIns="0" bIns="0" rtlCol="0" anchor="t">
            <a:spAutoFit/>
          </a:bodyPr>
          <a:lstStyle/>
          <a:p>
            <a:pPr marL="503555" lvl="1" indent="-251460" algn="l">
              <a:lnSpc>
                <a:spcPts val="3265"/>
              </a:lnSpc>
              <a:buFont typeface="Arial" panose="020B0604020202090204"/>
              <a:buChar char="•"/>
            </a:pPr>
            <a:r>
              <a:rPr lang="en-US" sz="2330">
                <a:solidFill>
                  <a:srgbClr val="000000"/>
                </a:solidFill>
                <a:latin typeface="DM Sans"/>
                <a:ea typeface="DM Sans"/>
                <a:cs typeface="DM Sans"/>
                <a:sym typeface="DM Sans"/>
              </a:rPr>
              <a:t>ReLU creates local linear regions, so PLRNN can estimate “what affects what” over time.</a:t>
            </a:r>
            <a:endParaRPr lang="en-US" sz="2330">
              <a:solidFill>
                <a:srgbClr val="000000"/>
              </a:solidFill>
              <a:latin typeface="DM Sans"/>
              <a:ea typeface="DM Sans"/>
              <a:cs typeface="DM Sans"/>
              <a:sym typeface="DM Sans"/>
            </a:endParaRPr>
          </a:p>
          <a:p>
            <a:pPr marL="503555" lvl="1" indent="-251460" algn="l">
              <a:lnSpc>
                <a:spcPts val="3265"/>
              </a:lnSpc>
              <a:spcBef>
                <a:spcPct val="0"/>
              </a:spcBef>
              <a:buFont typeface="Arial" panose="020B0604020202090204"/>
              <a:buChar char="•"/>
            </a:pPr>
            <a:r>
              <a:rPr lang="en-US" sz="2330">
                <a:solidFill>
                  <a:srgbClr val="000000"/>
                </a:solidFill>
                <a:latin typeface="DM Sans"/>
                <a:ea typeface="DM Sans"/>
                <a:cs typeface="DM Sans"/>
                <a:sym typeface="DM Sans"/>
              </a:rPr>
              <a:t>Then B maps hidden-state changes back to observed or self-reported variables</a:t>
            </a:r>
            <a:endParaRPr lang="en-US" sz="2330">
              <a:solidFill>
                <a:srgbClr val="000000"/>
              </a:solidFill>
              <a:latin typeface="DM Sans"/>
              <a:ea typeface="DM Sans"/>
              <a:cs typeface="DM Sans"/>
              <a:sym typeface="DM Sans"/>
            </a:endParaRPr>
          </a:p>
          <a:p>
            <a:pPr marL="503555" lvl="1" indent="-251460" algn="l">
              <a:lnSpc>
                <a:spcPts val="3265"/>
              </a:lnSpc>
              <a:spcBef>
                <a:spcPct val="0"/>
              </a:spcBef>
              <a:buFont typeface="Arial" panose="020B0604020202090204"/>
              <a:buChar char="•"/>
            </a:pPr>
            <a:r>
              <a:rPr lang="en-US" sz="2330">
                <a:solidFill>
                  <a:srgbClr val="000000"/>
                </a:solidFill>
                <a:latin typeface="DM Sans"/>
                <a:ea typeface="DM Sans"/>
                <a:cs typeface="DM Sans"/>
                <a:sym typeface="DM Sans"/>
              </a:rPr>
              <a:t>Eg. </a:t>
            </a:r>
            <a:r>
              <a:rPr lang="en-US" sz="2330">
                <a:solidFill>
                  <a:srgbClr val="000000"/>
                </a:solidFill>
                <a:latin typeface="DM Sans"/>
                <a:ea typeface="DM Sans"/>
                <a:cs typeface="DM Sans"/>
                <a:sym typeface="DM Sans"/>
              </a:rPr>
              <a:t>stress t−1→craving t→ vaping t+1</a:t>
            </a:r>
            <a:endParaRPr lang="en-US" sz="2330">
              <a:solidFill>
                <a:srgbClr val="000000"/>
              </a:solidFill>
              <a:latin typeface="DM Sans"/>
              <a:ea typeface="DM Sans"/>
              <a:cs typeface="DM Sans"/>
              <a:sym typeface="DM Sans"/>
            </a:endParaRPr>
          </a:p>
        </p:txBody>
      </p:sp>
      <p:sp>
        <p:nvSpPr>
          <p:cNvPr id="29" name="TextBox 29"/>
          <p:cNvSpPr txBox="1"/>
          <p:nvPr/>
        </p:nvSpPr>
        <p:spPr>
          <a:xfrm>
            <a:off x="2506501" y="5972634"/>
            <a:ext cx="5727569" cy="2828689"/>
          </a:xfrm>
          <a:prstGeom prst="rect">
            <a:avLst/>
          </a:prstGeom>
        </p:spPr>
        <p:txBody>
          <a:bodyPr lIns="0" tIns="0" rIns="0" bIns="0" rtlCol="0" anchor="t">
            <a:spAutoFit/>
          </a:bodyPr>
          <a:lstStyle/>
          <a:p>
            <a:pPr marL="503555" lvl="1" indent="-251460" algn="l">
              <a:lnSpc>
                <a:spcPts val="3265"/>
              </a:lnSpc>
              <a:buFont typeface="Arial" panose="020B0604020202090204"/>
              <a:buChar char="•"/>
            </a:pPr>
            <a:r>
              <a:rPr lang="en-US" sz="2330">
                <a:solidFill>
                  <a:srgbClr val="000000"/>
                </a:solidFill>
                <a:latin typeface="DM Sans"/>
                <a:ea typeface="DM Sans"/>
                <a:cs typeface="DM Sans"/>
                <a:sym typeface="DM Sans"/>
              </a:rPr>
              <a:t>Th</a:t>
            </a:r>
            <a:r>
              <a:rPr lang="en-US" sz="2330">
                <a:solidFill>
                  <a:srgbClr val="000000"/>
                </a:solidFill>
                <a:latin typeface="DM Sans"/>
                <a:ea typeface="DM Sans"/>
                <a:cs typeface="DM Sans"/>
                <a:sym typeface="DM Sans"/>
              </a:rPr>
              <a:t>e pieces have clearer roles. </a:t>
            </a:r>
            <a:endParaRPr lang="en-US" sz="2330">
              <a:solidFill>
                <a:srgbClr val="000000"/>
              </a:solidFill>
              <a:latin typeface="DM Sans"/>
              <a:ea typeface="DM Sans"/>
              <a:cs typeface="DM Sans"/>
              <a:sym typeface="DM Sans"/>
            </a:endParaRPr>
          </a:p>
          <a:p>
            <a:pPr marL="503555" lvl="1" indent="-251460" algn="l">
              <a:lnSpc>
                <a:spcPts val="3265"/>
              </a:lnSpc>
              <a:spcBef>
                <a:spcPct val="0"/>
              </a:spcBef>
              <a:buFont typeface="Arial" panose="020B0604020202090204"/>
              <a:buChar char="•"/>
            </a:pPr>
            <a:r>
              <a:rPr lang="en-US" sz="2330">
                <a:solidFill>
                  <a:srgbClr val="000000"/>
                </a:solidFill>
                <a:latin typeface="DM Sans"/>
                <a:ea typeface="DM Sans"/>
                <a:cs typeface="DM Sans"/>
                <a:sym typeface="DM Sans"/>
              </a:rPr>
              <a:t>Azt−1 describes how the previous latent state carries forward, Cut−1 describes </a:t>
            </a:r>
            <a:r>
              <a:rPr lang="en-US" sz="2330">
                <a:solidFill>
                  <a:srgbClr val="000000"/>
                </a:solidFill>
                <a:latin typeface="DM Sans"/>
                <a:ea typeface="DM Sans"/>
                <a:cs typeface="DM Sans"/>
                <a:sym typeface="DM Sans"/>
              </a:rPr>
              <a:t>how external inputs shift the latent state, and Bzt describes how the latent state appears as observed variables</a:t>
            </a:r>
            <a:r>
              <a:rPr lang="en-US" sz="2330">
                <a:solidFill>
                  <a:srgbClr val="000000"/>
                </a:solidFill>
                <a:latin typeface="DM Sans"/>
                <a:ea typeface="DM Sans"/>
                <a:cs typeface="DM Sans"/>
                <a:sym typeface="DM Sans"/>
              </a:rPr>
              <a:t>.</a:t>
            </a:r>
            <a:endParaRPr lang="en-US" sz="2330">
              <a:solidFill>
                <a:srgbClr val="000000"/>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l="-10000" r="-10000"/>
            </a:stretch>
          </a:blipFill>
        </p:spPr>
      </p:sp>
      <p:sp>
        <p:nvSpPr>
          <p:cNvPr id="3" name="Freeform 3"/>
          <p:cNvSpPr/>
          <p:nvPr/>
        </p:nvSpPr>
        <p:spPr>
          <a:xfrm rot="4111395">
            <a:off x="6332201" y="-9110086"/>
            <a:ext cx="16489256" cy="18220173"/>
          </a:xfrm>
          <a:custGeom>
            <a:avLst/>
            <a:gdLst/>
            <a:ahLst/>
            <a:cxnLst/>
            <a:rect l="l" t="t" r="r" b="b"/>
            <a:pathLst>
              <a:path w="16489256" h="18220173">
                <a:moveTo>
                  <a:pt x="0" y="0"/>
                </a:moveTo>
                <a:lnTo>
                  <a:pt x="16489256" y="0"/>
                </a:lnTo>
                <a:lnTo>
                  <a:pt x="16489256" y="18220172"/>
                </a:lnTo>
                <a:lnTo>
                  <a:pt x="0" y="18220172"/>
                </a:lnTo>
                <a:lnTo>
                  <a:pt x="0" y="0"/>
                </a:lnTo>
                <a:close/>
              </a:path>
            </a:pathLst>
          </a:custGeom>
          <a:blipFill>
            <a:blip r:embed="rId2">
              <a:alphaModFix amt="8999"/>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rot="0">
            <a:off x="-1292495" y="9523550"/>
            <a:ext cx="23325959" cy="3801997"/>
            <a:chOff x="0" y="0"/>
            <a:chExt cx="5794325" cy="944442"/>
          </a:xfrm>
        </p:grpSpPr>
        <p:sp>
          <p:nvSpPr>
            <p:cNvPr id="5" name="Freeform 5"/>
            <p:cNvSpPr/>
            <p:nvPr/>
          </p:nvSpPr>
          <p:spPr>
            <a:xfrm>
              <a:off x="0" y="0"/>
              <a:ext cx="5794325" cy="944442"/>
            </a:xfrm>
            <a:custGeom>
              <a:avLst/>
              <a:gdLst/>
              <a:ahLst/>
              <a:cxnLst/>
              <a:rect l="l" t="t" r="r" b="b"/>
              <a:pathLst>
                <a:path w="5794325" h="944442">
                  <a:moveTo>
                    <a:pt x="17259" y="0"/>
                  </a:moveTo>
                  <a:lnTo>
                    <a:pt x="5777066" y="0"/>
                  </a:lnTo>
                  <a:cubicBezTo>
                    <a:pt x="5786598" y="0"/>
                    <a:pt x="5794325" y="7727"/>
                    <a:pt x="5794325" y="17259"/>
                  </a:cubicBezTo>
                  <a:lnTo>
                    <a:pt x="5794325" y="927183"/>
                  </a:lnTo>
                  <a:cubicBezTo>
                    <a:pt x="5794325" y="931760"/>
                    <a:pt x="5792507" y="936150"/>
                    <a:pt x="5789270" y="939387"/>
                  </a:cubicBezTo>
                  <a:cubicBezTo>
                    <a:pt x="5786034" y="942623"/>
                    <a:pt x="5781644" y="944442"/>
                    <a:pt x="5777066" y="944442"/>
                  </a:cubicBezTo>
                  <a:lnTo>
                    <a:pt x="17259" y="944442"/>
                  </a:lnTo>
                  <a:cubicBezTo>
                    <a:pt x="7727" y="944442"/>
                    <a:pt x="0" y="936715"/>
                    <a:pt x="0" y="927183"/>
                  </a:cubicBezTo>
                  <a:lnTo>
                    <a:pt x="0" y="17259"/>
                  </a:lnTo>
                  <a:cubicBezTo>
                    <a:pt x="0" y="7727"/>
                    <a:pt x="7727" y="0"/>
                    <a:pt x="17259" y="0"/>
                  </a:cubicBezTo>
                  <a:close/>
                </a:path>
              </a:pathLst>
            </a:custGeom>
            <a:solidFill>
              <a:srgbClr val="2254C5"/>
            </a:solidFill>
          </p:spPr>
        </p:sp>
        <p:sp>
          <p:nvSpPr>
            <p:cNvPr id="6" name="TextBox 6"/>
            <p:cNvSpPr txBox="1"/>
            <p:nvPr/>
          </p:nvSpPr>
          <p:spPr>
            <a:xfrm>
              <a:off x="0" y="-47625"/>
              <a:ext cx="5794325" cy="992067"/>
            </a:xfrm>
            <a:prstGeom prst="rect">
              <a:avLst/>
            </a:prstGeom>
          </p:spPr>
          <p:txBody>
            <a:bodyPr lIns="50800" tIns="50800" rIns="50800" bIns="50800" rtlCol="0" anchor="ctr"/>
            <a:lstStyle/>
            <a:p>
              <a:pPr algn="ctr">
                <a:lnSpc>
                  <a:spcPts val="3360"/>
                </a:lnSpc>
              </a:pPr>
            </a:p>
          </p:txBody>
        </p:sp>
      </p:grpSp>
      <p:sp>
        <p:nvSpPr>
          <p:cNvPr id="7" name="TextBox 7"/>
          <p:cNvSpPr txBox="1"/>
          <p:nvPr/>
        </p:nvSpPr>
        <p:spPr>
          <a:xfrm>
            <a:off x="1028700" y="3901207"/>
            <a:ext cx="11740077" cy="1190625"/>
          </a:xfrm>
          <a:prstGeom prst="rect">
            <a:avLst/>
          </a:prstGeom>
        </p:spPr>
        <p:txBody>
          <a:bodyPr lIns="0" tIns="0" rIns="0" bIns="0" rtlCol="0" anchor="t">
            <a:spAutoFit/>
          </a:bodyPr>
          <a:lstStyle/>
          <a:p>
            <a:pPr algn="l">
              <a:lnSpc>
                <a:spcPts val="9480"/>
              </a:lnSpc>
            </a:pPr>
            <a:r>
              <a:rPr lang="en-US" sz="7900" b="1">
                <a:solidFill>
                  <a:srgbClr val="2657C1"/>
                </a:solidFill>
                <a:latin typeface="Open Sauce Heavy"/>
                <a:ea typeface="Open Sauce Heavy"/>
                <a:cs typeface="Open Sauce Heavy"/>
                <a:sym typeface="Open Sauce Heavy"/>
              </a:rPr>
              <a:t>Q&amp;A</a:t>
            </a:r>
            <a:endParaRPr lang="en-US" sz="7900" b="1">
              <a:solidFill>
                <a:srgbClr val="2657C1"/>
              </a:solidFill>
              <a:latin typeface="Open Sauce Heavy"/>
              <a:ea typeface="Open Sauce Heavy"/>
              <a:cs typeface="Open Sauce Heavy"/>
              <a:sym typeface="Open Sauce Heavy"/>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1353</Words>
  <Application>WPS Writer</Application>
  <PresentationFormat>On-screen Show (4:3)</PresentationFormat>
  <Paragraphs>40</Paragraphs>
  <Slides>6</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6</vt:i4>
      </vt:variant>
    </vt:vector>
  </HeadingPairs>
  <TitlesOfParts>
    <vt:vector size="22" baseType="lpstr">
      <vt:lpstr>Arial</vt:lpstr>
      <vt:lpstr>宋体</vt:lpstr>
      <vt:lpstr>Wingdings</vt:lpstr>
      <vt:lpstr>DM Sans</vt:lpstr>
      <vt:lpstr>Open Sauce Heavy</vt:lpstr>
      <vt:lpstr>Thonburi</vt:lpstr>
      <vt:lpstr>Open Sauce Bold</vt:lpstr>
      <vt:lpstr>Arial</vt:lpstr>
      <vt:lpstr>DM Sans Bold</vt:lpstr>
      <vt:lpstr>Calibri</vt:lpstr>
      <vt:lpstr>Helvetica Neue</vt:lpstr>
      <vt:lpstr>微软雅黑</vt:lpstr>
      <vt:lpstr>汉仪旗黑</vt:lpstr>
      <vt:lpstr>宋体</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Jiaxin Su</dc:title>
  <dc:creator/>
  <cp:lastModifiedBy>Suuuuu</cp:lastModifiedBy>
  <cp:revision>2</cp:revision>
  <dcterms:created xsi:type="dcterms:W3CDTF">2026-06-08T06:52:46Z</dcterms:created>
  <dcterms:modified xsi:type="dcterms:W3CDTF">2026-06-08T06:52:46Z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388C3A37C3F0FD77BE66266A4C79B574_42</vt:lpwstr>
  </property>
  <property fmtid="{D5CDD505-2E9C-101B-9397-08002B2CF9AE}" pid="3" name="KSOProductBuildVer">
    <vt:lpwstr>1033-6.5.2.8766</vt:lpwstr>
  </property>
</Properties>
</file>