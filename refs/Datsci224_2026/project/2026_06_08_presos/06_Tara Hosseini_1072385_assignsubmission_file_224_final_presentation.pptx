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2"/>
    <p:sldId id="257" r:id="rId3"/>
    <p:sldId id="258" r:id="rId4"/>
    <p:sldId id="260" r:id="rId5"/>
    <p:sldId id="261" r:id="rId6"/>
    <p:sldId id="262" r:id="rId7"/>
    <p:sldId id="259"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29"/>
    <p:restoredTop sz="94646"/>
  </p:normalViewPr>
  <p:slideViewPr>
    <p:cSldViewPr snapToGrid="0">
      <p:cViewPr>
        <p:scale>
          <a:sx n="89" d="100"/>
          <a:sy n="89" d="100"/>
        </p:scale>
        <p:origin x="336" y="5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C8B400-339F-FF48-98A8-026BE3E524B2}" type="datetimeFigureOut">
              <a:rPr lang="en-US" smtClean="0"/>
              <a:t>6/7/26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C8562E-EC26-1B49-92C0-AD93518BF4AF}" type="slidenum">
              <a:rPr lang="en-US" smtClean="0"/>
              <a:t>‹#›</a:t>
            </a:fld>
            <a:endParaRPr lang="en-US"/>
          </a:p>
        </p:txBody>
      </p:sp>
    </p:spTree>
    <p:extLst>
      <p:ext uri="{BB962C8B-B14F-4D97-AF65-F5344CB8AC3E}">
        <p14:creationId xmlns:p14="http://schemas.microsoft.com/office/powerpoint/2010/main" val="4212623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 had to summarize a book in one paragraph and then your friend had to recreate the full book from just your summary. If their recreation is terrible, your summary was bad and you need to do better. The reconstruction is essentially the test of whether the summary was any good.</a:t>
            </a:r>
          </a:p>
        </p:txBody>
      </p:sp>
      <p:sp>
        <p:nvSpPr>
          <p:cNvPr id="4" name="Slide Number Placeholder 3"/>
          <p:cNvSpPr>
            <a:spLocks noGrp="1"/>
          </p:cNvSpPr>
          <p:nvPr>
            <p:ph type="sldNum" sz="quarter" idx="5"/>
          </p:nvPr>
        </p:nvSpPr>
        <p:spPr/>
        <p:txBody>
          <a:bodyPr/>
          <a:lstStyle/>
          <a:p>
            <a:fld id="{04C8562E-EC26-1B49-92C0-AD93518BF4AF}" type="slidenum">
              <a:rPr lang="en-US" smtClean="0"/>
              <a:t>3</a:t>
            </a:fld>
            <a:endParaRPr lang="en-US"/>
          </a:p>
        </p:txBody>
      </p:sp>
    </p:spTree>
    <p:extLst>
      <p:ext uri="{BB962C8B-B14F-4D97-AF65-F5344CB8AC3E}">
        <p14:creationId xmlns:p14="http://schemas.microsoft.com/office/powerpoint/2010/main" val="2674288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 affine transformation scales and shifts the data; it multiplies the previous layer's output </a:t>
                </a:r>
                <a14:m>
                  <m:oMath xmlns:m="http://schemas.openxmlformats.org/officeDocument/2006/math">
                    <m:sSup>
                      <m:sSupPr>
                        <m:ctrlPr>
                          <a:rPr lang="en-US" sz="1200" i="1" kern="1200">
                            <a:solidFill>
                              <a:schemeClr val="tx1"/>
                            </a:solidFill>
                            <a:effectLst/>
                            <a:latin typeface="+mn-lt"/>
                            <a:ea typeface="+mn-ea"/>
                            <a:cs typeface="+mn-cs"/>
                          </a:rPr>
                        </m:ctrlPr>
                      </m:sSupPr>
                      <m:e>
                        <m:r>
                          <a:rPr lang="en-US" sz="1200" i="1" kern="1200">
                            <a:solidFill>
                              <a:schemeClr val="tx1"/>
                            </a:solidFill>
                            <a:effectLst/>
                            <a:latin typeface="+mn-lt"/>
                            <a:ea typeface="+mn-ea"/>
                            <a:cs typeface="+mn-cs"/>
                          </a:rPr>
                          <m:t>h</m:t>
                        </m:r>
                      </m:e>
                      <m:sup>
                        <m:d>
                          <m:dPr>
                            <m:ctrlPr>
                              <a:rPr lang="en-US" sz="1200" i="1" kern="1200">
                                <a:solidFill>
                                  <a:schemeClr val="tx1"/>
                                </a:solidFill>
                                <a:effectLst/>
                                <a:latin typeface="+mn-lt"/>
                                <a:ea typeface="+mn-ea"/>
                                <a:cs typeface="+mn-cs"/>
                              </a:rPr>
                            </m:ctrlPr>
                          </m:dPr>
                          <m:e>
                            <m:r>
                              <a:rPr lang="en-US" sz="1200" i="1" kern="1200">
                                <a:solidFill>
                                  <a:schemeClr val="tx1"/>
                                </a:solidFill>
                                <a:effectLst/>
                                <a:latin typeface="+mn-lt"/>
                                <a:ea typeface="+mn-ea"/>
                                <a:cs typeface="+mn-cs"/>
                              </a:rPr>
                              <m:t>𝑙</m:t>
                            </m:r>
                            <m:r>
                              <a:rPr lang="en-US" sz="1200" i="1" kern="1200">
                                <a:solidFill>
                                  <a:schemeClr val="tx1"/>
                                </a:solidFill>
                                <a:effectLst/>
                                <a:latin typeface="+mn-lt"/>
                                <a:ea typeface="+mn-ea"/>
                                <a:cs typeface="+mn-cs"/>
                              </a:rPr>
                              <m:t>−1</m:t>
                            </m:r>
                          </m:e>
                        </m:d>
                      </m:sup>
                    </m:sSup>
                  </m:oMath>
                </a14:m>
                <a:r>
                  <a:rPr lang="en-US" sz="1200" kern="1200" dirty="0">
                    <a:solidFill>
                      <a:schemeClr val="tx1"/>
                    </a:solidFill>
                    <a:effectLst/>
                    <a:latin typeface="+mn-lt"/>
                    <a:ea typeface="+mn-ea"/>
                    <a:cs typeface="+mn-cs"/>
                  </a:rPr>
                  <a:t>by a learned weight matrix </a:t>
                </a:r>
                <a14:m>
                  <m:oMath xmlns:m="http://schemas.openxmlformats.org/officeDocument/2006/math">
                    <m:sSup>
                      <m:sSupPr>
                        <m:ctrlPr>
                          <a:rPr lang="en-US" sz="1200" i="1" kern="1200">
                            <a:solidFill>
                              <a:schemeClr val="tx1"/>
                            </a:solidFill>
                            <a:effectLst/>
                            <a:latin typeface="+mn-lt"/>
                            <a:ea typeface="+mn-ea"/>
                            <a:cs typeface="+mn-cs"/>
                          </a:rPr>
                        </m:ctrlPr>
                      </m:sSupPr>
                      <m:e>
                        <m:r>
                          <a:rPr lang="en-US" sz="1200" i="1" kern="1200">
                            <a:solidFill>
                              <a:schemeClr val="tx1"/>
                            </a:solidFill>
                            <a:effectLst/>
                            <a:latin typeface="+mn-lt"/>
                            <a:ea typeface="+mn-ea"/>
                            <a:cs typeface="+mn-cs"/>
                          </a:rPr>
                          <m:t>𝑊</m:t>
                        </m:r>
                      </m:e>
                      <m:sup>
                        <m:d>
                          <m:dPr>
                            <m:ctrlPr>
                              <a:rPr lang="en-US" sz="1200" i="1" kern="1200">
                                <a:solidFill>
                                  <a:schemeClr val="tx1"/>
                                </a:solidFill>
                                <a:effectLst/>
                                <a:latin typeface="+mn-lt"/>
                                <a:ea typeface="+mn-ea"/>
                                <a:cs typeface="+mn-cs"/>
                              </a:rPr>
                            </m:ctrlPr>
                          </m:dPr>
                          <m:e>
                            <m:r>
                              <a:rPr lang="en-US" sz="1200" i="1" kern="1200">
                                <a:solidFill>
                                  <a:schemeClr val="tx1"/>
                                </a:solidFill>
                                <a:effectLst/>
                                <a:latin typeface="+mn-lt"/>
                                <a:ea typeface="+mn-ea"/>
                                <a:cs typeface="+mn-cs"/>
                              </a:rPr>
                              <m:t>𝑙</m:t>
                            </m:r>
                          </m:e>
                        </m:d>
                      </m:sup>
                    </m:sSup>
                  </m:oMath>
                </a14:m>
                <a:r>
                  <a:rPr lang="en-US" sz="1200" kern="1200" dirty="0">
                    <a:solidFill>
                      <a:schemeClr val="tx1"/>
                    </a:solidFill>
                    <a:effectLst/>
                    <a:latin typeface="+mn-lt"/>
                    <a:ea typeface="+mn-ea"/>
                    <a:cs typeface="+mn-cs"/>
                  </a:rPr>
                  <a:t>and adds a bias vector </a:t>
                </a:r>
                <a14:m>
                  <m:oMath xmlns:m="http://schemas.openxmlformats.org/officeDocument/2006/math">
                    <m:sSup>
                      <m:sSupPr>
                        <m:ctrlPr>
                          <a:rPr lang="en-US" sz="1200" i="1" kern="1200">
                            <a:solidFill>
                              <a:schemeClr val="tx1"/>
                            </a:solidFill>
                            <a:effectLst/>
                            <a:latin typeface="+mn-lt"/>
                            <a:ea typeface="+mn-ea"/>
                            <a:cs typeface="+mn-cs"/>
                          </a:rPr>
                        </m:ctrlPr>
                      </m:sSupPr>
                      <m:e>
                        <m:r>
                          <a:rPr lang="en-US" sz="1200" i="1" kern="1200">
                            <a:solidFill>
                              <a:schemeClr val="tx1"/>
                            </a:solidFill>
                            <a:effectLst/>
                            <a:latin typeface="+mn-lt"/>
                            <a:ea typeface="+mn-ea"/>
                            <a:cs typeface="+mn-cs"/>
                          </a:rPr>
                          <m:t>𝑏</m:t>
                        </m:r>
                      </m:e>
                      <m:sup>
                        <m:d>
                          <m:dPr>
                            <m:ctrlPr>
                              <a:rPr lang="en-US" sz="1200" i="1" kern="1200">
                                <a:solidFill>
                                  <a:schemeClr val="tx1"/>
                                </a:solidFill>
                                <a:effectLst/>
                                <a:latin typeface="+mn-lt"/>
                                <a:ea typeface="+mn-ea"/>
                                <a:cs typeface="+mn-cs"/>
                              </a:rPr>
                            </m:ctrlPr>
                          </m:dPr>
                          <m:e>
                            <m:r>
                              <a:rPr lang="en-US" sz="1200" i="1" kern="1200">
                                <a:solidFill>
                                  <a:schemeClr val="tx1"/>
                                </a:solidFill>
                                <a:effectLst/>
                                <a:latin typeface="+mn-lt"/>
                                <a:ea typeface="+mn-ea"/>
                                <a:cs typeface="+mn-cs"/>
                              </a:rPr>
                              <m:t>𝑙</m:t>
                            </m:r>
                          </m:e>
                        </m:d>
                      </m:sup>
                    </m:sSup>
                  </m:oMath>
                </a14:m>
                <a:r>
                  <a:rPr lang="en-US" sz="1200" kern="1200" dirty="0">
                    <a:solidFill>
                      <a:schemeClr val="tx1"/>
                    </a:solidFill>
                    <a:effectLst/>
                    <a:latin typeface="+mn-lt"/>
                    <a:ea typeface="+mn-ea"/>
                    <a:cs typeface="+mn-cs"/>
                  </a:rPr>
                  <a:t>. The non-linear activation function </a:t>
                </a:r>
                <a14:m>
                  <m:oMath xmlns:m="http://schemas.openxmlformats.org/officeDocument/2006/math">
                    <m:r>
                      <a:rPr lang="en-US" sz="1200" i="1" kern="1200">
                        <a:solidFill>
                          <a:schemeClr val="tx1"/>
                        </a:solidFill>
                        <a:effectLst/>
                        <a:latin typeface="+mn-lt"/>
                        <a:ea typeface="+mn-ea"/>
                        <a:cs typeface="+mn-cs"/>
                      </a:rPr>
                      <m:t>𝜎</m:t>
                    </m:r>
                  </m:oMath>
                </a14:m>
                <a:r>
                  <a:rPr lang="en-US" sz="1200" kern="1200" dirty="0">
                    <a:solidFill>
                      <a:schemeClr val="tx1"/>
                    </a:solidFill>
                    <a:effectLst/>
                    <a:latin typeface="+mn-lt"/>
                    <a:ea typeface="+mn-ea"/>
                    <a:cs typeface="+mn-cs"/>
                  </a:rPr>
                  <a:t>, typically </a:t>
                </a:r>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is applied on top, allowing the network to capture complex non-linear patterns. The parameters </a:t>
                </a:r>
                <a14:m>
                  <m:oMath xmlns:m="http://schemas.openxmlformats.org/officeDocument/2006/math">
                    <m:r>
                      <a:rPr lang="en-US" sz="1200" i="1" kern="1200">
                        <a:solidFill>
                          <a:schemeClr val="tx1"/>
                        </a:solidFill>
                        <a:effectLst/>
                        <a:latin typeface="+mn-lt"/>
                        <a:ea typeface="+mn-ea"/>
                        <a:cs typeface="+mn-cs"/>
                      </a:rPr>
                      <m:t>𝜙</m:t>
                    </m:r>
                    <m:r>
                      <a:rPr lang="en-US" sz="1200" i="1" kern="1200">
                        <a:solidFill>
                          <a:schemeClr val="tx1"/>
                        </a:solidFill>
                        <a:effectLst/>
                        <a:latin typeface="+mn-lt"/>
                        <a:ea typeface="+mn-ea"/>
                        <a:cs typeface="+mn-cs"/>
                      </a:rPr>
                      <m:t> </m:t>
                    </m:r>
                  </m:oMath>
                </a14:m>
                <a:r>
                  <a:rPr lang="en-US" sz="1200" kern="1200" dirty="0">
                    <a:solidFill>
                      <a:schemeClr val="tx1"/>
                    </a:solidFill>
                    <a:effectLst/>
                    <a:latin typeface="+mn-lt"/>
                    <a:ea typeface="+mn-ea"/>
                    <a:cs typeface="+mn-cs"/>
                  </a:rPr>
                  <a:t>refer collectively to all these learned weight matrices </a:t>
                </a:r>
                <a14:m>
                  <m:oMath xmlns:m="http://schemas.openxmlformats.org/officeDocument/2006/math">
                    <m:sSup>
                      <m:sSupPr>
                        <m:ctrlPr>
                          <a:rPr lang="en-US" sz="1200" i="1" kern="1200">
                            <a:solidFill>
                              <a:schemeClr val="tx1"/>
                            </a:solidFill>
                            <a:effectLst/>
                            <a:latin typeface="+mn-lt"/>
                            <a:ea typeface="+mn-ea"/>
                            <a:cs typeface="+mn-cs"/>
                          </a:rPr>
                        </m:ctrlPr>
                      </m:sSupPr>
                      <m:e>
                        <m:r>
                          <a:rPr lang="en-US" sz="1200" i="1" kern="1200">
                            <a:solidFill>
                              <a:schemeClr val="tx1"/>
                            </a:solidFill>
                            <a:effectLst/>
                            <a:latin typeface="+mn-lt"/>
                            <a:ea typeface="+mn-ea"/>
                            <a:cs typeface="+mn-cs"/>
                          </a:rPr>
                          <m:t>𝑊</m:t>
                        </m:r>
                      </m:e>
                      <m:sup>
                        <m:d>
                          <m:dPr>
                            <m:ctrlPr>
                              <a:rPr lang="en-US" sz="1200" i="1" kern="1200">
                                <a:solidFill>
                                  <a:schemeClr val="tx1"/>
                                </a:solidFill>
                                <a:effectLst/>
                                <a:latin typeface="+mn-lt"/>
                                <a:ea typeface="+mn-ea"/>
                                <a:cs typeface="+mn-cs"/>
                              </a:rPr>
                            </m:ctrlPr>
                          </m:dPr>
                          <m:e>
                            <m:r>
                              <a:rPr lang="en-US" sz="1200" i="1" kern="1200">
                                <a:solidFill>
                                  <a:schemeClr val="tx1"/>
                                </a:solidFill>
                                <a:effectLst/>
                                <a:latin typeface="+mn-lt"/>
                                <a:ea typeface="+mn-ea"/>
                                <a:cs typeface="+mn-cs"/>
                              </a:rPr>
                              <m:t>𝑙</m:t>
                            </m:r>
                          </m:e>
                        </m:d>
                      </m:sup>
                    </m:sSup>
                    <m:sSup>
                      <m:sSupPr>
                        <m:ctrlPr>
                          <a:rPr lang="en-US" sz="1200" i="1" kern="1200">
                            <a:solidFill>
                              <a:schemeClr val="tx1"/>
                            </a:solidFill>
                            <a:effectLst/>
                            <a:latin typeface="+mn-lt"/>
                            <a:ea typeface="+mn-ea"/>
                            <a:cs typeface="+mn-cs"/>
                          </a:rPr>
                        </m:ctrlPr>
                      </m:sSupPr>
                      <m:e>
                        <m:r>
                          <a:rPr lang="en-US" sz="1200" i="1" kern="1200">
                            <a:solidFill>
                              <a:schemeClr val="tx1"/>
                            </a:solidFill>
                            <a:effectLst/>
                            <a:latin typeface="+mn-lt"/>
                            <a:ea typeface="+mn-ea"/>
                            <a:cs typeface="+mn-cs"/>
                          </a:rPr>
                          <m:t>𝑊</m:t>
                        </m:r>
                      </m:e>
                      <m:sup>
                        <m:d>
                          <m:dPr>
                            <m:ctrlPr>
                              <a:rPr lang="en-US" sz="1200" i="1" kern="1200">
                                <a:solidFill>
                                  <a:schemeClr val="tx1"/>
                                </a:solidFill>
                                <a:effectLst/>
                                <a:latin typeface="+mn-lt"/>
                                <a:ea typeface="+mn-ea"/>
                                <a:cs typeface="+mn-cs"/>
                              </a:rPr>
                            </m:ctrlPr>
                          </m:dPr>
                          <m:e>
                            <m:r>
                              <a:rPr lang="en-US" sz="1200" i="1" kern="1200">
                                <a:solidFill>
                                  <a:schemeClr val="tx1"/>
                                </a:solidFill>
                                <a:effectLst/>
                                <a:latin typeface="+mn-lt"/>
                                <a:ea typeface="+mn-ea"/>
                                <a:cs typeface="+mn-cs"/>
                              </a:rPr>
                              <m:t>𝑙</m:t>
                            </m:r>
                          </m:e>
                        </m:d>
                      </m:sup>
                    </m:sSup>
                    <m:sSup>
                      <m:sSupPr>
                        <m:ctrlPr>
                          <a:rPr lang="en-US" sz="1200" i="1" kern="1200">
                            <a:solidFill>
                              <a:schemeClr val="tx1"/>
                            </a:solidFill>
                            <a:effectLst/>
                            <a:latin typeface="+mn-lt"/>
                            <a:ea typeface="+mn-ea"/>
                            <a:cs typeface="+mn-cs"/>
                          </a:rPr>
                        </m:ctrlPr>
                      </m:sSupPr>
                      <m:e>
                        <m:r>
                          <a:rPr lang="en-US" sz="1200" i="1" kern="1200">
                            <a:solidFill>
                              <a:schemeClr val="tx1"/>
                            </a:solidFill>
                            <a:effectLst/>
                            <a:latin typeface="+mn-lt"/>
                            <a:ea typeface="+mn-ea"/>
                            <a:cs typeface="+mn-cs"/>
                          </a:rPr>
                          <m:t>𝑏</m:t>
                        </m:r>
                      </m:e>
                      <m:sup>
                        <m:d>
                          <m:dPr>
                            <m:ctrlPr>
                              <a:rPr lang="en-US" sz="1200" i="1" kern="1200">
                                <a:solidFill>
                                  <a:schemeClr val="tx1"/>
                                </a:solidFill>
                                <a:effectLst/>
                                <a:latin typeface="+mn-lt"/>
                                <a:ea typeface="+mn-ea"/>
                                <a:cs typeface="+mn-cs"/>
                              </a:rPr>
                            </m:ctrlPr>
                          </m:dPr>
                          <m:e>
                            <m:r>
                              <a:rPr lang="en-US" sz="1200" i="1" kern="1200">
                                <a:solidFill>
                                  <a:schemeClr val="tx1"/>
                                </a:solidFill>
                                <a:effectLst/>
                                <a:latin typeface="+mn-lt"/>
                                <a:ea typeface="+mn-ea"/>
                                <a:cs typeface="+mn-cs"/>
                              </a:rPr>
                              <m:t>𝑙</m:t>
                            </m:r>
                          </m:e>
                        </m:d>
                      </m:sup>
                    </m:sSup>
                  </m:oMath>
                </a14:m>
                <a:endParaRPr lang="en-US" dirty="0"/>
              </a:p>
            </p:txBody>
          </p:sp>
        </mc:Choice>
        <mc:Fallback>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 affine transformation scales and shifts the data; it multiplies the previous layer's output </a:t>
                </a:r>
                <a:r>
                  <a:rPr lang="en-US" sz="1200" i="0" kern="1200">
                    <a:solidFill>
                      <a:schemeClr val="tx1"/>
                    </a:solidFill>
                    <a:effectLst/>
                    <a:latin typeface="+mn-lt"/>
                    <a:ea typeface="+mn-ea"/>
                    <a:cs typeface="+mn-cs"/>
                  </a:rPr>
                  <a:t>ℎ^((𝑙−1) )</a:t>
                </a:r>
                <a:r>
                  <a:rPr lang="en-US" sz="1200" kern="1200" dirty="0">
                    <a:solidFill>
                      <a:schemeClr val="tx1"/>
                    </a:solidFill>
                    <a:effectLst/>
                    <a:latin typeface="+mn-lt"/>
                    <a:ea typeface="+mn-ea"/>
                    <a:cs typeface="+mn-cs"/>
                  </a:rPr>
                  <a:t>by a learned weight matrix </a:t>
                </a:r>
                <a:r>
                  <a:rPr lang="en-US" sz="1200" i="0" kern="1200">
                    <a:solidFill>
                      <a:schemeClr val="tx1"/>
                    </a:solidFill>
                    <a:effectLst/>
                    <a:latin typeface="+mn-lt"/>
                    <a:ea typeface="+mn-ea"/>
                    <a:cs typeface="+mn-cs"/>
                  </a:rPr>
                  <a:t>𝑊^((𝑙) )</a:t>
                </a:r>
                <a:r>
                  <a:rPr lang="en-US" sz="1200" kern="1200" dirty="0">
                    <a:solidFill>
                      <a:schemeClr val="tx1"/>
                    </a:solidFill>
                    <a:effectLst/>
                    <a:latin typeface="+mn-lt"/>
                    <a:ea typeface="+mn-ea"/>
                    <a:cs typeface="+mn-cs"/>
                  </a:rPr>
                  <a:t>and adds a bias vector </a:t>
                </a:r>
                <a:r>
                  <a:rPr lang="en-US" sz="1200" i="0" kern="1200">
                    <a:solidFill>
                      <a:schemeClr val="tx1"/>
                    </a:solidFill>
                    <a:effectLst/>
                    <a:latin typeface="+mn-lt"/>
                    <a:ea typeface="+mn-ea"/>
                    <a:cs typeface="+mn-cs"/>
                  </a:rPr>
                  <a:t>𝑏^((𝑙) )</a:t>
                </a:r>
                <a:r>
                  <a:rPr lang="en-US" sz="1200" kern="1200" dirty="0">
                    <a:solidFill>
                      <a:schemeClr val="tx1"/>
                    </a:solidFill>
                    <a:effectLst/>
                    <a:latin typeface="+mn-lt"/>
                    <a:ea typeface="+mn-ea"/>
                    <a:cs typeface="+mn-cs"/>
                  </a:rPr>
                  <a:t>. The non-linear activation function </a:t>
                </a:r>
                <a:r>
                  <a:rPr lang="en-US" sz="1200" i="0" kern="1200">
                    <a:solidFill>
                      <a:schemeClr val="tx1"/>
                    </a:solidFill>
                    <a:effectLst/>
                    <a:latin typeface="+mn-lt"/>
                    <a:ea typeface="+mn-ea"/>
                    <a:cs typeface="+mn-cs"/>
                  </a:rPr>
                  <a:t>𝜎</a:t>
                </a:r>
                <a:r>
                  <a:rPr lang="en-US" sz="1200" kern="1200" dirty="0">
                    <a:solidFill>
                      <a:schemeClr val="tx1"/>
                    </a:solidFill>
                    <a:effectLst/>
                    <a:latin typeface="+mn-lt"/>
                    <a:ea typeface="+mn-ea"/>
                    <a:cs typeface="+mn-cs"/>
                  </a:rPr>
                  <a:t>, typically </a:t>
                </a:r>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is applied on top, allowing the network to capture complex non-linear patterns. The parameters </a:t>
                </a:r>
                <a:r>
                  <a:rPr lang="en-US" sz="1200" i="0" kern="1200">
                    <a:solidFill>
                      <a:schemeClr val="tx1"/>
                    </a:solidFill>
                    <a:effectLst/>
                    <a:latin typeface="+mn-lt"/>
                    <a:ea typeface="+mn-ea"/>
                    <a:cs typeface="+mn-cs"/>
                  </a:rPr>
                  <a:t>𝜙 </a:t>
                </a:r>
                <a:r>
                  <a:rPr lang="en-US" sz="1200" kern="1200" dirty="0">
                    <a:solidFill>
                      <a:schemeClr val="tx1"/>
                    </a:solidFill>
                    <a:effectLst/>
                    <a:latin typeface="+mn-lt"/>
                    <a:ea typeface="+mn-ea"/>
                    <a:cs typeface="+mn-cs"/>
                  </a:rPr>
                  <a:t>refer collectively to all these learned weight matrices </a:t>
                </a:r>
                <a:r>
                  <a:rPr lang="en-US" sz="1200" i="0" kern="1200">
                    <a:solidFill>
                      <a:schemeClr val="tx1"/>
                    </a:solidFill>
                    <a:effectLst/>
                    <a:latin typeface="+mn-lt"/>
                    <a:ea typeface="+mn-ea"/>
                    <a:cs typeface="+mn-cs"/>
                  </a:rPr>
                  <a:t>𝑊^((𝑙) ) 𝑊^((𝑙) ) 𝑏^((𝑙) )</a:t>
                </a:r>
                <a:endParaRPr lang="en-US" dirty="0"/>
              </a:p>
            </p:txBody>
          </p:sp>
        </mc:Fallback>
      </mc:AlternateContent>
      <p:sp>
        <p:nvSpPr>
          <p:cNvPr id="4" name="Slide Number Placeholder 3"/>
          <p:cNvSpPr>
            <a:spLocks noGrp="1"/>
          </p:cNvSpPr>
          <p:nvPr>
            <p:ph type="sldNum" sz="quarter" idx="5"/>
          </p:nvPr>
        </p:nvSpPr>
        <p:spPr/>
        <p:txBody>
          <a:bodyPr/>
          <a:lstStyle/>
          <a:p>
            <a:fld id="{04C8562E-EC26-1B49-92C0-AD93518BF4AF}" type="slidenum">
              <a:rPr lang="en-US" smtClean="0"/>
              <a:t>7</a:t>
            </a:fld>
            <a:endParaRPr lang="en-US"/>
          </a:p>
        </p:txBody>
      </p:sp>
    </p:spTree>
    <p:extLst>
      <p:ext uri="{BB962C8B-B14F-4D97-AF65-F5344CB8AC3E}">
        <p14:creationId xmlns:p14="http://schemas.microsoft.com/office/powerpoint/2010/main" val="598602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err="1"/>
                  <a:t>Affline</a:t>
                </a:r>
                <a:r>
                  <a:rPr lang="en-US" dirty="0"/>
                  <a:t> transformation : it scales and shifts the data. a mathematical operation that multiplies the input by a weight matrix </a:t>
                </a:r>
                <a14:m>
                  <m:oMath xmlns:m="http://schemas.openxmlformats.org/officeDocument/2006/math">
                    <m:sSup>
                      <m:sSupPr>
                        <m:ctrlPr>
                          <a:rPr lang="en-US" sz="1200" kern="1200">
                            <a:solidFill>
                              <a:schemeClr val="tx1"/>
                            </a:solidFill>
                            <a:latin typeface="+mn-lt"/>
                            <a:ea typeface="+mn-ea"/>
                            <a:cs typeface="+mn-cs"/>
                          </a:rPr>
                        </m:ctrlPr>
                      </m:sSupPr>
                      <m:e>
                        <m:r>
                          <a:rPr lang="en-US" sz="1200" i="1" kern="1200">
                            <a:solidFill>
                              <a:schemeClr val="tx1"/>
                            </a:solidFill>
                            <a:latin typeface="+mn-lt"/>
                            <a:ea typeface="+mn-ea"/>
                            <a:cs typeface="+mn-cs"/>
                          </a:rPr>
                          <m:t>𝑊</m:t>
                        </m:r>
                      </m:e>
                      <m:sup>
                        <m:d>
                          <m:dPr>
                            <m:ctrlPr>
                              <a:rPr lang="en-US" sz="1200" i="1" kern="1200">
                                <a:solidFill>
                                  <a:schemeClr val="tx1"/>
                                </a:solidFill>
                                <a:latin typeface="+mn-lt"/>
                                <a:ea typeface="+mn-ea"/>
                                <a:cs typeface="+mn-cs"/>
                              </a:rPr>
                            </m:ctrlPr>
                          </m:dPr>
                          <m:e>
                            <m:r>
                              <a:rPr lang="en-US" sz="1200" i="1" kern="1200">
                                <a:solidFill>
                                  <a:schemeClr val="tx1"/>
                                </a:solidFill>
                                <a:latin typeface="+mn-lt"/>
                                <a:ea typeface="+mn-ea"/>
                                <a:cs typeface="+mn-cs"/>
                              </a:rPr>
                              <m:t>𝑙</m:t>
                            </m:r>
                          </m:e>
                        </m:d>
                      </m:sup>
                    </m:sSup>
                  </m:oMath>
                </a14:m>
                <a:r>
                  <a:rPr lang="en-US" dirty="0"/>
                  <a:t>and adds a bias vector </a:t>
                </a:r>
                <a14:m>
                  <m:oMath xmlns:m="http://schemas.openxmlformats.org/officeDocument/2006/math">
                    <m:sSup>
                      <m:sSupPr>
                        <m:ctrlPr>
                          <a:rPr lang="en-US" sz="1200" kern="1200">
                            <a:solidFill>
                              <a:schemeClr val="tx1"/>
                            </a:solidFill>
                            <a:latin typeface="+mn-lt"/>
                            <a:ea typeface="+mn-ea"/>
                            <a:cs typeface="+mn-cs"/>
                          </a:rPr>
                        </m:ctrlPr>
                      </m:sSupPr>
                      <m:e>
                        <m:r>
                          <a:rPr lang="en-US" sz="1200" i="1" kern="1200">
                            <a:solidFill>
                              <a:schemeClr val="tx1"/>
                            </a:solidFill>
                            <a:latin typeface="+mn-lt"/>
                            <a:ea typeface="+mn-ea"/>
                            <a:cs typeface="+mn-cs"/>
                          </a:rPr>
                          <m:t>𝑏</m:t>
                        </m:r>
                      </m:e>
                      <m:sup>
                        <m:d>
                          <m:dPr>
                            <m:ctrlPr>
                              <a:rPr lang="en-US" sz="1200" i="1" kern="1200">
                                <a:solidFill>
                                  <a:schemeClr val="tx1"/>
                                </a:solidFill>
                                <a:latin typeface="+mn-lt"/>
                                <a:ea typeface="+mn-ea"/>
                                <a:cs typeface="+mn-cs"/>
                              </a:rPr>
                            </m:ctrlPr>
                          </m:dPr>
                          <m:e>
                            <m:r>
                              <a:rPr lang="en-US" sz="1200" i="1" kern="1200">
                                <a:solidFill>
                                  <a:schemeClr val="tx1"/>
                                </a:solidFill>
                                <a:latin typeface="+mn-lt"/>
                                <a:ea typeface="+mn-ea"/>
                                <a:cs typeface="+mn-cs"/>
                              </a:rPr>
                              <m:t>𝑙</m:t>
                            </m:r>
                          </m:e>
                        </m:d>
                      </m:sup>
                    </m:sSup>
                  </m:oMath>
                </a14:m>
                <a:r>
                  <a:rPr lang="en-US" dirty="0"/>
                  <a:t>:</a:t>
                </a:r>
              </a:p>
              <a:p>
                <a:r>
                  <a:rPr lang="en-US" dirty="0"/>
                  <a:t>Weight and bias start at random values and get learned through back propagation and gradient descent </a:t>
                </a:r>
              </a:p>
            </p:txBody>
          </p:sp>
        </mc:Choice>
        <mc:Fallback>
          <p:sp>
            <p:nvSpPr>
              <p:cNvPr id="3" name="Notes Placeholder 2"/>
              <p:cNvSpPr>
                <a:spLocks noGrp="1"/>
              </p:cNvSpPr>
              <p:nvPr>
                <p:ph type="body" idx="1"/>
              </p:nvPr>
            </p:nvSpPr>
            <p:spPr/>
            <p:txBody>
              <a:bodyPr/>
              <a:lstStyle/>
              <a:p>
                <a:r>
                  <a:rPr lang="en-US" dirty="0" err="1"/>
                  <a:t>Affline</a:t>
                </a:r>
                <a:r>
                  <a:rPr lang="en-US" dirty="0"/>
                  <a:t> transformation : it scales and shifts the data. a mathematical operation that multiplies the input by a weight matrix </a:t>
                </a:r>
                <a:r>
                  <a:rPr lang="en-US" sz="1200" i="0" kern="1200">
                    <a:solidFill>
                      <a:schemeClr val="tx1"/>
                    </a:solidFill>
                    <a:latin typeface="+mn-lt"/>
                    <a:ea typeface="+mn-ea"/>
                    <a:cs typeface="+mn-cs"/>
                  </a:rPr>
                  <a:t>𝑊^((𝑙) )</a:t>
                </a:r>
                <a:r>
                  <a:rPr lang="en-US" dirty="0"/>
                  <a:t>and adds a bias vector </a:t>
                </a:r>
                <a:r>
                  <a:rPr lang="en-US" sz="1200" i="0" kern="1200">
                    <a:solidFill>
                      <a:schemeClr val="tx1"/>
                    </a:solidFill>
                    <a:latin typeface="+mn-lt"/>
                    <a:ea typeface="+mn-ea"/>
                    <a:cs typeface="+mn-cs"/>
                  </a:rPr>
                  <a:t>𝑏^((𝑙) )</a:t>
                </a:r>
                <a:r>
                  <a:rPr lang="en-US" dirty="0"/>
                  <a:t>:</a:t>
                </a:r>
              </a:p>
              <a:p>
                <a:r>
                  <a:rPr lang="en-US" dirty="0"/>
                  <a:t>Weight and bias start at random values and get learned through back propagation and gradient descent </a:t>
                </a:r>
              </a:p>
            </p:txBody>
          </p:sp>
        </mc:Fallback>
      </mc:AlternateContent>
      <p:sp>
        <p:nvSpPr>
          <p:cNvPr id="4" name="Slide Number Placeholder 3"/>
          <p:cNvSpPr>
            <a:spLocks noGrp="1"/>
          </p:cNvSpPr>
          <p:nvPr>
            <p:ph type="sldNum" sz="quarter" idx="5"/>
          </p:nvPr>
        </p:nvSpPr>
        <p:spPr/>
        <p:txBody>
          <a:bodyPr/>
          <a:lstStyle/>
          <a:p>
            <a:fld id="{04C8562E-EC26-1B49-92C0-AD93518BF4AF}" type="slidenum">
              <a:rPr lang="en-US" smtClean="0"/>
              <a:t>8</a:t>
            </a:fld>
            <a:endParaRPr lang="en-US"/>
          </a:p>
        </p:txBody>
      </p:sp>
    </p:spTree>
    <p:extLst>
      <p:ext uri="{BB962C8B-B14F-4D97-AF65-F5344CB8AC3E}">
        <p14:creationId xmlns:p14="http://schemas.microsoft.com/office/powerpoint/2010/main" val="548941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6/7/26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6/7/26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6/7/26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6/7/26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6/7/26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6/7/26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6/7/26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6/7/26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6/7/26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10509-232B-B96F-8697-FBB638AE9C49}"/>
              </a:ext>
            </a:extLst>
          </p:cNvPr>
          <p:cNvSpPr>
            <a:spLocks noGrp="1"/>
          </p:cNvSpPr>
          <p:nvPr>
            <p:ph type="ctrTitle"/>
          </p:nvPr>
        </p:nvSpPr>
        <p:spPr/>
        <p:txBody>
          <a:bodyPr/>
          <a:lstStyle/>
          <a:p>
            <a:r>
              <a:rPr lang="en-US" dirty="0"/>
              <a:t>AUTOENCODERS</a:t>
            </a:r>
          </a:p>
        </p:txBody>
      </p:sp>
      <p:sp>
        <p:nvSpPr>
          <p:cNvPr id="3" name="Subtitle 2">
            <a:extLst>
              <a:ext uri="{FF2B5EF4-FFF2-40B4-BE49-F238E27FC236}">
                <a16:creationId xmlns:a16="http://schemas.microsoft.com/office/drawing/2014/main" id="{56F9547C-CC0A-82F5-9E5F-85B1E50F3345}"/>
              </a:ext>
            </a:extLst>
          </p:cNvPr>
          <p:cNvSpPr>
            <a:spLocks noGrp="1"/>
          </p:cNvSpPr>
          <p:nvPr>
            <p:ph type="subTitle" idx="1"/>
          </p:nvPr>
        </p:nvSpPr>
        <p:spPr/>
        <p:txBody>
          <a:bodyPr/>
          <a:lstStyle/>
          <a:p>
            <a:r>
              <a:rPr lang="en-US" dirty="0"/>
              <a:t>Tara Hosseini</a:t>
            </a:r>
          </a:p>
        </p:txBody>
      </p:sp>
    </p:spTree>
    <p:extLst>
      <p:ext uri="{BB962C8B-B14F-4D97-AF65-F5344CB8AC3E}">
        <p14:creationId xmlns:p14="http://schemas.microsoft.com/office/powerpoint/2010/main" val="149094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2DDE0-D347-F72F-BF51-0C799EED1745}"/>
              </a:ext>
            </a:extLst>
          </p:cNvPr>
          <p:cNvSpPr>
            <a:spLocks noGrp="1"/>
          </p:cNvSpPr>
          <p:nvPr>
            <p:ph type="title"/>
          </p:nvPr>
        </p:nvSpPr>
        <p:spPr>
          <a:xfrm>
            <a:off x="1251679" y="645107"/>
            <a:ext cx="3384329" cy="1640894"/>
          </a:xfrm>
        </p:spPr>
        <p:txBody>
          <a:bodyPr anchor="t">
            <a:normAutofit/>
          </a:bodyPr>
          <a:lstStyle/>
          <a:p>
            <a:r>
              <a:rPr lang="en-US" sz="3700"/>
              <a:t>Unsupervised learning</a:t>
            </a:r>
          </a:p>
        </p:txBody>
      </p:sp>
      <p:sp>
        <p:nvSpPr>
          <p:cNvPr id="3" name="Content Placeholder 2">
            <a:extLst>
              <a:ext uri="{FF2B5EF4-FFF2-40B4-BE49-F238E27FC236}">
                <a16:creationId xmlns:a16="http://schemas.microsoft.com/office/drawing/2014/main" id="{DFF5DBDF-159B-F4AF-A444-E5D501F9C401}"/>
              </a:ext>
            </a:extLst>
          </p:cNvPr>
          <p:cNvSpPr>
            <a:spLocks noGrp="1"/>
          </p:cNvSpPr>
          <p:nvPr>
            <p:ph idx="1"/>
          </p:nvPr>
        </p:nvSpPr>
        <p:spPr>
          <a:xfrm>
            <a:off x="1251679" y="2286001"/>
            <a:ext cx="3384330" cy="3940844"/>
          </a:xfrm>
        </p:spPr>
        <p:txBody>
          <a:bodyPr>
            <a:normAutofit/>
          </a:bodyPr>
          <a:lstStyle/>
          <a:p>
            <a:r>
              <a:rPr lang="en-US" sz="2400" dirty="0"/>
              <a:t>Trains a model to learn intrinsic patterns, potential groupings, and correlations </a:t>
            </a:r>
          </a:p>
          <a:p>
            <a:r>
              <a:rPr lang="en-US" sz="2400" dirty="0"/>
              <a:t>Doesn't require labels for training </a:t>
            </a:r>
          </a:p>
        </p:txBody>
      </p:sp>
      <p:pic>
        <p:nvPicPr>
          <p:cNvPr id="5" name="Picture 4">
            <a:extLst>
              <a:ext uri="{FF2B5EF4-FFF2-40B4-BE49-F238E27FC236}">
                <a16:creationId xmlns:a16="http://schemas.microsoft.com/office/drawing/2014/main" id="{31CD6548-67EB-5B20-542E-4D19117BD6DE}"/>
              </a:ext>
            </a:extLst>
          </p:cNvPr>
          <p:cNvPicPr>
            <a:picLocks noChangeAspect="1"/>
          </p:cNvPicPr>
          <p:nvPr/>
        </p:nvPicPr>
        <p:blipFill>
          <a:blip r:embed="rId2"/>
          <a:stretch>
            <a:fillRect/>
          </a:stretch>
        </p:blipFill>
        <p:spPr>
          <a:xfrm>
            <a:off x="5012947" y="2110669"/>
            <a:ext cx="6430880" cy="2636661"/>
          </a:xfrm>
          <a:prstGeom prst="rect">
            <a:avLst/>
          </a:prstGeom>
        </p:spPr>
      </p:pic>
    </p:spTree>
    <p:extLst>
      <p:ext uri="{BB962C8B-B14F-4D97-AF65-F5344CB8AC3E}">
        <p14:creationId xmlns:p14="http://schemas.microsoft.com/office/powerpoint/2010/main" val="1275804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0DBA-47CB-EB36-4BE7-78B402434D61}"/>
              </a:ext>
            </a:extLst>
          </p:cNvPr>
          <p:cNvSpPr>
            <a:spLocks noGrp="1"/>
          </p:cNvSpPr>
          <p:nvPr>
            <p:ph type="title"/>
          </p:nvPr>
        </p:nvSpPr>
        <p:spPr/>
        <p:txBody>
          <a:bodyPr/>
          <a:lstStyle/>
          <a:p>
            <a:r>
              <a:rPr lang="en-US" dirty="0"/>
              <a:t>Autoencoders</a:t>
            </a:r>
          </a:p>
        </p:txBody>
      </p:sp>
      <p:sp>
        <p:nvSpPr>
          <p:cNvPr id="3" name="Content Placeholder 2">
            <a:extLst>
              <a:ext uri="{FF2B5EF4-FFF2-40B4-BE49-F238E27FC236}">
                <a16:creationId xmlns:a16="http://schemas.microsoft.com/office/drawing/2014/main" id="{ED63B7C6-B9A4-DF11-D847-875193728A07}"/>
              </a:ext>
            </a:extLst>
          </p:cNvPr>
          <p:cNvSpPr>
            <a:spLocks noGrp="1"/>
          </p:cNvSpPr>
          <p:nvPr>
            <p:ph idx="1"/>
          </p:nvPr>
        </p:nvSpPr>
        <p:spPr>
          <a:xfrm>
            <a:off x="1251678" y="1472853"/>
            <a:ext cx="10178322" cy="3593591"/>
          </a:xfrm>
        </p:spPr>
        <p:txBody>
          <a:bodyPr/>
          <a:lstStyle/>
          <a:p>
            <a:r>
              <a:rPr lang="en-US" dirty="0"/>
              <a:t>A type of unsupervised/generative neural network designed to compress input data down to its essential features and then reconstruct the original input from the compressed representation </a:t>
            </a:r>
          </a:p>
        </p:txBody>
      </p:sp>
      <p:pic>
        <p:nvPicPr>
          <p:cNvPr id="7" name="Picture 6">
            <a:extLst>
              <a:ext uri="{FF2B5EF4-FFF2-40B4-BE49-F238E27FC236}">
                <a16:creationId xmlns:a16="http://schemas.microsoft.com/office/drawing/2014/main" id="{BA499D22-CCD5-E7FE-0AA5-4B432525009D}"/>
              </a:ext>
            </a:extLst>
          </p:cNvPr>
          <p:cNvPicPr>
            <a:picLocks noChangeAspect="1"/>
          </p:cNvPicPr>
          <p:nvPr/>
        </p:nvPicPr>
        <p:blipFill>
          <a:blip r:embed="rId3"/>
          <a:stretch>
            <a:fillRect/>
          </a:stretch>
        </p:blipFill>
        <p:spPr>
          <a:xfrm>
            <a:off x="2454639" y="2683634"/>
            <a:ext cx="7772400" cy="1172028"/>
          </a:xfrm>
          <a:prstGeom prst="rect">
            <a:avLst/>
          </a:prstGeom>
        </p:spPr>
      </p:pic>
      <p:sp>
        <p:nvSpPr>
          <p:cNvPr id="10" name="Content Placeholder 2">
            <a:extLst>
              <a:ext uri="{FF2B5EF4-FFF2-40B4-BE49-F238E27FC236}">
                <a16:creationId xmlns:a16="http://schemas.microsoft.com/office/drawing/2014/main" id="{85701295-EA39-633D-913D-3DDA1F88451C}"/>
              </a:ext>
            </a:extLst>
          </p:cNvPr>
          <p:cNvSpPr txBox="1">
            <a:spLocks/>
          </p:cNvSpPr>
          <p:nvPr/>
        </p:nvSpPr>
        <p:spPr>
          <a:xfrm>
            <a:off x="1251678" y="3855662"/>
            <a:ext cx="10178322" cy="187227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r>
              <a:rPr lang="en-US" dirty="0"/>
              <a:t>Made up of 3 essential components:</a:t>
            </a:r>
          </a:p>
          <a:p>
            <a:r>
              <a:rPr lang="en-US" dirty="0"/>
              <a:t>Encoder</a:t>
            </a:r>
          </a:p>
          <a:p>
            <a:r>
              <a:rPr lang="en-US" dirty="0"/>
              <a:t>Latent space or Bottle Neck</a:t>
            </a:r>
          </a:p>
          <a:p>
            <a:r>
              <a:rPr lang="en-US" dirty="0"/>
              <a:t>Decoder </a:t>
            </a:r>
          </a:p>
        </p:txBody>
      </p:sp>
      <p:sp>
        <p:nvSpPr>
          <p:cNvPr id="11" name="TextBox 10">
            <a:extLst>
              <a:ext uri="{FF2B5EF4-FFF2-40B4-BE49-F238E27FC236}">
                <a16:creationId xmlns:a16="http://schemas.microsoft.com/office/drawing/2014/main" id="{0E0307F1-DEFE-8AE7-20CE-769BBA5031A0}"/>
              </a:ext>
            </a:extLst>
          </p:cNvPr>
          <p:cNvSpPr txBox="1"/>
          <p:nvPr/>
        </p:nvSpPr>
        <p:spPr>
          <a:xfrm>
            <a:off x="1251678" y="5875561"/>
            <a:ext cx="10178322" cy="954107"/>
          </a:xfrm>
          <a:prstGeom prst="rect">
            <a:avLst/>
          </a:prstGeom>
          <a:noFill/>
        </p:spPr>
        <p:txBody>
          <a:bodyPr wrap="square" rtlCol="0">
            <a:spAutoFit/>
          </a:bodyPr>
          <a:lstStyle/>
          <a:p>
            <a:r>
              <a:rPr lang="en-US" sz="2000" dirty="0">
                <a:solidFill>
                  <a:schemeClr val="bg2">
                    <a:lumMod val="50000"/>
                  </a:schemeClr>
                </a:solidFill>
              </a:rPr>
              <a:t>Another Interpretation:</a:t>
            </a:r>
          </a:p>
          <a:p>
            <a:r>
              <a:rPr lang="en-US" dirty="0">
                <a:solidFill>
                  <a:schemeClr val="bg2">
                    <a:lumMod val="50000"/>
                  </a:schemeClr>
                </a:solidFill>
              </a:rPr>
              <a:t>autoencoders are trained to discover </a:t>
            </a:r>
            <a:r>
              <a:rPr lang="en-US" i="1" dirty="0">
                <a:solidFill>
                  <a:schemeClr val="bg2">
                    <a:lumMod val="50000"/>
                  </a:schemeClr>
                </a:solidFill>
              </a:rPr>
              <a:t>latent variables </a:t>
            </a:r>
            <a:r>
              <a:rPr lang="en-US" dirty="0">
                <a:solidFill>
                  <a:schemeClr val="bg2">
                    <a:lumMod val="50000"/>
                  </a:schemeClr>
                </a:solidFill>
              </a:rPr>
              <a:t>of the input data: hidden or random variables that, despite not being directly observable, fundamentally inform the way data is distributed.</a:t>
            </a:r>
          </a:p>
        </p:txBody>
      </p:sp>
    </p:spTree>
    <p:extLst>
      <p:ext uri="{BB962C8B-B14F-4D97-AF65-F5344CB8AC3E}">
        <p14:creationId xmlns:p14="http://schemas.microsoft.com/office/powerpoint/2010/main" val="224687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3B3D315-2706-4149-873C-331EDFAFE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65F24-EFCD-1C8A-87F2-6C4DB0402F2A}"/>
              </a:ext>
            </a:extLst>
          </p:cNvPr>
          <p:cNvSpPr>
            <a:spLocks noGrp="1"/>
          </p:cNvSpPr>
          <p:nvPr>
            <p:ph type="title"/>
          </p:nvPr>
        </p:nvSpPr>
        <p:spPr>
          <a:xfrm>
            <a:off x="1251678" y="949642"/>
            <a:ext cx="4882422" cy="1492132"/>
          </a:xfrm>
        </p:spPr>
        <p:txBody>
          <a:bodyPr>
            <a:normAutofit/>
          </a:bodyPr>
          <a:lstStyle/>
          <a:p>
            <a:r>
              <a:rPr lang="en-US" dirty="0"/>
              <a:t>Encoder </a:t>
            </a:r>
          </a:p>
        </p:txBody>
      </p:sp>
      <p:sp>
        <p:nvSpPr>
          <p:cNvPr id="19" name="Rectangle 18">
            <a:extLst>
              <a:ext uri="{FF2B5EF4-FFF2-40B4-BE49-F238E27FC236}">
                <a16:creationId xmlns:a16="http://schemas.microsoft.com/office/drawing/2014/main" id="{8D04E398-086D-467C-B390-9F9079FA7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Content Placeholder 8">
            <a:extLst>
              <a:ext uri="{FF2B5EF4-FFF2-40B4-BE49-F238E27FC236}">
                <a16:creationId xmlns:a16="http://schemas.microsoft.com/office/drawing/2014/main" id="{9AE02735-14AE-0ACA-798B-75835D1D1B5A}"/>
              </a:ext>
            </a:extLst>
          </p:cNvPr>
          <p:cNvSpPr>
            <a:spLocks noGrp="1"/>
          </p:cNvSpPr>
          <p:nvPr>
            <p:ph idx="1"/>
          </p:nvPr>
        </p:nvSpPr>
        <p:spPr>
          <a:xfrm>
            <a:off x="1251678" y="1988820"/>
            <a:ext cx="4964065" cy="3890772"/>
          </a:xfrm>
        </p:spPr>
        <p:txBody>
          <a:bodyPr>
            <a:normAutofit/>
          </a:bodyPr>
          <a:lstStyle/>
          <a:p>
            <a:pPr marL="0" indent="0">
              <a:buNone/>
            </a:pPr>
            <a:endParaRPr lang="en-US" dirty="0">
              <a:solidFill>
                <a:schemeClr val="tx2"/>
              </a:solidFill>
            </a:endParaRPr>
          </a:p>
          <a:p>
            <a:r>
              <a:rPr lang="en-US" dirty="0">
                <a:solidFill>
                  <a:schemeClr val="tx1">
                    <a:lumMod val="85000"/>
                    <a:lumOff val="15000"/>
                  </a:schemeClr>
                </a:solidFill>
              </a:rPr>
              <a:t>Receives the raw input data which can be image, text, or any other structured data</a:t>
            </a:r>
            <a:endParaRPr lang="en-US" dirty="0">
              <a:solidFill>
                <a:schemeClr val="tx2"/>
              </a:solidFill>
            </a:endParaRPr>
          </a:p>
          <a:p>
            <a:r>
              <a:rPr lang="en-US" dirty="0">
                <a:solidFill>
                  <a:schemeClr val="tx2"/>
                </a:solidFill>
              </a:rPr>
              <a:t>The encoder compresses the input data into smaller form through series of transformations</a:t>
            </a:r>
          </a:p>
          <a:p>
            <a:r>
              <a:rPr lang="en-US" dirty="0">
                <a:solidFill>
                  <a:schemeClr val="tx1">
                    <a:lumMod val="85000"/>
                    <a:lumOff val="15000"/>
                  </a:schemeClr>
                </a:solidFill>
              </a:rPr>
              <a:t>These transformations are called hidden layers, each with their own weights and activations to capture important patterns </a:t>
            </a:r>
            <a:endParaRPr lang="en-US" dirty="0"/>
          </a:p>
        </p:txBody>
      </p:sp>
      <p:sp>
        <p:nvSpPr>
          <p:cNvPr id="21" name="Freeform 6">
            <a:extLst>
              <a:ext uri="{FF2B5EF4-FFF2-40B4-BE49-F238E27FC236}">
                <a16:creationId xmlns:a16="http://schemas.microsoft.com/office/drawing/2014/main" id="{20E344BB-E23E-4198-B2C7-8E752C6A9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90140" y="61344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pic>
        <p:nvPicPr>
          <p:cNvPr id="5" name="Content Placeholder 4">
            <a:extLst>
              <a:ext uri="{FF2B5EF4-FFF2-40B4-BE49-F238E27FC236}">
                <a16:creationId xmlns:a16="http://schemas.microsoft.com/office/drawing/2014/main" id="{583045ED-EA1F-9DB6-4D45-07EC5F47534A}"/>
              </a:ext>
            </a:extLst>
          </p:cNvPr>
          <p:cNvPicPr>
            <a:picLocks noChangeAspect="1"/>
          </p:cNvPicPr>
          <p:nvPr/>
        </p:nvPicPr>
        <p:blipFill>
          <a:blip r:embed="rId2"/>
          <a:srcRect b="14225"/>
          <a:stretch>
            <a:fillRect/>
          </a:stretch>
        </p:blipFill>
        <p:spPr>
          <a:xfrm>
            <a:off x="6863416" y="2327474"/>
            <a:ext cx="4289021" cy="1738275"/>
          </a:xfrm>
          <a:prstGeom prst="rect">
            <a:avLst/>
          </a:prstGeom>
        </p:spPr>
      </p:pic>
    </p:spTree>
    <p:extLst>
      <p:ext uri="{BB962C8B-B14F-4D97-AF65-F5344CB8AC3E}">
        <p14:creationId xmlns:p14="http://schemas.microsoft.com/office/powerpoint/2010/main" val="3838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F634CAD-A0AE-724D-C10F-33403994B2BB}"/>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93B3D315-2706-4149-873C-331EDFAFE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A74EB-3718-682A-C02A-A90BAF676A59}"/>
              </a:ext>
            </a:extLst>
          </p:cNvPr>
          <p:cNvSpPr>
            <a:spLocks noGrp="1"/>
          </p:cNvSpPr>
          <p:nvPr>
            <p:ph type="title"/>
          </p:nvPr>
        </p:nvSpPr>
        <p:spPr>
          <a:xfrm>
            <a:off x="1251678" y="949642"/>
            <a:ext cx="4882422" cy="1492132"/>
          </a:xfrm>
        </p:spPr>
        <p:txBody>
          <a:bodyPr>
            <a:normAutofit/>
          </a:bodyPr>
          <a:lstStyle/>
          <a:p>
            <a:r>
              <a:rPr lang="en-US" dirty="0"/>
              <a:t>Bottle neck</a:t>
            </a:r>
            <a:br>
              <a:rPr lang="en-US" dirty="0"/>
            </a:br>
            <a:r>
              <a:rPr lang="en-US" dirty="0"/>
              <a:t>(latent space) </a:t>
            </a:r>
          </a:p>
        </p:txBody>
      </p:sp>
      <p:sp>
        <p:nvSpPr>
          <p:cNvPr id="28" name="Rectangle 27">
            <a:extLst>
              <a:ext uri="{FF2B5EF4-FFF2-40B4-BE49-F238E27FC236}">
                <a16:creationId xmlns:a16="http://schemas.microsoft.com/office/drawing/2014/main" id="{8D04E398-086D-467C-B390-9F9079FA7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Content Placeholder 8">
            <a:extLst>
              <a:ext uri="{FF2B5EF4-FFF2-40B4-BE49-F238E27FC236}">
                <a16:creationId xmlns:a16="http://schemas.microsoft.com/office/drawing/2014/main" id="{430499F2-5DCC-C421-EE24-13EC6D97A2F8}"/>
              </a:ext>
            </a:extLst>
          </p:cNvPr>
          <p:cNvSpPr>
            <a:spLocks noGrp="1"/>
          </p:cNvSpPr>
          <p:nvPr>
            <p:ph idx="1"/>
          </p:nvPr>
        </p:nvSpPr>
        <p:spPr>
          <a:xfrm>
            <a:off x="1251678" y="2667000"/>
            <a:ext cx="4964065" cy="3212592"/>
          </a:xfrm>
        </p:spPr>
        <p:txBody>
          <a:bodyPr>
            <a:normAutofit/>
          </a:bodyPr>
          <a:lstStyle/>
          <a:p>
            <a:pPr>
              <a:lnSpc>
                <a:spcPct val="100000"/>
              </a:lnSpc>
            </a:pPr>
            <a:r>
              <a:rPr lang="en-US" dirty="0">
                <a:solidFill>
                  <a:schemeClr val="tx2"/>
                </a:solidFill>
              </a:rPr>
              <a:t>The bottleneck is the smallest layer in the network that holds a compressed representation of the input data</a:t>
            </a:r>
          </a:p>
          <a:p>
            <a:pPr>
              <a:lnSpc>
                <a:spcPct val="100000"/>
              </a:lnSpc>
            </a:pPr>
            <a:r>
              <a:rPr lang="en-US" dirty="0">
                <a:solidFill>
                  <a:schemeClr val="tx2"/>
                </a:solidFill>
              </a:rPr>
              <a:t>forces model to only keep the most important features</a:t>
            </a:r>
          </a:p>
          <a:p>
            <a:pPr>
              <a:lnSpc>
                <a:spcPct val="100000"/>
              </a:lnSpc>
            </a:pPr>
            <a:r>
              <a:rPr lang="en-US" dirty="0">
                <a:solidFill>
                  <a:schemeClr val="tx2"/>
                </a:solidFill>
              </a:rPr>
              <a:t>Also referred to as the latent space</a:t>
            </a:r>
          </a:p>
        </p:txBody>
      </p:sp>
      <p:sp>
        <p:nvSpPr>
          <p:cNvPr id="30" name="Freeform 6">
            <a:extLst>
              <a:ext uri="{FF2B5EF4-FFF2-40B4-BE49-F238E27FC236}">
                <a16:creationId xmlns:a16="http://schemas.microsoft.com/office/drawing/2014/main" id="{20E344BB-E23E-4198-B2C7-8E752C6A9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90140" y="61344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pic>
        <p:nvPicPr>
          <p:cNvPr id="3" name="Picture 2" descr="Understanding Bottlenecks: Classifying Obstacles | IncrementOne">
            <a:extLst>
              <a:ext uri="{FF2B5EF4-FFF2-40B4-BE49-F238E27FC236}">
                <a16:creationId xmlns:a16="http://schemas.microsoft.com/office/drawing/2014/main" id="{A27B7493-8F08-03C4-B9D9-3BD89115EF20}"/>
              </a:ext>
            </a:extLst>
          </p:cNvPr>
          <p:cNvPicPr>
            <a:picLocks noChangeAspect="1"/>
          </p:cNvPicPr>
          <p:nvPr/>
        </p:nvPicPr>
        <p:blipFill>
          <a:blip r:embed="rId2"/>
          <a:stretch>
            <a:fillRect/>
          </a:stretch>
        </p:blipFill>
        <p:spPr>
          <a:xfrm>
            <a:off x="7183957" y="2441774"/>
            <a:ext cx="3838008" cy="1621558"/>
          </a:xfrm>
          <a:prstGeom prst="rect">
            <a:avLst/>
          </a:prstGeom>
        </p:spPr>
      </p:pic>
    </p:spTree>
    <p:extLst>
      <p:ext uri="{BB962C8B-B14F-4D97-AF65-F5344CB8AC3E}">
        <p14:creationId xmlns:p14="http://schemas.microsoft.com/office/powerpoint/2010/main" val="3087007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B22C9D7-6024-FF0E-5926-2ACEA7141AA1}"/>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FC79343E-A29B-5767-836D-143AE2894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78FED3-803D-6CD0-0445-9AD180475135}"/>
              </a:ext>
            </a:extLst>
          </p:cNvPr>
          <p:cNvSpPr>
            <a:spLocks noGrp="1"/>
          </p:cNvSpPr>
          <p:nvPr>
            <p:ph type="title"/>
          </p:nvPr>
        </p:nvSpPr>
        <p:spPr>
          <a:xfrm>
            <a:off x="1251678" y="949642"/>
            <a:ext cx="4882422" cy="1492132"/>
          </a:xfrm>
        </p:spPr>
        <p:txBody>
          <a:bodyPr>
            <a:normAutofit/>
          </a:bodyPr>
          <a:lstStyle/>
          <a:p>
            <a:r>
              <a:rPr lang="en-US" dirty="0"/>
              <a:t>Decoder </a:t>
            </a:r>
          </a:p>
        </p:txBody>
      </p:sp>
      <p:sp>
        <p:nvSpPr>
          <p:cNvPr id="28" name="Rectangle 27">
            <a:extLst>
              <a:ext uri="{FF2B5EF4-FFF2-40B4-BE49-F238E27FC236}">
                <a16:creationId xmlns:a16="http://schemas.microsoft.com/office/drawing/2014/main" id="{599194E4-4643-2410-7A7E-1D5E24942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Content Placeholder 8">
            <a:extLst>
              <a:ext uri="{FF2B5EF4-FFF2-40B4-BE49-F238E27FC236}">
                <a16:creationId xmlns:a16="http://schemas.microsoft.com/office/drawing/2014/main" id="{48393077-88F6-AF0D-D53C-4F6C9F7A0520}"/>
              </a:ext>
            </a:extLst>
          </p:cNvPr>
          <p:cNvSpPr>
            <a:spLocks noGrp="1"/>
          </p:cNvSpPr>
          <p:nvPr>
            <p:ph idx="1"/>
          </p:nvPr>
        </p:nvSpPr>
        <p:spPr>
          <a:xfrm>
            <a:off x="1251678" y="1965960"/>
            <a:ext cx="4964065" cy="4480560"/>
          </a:xfrm>
        </p:spPr>
        <p:txBody>
          <a:bodyPr>
            <a:normAutofit/>
          </a:bodyPr>
          <a:lstStyle/>
          <a:p>
            <a:pPr>
              <a:lnSpc>
                <a:spcPct val="100000"/>
              </a:lnSpc>
            </a:pPr>
            <a:r>
              <a:rPr lang="en-US" dirty="0">
                <a:solidFill>
                  <a:schemeClr val="tx2"/>
                </a:solidFill>
              </a:rPr>
              <a:t>the decoder is responsible for taking the compressed representation from the latent space and reconstructing it back to the original data form </a:t>
            </a:r>
          </a:p>
          <a:p>
            <a:pPr>
              <a:lnSpc>
                <a:spcPct val="100000"/>
              </a:lnSpc>
            </a:pPr>
            <a:r>
              <a:rPr lang="en-US" dirty="0">
                <a:solidFill>
                  <a:schemeClr val="tx2"/>
                </a:solidFill>
              </a:rPr>
              <a:t>It has hidden layers that expand the latent vector back to a higher dimensional space through successive transformations </a:t>
            </a:r>
          </a:p>
          <a:p>
            <a:pPr>
              <a:lnSpc>
                <a:spcPct val="100000"/>
              </a:lnSpc>
            </a:pPr>
            <a:r>
              <a:rPr lang="en-US" dirty="0">
                <a:solidFill>
                  <a:schemeClr val="tx2"/>
                </a:solidFill>
              </a:rPr>
              <a:t>the quality of this reconstruction depends on how well the encoder-decoder pair can minimize the difference between input and output during training </a:t>
            </a:r>
          </a:p>
        </p:txBody>
      </p:sp>
      <p:sp>
        <p:nvSpPr>
          <p:cNvPr id="30" name="Freeform 6">
            <a:extLst>
              <a:ext uri="{FF2B5EF4-FFF2-40B4-BE49-F238E27FC236}">
                <a16:creationId xmlns:a16="http://schemas.microsoft.com/office/drawing/2014/main" id="{AD7D1672-CD0B-706E-3ADF-74A9EA248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90140" y="61344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pic>
        <p:nvPicPr>
          <p:cNvPr id="5" name="Picture 4">
            <a:extLst>
              <a:ext uri="{FF2B5EF4-FFF2-40B4-BE49-F238E27FC236}">
                <a16:creationId xmlns:a16="http://schemas.microsoft.com/office/drawing/2014/main" id="{96507258-E43A-C00D-EC62-C80B344BE8D0}"/>
              </a:ext>
            </a:extLst>
          </p:cNvPr>
          <p:cNvPicPr>
            <a:picLocks noChangeAspect="1"/>
          </p:cNvPicPr>
          <p:nvPr/>
        </p:nvPicPr>
        <p:blipFill>
          <a:blip r:embed="rId2"/>
          <a:stretch>
            <a:fillRect/>
          </a:stretch>
        </p:blipFill>
        <p:spPr>
          <a:xfrm>
            <a:off x="7282722" y="2327474"/>
            <a:ext cx="3657600" cy="1727200"/>
          </a:xfrm>
          <a:prstGeom prst="rect">
            <a:avLst/>
          </a:prstGeom>
        </p:spPr>
      </p:pic>
    </p:spTree>
    <p:extLst>
      <p:ext uri="{BB962C8B-B14F-4D97-AF65-F5344CB8AC3E}">
        <p14:creationId xmlns:p14="http://schemas.microsoft.com/office/powerpoint/2010/main" val="2925111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9ED42-F66D-98BC-13ED-3A1A16573787}"/>
              </a:ext>
            </a:extLst>
          </p:cNvPr>
          <p:cNvSpPr>
            <a:spLocks noGrp="1"/>
          </p:cNvSpPr>
          <p:nvPr>
            <p:ph type="title"/>
          </p:nvPr>
        </p:nvSpPr>
        <p:spPr/>
        <p:txBody>
          <a:bodyPr/>
          <a:lstStyle/>
          <a:p>
            <a:r>
              <a:rPr lang="en-US" dirty="0"/>
              <a:t>Math </a:t>
            </a:r>
          </a:p>
        </p:txBody>
      </p:sp>
      <p:pic>
        <p:nvPicPr>
          <p:cNvPr id="4" name="Content Placeholder 3">
            <a:extLst>
              <a:ext uri="{FF2B5EF4-FFF2-40B4-BE49-F238E27FC236}">
                <a16:creationId xmlns:a16="http://schemas.microsoft.com/office/drawing/2014/main" id="{DDC16C47-5CC6-9649-B116-0A3C2EC062A7}"/>
              </a:ext>
            </a:extLst>
          </p:cNvPr>
          <p:cNvPicPr>
            <a:picLocks noGrp="1" noChangeAspect="1"/>
          </p:cNvPicPr>
          <p:nvPr>
            <p:ph idx="1"/>
          </p:nvPr>
        </p:nvPicPr>
        <p:blipFill>
          <a:blip r:embed="rId3"/>
          <a:srcRect t="5374"/>
          <a:stretch>
            <a:fillRect/>
          </a:stretch>
        </p:blipFill>
        <p:spPr>
          <a:xfrm>
            <a:off x="1058376" y="1517009"/>
            <a:ext cx="7013070" cy="3823982"/>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FC5B0F2-AF0C-1EAD-550B-BDEDB32C15D4}"/>
                  </a:ext>
                </a:extLst>
              </p:cNvPr>
              <p:cNvSpPr txBox="1"/>
              <p:nvPr/>
            </p:nvSpPr>
            <p:spPr>
              <a:xfrm>
                <a:off x="1058376" y="6238861"/>
                <a:ext cx="1259522" cy="844783"/>
              </a:xfrm>
              <a:prstGeom prst="rect">
                <a:avLst/>
              </a:prstGeom>
              <a:noFill/>
            </p:spPr>
            <p:txBody>
              <a:bodyPr wrap="square">
                <a:spAutoFit/>
              </a:bodyPr>
              <a:lstStyle/>
              <a:p>
                <a:pPr>
                  <a:lnSpc>
                    <a:spcPct val="115000"/>
                  </a:lnSpc>
                  <a:spcAft>
                    <a:spcPts val="800"/>
                  </a:spcAft>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𝑧</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𝜙</m:t>
                          </m:r>
                        </m:sub>
                      </m:sSub>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m:oMathPara>
                </a14:m>
                <a:endParaRPr lang="en-US" b="0" kern="100" dirty="0">
                  <a:ea typeface="Aptos" panose="020B0004020202020204" pitchFamily="34" charset="0"/>
                  <a:cs typeface="Times New Roman" panose="02020603050405020304" pitchFamily="18" charset="0"/>
                </a:endParaRPr>
              </a:p>
              <a:p>
                <a:pPr>
                  <a:lnSpc>
                    <a:spcPct val="115000"/>
                  </a:lnSpc>
                  <a:spcAft>
                    <a:spcPts val="800"/>
                  </a:spcAft>
                </a:pPr>
                <a:endParaRPr lang="en-US" kern="100" dirty="0">
                  <a:latin typeface="Aptos" panose="020B0004020202020204" pitchFamily="34" charset="0"/>
                  <a:ea typeface="Aptos" panose="020B0004020202020204" pitchFamily="34" charset="0"/>
                  <a:cs typeface="Times New Roman" panose="02020603050405020304" pitchFamily="18" charset="0"/>
                </a:endParaRPr>
              </a:p>
            </p:txBody>
          </p:sp>
        </mc:Choice>
        <mc:Fallback>
          <p:sp>
            <p:nvSpPr>
              <p:cNvPr id="6" name="TextBox 5">
                <a:extLst>
                  <a:ext uri="{FF2B5EF4-FFF2-40B4-BE49-F238E27FC236}">
                    <a16:creationId xmlns:a16="http://schemas.microsoft.com/office/drawing/2014/main" id="{8FC5B0F2-AF0C-1EAD-550B-BDEDB32C15D4}"/>
                  </a:ext>
                </a:extLst>
              </p:cNvPr>
              <p:cNvSpPr txBox="1">
                <a:spLocks noRot="1" noChangeAspect="1" noMove="1" noResize="1" noEditPoints="1" noAdjustHandles="1" noChangeArrowheads="1" noChangeShapeType="1" noTextEdit="1"/>
              </p:cNvSpPr>
              <p:nvPr/>
            </p:nvSpPr>
            <p:spPr>
              <a:xfrm>
                <a:off x="1058376" y="6238861"/>
                <a:ext cx="1259522" cy="84478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E82FCF8-209B-2850-9EF0-17CBA5E7FDCF}"/>
                  </a:ext>
                </a:extLst>
              </p:cNvPr>
              <p:cNvSpPr txBox="1"/>
              <p:nvPr/>
            </p:nvSpPr>
            <p:spPr>
              <a:xfrm>
                <a:off x="4110186" y="6135967"/>
                <a:ext cx="6103620" cy="4621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Upp>
                        <m:limUppPr>
                          <m:ctrlPr>
                            <a:rPr lang="en-US" i="1" smtClean="0">
                              <a:latin typeface="Cambria Math" panose="02040503050406030204" pitchFamily="18" charset="0"/>
                            </a:rPr>
                          </m:ctrlPr>
                        </m:limUppPr>
                        <m:e>
                          <m:r>
                            <a:rPr lang="en-US" i="1">
                              <a:latin typeface="Cambria Math" panose="02040503050406030204" pitchFamily="18" charset="0"/>
                            </a:rPr>
                            <m:t>𝑥</m:t>
                          </m:r>
                        </m:e>
                        <m:lim>
                          <m:r>
                            <a:rPr lang="en-US" i="0">
                              <a:latin typeface="Cambria Math" panose="02040503050406030204" pitchFamily="18" charset="0"/>
                            </a:rPr>
                            <m:t>ˆ</m:t>
                          </m:r>
                        </m:lim>
                      </m:limUp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𝑧</m:t>
                          </m:r>
                        </m:e>
                      </m:d>
                    </m:oMath>
                  </m:oMathPara>
                </a14:m>
                <a:endParaRPr lang="en-US" dirty="0"/>
              </a:p>
            </p:txBody>
          </p:sp>
        </mc:Choice>
        <mc:Fallback>
          <p:sp>
            <p:nvSpPr>
              <p:cNvPr id="10" name="TextBox 9">
                <a:extLst>
                  <a:ext uri="{FF2B5EF4-FFF2-40B4-BE49-F238E27FC236}">
                    <a16:creationId xmlns:a16="http://schemas.microsoft.com/office/drawing/2014/main" id="{1E82FCF8-209B-2850-9EF0-17CBA5E7FDCF}"/>
                  </a:ext>
                </a:extLst>
              </p:cNvPr>
              <p:cNvSpPr txBox="1">
                <a:spLocks noRot="1" noChangeAspect="1" noMove="1" noResize="1" noEditPoints="1" noAdjustHandles="1" noChangeArrowheads="1" noChangeShapeType="1" noTextEdit="1"/>
              </p:cNvSpPr>
              <p:nvPr/>
            </p:nvSpPr>
            <p:spPr>
              <a:xfrm>
                <a:off x="4110186" y="6135967"/>
                <a:ext cx="6103620" cy="462114"/>
              </a:xfrm>
              <a:prstGeom prst="rect">
                <a:avLst/>
              </a:prstGeom>
              <a:blipFill>
                <a:blip r:embed="rId5"/>
                <a:stretch>
                  <a:fillRect b="-27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34E7A1D-AD08-FCDC-4CAF-9A0CDD55CDA9}"/>
                  </a:ext>
                </a:extLst>
              </p:cNvPr>
              <p:cNvSpPr txBox="1"/>
              <p:nvPr/>
            </p:nvSpPr>
            <p:spPr>
              <a:xfrm>
                <a:off x="1513101" y="5419354"/>
                <a:ext cx="6103620" cy="410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h</m:t>
                          </m:r>
                        </m:e>
                        <m:sup>
                          <m:d>
                            <m:dPr>
                              <m:ctrlPr>
                                <a:rPr lang="en-US" i="1">
                                  <a:latin typeface="Cambria Math" panose="02040503050406030204" pitchFamily="18" charset="0"/>
                                </a:rPr>
                              </m:ctrlPr>
                            </m:dPr>
                            <m:e>
                              <m:r>
                                <a:rPr lang="en-US" i="1">
                                  <a:latin typeface="Cambria Math" panose="02040503050406030204" pitchFamily="18" charset="0"/>
                                </a:rPr>
                                <m:t>𝑙</m:t>
                              </m:r>
                            </m:e>
                          </m:d>
                        </m:sup>
                      </m:sSup>
                      <m:r>
                        <a:rPr lang="en-US" i="0">
                          <a:latin typeface="Cambria Math" panose="02040503050406030204" pitchFamily="18" charset="0"/>
                        </a:rPr>
                        <m:t>=</m:t>
                      </m:r>
                      <m:r>
                        <a:rPr lang="en-US" i="1">
                          <a:latin typeface="Cambria Math" panose="02040503050406030204" pitchFamily="18" charset="0"/>
                        </a:rPr>
                        <m:t>𝜎</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𝑊</m:t>
                              </m:r>
                            </m:e>
                            <m:sup>
                              <m:d>
                                <m:dPr>
                                  <m:ctrlPr>
                                    <a:rPr lang="en-US" i="1">
                                      <a:latin typeface="Cambria Math" panose="02040503050406030204" pitchFamily="18" charset="0"/>
                                    </a:rPr>
                                  </m:ctrlPr>
                                </m:dPr>
                                <m:e>
                                  <m:r>
                                    <a:rPr lang="en-US" i="1">
                                      <a:latin typeface="Cambria Math" panose="02040503050406030204" pitchFamily="18" charset="0"/>
                                    </a:rPr>
                                    <m:t>𝑙</m:t>
                                  </m:r>
                                </m:e>
                              </m:d>
                            </m:sup>
                          </m:sSup>
                          <m:sSup>
                            <m:sSupPr>
                              <m:ctrlPr>
                                <a:rPr lang="en-US" i="1">
                                  <a:latin typeface="Cambria Math" panose="02040503050406030204" pitchFamily="18" charset="0"/>
                                </a:rPr>
                              </m:ctrlPr>
                            </m:sSupPr>
                            <m:e>
                              <m:r>
                                <a:rPr lang="en-US" i="1">
                                  <a:latin typeface="Cambria Math" panose="02040503050406030204" pitchFamily="18" charset="0"/>
                                </a:rPr>
                                <m:t>h</m:t>
                              </m:r>
                            </m:e>
                            <m:sup>
                              <m:d>
                                <m:dPr>
                                  <m:ctrlPr>
                                    <a:rPr lang="en-US" i="1">
                                      <a:latin typeface="Cambria Math" panose="02040503050406030204" pitchFamily="18" charset="0"/>
                                    </a:rPr>
                                  </m:ctrlPr>
                                </m:dPr>
                                <m:e>
                                  <m:r>
                                    <a:rPr lang="en-US" i="1">
                                      <a:latin typeface="Cambria Math" panose="02040503050406030204" pitchFamily="18" charset="0"/>
                                    </a:rPr>
                                    <m:t>𝑙</m:t>
                                  </m:r>
                                  <m:r>
                                    <a:rPr lang="en-US" i="0">
                                      <a:latin typeface="Cambria Math" panose="02040503050406030204" pitchFamily="18" charset="0"/>
                                    </a:rPr>
                                    <m:t>−1</m:t>
                                  </m:r>
                                </m:e>
                              </m:d>
                            </m:sup>
                          </m:sSup>
                          <m:r>
                            <a:rPr lang="en-US" i="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𝑏</m:t>
                              </m:r>
                            </m:e>
                            <m:sup>
                              <m:d>
                                <m:dPr>
                                  <m:ctrlPr>
                                    <a:rPr lang="en-US" i="1">
                                      <a:latin typeface="Cambria Math" panose="02040503050406030204" pitchFamily="18" charset="0"/>
                                    </a:rPr>
                                  </m:ctrlPr>
                                </m:dPr>
                                <m:e>
                                  <m:r>
                                    <a:rPr lang="en-US" i="1">
                                      <a:latin typeface="Cambria Math" panose="02040503050406030204" pitchFamily="18" charset="0"/>
                                    </a:rPr>
                                    <m:t>𝑙</m:t>
                                  </m:r>
                                </m:e>
                              </m:d>
                            </m:sup>
                          </m:sSup>
                        </m:e>
                      </m:d>
                    </m:oMath>
                  </m:oMathPara>
                </a14:m>
                <a:endParaRPr lang="en-US" dirty="0"/>
              </a:p>
            </p:txBody>
          </p:sp>
        </mc:Choice>
        <mc:Fallback>
          <p:sp>
            <p:nvSpPr>
              <p:cNvPr id="12" name="TextBox 11">
                <a:extLst>
                  <a:ext uri="{FF2B5EF4-FFF2-40B4-BE49-F238E27FC236}">
                    <a16:creationId xmlns:a16="http://schemas.microsoft.com/office/drawing/2014/main" id="{034E7A1D-AD08-FCDC-4CAF-9A0CDD55CDA9}"/>
                  </a:ext>
                </a:extLst>
              </p:cNvPr>
              <p:cNvSpPr txBox="1">
                <a:spLocks noRot="1" noChangeAspect="1" noMove="1" noResize="1" noEditPoints="1" noAdjustHandles="1" noChangeArrowheads="1" noChangeShapeType="1" noTextEdit="1"/>
              </p:cNvSpPr>
              <p:nvPr/>
            </p:nvSpPr>
            <p:spPr>
              <a:xfrm>
                <a:off x="1513101" y="5419354"/>
                <a:ext cx="6103620" cy="410177"/>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5F9CC9DC-01F6-C89C-B9BA-FB21CBACB8B0}"/>
              </a:ext>
            </a:extLst>
          </p:cNvPr>
          <p:cNvSpPr txBox="1"/>
          <p:nvPr/>
        </p:nvSpPr>
        <p:spPr>
          <a:xfrm>
            <a:off x="6502313" y="5872938"/>
            <a:ext cx="1114408" cy="369332"/>
          </a:xfrm>
          <a:prstGeom prst="rect">
            <a:avLst/>
          </a:prstGeom>
          <a:noFill/>
        </p:spPr>
        <p:txBody>
          <a:bodyPr wrap="none" rtlCol="0">
            <a:spAutoFit/>
          </a:bodyPr>
          <a:lstStyle/>
          <a:p>
            <a:r>
              <a:rPr lang="en-US" b="1" dirty="0"/>
              <a:t>Decoder</a:t>
            </a:r>
          </a:p>
        </p:txBody>
      </p:sp>
      <p:sp>
        <p:nvSpPr>
          <p:cNvPr id="14" name="TextBox 13">
            <a:extLst>
              <a:ext uri="{FF2B5EF4-FFF2-40B4-BE49-F238E27FC236}">
                <a16:creationId xmlns:a16="http://schemas.microsoft.com/office/drawing/2014/main" id="{ECA62202-865C-6267-7198-F823A31AC296}"/>
              </a:ext>
            </a:extLst>
          </p:cNvPr>
          <p:cNvSpPr txBox="1"/>
          <p:nvPr/>
        </p:nvSpPr>
        <p:spPr>
          <a:xfrm>
            <a:off x="1073604" y="5872938"/>
            <a:ext cx="1083951" cy="369332"/>
          </a:xfrm>
          <a:prstGeom prst="rect">
            <a:avLst/>
          </a:prstGeom>
          <a:noFill/>
        </p:spPr>
        <p:txBody>
          <a:bodyPr wrap="none" rtlCol="0">
            <a:spAutoFit/>
          </a:bodyPr>
          <a:lstStyle/>
          <a:p>
            <a:r>
              <a:rPr lang="en-US" b="1" dirty="0"/>
              <a:t>Encoder</a:t>
            </a:r>
          </a:p>
        </p:txBody>
      </p:sp>
      <p:sp>
        <p:nvSpPr>
          <p:cNvPr id="15" name="TextBox 14">
            <a:extLst>
              <a:ext uri="{FF2B5EF4-FFF2-40B4-BE49-F238E27FC236}">
                <a16:creationId xmlns:a16="http://schemas.microsoft.com/office/drawing/2014/main" id="{760CE222-8455-3DEB-6BA4-78AADB0AB07F}"/>
              </a:ext>
            </a:extLst>
          </p:cNvPr>
          <p:cNvSpPr txBox="1"/>
          <p:nvPr/>
        </p:nvSpPr>
        <p:spPr>
          <a:xfrm>
            <a:off x="3687298" y="5723228"/>
            <a:ext cx="1724768" cy="369332"/>
          </a:xfrm>
          <a:prstGeom prst="rect">
            <a:avLst/>
          </a:prstGeom>
          <a:noFill/>
        </p:spPr>
        <p:txBody>
          <a:bodyPr wrap="none" rtlCol="0">
            <a:spAutoFit/>
          </a:bodyPr>
          <a:lstStyle/>
          <a:p>
            <a:r>
              <a:rPr lang="en-US" b="1" dirty="0"/>
              <a:t>Hidden Layers</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2D360E68-0CFC-17B3-ACD1-67FFEBD05114}"/>
                  </a:ext>
                </a:extLst>
              </p:cNvPr>
              <p:cNvSpPr txBox="1"/>
              <p:nvPr/>
            </p:nvSpPr>
            <p:spPr>
              <a:xfrm>
                <a:off x="8264749" y="1531088"/>
                <a:ext cx="3358554" cy="4826193"/>
              </a:xfrm>
              <a:prstGeom prst="rect">
                <a:avLst/>
              </a:prstGeom>
              <a:noFill/>
            </p:spPr>
            <p:txBody>
              <a:bodyPr wrap="square" rtlCol="0">
                <a:spAutoFit/>
              </a:bodyPr>
              <a:lstStyle/>
              <a:p>
                <a:r>
                  <a:rPr lang="en-US" dirty="0"/>
                  <a:t>The encoder function</a:t>
                </a:r>
              </a:p>
              <a:p>
                <a:pPr algn="ctr"/>
                <a:r>
                  <a:rPr lang="en-US" dirty="0"/>
                  <a:t> </a:t>
                </a:r>
                <a14:m>
                  <m:oMath xmlns:m="http://schemas.openxmlformats.org/officeDocument/2006/math">
                    <m:r>
                      <a:rPr lang="en-US" i="1"/>
                      <m:t>𝑧</m:t>
                    </m:r>
                    <m:r>
                      <a:rPr lang="en-US" i="1"/>
                      <m:t>=</m:t>
                    </m:r>
                    <m:sSub>
                      <m:sSubPr>
                        <m:ctrlPr>
                          <a:rPr lang="en-US" i="1"/>
                        </m:ctrlPr>
                      </m:sSubPr>
                      <m:e>
                        <m:r>
                          <a:rPr lang="en-US" i="1"/>
                          <m:t>𝐺</m:t>
                        </m:r>
                      </m:e>
                      <m:sub>
                        <m:r>
                          <a:rPr lang="en-US" i="1"/>
                          <m:t>𝜙</m:t>
                        </m:r>
                      </m:sub>
                    </m:sSub>
                    <m:r>
                      <a:rPr lang="en-US" i="1"/>
                      <m:t>(</m:t>
                    </m:r>
                    <m:r>
                      <a:rPr lang="en-US" i="1"/>
                      <m:t>𝑥</m:t>
                    </m:r>
                    <m:r>
                      <a:rPr lang="en-US" i="1"/>
                      <m:t>)</m:t>
                    </m:r>
                  </m:oMath>
                </a14:m>
                <a:endParaRPr lang="en-US" dirty="0"/>
              </a:p>
              <a:p>
                <a:r>
                  <a:rPr lang="en-US" dirty="0"/>
                  <a:t>is computed by passing the input through successive hidden layers</a:t>
                </a:r>
              </a:p>
              <a:p>
                <a:endParaRPr lang="en-US" dirty="0"/>
              </a:p>
              <a:p>
                <a:r>
                  <a:rPr lang="en-US" dirty="0"/>
                  <a:t>The decoder then reconstructs the input from </a:t>
                </a:r>
                <a14:m>
                  <m:oMath xmlns:m="http://schemas.openxmlformats.org/officeDocument/2006/math">
                    <m:r>
                      <a:rPr lang="en-US" i="1"/>
                      <m:t>𝑧</m:t>
                    </m:r>
                  </m:oMath>
                </a14:m>
                <a:r>
                  <a:rPr lang="en-US" dirty="0"/>
                  <a:t>:</a:t>
                </a:r>
              </a:p>
              <a:p>
                <a14:m>
                  <m:oMathPara xmlns:m="http://schemas.openxmlformats.org/officeDocument/2006/math">
                    <m:oMathParaPr>
                      <m:jc m:val="centerGroup"/>
                    </m:oMathParaPr>
                    <m:oMath xmlns:m="http://schemas.openxmlformats.org/officeDocument/2006/math">
                      <m:acc>
                        <m:accPr>
                          <m:chr m:val="ˆ"/>
                          <m:ctrlPr>
                            <a:rPr lang="en-US" i="1"/>
                          </m:ctrlPr>
                        </m:accPr>
                        <m:e>
                          <m:r>
                            <a:rPr lang="en-US" i="1"/>
                            <m:t>𝑥</m:t>
                          </m:r>
                        </m:e>
                      </m:acc>
                      <m:r>
                        <a:rPr lang="en-US" i="1"/>
                        <m:t>=</m:t>
                      </m:r>
                      <m:sSub>
                        <m:sSubPr>
                          <m:ctrlPr>
                            <a:rPr lang="en-US" i="1"/>
                          </m:ctrlPr>
                        </m:sSubPr>
                        <m:e>
                          <m:r>
                            <a:rPr lang="en-US" i="1"/>
                            <m:t>𝐹</m:t>
                          </m:r>
                        </m:e>
                        <m:sub>
                          <m:r>
                            <a:rPr lang="en-US" i="1"/>
                            <m:t>𝜃</m:t>
                          </m:r>
                        </m:sub>
                      </m:sSub>
                      <m:d>
                        <m:dPr>
                          <m:ctrlPr>
                            <a:rPr lang="en-US" i="1"/>
                          </m:ctrlPr>
                        </m:dPr>
                        <m:e>
                          <m:r>
                            <a:rPr lang="en-US" i="1"/>
                            <m:t>𝑧</m:t>
                          </m:r>
                        </m:e>
                      </m:d>
                    </m:oMath>
                  </m:oMathPara>
                </a14:m>
                <a:endParaRPr lang="en-US" dirty="0"/>
              </a:p>
              <a:p>
                <a:endParaRPr lang="en-US" dirty="0"/>
              </a:p>
              <a:p>
                <a:r>
                  <a:rPr lang="en-US" dirty="0"/>
                  <a:t>The decoder hidden layers do the exact same operation, just in reverse (expanding instead of compressing) </a:t>
                </a:r>
              </a:p>
              <a:p>
                <a14:m>
                  <m:oMath xmlns:m="http://schemas.openxmlformats.org/officeDocument/2006/math">
                    <m:r>
                      <a:rPr lang="en-US" b="0" i="1" smtClean="0">
                        <a:latin typeface="Cambria Math" panose="02040503050406030204" pitchFamily="18" charset="0"/>
                      </a:rPr>
                      <m:t> </m:t>
                    </m:r>
                    <m:r>
                      <a:rPr lang="en-US" i="1"/>
                      <m:t>𝜃</m:t>
                    </m:r>
                  </m:oMath>
                </a14:m>
                <a:r>
                  <a:rPr lang="en-US" dirty="0"/>
                  <a:t> refers to the decoder's weights and biases</a:t>
                </a:r>
              </a:p>
              <a:p>
                <a:r>
                  <a:rPr lang="en-US" dirty="0"/>
                  <a:t> </a:t>
                </a:r>
                <a14:m>
                  <m:oMath xmlns:m="http://schemas.openxmlformats.org/officeDocument/2006/math">
                    <m:r>
                      <a:rPr lang="en-US" i="1"/>
                      <m:t>𝜙</m:t>
                    </m:r>
                  </m:oMath>
                </a14:m>
                <a:r>
                  <a:rPr lang="en-US" dirty="0"/>
                  <a:t> refers to the encoder’s weights and biases</a:t>
                </a:r>
              </a:p>
            </p:txBody>
          </p:sp>
        </mc:Choice>
        <mc:Fallback>
          <p:sp>
            <p:nvSpPr>
              <p:cNvPr id="16" name="TextBox 15">
                <a:extLst>
                  <a:ext uri="{FF2B5EF4-FFF2-40B4-BE49-F238E27FC236}">
                    <a16:creationId xmlns:a16="http://schemas.microsoft.com/office/drawing/2014/main" id="{2D360E68-0CFC-17B3-ACD1-67FFEBD05114}"/>
                  </a:ext>
                </a:extLst>
              </p:cNvPr>
              <p:cNvSpPr txBox="1">
                <a:spLocks noRot="1" noChangeAspect="1" noMove="1" noResize="1" noEditPoints="1" noAdjustHandles="1" noChangeArrowheads="1" noChangeShapeType="1" noTextEdit="1"/>
              </p:cNvSpPr>
              <p:nvPr/>
            </p:nvSpPr>
            <p:spPr>
              <a:xfrm>
                <a:off x="8264749" y="1531088"/>
                <a:ext cx="3358554" cy="4826193"/>
              </a:xfrm>
              <a:prstGeom prst="rect">
                <a:avLst/>
              </a:prstGeom>
              <a:blipFill>
                <a:blip r:embed="rId7"/>
                <a:stretch>
                  <a:fillRect l="-1504" t="-525" r="-3008" b="-1050"/>
                </a:stretch>
              </a:blipFill>
            </p:spPr>
            <p:txBody>
              <a:bodyPr/>
              <a:lstStyle/>
              <a:p>
                <a:r>
                  <a:rPr lang="en-US">
                    <a:noFill/>
                  </a:rPr>
                  <a:t> </a:t>
                </a:r>
              </a:p>
            </p:txBody>
          </p:sp>
        </mc:Fallback>
      </mc:AlternateContent>
    </p:spTree>
    <p:extLst>
      <p:ext uri="{BB962C8B-B14F-4D97-AF65-F5344CB8AC3E}">
        <p14:creationId xmlns:p14="http://schemas.microsoft.com/office/powerpoint/2010/main" val="302529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2E22A-ADDE-1DF0-CB67-DFF90B233A18}"/>
              </a:ext>
            </a:extLst>
          </p:cNvPr>
          <p:cNvSpPr>
            <a:spLocks noGrp="1"/>
          </p:cNvSpPr>
          <p:nvPr>
            <p:ph type="title"/>
          </p:nvPr>
        </p:nvSpPr>
        <p:spPr/>
        <p:txBody>
          <a:bodyPr/>
          <a:lstStyle/>
          <a:p>
            <a:r>
              <a:rPr lang="en-US" dirty="0"/>
              <a:t>Math: Hidden Layer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6F04965-A94B-5D0A-807C-FFAADE69B3D9}"/>
                  </a:ext>
                </a:extLst>
              </p:cNvPr>
              <p:cNvSpPr>
                <a:spLocks noGrp="1"/>
              </p:cNvSpPr>
              <p:nvPr>
                <p:ph idx="1"/>
              </p:nvPr>
            </p:nvSpPr>
            <p:spPr>
              <a:xfrm>
                <a:off x="1251678" y="1320179"/>
                <a:ext cx="10178322" cy="754911"/>
              </a:xfrm>
            </p:spPr>
            <p:txBody>
              <a:bodyPr/>
              <a:lstStyle/>
              <a:p>
                <a:pPr marL="0" indent="0">
                  <a:buNone/>
                </a:pPr>
                <a14:m>
                  <m:oMathPara xmlns:m="http://schemas.openxmlformats.org/officeDocument/2006/math">
                    <m:oMathParaPr>
                      <m:jc m:val="centerGroup"/>
                    </m:oMathParaPr>
                    <m:oMath xmlns:m="http://schemas.openxmlformats.org/officeDocument/2006/math">
                      <m:sSup>
                        <m:sSupPr>
                          <m:ctrlPr>
                            <a:rPr lang="en-US" sz="2800" b="1" i="1">
                              <a:latin typeface="Cambria Math" panose="02040503050406030204" pitchFamily="18" charset="0"/>
                            </a:rPr>
                          </m:ctrlPr>
                        </m:sSupPr>
                        <m:e>
                          <m:r>
                            <a:rPr lang="en-US" sz="2800" b="1" i="1">
                              <a:latin typeface="Cambria Math" panose="02040503050406030204" pitchFamily="18" charset="0"/>
                            </a:rPr>
                            <m:t>𝒉</m:t>
                          </m:r>
                        </m:e>
                        <m:sup>
                          <m:d>
                            <m:dPr>
                              <m:ctrlPr>
                                <a:rPr lang="en-US" sz="2800" b="1" i="1">
                                  <a:latin typeface="Cambria Math" panose="02040503050406030204" pitchFamily="18" charset="0"/>
                                </a:rPr>
                              </m:ctrlPr>
                            </m:dPr>
                            <m:e>
                              <m:r>
                                <a:rPr lang="en-US" sz="2800" b="1" i="1">
                                  <a:latin typeface="Cambria Math" panose="02040503050406030204" pitchFamily="18" charset="0"/>
                                </a:rPr>
                                <m:t>𝒍</m:t>
                              </m:r>
                            </m:e>
                          </m:d>
                        </m:sup>
                      </m:sSup>
                      <m:r>
                        <a:rPr lang="en-US" sz="2800" b="1">
                          <a:latin typeface="Cambria Math" panose="02040503050406030204" pitchFamily="18" charset="0"/>
                        </a:rPr>
                        <m:t>=</m:t>
                      </m:r>
                      <m:r>
                        <a:rPr lang="en-US" sz="2800" b="1" i="1">
                          <a:latin typeface="Cambria Math" panose="02040503050406030204" pitchFamily="18" charset="0"/>
                        </a:rPr>
                        <m:t>𝝈</m:t>
                      </m:r>
                      <m:d>
                        <m:dPr>
                          <m:ctrlPr>
                            <a:rPr lang="en-US" sz="2800" b="1" i="1">
                              <a:latin typeface="Cambria Math" panose="02040503050406030204" pitchFamily="18" charset="0"/>
                            </a:rPr>
                          </m:ctrlPr>
                        </m:dPr>
                        <m:e>
                          <m:sSup>
                            <m:sSupPr>
                              <m:ctrlPr>
                                <a:rPr lang="en-US" sz="2800" b="1" i="1">
                                  <a:latin typeface="Cambria Math" panose="02040503050406030204" pitchFamily="18" charset="0"/>
                                </a:rPr>
                              </m:ctrlPr>
                            </m:sSupPr>
                            <m:e>
                              <m:r>
                                <a:rPr lang="en-US" sz="2800" b="1" i="1">
                                  <a:latin typeface="Cambria Math" panose="02040503050406030204" pitchFamily="18" charset="0"/>
                                </a:rPr>
                                <m:t>𝑾</m:t>
                              </m:r>
                            </m:e>
                            <m:sup>
                              <m:d>
                                <m:dPr>
                                  <m:ctrlPr>
                                    <a:rPr lang="en-US" sz="2800" b="1" i="1">
                                      <a:latin typeface="Cambria Math" panose="02040503050406030204" pitchFamily="18" charset="0"/>
                                    </a:rPr>
                                  </m:ctrlPr>
                                </m:dPr>
                                <m:e>
                                  <m:r>
                                    <a:rPr lang="en-US" sz="2800" b="1" i="1">
                                      <a:latin typeface="Cambria Math" panose="02040503050406030204" pitchFamily="18" charset="0"/>
                                    </a:rPr>
                                    <m:t>𝒍</m:t>
                                  </m:r>
                                </m:e>
                              </m:d>
                            </m:sup>
                          </m:sSup>
                          <m:sSup>
                            <m:sSupPr>
                              <m:ctrlPr>
                                <a:rPr lang="en-US" sz="2800" b="1" i="1">
                                  <a:latin typeface="Cambria Math" panose="02040503050406030204" pitchFamily="18" charset="0"/>
                                </a:rPr>
                              </m:ctrlPr>
                            </m:sSupPr>
                            <m:e>
                              <m:r>
                                <a:rPr lang="en-US" sz="2800" b="1" i="1">
                                  <a:latin typeface="Cambria Math" panose="02040503050406030204" pitchFamily="18" charset="0"/>
                                </a:rPr>
                                <m:t>𝒉</m:t>
                              </m:r>
                            </m:e>
                            <m:sup>
                              <m:d>
                                <m:dPr>
                                  <m:ctrlPr>
                                    <a:rPr lang="en-US" sz="2800" b="1" i="1">
                                      <a:latin typeface="Cambria Math" panose="02040503050406030204" pitchFamily="18" charset="0"/>
                                    </a:rPr>
                                  </m:ctrlPr>
                                </m:dPr>
                                <m:e>
                                  <m:r>
                                    <a:rPr lang="en-US" sz="2800" b="1" i="1">
                                      <a:latin typeface="Cambria Math" panose="02040503050406030204" pitchFamily="18" charset="0"/>
                                    </a:rPr>
                                    <m:t>𝒍</m:t>
                                  </m:r>
                                  <m:r>
                                    <a:rPr lang="en-US" sz="2800" b="1">
                                      <a:latin typeface="Cambria Math" panose="02040503050406030204" pitchFamily="18" charset="0"/>
                                    </a:rPr>
                                    <m:t>−</m:t>
                                  </m:r>
                                  <m:r>
                                    <a:rPr lang="en-US" sz="2800" b="1" i="1">
                                      <a:latin typeface="Cambria Math" panose="02040503050406030204" pitchFamily="18" charset="0"/>
                                    </a:rPr>
                                    <m:t>𝟏</m:t>
                                  </m:r>
                                </m:e>
                              </m:d>
                            </m:sup>
                          </m:sSup>
                          <m:r>
                            <a:rPr lang="en-US" sz="2800" b="1">
                              <a:latin typeface="Cambria Math" panose="02040503050406030204" pitchFamily="18" charset="0"/>
                            </a:rPr>
                            <m:t>+</m:t>
                          </m:r>
                          <m:sSup>
                            <m:sSupPr>
                              <m:ctrlPr>
                                <a:rPr lang="en-US" sz="2800" b="1" i="1">
                                  <a:latin typeface="Cambria Math" panose="02040503050406030204" pitchFamily="18" charset="0"/>
                                </a:rPr>
                              </m:ctrlPr>
                            </m:sSupPr>
                            <m:e>
                              <m:r>
                                <a:rPr lang="en-US" sz="2800" b="1" i="1">
                                  <a:latin typeface="Cambria Math" panose="02040503050406030204" pitchFamily="18" charset="0"/>
                                </a:rPr>
                                <m:t>𝒃</m:t>
                              </m:r>
                            </m:e>
                            <m:sup>
                              <m:d>
                                <m:dPr>
                                  <m:ctrlPr>
                                    <a:rPr lang="en-US" sz="2800" b="1" i="1">
                                      <a:latin typeface="Cambria Math" panose="02040503050406030204" pitchFamily="18" charset="0"/>
                                    </a:rPr>
                                  </m:ctrlPr>
                                </m:dPr>
                                <m:e>
                                  <m:r>
                                    <a:rPr lang="en-US" sz="2800" b="1" i="1">
                                      <a:latin typeface="Cambria Math" panose="02040503050406030204" pitchFamily="18" charset="0"/>
                                    </a:rPr>
                                    <m:t>𝒍</m:t>
                                  </m:r>
                                </m:e>
                              </m:d>
                            </m:sup>
                          </m:sSup>
                        </m:e>
                      </m:d>
                    </m:oMath>
                  </m:oMathPara>
                </a14:m>
                <a:endParaRPr lang="en-US" sz="2800" b="1" dirty="0"/>
              </a:p>
              <a:p>
                <a:endParaRPr lang="en-US" dirty="0"/>
              </a:p>
            </p:txBody>
          </p:sp>
        </mc:Choice>
        <mc:Fallback>
          <p:sp>
            <p:nvSpPr>
              <p:cNvPr id="3" name="Content Placeholder 2">
                <a:extLst>
                  <a:ext uri="{FF2B5EF4-FFF2-40B4-BE49-F238E27FC236}">
                    <a16:creationId xmlns:a16="http://schemas.microsoft.com/office/drawing/2014/main" id="{C6F04965-A94B-5D0A-807C-FFAADE69B3D9}"/>
                  </a:ext>
                </a:extLst>
              </p:cNvPr>
              <p:cNvSpPr>
                <a:spLocks noGrp="1" noRot="1" noChangeAspect="1" noMove="1" noResize="1" noEditPoints="1" noAdjustHandles="1" noChangeArrowheads="1" noChangeShapeType="1" noTextEdit="1"/>
              </p:cNvSpPr>
              <p:nvPr>
                <p:ph idx="1"/>
              </p:nvPr>
            </p:nvSpPr>
            <p:spPr>
              <a:xfrm>
                <a:off x="1251678" y="1320179"/>
                <a:ext cx="10178322" cy="754911"/>
              </a:xfr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A5CAED26-E6A5-DAA3-E99A-729D6F58C4D6}"/>
                  </a:ext>
                </a:extLst>
              </p:cNvPr>
              <p:cNvSpPr txBox="1">
                <a:spLocks/>
              </p:cNvSpPr>
              <p:nvPr/>
            </p:nvSpPr>
            <p:spPr>
              <a:xfrm>
                <a:off x="1251678" y="2281724"/>
                <a:ext cx="10178322" cy="4576276"/>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14:m>
                  <m:oMath xmlns:m="http://schemas.openxmlformats.org/officeDocument/2006/math">
                    <m:r>
                      <a:rPr lang="en-US" sz="1600" b="1" i="1" dirty="0" smtClean="0">
                        <a:latin typeface="Cambria Math" panose="02040503050406030204" pitchFamily="18" charset="0"/>
                      </a:rPr>
                      <m:t>𝒍</m:t>
                    </m:r>
                    <m:r>
                      <m:rPr>
                        <m:nor/>
                      </m:rPr>
                      <a:rPr lang="en-US" sz="1600"/>
                      <m:t> — </m:t>
                    </m:r>
                    <m:r>
                      <m:rPr>
                        <m:nor/>
                      </m:rPr>
                      <a:rPr lang="en-US" sz="1600"/>
                      <m:t>just</m:t>
                    </m:r>
                    <m:r>
                      <m:rPr>
                        <m:nor/>
                      </m:rPr>
                      <a:rPr lang="en-US" sz="1600"/>
                      <m:t> </m:t>
                    </m:r>
                    <m:r>
                      <m:rPr>
                        <m:nor/>
                      </m:rPr>
                      <a:rPr lang="en-US" sz="1600"/>
                      <m:t>the</m:t>
                    </m:r>
                    <m:r>
                      <m:rPr>
                        <m:nor/>
                      </m:rPr>
                      <a:rPr lang="en-US" sz="1600"/>
                      <m:t> </m:t>
                    </m:r>
                    <m:r>
                      <m:rPr>
                        <m:nor/>
                      </m:rPr>
                      <a:rPr lang="en-US" sz="1600"/>
                      <m:t>layer</m:t>
                    </m:r>
                    <m:r>
                      <m:rPr>
                        <m:nor/>
                      </m:rPr>
                      <a:rPr lang="en-US" sz="1600"/>
                      <m:t> </m:t>
                    </m:r>
                    <m:r>
                      <m:rPr>
                        <m:nor/>
                      </m:rPr>
                      <a:rPr lang="en-US" sz="1600"/>
                      <m:t>number</m:t>
                    </m:r>
                    <m:r>
                      <m:rPr>
                        <m:nor/>
                      </m:rPr>
                      <a:rPr lang="en-US" sz="1600"/>
                      <m:t>. </m:t>
                    </m:r>
                    <m:r>
                      <m:rPr>
                        <m:nor/>
                      </m:rPr>
                      <a:rPr lang="en-US" sz="1600"/>
                      <m:t>So</m:t>
                    </m:r>
                    <m:r>
                      <a:rPr lang="en-US" sz="1600" i="1">
                        <a:latin typeface="Cambria Math" panose="02040503050406030204" pitchFamily="18" charset="0"/>
                      </a:rPr>
                      <m:t> </m:t>
                    </m:r>
                    <m:r>
                      <a:rPr lang="en-US" sz="1600" i="1" dirty="0">
                        <a:latin typeface="Cambria Math" panose="02040503050406030204" pitchFamily="18" charset="0"/>
                      </a:rPr>
                      <m:t>𝑙</m:t>
                    </m:r>
                    <m:r>
                      <m:rPr>
                        <m:nor/>
                      </m:rPr>
                      <a:rPr lang="en-US" sz="1600"/>
                      <m:t>= 1</m:t>
                    </m:r>
                    <m:r>
                      <m:rPr>
                        <m:nor/>
                      </m:rPr>
                      <a:rPr lang="en-US" sz="1600"/>
                      <m:t> </m:t>
                    </m:r>
                    <m:r>
                      <m:rPr>
                        <m:nor/>
                      </m:rPr>
                      <a:rPr lang="en-US" sz="1600"/>
                      <m:t>is</m:t>
                    </m:r>
                    <m:r>
                      <m:rPr>
                        <m:nor/>
                      </m:rPr>
                      <a:rPr lang="en-US" sz="1600"/>
                      <m:t> </m:t>
                    </m:r>
                    <m:r>
                      <m:rPr>
                        <m:nor/>
                      </m:rPr>
                      <a:rPr lang="en-US" sz="1600"/>
                      <m:t>the</m:t>
                    </m:r>
                    <m:r>
                      <m:rPr>
                        <m:nor/>
                      </m:rPr>
                      <a:rPr lang="en-US" sz="1600"/>
                      <m:t> </m:t>
                    </m:r>
                    <m:r>
                      <m:rPr>
                        <m:nor/>
                      </m:rPr>
                      <a:rPr lang="en-US" sz="1600"/>
                      <m:t>first</m:t>
                    </m:r>
                    <m:r>
                      <m:rPr>
                        <m:nor/>
                      </m:rPr>
                      <a:rPr lang="en-US" sz="1600"/>
                      <m:t> </m:t>
                    </m:r>
                    <m:r>
                      <m:rPr>
                        <m:nor/>
                      </m:rPr>
                      <a:rPr lang="en-US" sz="1600"/>
                      <m:t>hidden</m:t>
                    </m:r>
                    <m:r>
                      <m:rPr>
                        <m:nor/>
                      </m:rPr>
                      <a:rPr lang="en-US" sz="1600"/>
                      <m:t> </m:t>
                    </m:r>
                    <m:r>
                      <m:rPr>
                        <m:nor/>
                      </m:rPr>
                      <a:rPr lang="en-US" sz="1600"/>
                      <m:t>layer</m:t>
                    </m:r>
                    <m:r>
                      <m:rPr>
                        <m:nor/>
                      </m:rPr>
                      <a:rPr lang="en-US" sz="1600"/>
                      <m:t>, </m:t>
                    </m:r>
                    <m:r>
                      <a:rPr lang="en-US" sz="1600" i="1" dirty="0">
                        <a:latin typeface="Cambria Math" panose="02040503050406030204" pitchFamily="18" charset="0"/>
                      </a:rPr>
                      <m:t>𝑙</m:t>
                    </m:r>
                    <m:r>
                      <m:rPr>
                        <m:nor/>
                      </m:rPr>
                      <a:rPr lang="en-US" sz="1600"/>
                      <m:t>=2 </m:t>
                    </m:r>
                    <m:r>
                      <m:rPr>
                        <m:nor/>
                      </m:rPr>
                      <a:rPr lang="en-US" sz="1600"/>
                      <m:t> </m:t>
                    </m:r>
                    <m:r>
                      <m:rPr>
                        <m:nor/>
                      </m:rPr>
                      <a:rPr lang="en-US" sz="1600"/>
                      <m:t>is</m:t>
                    </m:r>
                    <m:r>
                      <m:rPr>
                        <m:nor/>
                      </m:rPr>
                      <a:rPr lang="en-US" sz="1600"/>
                      <m:t> </m:t>
                    </m:r>
                    <m:r>
                      <m:rPr>
                        <m:nor/>
                      </m:rPr>
                      <a:rPr lang="en-US" sz="1600"/>
                      <m:t>the</m:t>
                    </m:r>
                    <m:r>
                      <m:rPr>
                        <m:nor/>
                      </m:rPr>
                      <a:rPr lang="en-US" sz="1600"/>
                      <m:t> </m:t>
                    </m:r>
                    <m:r>
                      <m:rPr>
                        <m:nor/>
                      </m:rPr>
                      <a:rPr lang="en-US" sz="1600"/>
                      <m:t>second</m:t>
                    </m:r>
                  </m:oMath>
                </a14:m>
                <a:endParaRPr lang="en-US" sz="1600" dirty="0"/>
              </a:p>
              <a:p>
                <a14:m>
                  <m:oMath xmlns:m="http://schemas.openxmlformats.org/officeDocument/2006/math">
                    <m:r>
                      <a:rPr lang="en-US" sz="1600" b="1" i="1">
                        <a:latin typeface="Cambria Math" panose="02040503050406030204" pitchFamily="18" charset="0"/>
                      </a:rPr>
                      <m:t>𝝈</m:t>
                    </m:r>
                    <m:r>
                      <m:rPr>
                        <m:nor/>
                      </m:rPr>
                      <a:rPr lang="en-US" sz="1600"/>
                      <m:t> — </m:t>
                    </m:r>
                    <m:r>
                      <m:rPr>
                        <m:nor/>
                      </m:rPr>
                      <a:rPr lang="en-US" sz="1600"/>
                      <m:t>the</m:t>
                    </m:r>
                    <m:r>
                      <m:rPr>
                        <m:nor/>
                      </m:rPr>
                      <a:rPr lang="en-US" sz="1600"/>
                      <m:t> </m:t>
                    </m:r>
                    <m:r>
                      <m:rPr>
                        <m:nor/>
                      </m:rPr>
                      <a:rPr lang="en-US" sz="1600"/>
                      <m:t>activation</m:t>
                    </m:r>
                    <m:r>
                      <m:rPr>
                        <m:nor/>
                      </m:rPr>
                      <a:rPr lang="en-US" sz="1600"/>
                      <m:t> </m:t>
                    </m:r>
                    <m:r>
                      <m:rPr>
                        <m:nor/>
                      </m:rPr>
                      <a:rPr lang="en-US" sz="1600"/>
                      <m:t>function</m:t>
                    </m:r>
                    <m:r>
                      <m:rPr>
                        <m:nor/>
                      </m:rPr>
                      <a:rPr lang="en-US" sz="1600"/>
                      <m:t>, </m:t>
                    </m:r>
                    <m:r>
                      <m:rPr>
                        <m:nor/>
                      </m:rPr>
                      <a:rPr lang="en-US" sz="1600"/>
                      <m:t>typically</m:t>
                    </m:r>
                    <m:r>
                      <m:rPr>
                        <m:nor/>
                      </m:rPr>
                      <a:rPr lang="en-US" sz="1600"/>
                      <m:t> </m:t>
                    </m:r>
                    <m:r>
                      <m:rPr>
                        <m:nor/>
                      </m:rPr>
                      <a:rPr lang="en-US" sz="1600"/>
                      <m:t>ReLU</m:t>
                    </m:r>
                    <m:r>
                      <m:rPr>
                        <m:nor/>
                      </m:rPr>
                      <a:rPr lang="en-US" sz="1600"/>
                      <m:t> </m:t>
                    </m:r>
                    <m:r>
                      <m:rPr>
                        <m:nor/>
                      </m:rPr>
                      <a:rPr lang="en-US" sz="1600"/>
                      <m:t>in</m:t>
                    </m:r>
                    <m:r>
                      <m:rPr>
                        <m:nor/>
                      </m:rPr>
                      <a:rPr lang="en-US" sz="1600"/>
                      <m:t> </m:t>
                    </m:r>
                    <m:r>
                      <m:rPr>
                        <m:nor/>
                      </m:rPr>
                      <a:rPr lang="en-US" sz="1600"/>
                      <m:t>the</m:t>
                    </m:r>
                    <m:r>
                      <m:rPr>
                        <m:nor/>
                      </m:rPr>
                      <a:rPr lang="en-US" sz="1600"/>
                      <m:t> </m:t>
                    </m:r>
                    <m:r>
                      <m:rPr>
                        <m:nor/>
                      </m:rPr>
                      <a:rPr lang="en-US" sz="1600"/>
                      <m:t>encoder</m:t>
                    </m:r>
                    <m:r>
                      <m:rPr>
                        <m:nor/>
                      </m:rPr>
                      <a:rPr lang="en-US" sz="1600"/>
                      <m:t>. </m:t>
                    </m:r>
                    <m:r>
                      <m:rPr>
                        <m:nor/>
                      </m:rPr>
                      <a:rPr lang="en-US" sz="1600"/>
                      <m:t>It</m:t>
                    </m:r>
                    <m:r>
                      <m:rPr>
                        <m:nor/>
                      </m:rPr>
                      <a:rPr lang="en-US" sz="1600"/>
                      <m:t> </m:t>
                    </m:r>
                    <m:r>
                      <m:rPr>
                        <m:nor/>
                      </m:rPr>
                      <a:rPr lang="en-US" sz="1600"/>
                      <m:t>introduces</m:t>
                    </m:r>
                    <m:r>
                      <m:rPr>
                        <m:nor/>
                      </m:rPr>
                      <a:rPr lang="en-US" sz="1600"/>
                      <m:t> </m:t>
                    </m:r>
                    <m:r>
                      <m:rPr>
                        <m:nor/>
                      </m:rPr>
                      <a:rPr lang="en-US" sz="1600"/>
                      <m:t>non</m:t>
                    </m:r>
                    <m:r>
                      <m:rPr>
                        <m:nor/>
                      </m:rPr>
                      <a:rPr lang="en-US" sz="1600"/>
                      <m:t>−</m:t>
                    </m:r>
                    <m:r>
                      <m:rPr>
                        <m:nor/>
                      </m:rPr>
                      <a:rPr lang="en-US" sz="1600"/>
                      <m:t>linearity</m:t>
                    </m:r>
                    <m:r>
                      <m:rPr>
                        <m:nor/>
                      </m:rPr>
                      <a:rPr lang="en-US" sz="1600"/>
                      <m:t>, </m:t>
                    </m:r>
                    <m:r>
                      <m:rPr>
                        <m:nor/>
                      </m:rPr>
                      <a:rPr lang="en-US" sz="1600"/>
                      <m:t>allowing</m:t>
                    </m:r>
                    <m:r>
                      <m:rPr>
                        <m:nor/>
                      </m:rPr>
                      <a:rPr lang="en-US" sz="1600"/>
                      <m:t> </m:t>
                    </m:r>
                    <m:r>
                      <m:rPr>
                        <m:nor/>
                      </m:rPr>
                      <a:rPr lang="en-US" sz="1600"/>
                      <m:t>the</m:t>
                    </m:r>
                    <m:r>
                      <m:rPr>
                        <m:nor/>
                      </m:rPr>
                      <a:rPr lang="en-US" sz="1600"/>
                      <m:t> </m:t>
                    </m:r>
                    <m:r>
                      <m:rPr>
                        <m:nor/>
                      </m:rPr>
                      <a:rPr lang="en-US" sz="1600"/>
                      <m:t>network</m:t>
                    </m:r>
                    <m:r>
                      <m:rPr>
                        <m:nor/>
                      </m:rPr>
                      <a:rPr lang="en-US" sz="1600"/>
                      <m:t> </m:t>
                    </m:r>
                    <m:r>
                      <m:rPr>
                        <m:nor/>
                      </m:rPr>
                      <a:rPr lang="en-US" sz="1600"/>
                      <m:t>to</m:t>
                    </m:r>
                    <m:r>
                      <m:rPr>
                        <m:nor/>
                      </m:rPr>
                      <a:rPr lang="en-US" sz="1600"/>
                      <m:t> </m:t>
                    </m:r>
                    <m:r>
                      <m:rPr>
                        <m:nor/>
                      </m:rPr>
                      <a:rPr lang="en-US" sz="1600"/>
                      <m:t>learn</m:t>
                    </m:r>
                    <m:r>
                      <m:rPr>
                        <m:nor/>
                      </m:rPr>
                      <a:rPr lang="en-US" sz="1600"/>
                      <m:t> </m:t>
                    </m:r>
                    <m:r>
                      <m:rPr>
                        <m:nor/>
                      </m:rPr>
                      <a:rPr lang="en-US" sz="1600"/>
                      <m:t>complex</m:t>
                    </m:r>
                    <m:r>
                      <m:rPr>
                        <m:nor/>
                      </m:rPr>
                      <a:rPr lang="en-US" sz="1600"/>
                      <m:t> </m:t>
                    </m:r>
                    <m:r>
                      <m:rPr>
                        <m:nor/>
                      </m:rPr>
                      <a:rPr lang="en-US" sz="1600"/>
                      <m:t>patterns</m:t>
                    </m:r>
                    <m:r>
                      <m:rPr>
                        <m:nor/>
                      </m:rPr>
                      <a:rPr lang="en-US" sz="1600"/>
                      <m:t> </m:t>
                    </m:r>
                    <m:r>
                      <m:rPr>
                        <m:nor/>
                      </m:rPr>
                      <a:rPr lang="en-US" sz="1600"/>
                      <m:t>beyond</m:t>
                    </m:r>
                    <m:r>
                      <m:rPr>
                        <m:nor/>
                      </m:rPr>
                      <a:rPr lang="en-US" sz="1600"/>
                      <m:t> </m:t>
                    </m:r>
                    <m:r>
                      <m:rPr>
                        <m:nor/>
                      </m:rPr>
                      <a:rPr lang="en-US" sz="1600"/>
                      <m:t>what</m:t>
                    </m:r>
                    <m:r>
                      <m:rPr>
                        <m:nor/>
                      </m:rPr>
                      <a:rPr lang="en-US" sz="1600"/>
                      <m:t> </m:t>
                    </m:r>
                    <m:r>
                      <m:rPr>
                        <m:nor/>
                      </m:rPr>
                      <a:rPr lang="en-US" sz="1600"/>
                      <m:t>a</m:t>
                    </m:r>
                    <m:r>
                      <m:rPr>
                        <m:nor/>
                      </m:rPr>
                      <a:rPr lang="en-US" sz="1600"/>
                      <m:t> </m:t>
                    </m:r>
                    <m:r>
                      <m:rPr>
                        <m:nor/>
                      </m:rPr>
                      <a:rPr lang="en-US" sz="1600"/>
                      <m:t>simple</m:t>
                    </m:r>
                    <m:r>
                      <m:rPr>
                        <m:nor/>
                      </m:rPr>
                      <a:rPr lang="en-US" sz="1600"/>
                      <m:t> </m:t>
                    </m:r>
                    <m:r>
                      <m:rPr>
                        <m:nor/>
                      </m:rPr>
                      <a:rPr lang="en-US" sz="1600"/>
                      <m:t>linear</m:t>
                    </m:r>
                    <m:r>
                      <m:rPr>
                        <m:nor/>
                      </m:rPr>
                      <a:rPr lang="en-US" sz="1600"/>
                      <m:t> </m:t>
                    </m:r>
                    <m:r>
                      <m:rPr>
                        <m:nor/>
                      </m:rPr>
                      <a:rPr lang="en-US" sz="1600"/>
                      <m:t>transformation</m:t>
                    </m:r>
                    <m:r>
                      <m:rPr>
                        <m:nor/>
                      </m:rPr>
                      <a:rPr lang="en-US" sz="1600"/>
                      <m:t> </m:t>
                    </m:r>
                  </m:oMath>
                </a14:m>
                <a:endParaRPr lang="en-US" sz="1600" b="1" dirty="0"/>
              </a:p>
              <a:p>
                <a14:m>
                  <m:oMath xmlns:m="http://schemas.openxmlformats.org/officeDocument/2006/math">
                    <m:sSup>
                      <m:sSupPr>
                        <m:ctrlPr>
                          <a:rPr lang="en-US" sz="1600" b="1" i="1">
                            <a:latin typeface="Cambria Math" panose="02040503050406030204" pitchFamily="18" charset="0"/>
                          </a:rPr>
                        </m:ctrlPr>
                      </m:sSupPr>
                      <m:e>
                        <m:r>
                          <a:rPr lang="en-US" sz="1600" b="1" i="1">
                            <a:latin typeface="Cambria Math" panose="02040503050406030204" pitchFamily="18" charset="0"/>
                          </a:rPr>
                          <m:t>𝑾</m:t>
                        </m:r>
                      </m:e>
                      <m:sup>
                        <m:d>
                          <m:dPr>
                            <m:ctrlPr>
                              <a:rPr lang="en-US" sz="1600" b="1" i="1">
                                <a:latin typeface="Cambria Math" panose="02040503050406030204" pitchFamily="18" charset="0"/>
                              </a:rPr>
                            </m:ctrlPr>
                          </m:dPr>
                          <m:e>
                            <m:r>
                              <a:rPr lang="en-US" sz="1600" b="1" i="1">
                                <a:latin typeface="Cambria Math" panose="02040503050406030204" pitchFamily="18" charset="0"/>
                              </a:rPr>
                              <m:t>𝒍</m:t>
                            </m:r>
                          </m:e>
                        </m:d>
                      </m:sup>
                    </m:sSup>
                    <m:r>
                      <m:rPr>
                        <m:nor/>
                      </m:rPr>
                      <a:rPr lang="en-US" sz="1600"/>
                      <m:t> — </m:t>
                    </m:r>
                    <m:r>
                      <m:rPr>
                        <m:nor/>
                      </m:rPr>
                      <a:rPr lang="en-US" sz="1600"/>
                      <m:t>the</m:t>
                    </m:r>
                    <m:r>
                      <m:rPr>
                        <m:nor/>
                      </m:rPr>
                      <a:rPr lang="en-US" sz="1600"/>
                      <m:t> </m:t>
                    </m:r>
                    <m:r>
                      <m:rPr>
                        <m:nor/>
                      </m:rPr>
                      <a:rPr lang="en-US" sz="1600"/>
                      <m:t>weight</m:t>
                    </m:r>
                    <m:r>
                      <m:rPr>
                        <m:nor/>
                      </m:rPr>
                      <a:rPr lang="en-US" sz="1600"/>
                      <m:t> </m:t>
                    </m:r>
                    <m:r>
                      <m:rPr>
                        <m:nor/>
                      </m:rPr>
                      <a:rPr lang="en-US" sz="1600"/>
                      <m:t>matrix</m:t>
                    </m:r>
                    <m:r>
                      <m:rPr>
                        <m:nor/>
                      </m:rPr>
                      <a:rPr lang="en-US" sz="1600"/>
                      <m:t> </m:t>
                    </m:r>
                    <m:r>
                      <m:rPr>
                        <m:nor/>
                      </m:rPr>
                      <a:rPr lang="en-US" sz="1600"/>
                      <m:t>for</m:t>
                    </m:r>
                    <m:r>
                      <m:rPr>
                        <m:nor/>
                      </m:rPr>
                      <a:rPr lang="en-US" sz="1600"/>
                      <m:t> </m:t>
                    </m:r>
                    <m:r>
                      <m:rPr>
                        <m:nor/>
                      </m:rPr>
                      <a:rPr lang="en-US" sz="1600"/>
                      <m:t>layer</m:t>
                    </m:r>
                    <m:r>
                      <m:rPr>
                        <m:nor/>
                      </m:rPr>
                      <a:rPr lang="en-US" sz="1600"/>
                      <m:t> </m:t>
                    </m:r>
                    <m:r>
                      <a:rPr lang="en-US" sz="1600" i="1" dirty="0">
                        <a:latin typeface="Cambria Math" panose="02040503050406030204" pitchFamily="18" charset="0"/>
                      </a:rPr>
                      <m:t>𝑙</m:t>
                    </m:r>
                    <m:r>
                      <m:rPr>
                        <m:nor/>
                      </m:rPr>
                      <a:rPr lang="en-US" sz="1600"/>
                      <m:t>. </m:t>
                    </m:r>
                    <m:r>
                      <m:rPr>
                        <m:nor/>
                      </m:rPr>
                      <a:rPr lang="en-US" sz="1600"/>
                      <m:t>These</m:t>
                    </m:r>
                    <m:r>
                      <m:rPr>
                        <m:nor/>
                      </m:rPr>
                      <a:rPr lang="en-US" sz="1600"/>
                      <m:t> </m:t>
                    </m:r>
                    <m:r>
                      <m:rPr>
                        <m:nor/>
                      </m:rPr>
                      <a:rPr lang="en-US" sz="1600"/>
                      <m:t>are</m:t>
                    </m:r>
                    <m:r>
                      <m:rPr>
                        <m:nor/>
                      </m:rPr>
                      <a:rPr lang="en-US" sz="1600"/>
                      <m:t> </m:t>
                    </m:r>
                    <m:r>
                      <m:rPr>
                        <m:nor/>
                      </m:rPr>
                      <a:rPr lang="en-US" sz="1600"/>
                      <m:t>the</m:t>
                    </m:r>
                    <m:r>
                      <m:rPr>
                        <m:nor/>
                      </m:rPr>
                      <a:rPr lang="en-US" sz="1600"/>
                      <m:t> </m:t>
                    </m:r>
                    <m:r>
                      <m:rPr>
                        <m:nor/>
                      </m:rPr>
                      <a:rPr lang="en-US" sz="1600" b="1"/>
                      <m:t>learned</m:t>
                    </m:r>
                    <m:r>
                      <m:rPr>
                        <m:nor/>
                      </m:rPr>
                      <a:rPr lang="en-US" sz="1600"/>
                      <m:t> </m:t>
                    </m:r>
                    <m:r>
                      <m:rPr>
                        <m:nor/>
                      </m:rPr>
                      <a:rPr lang="en-US" sz="1600"/>
                      <m:t>values</m:t>
                    </m:r>
                    <m:r>
                      <m:rPr>
                        <m:nor/>
                      </m:rPr>
                      <a:rPr lang="en-US" sz="1600"/>
                      <m:t> </m:t>
                    </m:r>
                    <m:r>
                      <m:rPr>
                        <m:nor/>
                      </m:rPr>
                      <a:rPr lang="en-US" sz="1600"/>
                      <m:t>that</m:t>
                    </m:r>
                    <m:r>
                      <m:rPr>
                        <m:nor/>
                      </m:rPr>
                      <a:rPr lang="en-US" sz="1600"/>
                      <m:t> </m:t>
                    </m:r>
                    <m:r>
                      <m:rPr>
                        <m:nor/>
                      </m:rPr>
                      <a:rPr lang="en-US" sz="1600"/>
                      <m:t>determine</m:t>
                    </m:r>
                    <m:r>
                      <m:rPr>
                        <m:nor/>
                      </m:rPr>
                      <a:rPr lang="en-US" sz="1600"/>
                      <m:t> </m:t>
                    </m:r>
                    <m:r>
                      <m:rPr>
                        <m:nor/>
                      </m:rPr>
                      <a:rPr lang="en-US" sz="1600"/>
                      <m:t>how</m:t>
                    </m:r>
                    <m:r>
                      <m:rPr>
                        <m:nor/>
                      </m:rPr>
                      <a:rPr lang="en-US" sz="1600"/>
                      <m:t> </m:t>
                    </m:r>
                    <m:r>
                      <m:rPr>
                        <m:nor/>
                      </m:rPr>
                      <a:rPr lang="en-US" sz="1600"/>
                      <m:t>much</m:t>
                    </m:r>
                    <m:r>
                      <m:rPr>
                        <m:nor/>
                      </m:rPr>
                      <a:rPr lang="en-US" sz="1600"/>
                      <m:t> </m:t>
                    </m:r>
                    <m:r>
                      <m:rPr>
                        <m:nor/>
                      </m:rPr>
                      <a:rPr lang="en-US" sz="1600"/>
                      <m:t>importance</m:t>
                    </m:r>
                    <m:r>
                      <m:rPr>
                        <m:nor/>
                      </m:rPr>
                      <a:rPr lang="en-US" sz="1600"/>
                      <m:t> </m:t>
                    </m:r>
                    <m:r>
                      <m:rPr>
                        <m:nor/>
                      </m:rPr>
                      <a:rPr lang="en-US" sz="1600"/>
                      <m:t>to</m:t>
                    </m:r>
                    <m:r>
                      <m:rPr>
                        <m:nor/>
                      </m:rPr>
                      <a:rPr lang="en-US" sz="1600"/>
                      <m:t> </m:t>
                    </m:r>
                    <m:r>
                      <m:rPr>
                        <m:nor/>
                      </m:rPr>
                      <a:rPr lang="en-US" sz="1600"/>
                      <m:t>give</m:t>
                    </m:r>
                    <m:r>
                      <m:rPr>
                        <m:nor/>
                      </m:rPr>
                      <a:rPr lang="en-US" sz="1600"/>
                      <m:t> </m:t>
                    </m:r>
                    <m:r>
                      <m:rPr>
                        <m:nor/>
                      </m:rPr>
                      <a:rPr lang="en-US" sz="1600"/>
                      <m:t>each</m:t>
                    </m:r>
                    <m:r>
                      <m:rPr>
                        <m:nor/>
                      </m:rPr>
                      <a:rPr lang="en-US" sz="1600"/>
                      <m:t> </m:t>
                    </m:r>
                    <m:r>
                      <m:rPr>
                        <m:nor/>
                      </m:rPr>
                      <a:rPr lang="en-US" sz="1600"/>
                      <m:t>input</m:t>
                    </m:r>
                    <m:r>
                      <m:rPr>
                        <m:nor/>
                      </m:rPr>
                      <a:rPr lang="en-US" sz="1600"/>
                      <m:t>. </m:t>
                    </m:r>
                  </m:oMath>
                </a14:m>
                <a:endParaRPr lang="en-US" sz="1600" b="1" dirty="0"/>
              </a:p>
              <a:p>
                <a14:m>
                  <m:oMath xmlns:m="http://schemas.openxmlformats.org/officeDocument/2006/math">
                    <m:sSup>
                      <m:sSupPr>
                        <m:ctrlPr>
                          <a:rPr lang="en-US" sz="1600" b="1" i="1">
                            <a:latin typeface="Cambria Math" panose="02040503050406030204" pitchFamily="18" charset="0"/>
                          </a:rPr>
                        </m:ctrlPr>
                      </m:sSupPr>
                      <m:e>
                        <m:r>
                          <a:rPr lang="en-US" sz="1600" b="1" i="1">
                            <a:latin typeface="Cambria Math" panose="02040503050406030204" pitchFamily="18" charset="0"/>
                          </a:rPr>
                          <m:t>𝒉</m:t>
                        </m:r>
                      </m:e>
                      <m:sup>
                        <m:d>
                          <m:dPr>
                            <m:ctrlPr>
                              <a:rPr lang="en-US" sz="1600" b="1" i="1">
                                <a:latin typeface="Cambria Math" panose="02040503050406030204" pitchFamily="18" charset="0"/>
                              </a:rPr>
                            </m:ctrlPr>
                          </m:dPr>
                          <m:e>
                            <m:r>
                              <a:rPr lang="en-US" sz="1600" b="1" i="1">
                                <a:latin typeface="Cambria Math" panose="02040503050406030204" pitchFamily="18" charset="0"/>
                              </a:rPr>
                              <m:t>𝒍</m:t>
                            </m:r>
                            <m:r>
                              <a:rPr lang="en-US" sz="1600" b="1">
                                <a:latin typeface="Cambria Math" panose="02040503050406030204" pitchFamily="18" charset="0"/>
                              </a:rPr>
                              <m:t>−</m:t>
                            </m:r>
                            <m:r>
                              <a:rPr lang="en-US" sz="1600" b="1" i="1">
                                <a:latin typeface="Cambria Math" panose="02040503050406030204" pitchFamily="18" charset="0"/>
                              </a:rPr>
                              <m:t>𝟏</m:t>
                            </m:r>
                          </m:e>
                        </m:d>
                      </m:sup>
                    </m:sSup>
                    <m:r>
                      <m:rPr>
                        <m:nor/>
                      </m:rPr>
                      <a:rPr lang="en-US" sz="1600"/>
                      <m:t> — </m:t>
                    </m:r>
                    <m:r>
                      <m:rPr>
                        <m:nor/>
                      </m:rPr>
                      <a:rPr lang="en-US" sz="1600"/>
                      <m:t>the</m:t>
                    </m:r>
                    <m:r>
                      <m:rPr>
                        <m:nor/>
                      </m:rPr>
                      <a:rPr lang="en-US" sz="1600"/>
                      <m:t> </m:t>
                    </m:r>
                    <m:r>
                      <m:rPr>
                        <m:nor/>
                      </m:rPr>
                      <a:rPr lang="en-US" sz="1600"/>
                      <m:t>output</m:t>
                    </m:r>
                    <m:r>
                      <m:rPr>
                        <m:nor/>
                      </m:rPr>
                      <a:rPr lang="en-US" sz="1600"/>
                      <m:t> </m:t>
                    </m:r>
                    <m:r>
                      <m:rPr>
                        <m:nor/>
                      </m:rPr>
                      <a:rPr lang="en-US" sz="1600"/>
                      <m:t>of</m:t>
                    </m:r>
                    <m:r>
                      <m:rPr>
                        <m:nor/>
                      </m:rPr>
                      <a:rPr lang="en-US" sz="1600"/>
                      <m:t> </m:t>
                    </m:r>
                    <m:r>
                      <m:rPr>
                        <m:nor/>
                      </m:rPr>
                      <a:rPr lang="en-US" sz="1600"/>
                      <m:t>the</m:t>
                    </m:r>
                    <m:r>
                      <m:rPr>
                        <m:nor/>
                      </m:rPr>
                      <a:rPr lang="en-US" sz="1600"/>
                      <m:t> </m:t>
                    </m:r>
                    <m:r>
                      <m:rPr>
                        <m:nor/>
                      </m:rPr>
                      <a:rPr lang="en-US" sz="1600"/>
                      <m:t>previous</m:t>
                    </m:r>
                    <m:r>
                      <m:rPr>
                        <m:nor/>
                      </m:rPr>
                      <a:rPr lang="en-US" sz="1600"/>
                      <m:t> </m:t>
                    </m:r>
                    <m:r>
                      <m:rPr>
                        <m:nor/>
                      </m:rPr>
                      <a:rPr lang="en-US" sz="1600"/>
                      <m:t>layer</m:t>
                    </m:r>
                    <m:r>
                      <m:rPr>
                        <m:nor/>
                      </m:rPr>
                      <a:rPr lang="en-US" sz="1600"/>
                      <m:t>. </m:t>
                    </m:r>
                    <m:r>
                      <m:rPr>
                        <m:nor/>
                      </m:rPr>
                      <a:rPr lang="en-US" sz="1600"/>
                      <m:t>This</m:t>
                    </m:r>
                    <m:r>
                      <m:rPr>
                        <m:nor/>
                      </m:rPr>
                      <a:rPr lang="en-US" sz="1600"/>
                      <m:t> </m:t>
                    </m:r>
                    <m:r>
                      <m:rPr>
                        <m:nor/>
                      </m:rPr>
                      <a:rPr lang="en-US" sz="1600"/>
                      <m:t>is</m:t>
                    </m:r>
                    <m:r>
                      <m:rPr>
                        <m:nor/>
                      </m:rPr>
                      <a:rPr lang="en-US" sz="1600"/>
                      <m:t> </m:t>
                    </m:r>
                    <m:r>
                      <m:rPr>
                        <m:nor/>
                      </m:rPr>
                      <a:rPr lang="en-US" sz="1600"/>
                      <m:t>the</m:t>
                    </m:r>
                    <m:r>
                      <m:rPr>
                        <m:nor/>
                      </m:rPr>
                      <a:rPr lang="en-US" sz="1600"/>
                      <m:t> </m:t>
                    </m:r>
                    <m:r>
                      <m:rPr>
                        <m:nor/>
                      </m:rPr>
                      <a:rPr lang="en-US" sz="1600"/>
                      <m:t>input</m:t>
                    </m:r>
                    <m:r>
                      <m:rPr>
                        <m:nor/>
                      </m:rPr>
                      <a:rPr lang="en-US" sz="1600"/>
                      <m:t> </m:t>
                    </m:r>
                    <m:r>
                      <m:rPr>
                        <m:nor/>
                      </m:rPr>
                      <a:rPr lang="en-US" sz="1600"/>
                      <m:t>coming</m:t>
                    </m:r>
                    <m:r>
                      <m:rPr>
                        <m:nor/>
                      </m:rPr>
                      <a:rPr lang="en-US" sz="1600"/>
                      <m:t> </m:t>
                    </m:r>
                    <m:r>
                      <m:rPr>
                        <m:nor/>
                      </m:rPr>
                      <a:rPr lang="en-US" sz="1600"/>
                      <m:t>into</m:t>
                    </m:r>
                    <m:r>
                      <m:rPr>
                        <m:nor/>
                      </m:rPr>
                      <a:rPr lang="en-US" sz="1600"/>
                      <m:t> </m:t>
                    </m:r>
                    <m:r>
                      <m:rPr>
                        <m:nor/>
                      </m:rPr>
                      <a:rPr lang="en-US" sz="1600"/>
                      <m:t>the</m:t>
                    </m:r>
                    <m:r>
                      <m:rPr>
                        <m:nor/>
                      </m:rPr>
                      <a:rPr lang="en-US" sz="1600"/>
                      <m:t> </m:t>
                    </m:r>
                    <m:r>
                      <m:rPr>
                        <m:nor/>
                      </m:rPr>
                      <a:rPr lang="en-US" sz="1600"/>
                      <m:t>current</m:t>
                    </m:r>
                    <m:r>
                      <m:rPr>
                        <m:nor/>
                      </m:rPr>
                      <a:rPr lang="en-US" sz="1600"/>
                      <m:t> </m:t>
                    </m:r>
                    <m:r>
                      <m:rPr>
                        <m:nor/>
                      </m:rPr>
                      <a:rPr lang="en-US" sz="1600"/>
                      <m:t>layer</m:t>
                    </m:r>
                    <m:r>
                      <m:rPr>
                        <m:nor/>
                      </m:rPr>
                      <a:rPr lang="en-US" sz="1600"/>
                      <m:t>.</m:t>
                    </m:r>
                  </m:oMath>
                </a14:m>
                <a:endParaRPr lang="en-US" sz="1600" dirty="0"/>
              </a:p>
              <a:p>
                <a14:m>
                  <m:oMath xmlns:m="http://schemas.openxmlformats.org/officeDocument/2006/math">
                    <m:sSup>
                      <m:sSupPr>
                        <m:ctrlPr>
                          <a:rPr lang="en-US" sz="1600" b="1" i="1">
                            <a:latin typeface="Cambria Math" panose="02040503050406030204" pitchFamily="18" charset="0"/>
                          </a:rPr>
                        </m:ctrlPr>
                      </m:sSupPr>
                      <m:e>
                        <m:r>
                          <a:rPr lang="en-US" sz="1600" b="1" i="1">
                            <a:latin typeface="Cambria Math" panose="02040503050406030204" pitchFamily="18" charset="0"/>
                          </a:rPr>
                          <m:t>𝒃</m:t>
                        </m:r>
                      </m:e>
                      <m:sup>
                        <m:d>
                          <m:dPr>
                            <m:ctrlPr>
                              <a:rPr lang="en-US" sz="1600" b="1" i="1">
                                <a:latin typeface="Cambria Math" panose="02040503050406030204" pitchFamily="18" charset="0"/>
                              </a:rPr>
                            </m:ctrlPr>
                          </m:dPr>
                          <m:e>
                            <m:r>
                              <a:rPr lang="en-US" sz="1600" b="1" i="1">
                                <a:latin typeface="Cambria Math" panose="02040503050406030204" pitchFamily="18" charset="0"/>
                              </a:rPr>
                              <m:t>𝒍</m:t>
                            </m:r>
                          </m:e>
                        </m:d>
                      </m:sup>
                    </m:sSup>
                    <m:r>
                      <m:rPr>
                        <m:nor/>
                      </m:rPr>
                      <a:rPr lang="en-US" sz="1600"/>
                      <m:t> — </m:t>
                    </m:r>
                    <m:r>
                      <m:rPr>
                        <m:nor/>
                      </m:rPr>
                      <a:rPr lang="en-US" sz="1600"/>
                      <m:t>the</m:t>
                    </m:r>
                    <m:r>
                      <m:rPr>
                        <m:nor/>
                      </m:rPr>
                      <a:rPr lang="en-US" sz="1600"/>
                      <m:t> </m:t>
                    </m:r>
                    <m:r>
                      <m:rPr>
                        <m:nor/>
                      </m:rPr>
                      <a:rPr lang="en-US" sz="1600"/>
                      <m:t>bias</m:t>
                    </m:r>
                    <m:r>
                      <m:rPr>
                        <m:nor/>
                      </m:rPr>
                      <a:rPr lang="en-US" sz="1600"/>
                      <m:t> </m:t>
                    </m:r>
                    <m:r>
                      <m:rPr>
                        <m:nor/>
                      </m:rPr>
                      <a:rPr lang="en-US" sz="1600"/>
                      <m:t>vector</m:t>
                    </m:r>
                    <m:r>
                      <m:rPr>
                        <m:nor/>
                      </m:rPr>
                      <a:rPr lang="en-US" sz="1600"/>
                      <m:t> </m:t>
                    </m:r>
                    <m:r>
                      <m:rPr>
                        <m:nor/>
                      </m:rPr>
                      <a:rPr lang="en-US" sz="1600"/>
                      <m:t>for</m:t>
                    </m:r>
                    <m:r>
                      <m:rPr>
                        <m:nor/>
                      </m:rPr>
                      <a:rPr lang="en-US" sz="1600"/>
                      <m:t> </m:t>
                    </m:r>
                    <m:r>
                      <m:rPr>
                        <m:nor/>
                      </m:rPr>
                      <a:rPr lang="en-US" sz="1600"/>
                      <m:t>layer</m:t>
                    </m:r>
                    <m:r>
                      <m:rPr>
                        <m:nor/>
                      </m:rPr>
                      <a:rPr lang="en-US" sz="1600"/>
                      <m:t> </m:t>
                    </m:r>
                    <m:r>
                      <a:rPr lang="en-US" sz="1600" i="1" dirty="0">
                        <a:latin typeface="Cambria Math" panose="02040503050406030204" pitchFamily="18" charset="0"/>
                      </a:rPr>
                      <m:t>𝑙</m:t>
                    </m:r>
                    <m:r>
                      <m:rPr>
                        <m:nor/>
                      </m:rPr>
                      <a:rPr lang="en-US" sz="1600"/>
                      <m:t>.</m:t>
                    </m:r>
                    <m:r>
                      <m:rPr>
                        <m:nor/>
                      </m:rPr>
                      <a:rPr lang="en-US" sz="1600"/>
                      <m:t>This</m:t>
                    </m:r>
                    <m:r>
                      <m:rPr>
                        <m:nor/>
                      </m:rPr>
                      <a:rPr lang="en-US" sz="1600"/>
                      <m:t> </m:t>
                    </m:r>
                    <m:r>
                      <m:rPr>
                        <m:nor/>
                      </m:rPr>
                      <a:rPr lang="en-US" sz="1600"/>
                      <m:t>shifts</m:t>
                    </m:r>
                    <m:r>
                      <m:rPr>
                        <m:nor/>
                      </m:rPr>
                      <a:rPr lang="en-US" sz="1600"/>
                      <m:t> </m:t>
                    </m:r>
                    <m:r>
                      <m:rPr>
                        <m:nor/>
                      </m:rPr>
                      <a:rPr lang="en-US" sz="1600"/>
                      <m:t>the</m:t>
                    </m:r>
                    <m:r>
                      <m:rPr>
                        <m:nor/>
                      </m:rPr>
                      <a:rPr lang="en-US" sz="1600"/>
                      <m:t> </m:t>
                    </m:r>
                    <m:r>
                      <m:rPr>
                        <m:nor/>
                      </m:rPr>
                      <a:rPr lang="en-US" sz="1600"/>
                      <m:t>output</m:t>
                    </m:r>
                    <m:r>
                      <m:rPr>
                        <m:nor/>
                      </m:rPr>
                      <a:rPr lang="en-US" sz="1600"/>
                      <m:t> </m:t>
                    </m:r>
                    <m:r>
                      <m:rPr>
                        <m:nor/>
                      </m:rPr>
                      <a:rPr lang="en-US" sz="1600"/>
                      <m:t>up</m:t>
                    </m:r>
                    <m:r>
                      <m:rPr>
                        <m:nor/>
                      </m:rPr>
                      <a:rPr lang="en-US" sz="1600"/>
                      <m:t> </m:t>
                    </m:r>
                    <m:r>
                      <m:rPr>
                        <m:nor/>
                      </m:rPr>
                      <a:rPr lang="en-US" sz="1600"/>
                      <m:t>or</m:t>
                    </m:r>
                    <m:r>
                      <m:rPr>
                        <m:nor/>
                      </m:rPr>
                      <a:rPr lang="en-US" sz="1600"/>
                      <m:t> </m:t>
                    </m:r>
                    <m:r>
                      <m:rPr>
                        <m:nor/>
                      </m:rPr>
                      <a:rPr lang="en-US" sz="1600"/>
                      <m:t>down</m:t>
                    </m:r>
                    <m:r>
                      <m:rPr>
                        <m:nor/>
                      </m:rPr>
                      <a:rPr lang="en-US" sz="1600"/>
                      <m:t>, </m:t>
                    </m:r>
                    <m:r>
                      <m:rPr>
                        <m:nor/>
                      </m:rPr>
                      <a:rPr lang="en-US" sz="1600"/>
                      <m:t>giving</m:t>
                    </m:r>
                    <m:r>
                      <m:rPr>
                        <m:nor/>
                      </m:rPr>
                      <a:rPr lang="en-US" sz="1600"/>
                      <m:t> </m:t>
                    </m:r>
                    <m:r>
                      <m:rPr>
                        <m:nor/>
                      </m:rPr>
                      <a:rPr lang="en-US" sz="1600"/>
                      <m:t>the</m:t>
                    </m:r>
                    <m:r>
                      <m:rPr>
                        <m:nor/>
                      </m:rPr>
                      <a:rPr lang="en-US" sz="1600"/>
                      <m:t> </m:t>
                    </m:r>
                    <m:r>
                      <m:rPr>
                        <m:nor/>
                      </m:rPr>
                      <a:rPr lang="en-US" sz="1600"/>
                      <m:t>model</m:t>
                    </m:r>
                    <m:r>
                      <m:rPr>
                        <m:nor/>
                      </m:rPr>
                      <a:rPr lang="en-US" sz="1600"/>
                      <m:t> </m:t>
                    </m:r>
                    <m:r>
                      <m:rPr>
                        <m:nor/>
                      </m:rPr>
                      <a:rPr lang="en-US" sz="1600"/>
                      <m:t>more</m:t>
                    </m:r>
                    <m:r>
                      <m:rPr>
                        <m:nor/>
                      </m:rPr>
                      <a:rPr lang="en-US" sz="1600"/>
                      <m:t> </m:t>
                    </m:r>
                    <m:r>
                      <m:rPr>
                        <m:nor/>
                      </m:rPr>
                      <a:rPr lang="en-US" sz="1600"/>
                      <m:t>flexibility</m:t>
                    </m:r>
                    <m:r>
                      <m:rPr>
                        <m:nor/>
                      </m:rPr>
                      <a:rPr lang="en-US" sz="1600"/>
                      <m:t> </m:t>
                    </m:r>
                    <m:r>
                      <m:rPr>
                        <m:nor/>
                      </m:rPr>
                      <a:rPr lang="en-US" sz="1600"/>
                      <m:t>to</m:t>
                    </m:r>
                    <m:r>
                      <m:rPr>
                        <m:nor/>
                      </m:rPr>
                      <a:rPr lang="en-US" sz="1600"/>
                      <m:t> </m:t>
                    </m:r>
                    <m:r>
                      <m:rPr>
                        <m:nor/>
                      </m:rPr>
                      <a:rPr lang="en-US" sz="1600"/>
                      <m:t>fit</m:t>
                    </m:r>
                    <m:r>
                      <m:rPr>
                        <m:nor/>
                      </m:rPr>
                      <a:rPr lang="en-US" sz="1600"/>
                      <m:t> </m:t>
                    </m:r>
                    <m:r>
                      <m:rPr>
                        <m:nor/>
                      </m:rPr>
                      <a:rPr lang="en-US" sz="1600"/>
                      <m:t>the</m:t>
                    </m:r>
                    <m:r>
                      <m:rPr>
                        <m:nor/>
                      </m:rPr>
                      <a:rPr lang="en-US" sz="1600"/>
                      <m:t> </m:t>
                    </m:r>
                    <m:r>
                      <m:rPr>
                        <m:nor/>
                      </m:rPr>
                      <a:rPr lang="en-US" sz="1600"/>
                      <m:t>data</m:t>
                    </m:r>
                    <m:r>
                      <m:rPr>
                        <m:nor/>
                      </m:rPr>
                      <a:rPr lang="en-US" sz="1600"/>
                      <m:t>. </m:t>
                    </m:r>
                    <m:r>
                      <m:rPr>
                        <m:nor/>
                      </m:rPr>
                      <a:rPr lang="en-US" sz="1600" b="0" i="0" smtClean="0"/>
                      <m:t>Learned</m:t>
                    </m:r>
                    <m:r>
                      <m:rPr>
                        <m:nor/>
                      </m:rPr>
                      <a:rPr lang="en-US" sz="1600" b="0" i="0" smtClean="0"/>
                      <m:t> </m:t>
                    </m:r>
                    <m:r>
                      <m:rPr>
                        <m:nor/>
                      </m:rPr>
                      <a:rPr lang="en-US" sz="1600" b="0" i="0" smtClean="0"/>
                      <m:t>during</m:t>
                    </m:r>
                    <m:r>
                      <m:rPr>
                        <m:nor/>
                      </m:rPr>
                      <a:rPr lang="en-US" sz="1600" b="0" i="0" smtClean="0"/>
                      <m:t> </m:t>
                    </m:r>
                    <m:r>
                      <m:rPr>
                        <m:nor/>
                      </m:rPr>
                      <a:rPr lang="en-US" sz="1600" b="0" i="0" smtClean="0"/>
                      <m:t>training</m:t>
                    </m:r>
                    <m:r>
                      <m:rPr>
                        <m:nor/>
                      </m:rPr>
                      <a:rPr lang="en-US" sz="1600" b="0" i="0" smtClean="0"/>
                      <m:t> </m:t>
                    </m:r>
                  </m:oMath>
                </a14:m>
                <a:endParaRPr lang="en-US" sz="1600" dirty="0"/>
              </a:p>
              <a:p>
                <a14:m>
                  <m:oMath xmlns:m="http://schemas.openxmlformats.org/officeDocument/2006/math">
                    <m:sSup>
                      <m:sSupPr>
                        <m:ctrlPr>
                          <a:rPr lang="en-US" sz="1600" b="1" i="1">
                            <a:latin typeface="Cambria Math" panose="02040503050406030204" pitchFamily="18" charset="0"/>
                          </a:rPr>
                        </m:ctrlPr>
                      </m:sSupPr>
                      <m:e>
                        <m:r>
                          <a:rPr lang="en-US" sz="1600" b="1" i="1">
                            <a:latin typeface="Cambria Math" panose="02040503050406030204" pitchFamily="18" charset="0"/>
                          </a:rPr>
                          <m:t>𝒉</m:t>
                        </m:r>
                      </m:e>
                      <m:sup>
                        <m:d>
                          <m:dPr>
                            <m:ctrlPr>
                              <a:rPr lang="en-US" sz="1600" b="1" i="1">
                                <a:latin typeface="Cambria Math" panose="02040503050406030204" pitchFamily="18" charset="0"/>
                              </a:rPr>
                            </m:ctrlPr>
                          </m:dPr>
                          <m:e>
                            <m:r>
                              <a:rPr lang="en-US" sz="1600" b="1" i="1">
                                <a:latin typeface="Cambria Math" panose="02040503050406030204" pitchFamily="18" charset="0"/>
                              </a:rPr>
                              <m:t>𝒍</m:t>
                            </m:r>
                          </m:e>
                        </m:d>
                      </m:sup>
                    </m:sSup>
                    <m:r>
                      <a:rPr lang="en-US" sz="1600">
                        <a:latin typeface="Cambria Math" panose="02040503050406030204" pitchFamily="18" charset="0"/>
                      </a:rPr>
                      <m:t> </m:t>
                    </m:r>
                    <m:r>
                      <m:rPr>
                        <m:nor/>
                      </m:rPr>
                      <a:rPr lang="en-US" sz="1600"/>
                      <m:t>— </m:t>
                    </m:r>
                    <m:r>
                      <m:rPr>
                        <m:nor/>
                      </m:rPr>
                      <a:rPr lang="en-US" sz="1600"/>
                      <m:t>the</m:t>
                    </m:r>
                    <m:r>
                      <m:rPr>
                        <m:nor/>
                      </m:rPr>
                      <a:rPr lang="en-US" sz="1600"/>
                      <m:t> </m:t>
                    </m:r>
                    <m:r>
                      <m:rPr>
                        <m:nor/>
                      </m:rPr>
                      <a:rPr lang="en-US" sz="1600"/>
                      <m:t>output</m:t>
                    </m:r>
                    <m:r>
                      <m:rPr>
                        <m:nor/>
                      </m:rPr>
                      <a:rPr lang="en-US" sz="1600"/>
                      <m:t> </m:t>
                    </m:r>
                    <m:r>
                      <m:rPr>
                        <m:nor/>
                      </m:rPr>
                      <a:rPr lang="en-US" sz="1600"/>
                      <m:t>of</m:t>
                    </m:r>
                    <m:r>
                      <m:rPr>
                        <m:nor/>
                      </m:rPr>
                      <a:rPr lang="en-US" sz="1600"/>
                      <m:t> </m:t>
                    </m:r>
                    <m:r>
                      <m:rPr>
                        <m:nor/>
                      </m:rPr>
                      <a:rPr lang="en-US" sz="1600"/>
                      <m:t>the</m:t>
                    </m:r>
                    <m:r>
                      <m:rPr>
                        <m:nor/>
                      </m:rPr>
                      <a:rPr lang="en-US" sz="1600"/>
                      <m:t> </m:t>
                    </m:r>
                    <m:r>
                      <m:rPr>
                        <m:nor/>
                      </m:rPr>
                      <a:rPr lang="en-US" sz="1600"/>
                      <m:t>current</m:t>
                    </m:r>
                    <m:r>
                      <m:rPr>
                        <m:nor/>
                      </m:rPr>
                      <a:rPr lang="en-US" sz="1600"/>
                      <m:t> </m:t>
                    </m:r>
                    <m:r>
                      <m:rPr>
                        <m:nor/>
                      </m:rPr>
                      <a:rPr lang="en-US" sz="1600"/>
                      <m:t>layer</m:t>
                    </m:r>
                    <m:r>
                      <m:rPr>
                        <m:nor/>
                      </m:rPr>
                      <a:rPr lang="en-US" sz="1600"/>
                      <m:t> </m:t>
                    </m:r>
                    <m:r>
                      <a:rPr lang="en-US" sz="1600" i="1" dirty="0">
                        <a:latin typeface="Cambria Math" panose="02040503050406030204" pitchFamily="18" charset="0"/>
                      </a:rPr>
                      <m:t>𝑙</m:t>
                    </m:r>
                    <m:r>
                      <m:rPr>
                        <m:nor/>
                      </m:rPr>
                      <a:rPr lang="en-US" sz="1600"/>
                      <m:t>. </m:t>
                    </m:r>
                    <m:r>
                      <m:rPr>
                        <m:nor/>
                      </m:rPr>
                      <a:rPr lang="en-US" sz="1600"/>
                      <m:t>This</m:t>
                    </m:r>
                    <m:r>
                      <m:rPr>
                        <m:nor/>
                      </m:rPr>
                      <a:rPr lang="en-US" sz="1600"/>
                      <m:t> </m:t>
                    </m:r>
                    <m:r>
                      <m:rPr>
                        <m:nor/>
                      </m:rPr>
                      <a:rPr lang="en-US" sz="1600"/>
                      <m:t>is</m:t>
                    </m:r>
                    <m:r>
                      <m:rPr>
                        <m:nor/>
                      </m:rPr>
                      <a:rPr lang="en-US" sz="1600"/>
                      <m:t> </m:t>
                    </m:r>
                    <m:r>
                      <m:rPr>
                        <m:nor/>
                      </m:rPr>
                      <a:rPr lang="en-US" sz="1600"/>
                      <m:t>the</m:t>
                    </m:r>
                    <m:r>
                      <m:rPr>
                        <m:nor/>
                      </m:rPr>
                      <a:rPr lang="en-US" sz="1600"/>
                      <m:t> </m:t>
                    </m:r>
                    <m:r>
                      <m:rPr>
                        <m:nor/>
                      </m:rPr>
                      <a:rPr lang="en-US" sz="1600"/>
                      <m:t>result</m:t>
                    </m:r>
                    <m:r>
                      <m:rPr>
                        <m:nor/>
                      </m:rPr>
                      <a:rPr lang="en-US" sz="1600"/>
                      <m:t> </m:t>
                    </m:r>
                    <m:r>
                      <m:rPr>
                        <m:nor/>
                      </m:rPr>
                      <a:rPr lang="en-US" sz="1600"/>
                      <m:t>of</m:t>
                    </m:r>
                    <m:r>
                      <m:rPr>
                        <m:nor/>
                      </m:rPr>
                      <a:rPr lang="en-US" sz="1600"/>
                      <m:t> </m:t>
                    </m:r>
                    <m:r>
                      <m:rPr>
                        <m:nor/>
                      </m:rPr>
                      <a:rPr lang="en-US" sz="1600"/>
                      <m:t>the</m:t>
                    </m:r>
                    <m:r>
                      <m:rPr>
                        <m:nor/>
                      </m:rPr>
                      <a:rPr lang="en-US" sz="1600"/>
                      <m:t> </m:t>
                    </m:r>
                    <m:r>
                      <m:rPr>
                        <m:nor/>
                      </m:rPr>
                      <a:rPr lang="en-US" sz="1600"/>
                      <m:t>transformation</m:t>
                    </m:r>
                    <m:r>
                      <m:rPr>
                        <m:nor/>
                      </m:rPr>
                      <a:rPr lang="en-US" sz="1600"/>
                      <m:t> </m:t>
                    </m:r>
                    <m:r>
                      <m:rPr>
                        <m:nor/>
                      </m:rPr>
                      <a:rPr lang="en-US" sz="1600"/>
                      <m:t>and</m:t>
                    </m:r>
                    <m:r>
                      <m:rPr>
                        <m:nor/>
                      </m:rPr>
                      <a:rPr lang="en-US" sz="1600"/>
                      <m:t> </m:t>
                    </m:r>
                    <m:r>
                      <m:rPr>
                        <m:nor/>
                      </m:rPr>
                      <a:rPr lang="en-US" sz="1600"/>
                      <m:t>gets</m:t>
                    </m:r>
                    <m:r>
                      <m:rPr>
                        <m:nor/>
                      </m:rPr>
                      <a:rPr lang="en-US" sz="1600"/>
                      <m:t> </m:t>
                    </m:r>
                    <m:r>
                      <m:rPr>
                        <m:nor/>
                      </m:rPr>
                      <a:rPr lang="en-US" sz="1600"/>
                      <m:t>passed</m:t>
                    </m:r>
                    <m:r>
                      <m:rPr>
                        <m:nor/>
                      </m:rPr>
                      <a:rPr lang="en-US" sz="1600"/>
                      <m:t> </m:t>
                    </m:r>
                    <m:r>
                      <m:rPr>
                        <m:nor/>
                      </m:rPr>
                      <a:rPr lang="en-US" sz="1600"/>
                      <m:t>to</m:t>
                    </m:r>
                    <m:r>
                      <m:rPr>
                        <m:nor/>
                      </m:rPr>
                      <a:rPr lang="en-US" sz="1600"/>
                      <m:t> </m:t>
                    </m:r>
                    <m:r>
                      <m:rPr>
                        <m:nor/>
                      </m:rPr>
                      <a:rPr lang="en-US" sz="1600"/>
                      <m:t>the</m:t>
                    </m:r>
                    <m:r>
                      <m:rPr>
                        <m:nor/>
                      </m:rPr>
                      <a:rPr lang="en-US" sz="1600"/>
                      <m:t> </m:t>
                    </m:r>
                    <m:r>
                      <m:rPr>
                        <m:nor/>
                      </m:rPr>
                      <a:rPr lang="en-US" sz="1600"/>
                      <m:t>next</m:t>
                    </m:r>
                    <m:r>
                      <m:rPr>
                        <m:nor/>
                      </m:rPr>
                      <a:rPr lang="en-US" sz="1600"/>
                      <m:t> </m:t>
                    </m:r>
                    <m:r>
                      <m:rPr>
                        <m:nor/>
                      </m:rPr>
                      <a:rPr lang="en-US" sz="1600"/>
                      <m:t>layer</m:t>
                    </m:r>
                    <m:r>
                      <m:rPr>
                        <m:nor/>
                      </m:rPr>
                      <a:rPr lang="en-US" sz="1600"/>
                      <m:t>.</m:t>
                    </m:r>
                  </m:oMath>
                </a14:m>
                <a:endParaRPr lang="en-US" sz="1600" dirty="0"/>
              </a:p>
              <a:p>
                <a:r>
                  <a:rPr lang="en-US" sz="1600" b="1" dirty="0"/>
                  <a:t>Simply this equation is saying:</a:t>
                </a:r>
                <a:endParaRPr lang="en-US" sz="1600" dirty="0"/>
              </a:p>
              <a:p>
                <a14:m>
                  <m:oMath xmlns:m="http://schemas.openxmlformats.org/officeDocument/2006/math">
                    <m:r>
                      <m:rPr>
                        <m:nor/>
                      </m:rPr>
                      <a:rPr lang="en-US" sz="1600"/>
                      <m:t>Take</m:t>
                    </m:r>
                    <m:r>
                      <m:rPr>
                        <m:nor/>
                      </m:rPr>
                      <a:rPr lang="en-US" sz="1600"/>
                      <m:t> </m:t>
                    </m:r>
                    <m:r>
                      <m:rPr>
                        <m:nor/>
                      </m:rPr>
                      <a:rPr lang="en-US" sz="1600"/>
                      <m:t>the</m:t>
                    </m:r>
                    <m:r>
                      <m:rPr>
                        <m:nor/>
                      </m:rPr>
                      <a:rPr lang="en-US" sz="1600"/>
                      <m:t> </m:t>
                    </m:r>
                    <m:r>
                      <m:rPr>
                        <m:nor/>
                      </m:rPr>
                      <a:rPr lang="en-US" sz="1600"/>
                      <m:t>previous</m:t>
                    </m:r>
                    <m:r>
                      <m:rPr>
                        <m:nor/>
                      </m:rPr>
                      <a:rPr lang="en-US" sz="1600"/>
                      <m:t> </m:t>
                    </m:r>
                    <m:r>
                      <m:rPr>
                        <m:nor/>
                      </m:rPr>
                      <a:rPr lang="en-US" sz="1600"/>
                      <m:t>layer</m:t>
                    </m:r>
                    <m:r>
                      <m:rPr>
                        <m:nor/>
                      </m:rPr>
                      <a:rPr lang="en-US" sz="1600"/>
                      <m:t>'</m:t>
                    </m:r>
                    <m:r>
                      <m:rPr>
                        <m:nor/>
                      </m:rPr>
                      <a:rPr lang="en-US" sz="1600"/>
                      <m:t>s</m:t>
                    </m:r>
                    <m:r>
                      <m:rPr>
                        <m:nor/>
                      </m:rPr>
                      <a:rPr lang="en-US" sz="1600"/>
                      <m:t> </m:t>
                    </m:r>
                    <m:r>
                      <m:rPr>
                        <m:nor/>
                      </m:rPr>
                      <a:rPr lang="en-US" sz="1600"/>
                      <m:t>output</m:t>
                    </m:r>
                    <m:r>
                      <m:rPr>
                        <m:nor/>
                      </m:rPr>
                      <a:rPr lang="en-US" sz="1600"/>
                      <m:t>, </m:t>
                    </m:r>
                    <m:r>
                      <m:rPr>
                        <m:nor/>
                      </m:rPr>
                      <a:rPr lang="en-US" sz="1600"/>
                      <m:t>multiply</m:t>
                    </m:r>
                    <m:r>
                      <m:rPr>
                        <m:nor/>
                      </m:rPr>
                      <a:rPr lang="en-US" sz="1600"/>
                      <m:t> </m:t>
                    </m:r>
                    <m:r>
                      <m:rPr>
                        <m:nor/>
                      </m:rPr>
                      <a:rPr lang="en-US" sz="1600"/>
                      <m:t>it</m:t>
                    </m:r>
                    <m:r>
                      <m:rPr>
                        <m:nor/>
                      </m:rPr>
                      <a:rPr lang="en-US" sz="1600"/>
                      <m:t> </m:t>
                    </m:r>
                    <m:r>
                      <m:rPr>
                        <m:nor/>
                      </m:rPr>
                      <a:rPr lang="en-US" sz="1600"/>
                      <m:t>by</m:t>
                    </m:r>
                    <m:r>
                      <m:rPr>
                        <m:nor/>
                      </m:rPr>
                      <a:rPr lang="en-US" sz="1600"/>
                      <m:t> </m:t>
                    </m:r>
                    <m:r>
                      <m:rPr>
                        <m:nor/>
                      </m:rPr>
                      <a:rPr lang="en-US" sz="1600"/>
                      <m:t>the</m:t>
                    </m:r>
                    <m:r>
                      <m:rPr>
                        <m:nor/>
                      </m:rPr>
                      <a:rPr lang="en-US" sz="1600"/>
                      <m:t> </m:t>
                    </m:r>
                    <m:r>
                      <m:rPr>
                        <m:nor/>
                      </m:rPr>
                      <a:rPr lang="en-US" sz="1600"/>
                      <m:t>weight</m:t>
                    </m:r>
                    <m:r>
                      <m:rPr>
                        <m:nor/>
                      </m:rPr>
                      <a:rPr lang="en-US" sz="1600"/>
                      <m:t> </m:t>
                    </m:r>
                    <m:r>
                      <m:rPr>
                        <m:nor/>
                      </m:rPr>
                      <a:rPr lang="en-US" sz="1600"/>
                      <m:t>matrix</m:t>
                    </m:r>
                    <m:r>
                      <m:rPr>
                        <m:nor/>
                      </m:rPr>
                      <a:rPr lang="en-US" sz="1600"/>
                      <m:t>, </m:t>
                    </m:r>
                    <m:r>
                      <m:rPr>
                        <m:nor/>
                      </m:rPr>
                      <a:rPr lang="en-US" sz="1600"/>
                      <m:t>add</m:t>
                    </m:r>
                    <m:r>
                      <m:rPr>
                        <m:nor/>
                      </m:rPr>
                      <a:rPr lang="en-US" sz="1600"/>
                      <m:t> </m:t>
                    </m:r>
                    <m:r>
                      <m:rPr>
                        <m:nor/>
                      </m:rPr>
                      <a:rPr lang="en-US" sz="1600"/>
                      <m:t>the</m:t>
                    </m:r>
                    <m:r>
                      <m:rPr>
                        <m:nor/>
                      </m:rPr>
                      <a:rPr lang="en-US" sz="1600"/>
                      <m:t> </m:t>
                    </m:r>
                    <m:r>
                      <m:rPr>
                        <m:nor/>
                      </m:rPr>
                      <a:rPr lang="en-US" sz="1600"/>
                      <m:t>bias</m:t>
                    </m:r>
                    <m:r>
                      <m:rPr>
                        <m:nor/>
                      </m:rPr>
                      <a:rPr lang="en-US" sz="1600"/>
                      <m:t>, </m:t>
                    </m:r>
                    <m:r>
                      <m:rPr>
                        <m:nor/>
                      </m:rPr>
                      <a:rPr lang="en-US" sz="1600"/>
                      <m:t>then</m:t>
                    </m:r>
                    <m:r>
                      <m:rPr>
                        <m:nor/>
                      </m:rPr>
                      <a:rPr lang="en-US" sz="1600"/>
                      <m:t> </m:t>
                    </m:r>
                    <m:r>
                      <m:rPr>
                        <m:nor/>
                      </m:rPr>
                      <a:rPr lang="en-US" sz="1600"/>
                      <m:t>pass</m:t>
                    </m:r>
                    <m:r>
                      <m:rPr>
                        <m:nor/>
                      </m:rPr>
                      <a:rPr lang="en-US" sz="1600"/>
                      <m:t> </m:t>
                    </m:r>
                    <m:r>
                      <m:rPr>
                        <m:nor/>
                      </m:rPr>
                      <a:rPr lang="en-US" sz="1600"/>
                      <m:t>the</m:t>
                    </m:r>
                    <m:r>
                      <m:rPr>
                        <m:nor/>
                      </m:rPr>
                      <a:rPr lang="en-US" sz="1600"/>
                      <m:t> </m:t>
                    </m:r>
                    <m:r>
                      <m:rPr>
                        <m:nor/>
                      </m:rPr>
                      <a:rPr lang="en-US" sz="1600"/>
                      <m:t>result</m:t>
                    </m:r>
                    <m:r>
                      <m:rPr>
                        <m:nor/>
                      </m:rPr>
                      <a:rPr lang="en-US" sz="1600"/>
                      <m:t> </m:t>
                    </m:r>
                    <m:r>
                      <m:rPr>
                        <m:nor/>
                      </m:rPr>
                      <a:rPr lang="en-US" sz="1600"/>
                      <m:t>through</m:t>
                    </m:r>
                    <m:r>
                      <m:rPr>
                        <m:nor/>
                      </m:rPr>
                      <a:rPr lang="en-US" sz="1600"/>
                      <m:t> </m:t>
                    </m:r>
                    <m:r>
                      <m:rPr>
                        <m:nor/>
                      </m:rPr>
                      <a:rPr lang="en-US" sz="1600"/>
                      <m:t>the</m:t>
                    </m:r>
                    <m:r>
                      <m:rPr>
                        <m:nor/>
                      </m:rPr>
                      <a:rPr lang="en-US" sz="1600"/>
                      <m:t> </m:t>
                    </m:r>
                    <m:r>
                      <m:rPr>
                        <m:nor/>
                      </m:rPr>
                      <a:rPr lang="en-US" sz="1600"/>
                      <m:t>activation</m:t>
                    </m:r>
                    <m:r>
                      <m:rPr>
                        <m:nor/>
                      </m:rPr>
                      <a:rPr lang="en-US" sz="1600"/>
                      <m:t> </m:t>
                    </m:r>
                    <m:r>
                      <m:rPr>
                        <m:nor/>
                      </m:rPr>
                      <a:rPr lang="en-US" sz="1600"/>
                      <m:t>function</m:t>
                    </m:r>
                    <m:r>
                      <m:rPr>
                        <m:nor/>
                      </m:rPr>
                      <a:rPr lang="en-US" sz="1600"/>
                      <m:t> </m:t>
                    </m:r>
                    <m:r>
                      <m:rPr>
                        <m:nor/>
                      </m:rPr>
                      <a:rPr lang="en-US" sz="1600"/>
                      <m:t>to</m:t>
                    </m:r>
                    <m:r>
                      <m:rPr>
                        <m:nor/>
                      </m:rPr>
                      <a:rPr lang="en-US" sz="1600"/>
                      <m:t> </m:t>
                    </m:r>
                    <m:r>
                      <m:rPr>
                        <m:nor/>
                      </m:rPr>
                      <a:rPr lang="en-US" sz="1600"/>
                      <m:t>get</m:t>
                    </m:r>
                    <m:r>
                      <m:rPr>
                        <m:nor/>
                      </m:rPr>
                      <a:rPr lang="en-US" sz="1600"/>
                      <m:t> </m:t>
                    </m:r>
                    <m:r>
                      <m:rPr>
                        <m:nor/>
                      </m:rPr>
                      <a:rPr lang="en-US" sz="1600"/>
                      <m:t>the</m:t>
                    </m:r>
                    <m:r>
                      <m:rPr>
                        <m:nor/>
                      </m:rPr>
                      <a:rPr lang="en-US" sz="1600"/>
                      <m:t> </m:t>
                    </m:r>
                    <m:r>
                      <m:rPr>
                        <m:nor/>
                      </m:rPr>
                      <a:rPr lang="en-US" sz="1600"/>
                      <m:t>current</m:t>
                    </m:r>
                    <m:r>
                      <m:rPr>
                        <m:nor/>
                      </m:rPr>
                      <a:rPr lang="en-US" sz="1600"/>
                      <m:t> </m:t>
                    </m:r>
                    <m:r>
                      <m:rPr>
                        <m:nor/>
                      </m:rPr>
                      <a:rPr lang="en-US" sz="1600"/>
                      <m:t>layer</m:t>
                    </m:r>
                    <m:r>
                      <m:rPr>
                        <m:nor/>
                      </m:rPr>
                      <a:rPr lang="en-US" sz="1600"/>
                      <m:t>'</m:t>
                    </m:r>
                    <m:r>
                      <m:rPr>
                        <m:nor/>
                      </m:rPr>
                      <a:rPr lang="en-US" sz="1600"/>
                      <m:t>s</m:t>
                    </m:r>
                    <m:r>
                      <m:rPr>
                        <m:nor/>
                      </m:rPr>
                      <a:rPr lang="en-US" sz="1600"/>
                      <m:t> </m:t>
                    </m:r>
                    <m:r>
                      <m:rPr>
                        <m:nor/>
                      </m:rPr>
                      <a:rPr lang="en-US" sz="1600"/>
                      <m:t>output</m:t>
                    </m:r>
                    <m:r>
                      <m:rPr>
                        <m:nor/>
                      </m:rPr>
                      <a:rPr lang="en-US" sz="1600"/>
                      <m:t> </m:t>
                    </m:r>
                  </m:oMath>
                </a14:m>
                <a:endParaRPr lang="en-US" sz="1600" dirty="0"/>
              </a:p>
            </p:txBody>
          </p:sp>
        </mc:Choice>
        <mc:Fallback>
          <p:sp>
            <p:nvSpPr>
              <p:cNvPr id="4" name="Content Placeholder 2">
                <a:extLst>
                  <a:ext uri="{FF2B5EF4-FFF2-40B4-BE49-F238E27FC236}">
                    <a16:creationId xmlns:a16="http://schemas.microsoft.com/office/drawing/2014/main" id="{A5CAED26-E6A5-DAA3-E99A-729D6F58C4D6}"/>
                  </a:ext>
                </a:extLst>
              </p:cNvPr>
              <p:cNvSpPr txBox="1">
                <a:spLocks noRot="1" noChangeAspect="1" noMove="1" noResize="1" noEditPoints="1" noAdjustHandles="1" noChangeArrowheads="1" noChangeShapeType="1" noTextEdit="1"/>
              </p:cNvSpPr>
              <p:nvPr/>
            </p:nvSpPr>
            <p:spPr>
              <a:xfrm>
                <a:off x="1251678" y="2281724"/>
                <a:ext cx="10178322" cy="4576276"/>
              </a:xfrm>
              <a:prstGeom prst="rect">
                <a:avLst/>
              </a:prstGeom>
              <a:blipFill>
                <a:blip r:embed="rId4"/>
                <a:stretch>
                  <a:fillRect l="-249"/>
                </a:stretch>
              </a:blipFill>
            </p:spPr>
            <p:txBody>
              <a:bodyPr/>
              <a:lstStyle/>
              <a:p>
                <a:r>
                  <a:rPr lang="en-US">
                    <a:noFill/>
                  </a:rPr>
                  <a:t> </a:t>
                </a:r>
              </a:p>
            </p:txBody>
          </p:sp>
        </mc:Fallback>
      </mc:AlternateContent>
    </p:spTree>
    <p:extLst>
      <p:ext uri="{BB962C8B-B14F-4D97-AF65-F5344CB8AC3E}">
        <p14:creationId xmlns:p14="http://schemas.microsoft.com/office/powerpoint/2010/main" val="1608938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FB6F-80E1-F251-CB89-8BB9703E3E73}"/>
              </a:ext>
            </a:extLst>
          </p:cNvPr>
          <p:cNvSpPr>
            <a:spLocks noGrp="1"/>
          </p:cNvSpPr>
          <p:nvPr>
            <p:ph type="title"/>
          </p:nvPr>
        </p:nvSpPr>
        <p:spPr/>
        <p:txBody>
          <a:bodyPr/>
          <a:lstStyle/>
          <a:p>
            <a:r>
              <a:rPr lang="en-US" dirty="0"/>
              <a:t>Training the autoencoder</a:t>
            </a:r>
          </a:p>
        </p:txBody>
      </p:sp>
      <p:sp>
        <p:nvSpPr>
          <p:cNvPr id="3" name="Content Placeholder 2">
            <a:extLst>
              <a:ext uri="{FF2B5EF4-FFF2-40B4-BE49-F238E27FC236}">
                <a16:creationId xmlns:a16="http://schemas.microsoft.com/office/drawing/2014/main" id="{D672F753-F8E6-53D3-820E-E6F4A4E57226}"/>
              </a:ext>
            </a:extLst>
          </p:cNvPr>
          <p:cNvSpPr>
            <a:spLocks noGrp="1"/>
          </p:cNvSpPr>
          <p:nvPr>
            <p:ph idx="1"/>
          </p:nvPr>
        </p:nvSpPr>
        <p:spPr>
          <a:xfrm>
            <a:off x="1251678" y="1485901"/>
            <a:ext cx="10178322" cy="4989714"/>
          </a:xfrm>
        </p:spPr>
        <p:txBody>
          <a:bodyPr>
            <a:normAutofit/>
          </a:bodyPr>
          <a:lstStyle/>
          <a:p>
            <a:pPr marL="0" indent="0">
              <a:buNone/>
            </a:pPr>
            <a:r>
              <a:rPr lang="en-US" dirty="0"/>
              <a:t>During training, an autoencoder’s goal is to minimize the reconstruction loss, which measures how different the reconstructed output is from the original input</a:t>
            </a:r>
          </a:p>
          <a:p>
            <a:pPr marL="0" indent="0">
              <a:buNone/>
            </a:pPr>
            <a:endParaRPr lang="en-US" dirty="0"/>
          </a:p>
          <a:p>
            <a:pPr marL="0" indent="0">
              <a:buNone/>
            </a:pPr>
            <a:endParaRPr lang="en-US" dirty="0"/>
          </a:p>
          <a:p>
            <a:pPr marL="0" indent="0">
              <a:buNone/>
            </a:pPr>
            <a:r>
              <a:rPr lang="en-US" dirty="0"/>
              <a:t>The choice of loss function depends on the type of data being processed</a:t>
            </a:r>
          </a:p>
          <a:p>
            <a:pPr marL="0" indent="0">
              <a:buNone/>
            </a:pPr>
            <a:endParaRPr lang="en-US" dirty="0"/>
          </a:p>
          <a:p>
            <a:r>
              <a:rPr lang="en-US" b="1" dirty="0"/>
              <a:t>Mean Squared Error (MSE)</a:t>
            </a:r>
            <a:r>
              <a:rPr lang="en-US" dirty="0"/>
              <a:t>: Commonly used for continuous data. It measures the average squared differences between the input and the reconstructed data</a:t>
            </a:r>
          </a:p>
          <a:p>
            <a:endParaRPr lang="en-US" dirty="0"/>
          </a:p>
          <a:p>
            <a:r>
              <a:rPr lang="en-US" b="1" dirty="0"/>
              <a:t>Binary Cross-Entropy</a:t>
            </a:r>
            <a:r>
              <a:rPr lang="en-US" dirty="0"/>
              <a:t>: Used for binary data (0 or 1 values). It calculates the difference in probability between the original and reconstructed output</a:t>
            </a:r>
          </a:p>
        </p:txBody>
      </p:sp>
      <p:pic>
        <p:nvPicPr>
          <p:cNvPr id="7" name="Picture 6">
            <a:extLst>
              <a:ext uri="{FF2B5EF4-FFF2-40B4-BE49-F238E27FC236}">
                <a16:creationId xmlns:a16="http://schemas.microsoft.com/office/drawing/2014/main" id="{D93AAF91-1C29-2AA1-5704-9A85E076E5E9}"/>
              </a:ext>
            </a:extLst>
          </p:cNvPr>
          <p:cNvPicPr>
            <a:picLocks noChangeAspect="1"/>
          </p:cNvPicPr>
          <p:nvPr/>
        </p:nvPicPr>
        <p:blipFill>
          <a:blip r:embed="rId2"/>
          <a:stretch>
            <a:fillRect/>
          </a:stretch>
        </p:blipFill>
        <p:spPr>
          <a:xfrm>
            <a:off x="5026389" y="2332037"/>
            <a:ext cx="1889538" cy="645996"/>
          </a:xfrm>
          <a:prstGeom prst="rect">
            <a:avLst/>
          </a:prstGeom>
        </p:spPr>
      </p:pic>
    </p:spTree>
    <p:extLst>
      <p:ext uri="{BB962C8B-B14F-4D97-AF65-F5344CB8AC3E}">
        <p14:creationId xmlns:p14="http://schemas.microsoft.com/office/powerpoint/2010/main" val="3864724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5441E-63D5-0F5D-D34B-2E1094E890EC}"/>
              </a:ext>
            </a:extLst>
          </p:cNvPr>
          <p:cNvSpPr>
            <a:spLocks noGrp="1"/>
          </p:cNvSpPr>
          <p:nvPr>
            <p:ph type="title"/>
          </p:nvPr>
        </p:nvSpPr>
        <p:spPr>
          <a:xfrm>
            <a:off x="971550" y="382385"/>
            <a:ext cx="10744200" cy="1492132"/>
          </a:xfrm>
        </p:spPr>
        <p:txBody>
          <a:bodyPr/>
          <a:lstStyle/>
          <a:p>
            <a:r>
              <a:rPr lang="en-US" dirty="0"/>
              <a:t>Mean Squared error Loss Function</a:t>
            </a:r>
          </a:p>
        </p:txBody>
      </p:sp>
      <p:sp>
        <p:nvSpPr>
          <p:cNvPr id="3" name="Content Placeholder 2">
            <a:extLst>
              <a:ext uri="{FF2B5EF4-FFF2-40B4-BE49-F238E27FC236}">
                <a16:creationId xmlns:a16="http://schemas.microsoft.com/office/drawing/2014/main" id="{C72EA5B4-2CEE-4824-8F03-F1FD04915B5B}"/>
              </a:ext>
            </a:extLst>
          </p:cNvPr>
          <p:cNvSpPr>
            <a:spLocks noGrp="1"/>
          </p:cNvSpPr>
          <p:nvPr>
            <p:ph idx="1"/>
          </p:nvPr>
        </p:nvSpPr>
        <p:spPr>
          <a:xfrm>
            <a:off x="1254489" y="2917450"/>
            <a:ext cx="10178322" cy="3593591"/>
          </a:xfrm>
        </p:spPr>
        <p:txBody>
          <a:bodyPr/>
          <a:lstStyle/>
          <a:p>
            <a:r>
              <a:rPr lang="en-US" dirty="0"/>
              <a:t>It is minimized through backpropagation, where the error is passed backward through the network and used to update all weights via gradient descent </a:t>
            </a:r>
          </a:p>
          <a:p>
            <a:endParaRPr lang="en-US" dirty="0"/>
          </a:p>
          <a:p>
            <a:endParaRPr lang="en-US" dirty="0"/>
          </a:p>
          <a:p>
            <a:r>
              <a:rPr lang="en-US" dirty="0"/>
              <a:t>the encoder and decoder are trained jointly, the network simultaneously learns how to compress and how to reconstruct, improving both until the reconstruction loss is minimized. </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32202C4-093F-4DBE-912B-C8FE10B8FAC4}"/>
                  </a:ext>
                </a:extLst>
              </p:cNvPr>
              <p:cNvSpPr txBox="1"/>
              <p:nvPr/>
            </p:nvSpPr>
            <p:spPr>
              <a:xfrm>
                <a:off x="3045619" y="1547417"/>
                <a:ext cx="6100762"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mtClean="0">
                          <a:latin typeface="Cambria Math" panose="02040503050406030204" pitchFamily="18" charset="0"/>
                        </a:rPr>
                        <m:t>ℒ</m:t>
                      </m:r>
                      <m:d>
                        <m:dPr>
                          <m:ctrlPr>
                            <a:rPr lang="en-US" i="1">
                              <a:latin typeface="Cambria Math" panose="02040503050406030204" pitchFamily="18" charset="0"/>
                            </a:rPr>
                          </m:ctrlPr>
                        </m:dPr>
                        <m:e>
                          <m:r>
                            <a:rPr lang="en-US" i="1">
                              <a:latin typeface="Cambria Math" panose="02040503050406030204" pitchFamily="18" charset="0"/>
                            </a:rPr>
                            <m:t>𝜃</m:t>
                          </m:r>
                          <m:r>
                            <a:rPr lang="en-US" i="0">
                              <a:latin typeface="Cambria Math" panose="02040503050406030204" pitchFamily="18" charset="0"/>
                            </a:rPr>
                            <m:t>,</m:t>
                          </m:r>
                          <m:r>
                            <a:rPr lang="en-US" i="1">
                              <a:latin typeface="Cambria Math" panose="02040503050406030204" pitchFamily="18" charset="0"/>
                            </a:rPr>
                            <m:t>𝜙</m:t>
                          </m:r>
                        </m:e>
                      </m:d>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1">
                              <a:latin typeface="Cambria Math" panose="02040503050406030204" pitchFamily="18" charset="0"/>
                            </a:rPr>
                            <m:t>𝑛</m:t>
                          </m:r>
                        </m:den>
                      </m:f>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i="1">
                                              <a:latin typeface="Cambria Math" panose="02040503050406030204" pitchFamily="18" charset="0"/>
                                            </a:rPr>
                                            <m:t>𝑖</m:t>
                                          </m:r>
                                        </m:e>
                                      </m:d>
                                    </m:sup>
                                  </m:s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𝜙</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𝑥</m:t>
                                              </m:r>
                                            </m:e>
                                            <m:sup>
                                              <m:d>
                                                <m:dPr>
                                                  <m:ctrlPr>
                                                    <a:rPr lang="en-US" i="1">
                                                      <a:latin typeface="Cambria Math" panose="02040503050406030204" pitchFamily="18" charset="0"/>
                                                    </a:rPr>
                                                  </m:ctrlPr>
                                                </m:dPr>
                                                <m:e>
                                                  <m:r>
                                                    <a:rPr lang="en-US" i="1">
                                                      <a:latin typeface="Cambria Math" panose="02040503050406030204" pitchFamily="18" charset="0"/>
                                                    </a:rPr>
                                                    <m:t>𝑖</m:t>
                                                  </m:r>
                                                </m:e>
                                              </m:d>
                                            </m:sup>
                                          </m:sSup>
                                        </m:e>
                                      </m:d>
                                    </m:e>
                                  </m:d>
                                </m:e>
                              </m:d>
                            </m:e>
                            <m:sup>
                              <m:r>
                                <a:rPr lang="en-US" i="0">
                                  <a:latin typeface="Cambria Math" panose="02040503050406030204" pitchFamily="18" charset="0"/>
                                </a:rPr>
                                <m:t>2</m:t>
                              </m:r>
                            </m:sup>
                          </m:sSup>
                        </m:e>
                      </m:nary>
                    </m:oMath>
                  </m:oMathPara>
                </a14:m>
                <a:endParaRPr lang="en-US" dirty="0"/>
              </a:p>
            </p:txBody>
          </p:sp>
        </mc:Choice>
        <mc:Fallback>
          <p:sp>
            <p:nvSpPr>
              <p:cNvPr id="4" name="TextBox 3">
                <a:extLst>
                  <a:ext uri="{FF2B5EF4-FFF2-40B4-BE49-F238E27FC236}">
                    <a16:creationId xmlns:a16="http://schemas.microsoft.com/office/drawing/2014/main" id="{832202C4-093F-4DBE-912B-C8FE10B8FAC4}"/>
                  </a:ext>
                </a:extLst>
              </p:cNvPr>
              <p:cNvSpPr txBox="1">
                <a:spLocks noRot="1" noChangeAspect="1" noMove="1" noResize="1" noEditPoints="1" noAdjustHandles="1" noChangeArrowheads="1" noChangeShapeType="1" noTextEdit="1"/>
              </p:cNvSpPr>
              <p:nvPr/>
            </p:nvSpPr>
            <p:spPr>
              <a:xfrm>
                <a:off x="3045619" y="1547417"/>
                <a:ext cx="6100762" cy="848566"/>
              </a:xfrm>
              <a:prstGeom prst="rect">
                <a:avLst/>
              </a:prstGeom>
              <a:blipFill>
                <a:blip r:embed="rId2"/>
                <a:stretch>
                  <a:fillRect t="-98529" b="-152941"/>
                </a:stretch>
              </a:blipFill>
            </p:spPr>
            <p:txBody>
              <a:bodyPr/>
              <a:lstStyle/>
              <a:p>
                <a:r>
                  <a:rPr lang="en-US">
                    <a:noFill/>
                  </a:rPr>
                  <a:t> </a:t>
                </a:r>
              </a:p>
            </p:txBody>
          </p:sp>
        </mc:Fallback>
      </mc:AlternateContent>
    </p:spTree>
    <p:extLst>
      <p:ext uri="{BB962C8B-B14F-4D97-AF65-F5344CB8AC3E}">
        <p14:creationId xmlns:p14="http://schemas.microsoft.com/office/powerpoint/2010/main" val="3129869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B2993EF1-19E1-473A-8A3F-1D7B24951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accent1"/>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0AAD23A1-FDF8-4B6D-EB5F-9641315CDEB9}"/>
              </a:ext>
            </a:extLst>
          </p:cNvPr>
          <p:cNvSpPr>
            <a:spLocks noGrp="1"/>
          </p:cNvSpPr>
          <p:nvPr>
            <p:ph type="title"/>
          </p:nvPr>
        </p:nvSpPr>
        <p:spPr>
          <a:xfrm>
            <a:off x="765051" y="382385"/>
            <a:ext cx="5527033" cy="1492132"/>
          </a:xfrm>
        </p:spPr>
        <p:txBody>
          <a:bodyPr>
            <a:normAutofit/>
          </a:bodyPr>
          <a:lstStyle/>
          <a:p>
            <a:r>
              <a:rPr lang="en-US" dirty="0"/>
              <a:t>My project </a:t>
            </a:r>
          </a:p>
        </p:txBody>
      </p:sp>
      <p:sp>
        <p:nvSpPr>
          <p:cNvPr id="19" name="Rectangle 18">
            <a:extLst>
              <a:ext uri="{FF2B5EF4-FFF2-40B4-BE49-F238E27FC236}">
                <a16:creationId xmlns:a16="http://schemas.microsoft.com/office/drawing/2014/main" id="{F50C5101-CD9E-4E96-A827-ACA768C31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DB368755-46FC-50A6-500B-CF6274DAB335}"/>
              </a:ext>
            </a:extLst>
          </p:cNvPr>
          <p:cNvSpPr>
            <a:spLocks noGrp="1"/>
          </p:cNvSpPr>
          <p:nvPr>
            <p:ph idx="1"/>
          </p:nvPr>
        </p:nvSpPr>
        <p:spPr>
          <a:xfrm>
            <a:off x="765051" y="1371601"/>
            <a:ext cx="5527033" cy="5104014"/>
          </a:xfrm>
        </p:spPr>
        <p:txBody>
          <a:bodyPr>
            <a:normAutofit lnSpcReduction="10000"/>
          </a:bodyPr>
          <a:lstStyle/>
          <a:p>
            <a:pPr>
              <a:lnSpc>
                <a:spcPct val="100000"/>
              </a:lnSpc>
            </a:pPr>
            <a:r>
              <a:rPr lang="en-US" sz="1600" b="1" dirty="0">
                <a:solidFill>
                  <a:schemeClr val="tx1"/>
                </a:solidFill>
              </a:rPr>
              <a:t>Fine Needle Aspirate data from Breast Cancer Wisconsin (Diagnostic)</a:t>
            </a:r>
          </a:p>
          <a:p>
            <a:pPr>
              <a:lnSpc>
                <a:spcPct val="100000"/>
              </a:lnSpc>
            </a:pPr>
            <a:r>
              <a:rPr lang="en-US" sz="1600" b="1" dirty="0">
                <a:solidFill>
                  <a:schemeClr val="tx1"/>
                </a:solidFill>
              </a:rPr>
              <a:t>Samples either benign or malignant </a:t>
            </a:r>
          </a:p>
          <a:p>
            <a:pPr>
              <a:lnSpc>
                <a:spcPct val="100000"/>
              </a:lnSpc>
            </a:pPr>
            <a:r>
              <a:rPr lang="en-US" sz="1600" b="1" dirty="0">
                <a:solidFill>
                  <a:schemeClr val="tx1"/>
                </a:solidFill>
              </a:rPr>
              <a:t>30 features representative of different cellular nuclei</a:t>
            </a:r>
            <a:r>
              <a:rPr lang="en-US" sz="1600" dirty="0">
                <a:solidFill>
                  <a:schemeClr val="tx1"/>
                </a:solidFill>
              </a:rPr>
              <a:t> </a:t>
            </a:r>
            <a:r>
              <a:rPr lang="en-US" sz="1600" b="1" dirty="0">
                <a:solidFill>
                  <a:schemeClr val="tx1"/>
                </a:solidFill>
              </a:rPr>
              <a:t>characteristics</a:t>
            </a:r>
          </a:p>
          <a:p>
            <a:pPr lvl="1">
              <a:lnSpc>
                <a:spcPct val="100000"/>
              </a:lnSpc>
            </a:pPr>
            <a:r>
              <a:rPr lang="en-US" sz="1600" dirty="0">
                <a:solidFill>
                  <a:schemeClr val="tx1"/>
                </a:solidFill>
              </a:rPr>
              <a:t>radius, texture, perimeter, area, smoothness, compactness, concavity </a:t>
            </a:r>
            <a:endParaRPr lang="en-US" sz="1600" b="1" dirty="0">
              <a:solidFill>
                <a:schemeClr val="tx1"/>
              </a:solidFill>
            </a:endParaRPr>
          </a:p>
          <a:p>
            <a:pPr>
              <a:lnSpc>
                <a:spcPct val="100000"/>
              </a:lnSpc>
            </a:pPr>
            <a:r>
              <a:rPr lang="en-US" sz="1600" b="1" dirty="0">
                <a:solidFill>
                  <a:schemeClr val="tx1"/>
                </a:solidFill>
              </a:rPr>
              <a:t>Trained autoencoder on benign samples only and tested on both benign and malignant samples </a:t>
            </a:r>
          </a:p>
          <a:p>
            <a:pPr lvl="1">
              <a:lnSpc>
                <a:spcPct val="100000"/>
              </a:lnSpc>
            </a:pPr>
            <a:r>
              <a:rPr lang="en-US" sz="1600" dirty="0">
                <a:solidFill>
                  <a:schemeClr val="tx1"/>
                </a:solidFill>
              </a:rPr>
              <a:t>The rationale for this approach is that a model trained only on benign phenotypes will reconstruct benign samples well but struggle to reconstruct malignant samples, due to their differential cellular characteristics, resulting in a higher reconstruction error for malignant cases. </a:t>
            </a:r>
          </a:p>
          <a:p>
            <a:pPr>
              <a:lnSpc>
                <a:spcPct val="100000"/>
              </a:lnSpc>
            </a:pPr>
            <a:r>
              <a:rPr lang="en-US" sz="1600" b="1" dirty="0">
                <a:solidFill>
                  <a:schemeClr val="tx1"/>
                </a:solidFill>
              </a:rPr>
              <a:t> Sensitivity/Specificity Trade Off </a:t>
            </a:r>
          </a:p>
          <a:p>
            <a:pPr lvl="1">
              <a:lnSpc>
                <a:spcPct val="100000"/>
              </a:lnSpc>
            </a:pPr>
            <a:r>
              <a:rPr lang="en-US" sz="1500" dirty="0">
                <a:solidFill>
                  <a:schemeClr val="tx2"/>
                </a:solidFill>
              </a:rPr>
              <a:t>Given the clinical context, minimizing false negatives (missed malignancies) was prioritized over minimizing false positives, as failing to detect a malignant tumor carries far greater risk</a:t>
            </a:r>
            <a:r>
              <a:rPr lang="en-US" sz="1200" dirty="0">
                <a:solidFill>
                  <a:schemeClr val="tx2"/>
                </a:solidFill>
              </a:rPr>
              <a:t> </a:t>
            </a:r>
            <a:endParaRPr lang="en-US" sz="1200" b="1" dirty="0">
              <a:solidFill>
                <a:schemeClr val="tx2"/>
              </a:solidFill>
            </a:endParaRPr>
          </a:p>
          <a:p>
            <a:pPr>
              <a:lnSpc>
                <a:spcPct val="100000"/>
              </a:lnSpc>
            </a:pPr>
            <a:endParaRPr lang="en-US" sz="1300" dirty="0">
              <a:solidFill>
                <a:schemeClr val="tx1"/>
              </a:solidFill>
            </a:endParaRPr>
          </a:p>
        </p:txBody>
      </p:sp>
      <p:sp>
        <p:nvSpPr>
          <p:cNvPr id="20" name="Freeform 22">
            <a:extLst>
              <a:ext uri="{FF2B5EF4-FFF2-40B4-BE49-F238E27FC236}">
                <a16:creationId xmlns:a16="http://schemas.microsoft.com/office/drawing/2014/main" id="{588FC0EF-FB5A-4AF3-A7C1-57F4582BFB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flipH="1">
            <a:off x="6909478" y="0"/>
            <a:ext cx="5282519" cy="6858000"/>
          </a:xfrm>
          <a:custGeom>
            <a:avLst/>
            <a:gdLst>
              <a:gd name="connsiteX0" fmla="*/ 0 w 4992864"/>
              <a:gd name="connsiteY0" fmla="*/ 0 h 6858000"/>
              <a:gd name="connsiteX1" fmla="*/ 4813476 w 4992864"/>
              <a:gd name="connsiteY1" fmla="*/ 0 h 6858000"/>
              <a:gd name="connsiteX2" fmla="*/ 4818239 w 4992864"/>
              <a:gd name="connsiteY2" fmla="*/ 66675 h 6858000"/>
              <a:gd name="connsiteX3" fmla="*/ 4826176 w 4992864"/>
              <a:gd name="connsiteY3" fmla="*/ 122237 h 6858000"/>
              <a:gd name="connsiteX4" fmla="*/ 4835701 w 4992864"/>
              <a:gd name="connsiteY4" fmla="*/ 174625 h 6858000"/>
              <a:gd name="connsiteX5" fmla="*/ 4851576 w 4992864"/>
              <a:gd name="connsiteY5" fmla="*/ 217487 h 6858000"/>
              <a:gd name="connsiteX6" fmla="*/ 4867451 w 4992864"/>
              <a:gd name="connsiteY6" fmla="*/ 260350 h 6858000"/>
              <a:gd name="connsiteX7" fmla="*/ 4886501 w 4992864"/>
              <a:gd name="connsiteY7" fmla="*/ 296862 h 6858000"/>
              <a:gd name="connsiteX8" fmla="*/ 4905551 w 4992864"/>
              <a:gd name="connsiteY8" fmla="*/ 334962 h 6858000"/>
              <a:gd name="connsiteX9" fmla="*/ 4923014 w 4992864"/>
              <a:gd name="connsiteY9" fmla="*/ 369887 h 6858000"/>
              <a:gd name="connsiteX10" fmla="*/ 4940476 w 4992864"/>
              <a:gd name="connsiteY10" fmla="*/ 409575 h 6858000"/>
              <a:gd name="connsiteX11" fmla="*/ 4956351 w 4992864"/>
              <a:gd name="connsiteY11" fmla="*/ 450850 h 6858000"/>
              <a:gd name="connsiteX12" fmla="*/ 4970639 w 4992864"/>
              <a:gd name="connsiteY12" fmla="*/ 496887 h 6858000"/>
              <a:gd name="connsiteX13" fmla="*/ 4981751 w 4992864"/>
              <a:gd name="connsiteY13" fmla="*/ 546100 h 6858000"/>
              <a:gd name="connsiteX14" fmla="*/ 4989689 w 4992864"/>
              <a:gd name="connsiteY14" fmla="*/ 606425 h 6858000"/>
              <a:gd name="connsiteX15" fmla="*/ 4992864 w 4992864"/>
              <a:gd name="connsiteY15" fmla="*/ 673100 h 6858000"/>
              <a:gd name="connsiteX16" fmla="*/ 4989689 w 4992864"/>
              <a:gd name="connsiteY16" fmla="*/ 744537 h 6858000"/>
              <a:gd name="connsiteX17" fmla="*/ 4981751 w 4992864"/>
              <a:gd name="connsiteY17" fmla="*/ 801687 h 6858000"/>
              <a:gd name="connsiteX18" fmla="*/ 4970639 w 4992864"/>
              <a:gd name="connsiteY18" fmla="*/ 854075 h 6858000"/>
              <a:gd name="connsiteX19" fmla="*/ 4956351 w 4992864"/>
              <a:gd name="connsiteY19" fmla="*/ 901700 h 6858000"/>
              <a:gd name="connsiteX20" fmla="*/ 4940476 w 4992864"/>
              <a:gd name="connsiteY20" fmla="*/ 942975 h 6858000"/>
              <a:gd name="connsiteX21" fmla="*/ 4921426 w 4992864"/>
              <a:gd name="connsiteY21" fmla="*/ 981075 h 6858000"/>
              <a:gd name="connsiteX22" fmla="*/ 4902376 w 4992864"/>
              <a:gd name="connsiteY22" fmla="*/ 1017587 h 6858000"/>
              <a:gd name="connsiteX23" fmla="*/ 4883326 w 4992864"/>
              <a:gd name="connsiteY23" fmla="*/ 1055687 h 6858000"/>
              <a:gd name="connsiteX24" fmla="*/ 4865864 w 4992864"/>
              <a:gd name="connsiteY24" fmla="*/ 1095375 h 6858000"/>
              <a:gd name="connsiteX25" fmla="*/ 4848401 w 4992864"/>
              <a:gd name="connsiteY25" fmla="*/ 1136650 h 6858000"/>
              <a:gd name="connsiteX26" fmla="*/ 4834114 w 4992864"/>
              <a:gd name="connsiteY26" fmla="*/ 1182687 h 6858000"/>
              <a:gd name="connsiteX27" fmla="*/ 4824589 w 4992864"/>
              <a:gd name="connsiteY27" fmla="*/ 1235075 h 6858000"/>
              <a:gd name="connsiteX28" fmla="*/ 4815064 w 4992864"/>
              <a:gd name="connsiteY28" fmla="*/ 1295400 h 6858000"/>
              <a:gd name="connsiteX29" fmla="*/ 4813476 w 4992864"/>
              <a:gd name="connsiteY29" fmla="*/ 1363662 h 6858000"/>
              <a:gd name="connsiteX30" fmla="*/ 4815064 w 4992864"/>
              <a:gd name="connsiteY30" fmla="*/ 1431925 h 6858000"/>
              <a:gd name="connsiteX31" fmla="*/ 4824589 w 4992864"/>
              <a:gd name="connsiteY31" fmla="*/ 1492250 h 6858000"/>
              <a:gd name="connsiteX32" fmla="*/ 4834114 w 4992864"/>
              <a:gd name="connsiteY32" fmla="*/ 1544637 h 6858000"/>
              <a:gd name="connsiteX33" fmla="*/ 4848401 w 4992864"/>
              <a:gd name="connsiteY33" fmla="*/ 1589087 h 6858000"/>
              <a:gd name="connsiteX34" fmla="*/ 4865864 w 4992864"/>
              <a:gd name="connsiteY34" fmla="*/ 1631950 h 6858000"/>
              <a:gd name="connsiteX35" fmla="*/ 4883326 w 4992864"/>
              <a:gd name="connsiteY35" fmla="*/ 1671637 h 6858000"/>
              <a:gd name="connsiteX36" fmla="*/ 4902376 w 4992864"/>
              <a:gd name="connsiteY36" fmla="*/ 1708150 h 6858000"/>
              <a:gd name="connsiteX37" fmla="*/ 4921426 w 4992864"/>
              <a:gd name="connsiteY37" fmla="*/ 1743075 h 6858000"/>
              <a:gd name="connsiteX38" fmla="*/ 4940476 w 4992864"/>
              <a:gd name="connsiteY38" fmla="*/ 1782762 h 6858000"/>
              <a:gd name="connsiteX39" fmla="*/ 4956351 w 4992864"/>
              <a:gd name="connsiteY39" fmla="*/ 1824037 h 6858000"/>
              <a:gd name="connsiteX40" fmla="*/ 4970639 w 4992864"/>
              <a:gd name="connsiteY40" fmla="*/ 1870075 h 6858000"/>
              <a:gd name="connsiteX41" fmla="*/ 4981751 w 4992864"/>
              <a:gd name="connsiteY41" fmla="*/ 1922462 h 6858000"/>
              <a:gd name="connsiteX42" fmla="*/ 4989689 w 4992864"/>
              <a:gd name="connsiteY42" fmla="*/ 1982787 h 6858000"/>
              <a:gd name="connsiteX43" fmla="*/ 4992864 w 4992864"/>
              <a:gd name="connsiteY43" fmla="*/ 2051050 h 6858000"/>
              <a:gd name="connsiteX44" fmla="*/ 4989689 w 4992864"/>
              <a:gd name="connsiteY44" fmla="*/ 2119312 h 6858000"/>
              <a:gd name="connsiteX45" fmla="*/ 4981751 w 4992864"/>
              <a:gd name="connsiteY45" fmla="*/ 2179637 h 6858000"/>
              <a:gd name="connsiteX46" fmla="*/ 4970639 w 4992864"/>
              <a:gd name="connsiteY46" fmla="*/ 2232025 h 6858000"/>
              <a:gd name="connsiteX47" fmla="*/ 4956351 w 4992864"/>
              <a:gd name="connsiteY47" fmla="*/ 2278062 h 6858000"/>
              <a:gd name="connsiteX48" fmla="*/ 4940476 w 4992864"/>
              <a:gd name="connsiteY48" fmla="*/ 2319337 h 6858000"/>
              <a:gd name="connsiteX49" fmla="*/ 4921426 w 4992864"/>
              <a:gd name="connsiteY49" fmla="*/ 2359025 h 6858000"/>
              <a:gd name="connsiteX50" fmla="*/ 4902376 w 4992864"/>
              <a:gd name="connsiteY50" fmla="*/ 2395537 h 6858000"/>
              <a:gd name="connsiteX51" fmla="*/ 4883326 w 4992864"/>
              <a:gd name="connsiteY51" fmla="*/ 2433637 h 6858000"/>
              <a:gd name="connsiteX52" fmla="*/ 4865864 w 4992864"/>
              <a:gd name="connsiteY52" fmla="*/ 2471737 h 6858000"/>
              <a:gd name="connsiteX53" fmla="*/ 4848401 w 4992864"/>
              <a:gd name="connsiteY53" fmla="*/ 2513012 h 6858000"/>
              <a:gd name="connsiteX54" fmla="*/ 4834114 w 4992864"/>
              <a:gd name="connsiteY54" fmla="*/ 2560637 h 6858000"/>
              <a:gd name="connsiteX55" fmla="*/ 4824589 w 4992864"/>
              <a:gd name="connsiteY55" fmla="*/ 2613025 h 6858000"/>
              <a:gd name="connsiteX56" fmla="*/ 4815064 w 4992864"/>
              <a:gd name="connsiteY56" fmla="*/ 2671762 h 6858000"/>
              <a:gd name="connsiteX57" fmla="*/ 4813476 w 4992864"/>
              <a:gd name="connsiteY57" fmla="*/ 2741612 h 6858000"/>
              <a:gd name="connsiteX58" fmla="*/ 4815064 w 4992864"/>
              <a:gd name="connsiteY58" fmla="*/ 2809875 h 6858000"/>
              <a:gd name="connsiteX59" fmla="*/ 4824589 w 4992864"/>
              <a:gd name="connsiteY59" fmla="*/ 2868612 h 6858000"/>
              <a:gd name="connsiteX60" fmla="*/ 4834114 w 4992864"/>
              <a:gd name="connsiteY60" fmla="*/ 2922587 h 6858000"/>
              <a:gd name="connsiteX61" fmla="*/ 4848401 w 4992864"/>
              <a:gd name="connsiteY61" fmla="*/ 2967037 h 6858000"/>
              <a:gd name="connsiteX62" fmla="*/ 4865864 w 4992864"/>
              <a:gd name="connsiteY62" fmla="*/ 3009900 h 6858000"/>
              <a:gd name="connsiteX63" fmla="*/ 4883326 w 4992864"/>
              <a:gd name="connsiteY63" fmla="*/ 3046412 h 6858000"/>
              <a:gd name="connsiteX64" fmla="*/ 4902376 w 4992864"/>
              <a:gd name="connsiteY64" fmla="*/ 3084512 h 6858000"/>
              <a:gd name="connsiteX65" fmla="*/ 4921426 w 4992864"/>
              <a:gd name="connsiteY65" fmla="*/ 3121025 h 6858000"/>
              <a:gd name="connsiteX66" fmla="*/ 4940476 w 4992864"/>
              <a:gd name="connsiteY66" fmla="*/ 3160712 h 6858000"/>
              <a:gd name="connsiteX67" fmla="*/ 4956351 w 4992864"/>
              <a:gd name="connsiteY67" fmla="*/ 3201987 h 6858000"/>
              <a:gd name="connsiteX68" fmla="*/ 4970639 w 4992864"/>
              <a:gd name="connsiteY68" fmla="*/ 3248025 h 6858000"/>
              <a:gd name="connsiteX69" fmla="*/ 4981751 w 4992864"/>
              <a:gd name="connsiteY69" fmla="*/ 3300412 h 6858000"/>
              <a:gd name="connsiteX70" fmla="*/ 4989689 w 4992864"/>
              <a:gd name="connsiteY70" fmla="*/ 3360737 h 6858000"/>
              <a:gd name="connsiteX71" fmla="*/ 4992864 w 4992864"/>
              <a:gd name="connsiteY71" fmla="*/ 3427412 h 6858000"/>
              <a:gd name="connsiteX72" fmla="*/ 4989689 w 4992864"/>
              <a:gd name="connsiteY72" fmla="*/ 3497262 h 6858000"/>
              <a:gd name="connsiteX73" fmla="*/ 4981751 w 4992864"/>
              <a:gd name="connsiteY73" fmla="*/ 3557587 h 6858000"/>
              <a:gd name="connsiteX74" fmla="*/ 4970639 w 4992864"/>
              <a:gd name="connsiteY74" fmla="*/ 3609975 h 6858000"/>
              <a:gd name="connsiteX75" fmla="*/ 4956351 w 4992864"/>
              <a:gd name="connsiteY75" fmla="*/ 3656012 h 6858000"/>
              <a:gd name="connsiteX76" fmla="*/ 4940476 w 4992864"/>
              <a:gd name="connsiteY76" fmla="*/ 3697287 h 6858000"/>
              <a:gd name="connsiteX77" fmla="*/ 4921426 w 4992864"/>
              <a:gd name="connsiteY77" fmla="*/ 3736975 h 6858000"/>
              <a:gd name="connsiteX78" fmla="*/ 4883326 w 4992864"/>
              <a:gd name="connsiteY78" fmla="*/ 3811587 h 6858000"/>
              <a:gd name="connsiteX79" fmla="*/ 4865864 w 4992864"/>
              <a:gd name="connsiteY79" fmla="*/ 3848100 h 6858000"/>
              <a:gd name="connsiteX80" fmla="*/ 4848401 w 4992864"/>
              <a:gd name="connsiteY80" fmla="*/ 3890962 h 6858000"/>
              <a:gd name="connsiteX81" fmla="*/ 4834114 w 4992864"/>
              <a:gd name="connsiteY81" fmla="*/ 3935412 h 6858000"/>
              <a:gd name="connsiteX82" fmla="*/ 4824589 w 4992864"/>
              <a:gd name="connsiteY82" fmla="*/ 3987800 h 6858000"/>
              <a:gd name="connsiteX83" fmla="*/ 4815064 w 4992864"/>
              <a:gd name="connsiteY83" fmla="*/ 4048125 h 6858000"/>
              <a:gd name="connsiteX84" fmla="*/ 4813476 w 4992864"/>
              <a:gd name="connsiteY84" fmla="*/ 4116387 h 6858000"/>
              <a:gd name="connsiteX85" fmla="*/ 4815064 w 4992864"/>
              <a:gd name="connsiteY85" fmla="*/ 4186237 h 6858000"/>
              <a:gd name="connsiteX86" fmla="*/ 4824589 w 4992864"/>
              <a:gd name="connsiteY86" fmla="*/ 4244975 h 6858000"/>
              <a:gd name="connsiteX87" fmla="*/ 4834114 w 4992864"/>
              <a:gd name="connsiteY87" fmla="*/ 4297362 h 6858000"/>
              <a:gd name="connsiteX88" fmla="*/ 4848401 w 4992864"/>
              <a:gd name="connsiteY88" fmla="*/ 4343400 h 6858000"/>
              <a:gd name="connsiteX89" fmla="*/ 4865864 w 4992864"/>
              <a:gd name="connsiteY89" fmla="*/ 4386262 h 6858000"/>
              <a:gd name="connsiteX90" fmla="*/ 4883326 w 4992864"/>
              <a:gd name="connsiteY90" fmla="*/ 4424362 h 6858000"/>
              <a:gd name="connsiteX91" fmla="*/ 4921426 w 4992864"/>
              <a:gd name="connsiteY91" fmla="*/ 4498975 h 6858000"/>
              <a:gd name="connsiteX92" fmla="*/ 4940476 w 4992864"/>
              <a:gd name="connsiteY92" fmla="*/ 4537075 h 6858000"/>
              <a:gd name="connsiteX93" fmla="*/ 4956351 w 4992864"/>
              <a:gd name="connsiteY93" fmla="*/ 4579937 h 6858000"/>
              <a:gd name="connsiteX94" fmla="*/ 4970639 w 4992864"/>
              <a:gd name="connsiteY94" fmla="*/ 4625975 h 6858000"/>
              <a:gd name="connsiteX95" fmla="*/ 4981751 w 4992864"/>
              <a:gd name="connsiteY95" fmla="*/ 4678362 h 6858000"/>
              <a:gd name="connsiteX96" fmla="*/ 4989689 w 4992864"/>
              <a:gd name="connsiteY96" fmla="*/ 4738687 h 6858000"/>
              <a:gd name="connsiteX97" fmla="*/ 4992864 w 4992864"/>
              <a:gd name="connsiteY97" fmla="*/ 4806950 h 6858000"/>
              <a:gd name="connsiteX98" fmla="*/ 4989689 w 4992864"/>
              <a:gd name="connsiteY98" fmla="*/ 4875212 h 6858000"/>
              <a:gd name="connsiteX99" fmla="*/ 4981751 w 4992864"/>
              <a:gd name="connsiteY99" fmla="*/ 4935537 h 6858000"/>
              <a:gd name="connsiteX100" fmla="*/ 4970639 w 4992864"/>
              <a:gd name="connsiteY100" fmla="*/ 4987925 h 6858000"/>
              <a:gd name="connsiteX101" fmla="*/ 4956351 w 4992864"/>
              <a:gd name="connsiteY101" fmla="*/ 5033962 h 6858000"/>
              <a:gd name="connsiteX102" fmla="*/ 4940476 w 4992864"/>
              <a:gd name="connsiteY102" fmla="*/ 5075237 h 6858000"/>
              <a:gd name="connsiteX103" fmla="*/ 4921426 w 4992864"/>
              <a:gd name="connsiteY103" fmla="*/ 5114925 h 6858000"/>
              <a:gd name="connsiteX104" fmla="*/ 4902376 w 4992864"/>
              <a:gd name="connsiteY104" fmla="*/ 5149850 h 6858000"/>
              <a:gd name="connsiteX105" fmla="*/ 4883326 w 4992864"/>
              <a:gd name="connsiteY105" fmla="*/ 5186362 h 6858000"/>
              <a:gd name="connsiteX106" fmla="*/ 4865864 w 4992864"/>
              <a:gd name="connsiteY106" fmla="*/ 5226050 h 6858000"/>
              <a:gd name="connsiteX107" fmla="*/ 4848401 w 4992864"/>
              <a:gd name="connsiteY107" fmla="*/ 5268912 h 6858000"/>
              <a:gd name="connsiteX108" fmla="*/ 4834114 w 4992864"/>
              <a:gd name="connsiteY108" fmla="*/ 5313362 h 6858000"/>
              <a:gd name="connsiteX109" fmla="*/ 4824589 w 4992864"/>
              <a:gd name="connsiteY109" fmla="*/ 5365750 h 6858000"/>
              <a:gd name="connsiteX110" fmla="*/ 4815064 w 4992864"/>
              <a:gd name="connsiteY110" fmla="*/ 5426075 h 6858000"/>
              <a:gd name="connsiteX111" fmla="*/ 4813476 w 4992864"/>
              <a:gd name="connsiteY111" fmla="*/ 5494337 h 6858000"/>
              <a:gd name="connsiteX112" fmla="*/ 4815064 w 4992864"/>
              <a:gd name="connsiteY112" fmla="*/ 5562600 h 6858000"/>
              <a:gd name="connsiteX113" fmla="*/ 4824589 w 4992864"/>
              <a:gd name="connsiteY113" fmla="*/ 5622925 h 6858000"/>
              <a:gd name="connsiteX114" fmla="*/ 4834114 w 4992864"/>
              <a:gd name="connsiteY114" fmla="*/ 5675312 h 6858000"/>
              <a:gd name="connsiteX115" fmla="*/ 4848401 w 4992864"/>
              <a:gd name="connsiteY115" fmla="*/ 5721350 h 6858000"/>
              <a:gd name="connsiteX116" fmla="*/ 4865864 w 4992864"/>
              <a:gd name="connsiteY116" fmla="*/ 5762625 h 6858000"/>
              <a:gd name="connsiteX117" fmla="*/ 4883326 w 4992864"/>
              <a:gd name="connsiteY117" fmla="*/ 5802312 h 6858000"/>
              <a:gd name="connsiteX118" fmla="*/ 4902376 w 4992864"/>
              <a:gd name="connsiteY118" fmla="*/ 5840412 h 6858000"/>
              <a:gd name="connsiteX119" fmla="*/ 4921426 w 4992864"/>
              <a:gd name="connsiteY119" fmla="*/ 5876925 h 6858000"/>
              <a:gd name="connsiteX120" fmla="*/ 4940476 w 4992864"/>
              <a:gd name="connsiteY120" fmla="*/ 5915025 h 6858000"/>
              <a:gd name="connsiteX121" fmla="*/ 4956351 w 4992864"/>
              <a:gd name="connsiteY121" fmla="*/ 5956300 h 6858000"/>
              <a:gd name="connsiteX122" fmla="*/ 4970639 w 4992864"/>
              <a:gd name="connsiteY122" fmla="*/ 6003925 h 6858000"/>
              <a:gd name="connsiteX123" fmla="*/ 4981751 w 4992864"/>
              <a:gd name="connsiteY123" fmla="*/ 6056312 h 6858000"/>
              <a:gd name="connsiteX124" fmla="*/ 4989689 w 4992864"/>
              <a:gd name="connsiteY124" fmla="*/ 6113462 h 6858000"/>
              <a:gd name="connsiteX125" fmla="*/ 4992864 w 4992864"/>
              <a:gd name="connsiteY125" fmla="*/ 6183312 h 6858000"/>
              <a:gd name="connsiteX126" fmla="*/ 4989689 w 4992864"/>
              <a:gd name="connsiteY126" fmla="*/ 6251575 h 6858000"/>
              <a:gd name="connsiteX127" fmla="*/ 4981751 w 4992864"/>
              <a:gd name="connsiteY127" fmla="*/ 6311900 h 6858000"/>
              <a:gd name="connsiteX128" fmla="*/ 4970639 w 4992864"/>
              <a:gd name="connsiteY128" fmla="*/ 6361112 h 6858000"/>
              <a:gd name="connsiteX129" fmla="*/ 4956351 w 4992864"/>
              <a:gd name="connsiteY129" fmla="*/ 6407150 h 6858000"/>
              <a:gd name="connsiteX130" fmla="*/ 4940476 w 4992864"/>
              <a:gd name="connsiteY130" fmla="*/ 6448425 h 6858000"/>
              <a:gd name="connsiteX131" fmla="*/ 4923014 w 4992864"/>
              <a:gd name="connsiteY131" fmla="*/ 6488112 h 6858000"/>
              <a:gd name="connsiteX132" fmla="*/ 4905551 w 4992864"/>
              <a:gd name="connsiteY132" fmla="*/ 6523037 h 6858000"/>
              <a:gd name="connsiteX133" fmla="*/ 4886501 w 4992864"/>
              <a:gd name="connsiteY133" fmla="*/ 6561137 h 6858000"/>
              <a:gd name="connsiteX134" fmla="*/ 4867451 w 4992864"/>
              <a:gd name="connsiteY134" fmla="*/ 6597650 h 6858000"/>
              <a:gd name="connsiteX135" fmla="*/ 4851576 w 4992864"/>
              <a:gd name="connsiteY135" fmla="*/ 6640512 h 6858000"/>
              <a:gd name="connsiteX136" fmla="*/ 4835701 w 4992864"/>
              <a:gd name="connsiteY136" fmla="*/ 6683375 h 6858000"/>
              <a:gd name="connsiteX137" fmla="*/ 4826176 w 4992864"/>
              <a:gd name="connsiteY137" fmla="*/ 6735762 h 6858000"/>
              <a:gd name="connsiteX138" fmla="*/ 4818239 w 4992864"/>
              <a:gd name="connsiteY138" fmla="*/ 6791325 h 6858000"/>
              <a:gd name="connsiteX139" fmla="*/ 4813476 w 4992864"/>
              <a:gd name="connsiteY139" fmla="*/ 6858000 h 6858000"/>
              <a:gd name="connsiteX140" fmla="*/ 0 w 499286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992864" h="6858000">
                <a:moveTo>
                  <a:pt x="0" y="0"/>
                </a:moveTo>
                <a:lnTo>
                  <a:pt x="4813476" y="0"/>
                </a:lnTo>
                <a:lnTo>
                  <a:pt x="4818239" y="66675"/>
                </a:lnTo>
                <a:lnTo>
                  <a:pt x="4826176" y="122237"/>
                </a:lnTo>
                <a:lnTo>
                  <a:pt x="4835701" y="174625"/>
                </a:lnTo>
                <a:lnTo>
                  <a:pt x="4851576" y="217487"/>
                </a:lnTo>
                <a:lnTo>
                  <a:pt x="4867451" y="260350"/>
                </a:lnTo>
                <a:lnTo>
                  <a:pt x="4886501" y="296862"/>
                </a:lnTo>
                <a:lnTo>
                  <a:pt x="4905551" y="334962"/>
                </a:lnTo>
                <a:lnTo>
                  <a:pt x="4923014" y="369887"/>
                </a:lnTo>
                <a:lnTo>
                  <a:pt x="4940476" y="409575"/>
                </a:lnTo>
                <a:lnTo>
                  <a:pt x="4956351" y="450850"/>
                </a:lnTo>
                <a:lnTo>
                  <a:pt x="4970639" y="496887"/>
                </a:lnTo>
                <a:lnTo>
                  <a:pt x="4981751" y="546100"/>
                </a:lnTo>
                <a:lnTo>
                  <a:pt x="4989689" y="606425"/>
                </a:lnTo>
                <a:lnTo>
                  <a:pt x="4992864" y="673100"/>
                </a:lnTo>
                <a:lnTo>
                  <a:pt x="4989689" y="744537"/>
                </a:lnTo>
                <a:lnTo>
                  <a:pt x="4981751" y="801687"/>
                </a:lnTo>
                <a:lnTo>
                  <a:pt x="4970639" y="854075"/>
                </a:lnTo>
                <a:lnTo>
                  <a:pt x="4956351" y="901700"/>
                </a:lnTo>
                <a:lnTo>
                  <a:pt x="4940476" y="942975"/>
                </a:lnTo>
                <a:lnTo>
                  <a:pt x="4921426" y="981075"/>
                </a:lnTo>
                <a:lnTo>
                  <a:pt x="4902376" y="1017587"/>
                </a:lnTo>
                <a:lnTo>
                  <a:pt x="4883326" y="1055687"/>
                </a:lnTo>
                <a:lnTo>
                  <a:pt x="4865864" y="1095375"/>
                </a:lnTo>
                <a:lnTo>
                  <a:pt x="4848401" y="1136650"/>
                </a:lnTo>
                <a:lnTo>
                  <a:pt x="4834114" y="1182687"/>
                </a:lnTo>
                <a:lnTo>
                  <a:pt x="4824589" y="1235075"/>
                </a:lnTo>
                <a:lnTo>
                  <a:pt x="4815064" y="1295400"/>
                </a:lnTo>
                <a:lnTo>
                  <a:pt x="4813476" y="1363662"/>
                </a:lnTo>
                <a:lnTo>
                  <a:pt x="4815064" y="1431925"/>
                </a:lnTo>
                <a:lnTo>
                  <a:pt x="4824589" y="1492250"/>
                </a:lnTo>
                <a:lnTo>
                  <a:pt x="4834114" y="1544637"/>
                </a:lnTo>
                <a:lnTo>
                  <a:pt x="4848401" y="1589087"/>
                </a:lnTo>
                <a:lnTo>
                  <a:pt x="4865864" y="1631950"/>
                </a:lnTo>
                <a:lnTo>
                  <a:pt x="4883326" y="1671637"/>
                </a:lnTo>
                <a:lnTo>
                  <a:pt x="4902376" y="1708150"/>
                </a:lnTo>
                <a:lnTo>
                  <a:pt x="4921426" y="1743075"/>
                </a:lnTo>
                <a:lnTo>
                  <a:pt x="4940476" y="1782762"/>
                </a:lnTo>
                <a:lnTo>
                  <a:pt x="4956351" y="1824037"/>
                </a:lnTo>
                <a:lnTo>
                  <a:pt x="4970639" y="1870075"/>
                </a:lnTo>
                <a:lnTo>
                  <a:pt x="4981751" y="1922462"/>
                </a:lnTo>
                <a:lnTo>
                  <a:pt x="4989689" y="1982787"/>
                </a:lnTo>
                <a:lnTo>
                  <a:pt x="4992864" y="2051050"/>
                </a:lnTo>
                <a:lnTo>
                  <a:pt x="4989689" y="2119312"/>
                </a:lnTo>
                <a:lnTo>
                  <a:pt x="4981751" y="2179637"/>
                </a:lnTo>
                <a:lnTo>
                  <a:pt x="4970639" y="2232025"/>
                </a:lnTo>
                <a:lnTo>
                  <a:pt x="4956351" y="2278062"/>
                </a:lnTo>
                <a:lnTo>
                  <a:pt x="4940476" y="2319337"/>
                </a:lnTo>
                <a:lnTo>
                  <a:pt x="4921426" y="2359025"/>
                </a:lnTo>
                <a:lnTo>
                  <a:pt x="4902376" y="2395537"/>
                </a:lnTo>
                <a:lnTo>
                  <a:pt x="4883326" y="2433637"/>
                </a:lnTo>
                <a:lnTo>
                  <a:pt x="4865864" y="2471737"/>
                </a:lnTo>
                <a:lnTo>
                  <a:pt x="4848401" y="2513012"/>
                </a:lnTo>
                <a:lnTo>
                  <a:pt x="4834114" y="2560637"/>
                </a:lnTo>
                <a:lnTo>
                  <a:pt x="4824589" y="2613025"/>
                </a:lnTo>
                <a:lnTo>
                  <a:pt x="4815064" y="2671762"/>
                </a:lnTo>
                <a:lnTo>
                  <a:pt x="4813476" y="2741612"/>
                </a:lnTo>
                <a:lnTo>
                  <a:pt x="4815064" y="2809875"/>
                </a:lnTo>
                <a:lnTo>
                  <a:pt x="4824589" y="2868612"/>
                </a:lnTo>
                <a:lnTo>
                  <a:pt x="4834114" y="2922587"/>
                </a:lnTo>
                <a:lnTo>
                  <a:pt x="4848401" y="2967037"/>
                </a:lnTo>
                <a:lnTo>
                  <a:pt x="4865864" y="3009900"/>
                </a:lnTo>
                <a:lnTo>
                  <a:pt x="4883326" y="3046412"/>
                </a:lnTo>
                <a:lnTo>
                  <a:pt x="4902376" y="3084512"/>
                </a:lnTo>
                <a:lnTo>
                  <a:pt x="4921426" y="3121025"/>
                </a:lnTo>
                <a:lnTo>
                  <a:pt x="4940476" y="3160712"/>
                </a:lnTo>
                <a:lnTo>
                  <a:pt x="4956351" y="3201987"/>
                </a:lnTo>
                <a:lnTo>
                  <a:pt x="4970639" y="3248025"/>
                </a:lnTo>
                <a:lnTo>
                  <a:pt x="4981751" y="3300412"/>
                </a:lnTo>
                <a:lnTo>
                  <a:pt x="4989689" y="3360737"/>
                </a:lnTo>
                <a:lnTo>
                  <a:pt x="4992864" y="3427412"/>
                </a:lnTo>
                <a:lnTo>
                  <a:pt x="4989689" y="3497262"/>
                </a:lnTo>
                <a:lnTo>
                  <a:pt x="4981751" y="3557587"/>
                </a:lnTo>
                <a:lnTo>
                  <a:pt x="4970639" y="3609975"/>
                </a:lnTo>
                <a:lnTo>
                  <a:pt x="4956351" y="3656012"/>
                </a:lnTo>
                <a:lnTo>
                  <a:pt x="4940476" y="3697287"/>
                </a:lnTo>
                <a:lnTo>
                  <a:pt x="4921426" y="3736975"/>
                </a:lnTo>
                <a:lnTo>
                  <a:pt x="4883326" y="3811587"/>
                </a:lnTo>
                <a:lnTo>
                  <a:pt x="4865864" y="3848100"/>
                </a:lnTo>
                <a:lnTo>
                  <a:pt x="4848401" y="3890962"/>
                </a:lnTo>
                <a:lnTo>
                  <a:pt x="4834114" y="3935412"/>
                </a:lnTo>
                <a:lnTo>
                  <a:pt x="4824589" y="3987800"/>
                </a:lnTo>
                <a:lnTo>
                  <a:pt x="4815064" y="4048125"/>
                </a:lnTo>
                <a:lnTo>
                  <a:pt x="4813476" y="4116387"/>
                </a:lnTo>
                <a:lnTo>
                  <a:pt x="4815064" y="4186237"/>
                </a:lnTo>
                <a:lnTo>
                  <a:pt x="4824589" y="4244975"/>
                </a:lnTo>
                <a:lnTo>
                  <a:pt x="4834114" y="4297362"/>
                </a:lnTo>
                <a:lnTo>
                  <a:pt x="4848401" y="4343400"/>
                </a:lnTo>
                <a:lnTo>
                  <a:pt x="4865864" y="4386262"/>
                </a:lnTo>
                <a:lnTo>
                  <a:pt x="4883326" y="4424362"/>
                </a:lnTo>
                <a:lnTo>
                  <a:pt x="4921426" y="4498975"/>
                </a:lnTo>
                <a:lnTo>
                  <a:pt x="4940476" y="4537075"/>
                </a:lnTo>
                <a:lnTo>
                  <a:pt x="4956351" y="4579937"/>
                </a:lnTo>
                <a:lnTo>
                  <a:pt x="4970639" y="4625975"/>
                </a:lnTo>
                <a:lnTo>
                  <a:pt x="4981751" y="4678362"/>
                </a:lnTo>
                <a:lnTo>
                  <a:pt x="4989689" y="4738687"/>
                </a:lnTo>
                <a:lnTo>
                  <a:pt x="4992864" y="4806950"/>
                </a:lnTo>
                <a:lnTo>
                  <a:pt x="4989689" y="4875212"/>
                </a:lnTo>
                <a:lnTo>
                  <a:pt x="4981751" y="4935537"/>
                </a:lnTo>
                <a:lnTo>
                  <a:pt x="4970639" y="4987925"/>
                </a:lnTo>
                <a:lnTo>
                  <a:pt x="4956351" y="5033962"/>
                </a:lnTo>
                <a:lnTo>
                  <a:pt x="4940476" y="5075237"/>
                </a:lnTo>
                <a:lnTo>
                  <a:pt x="4921426" y="5114925"/>
                </a:lnTo>
                <a:lnTo>
                  <a:pt x="4902376" y="5149850"/>
                </a:lnTo>
                <a:lnTo>
                  <a:pt x="4883326" y="5186362"/>
                </a:lnTo>
                <a:lnTo>
                  <a:pt x="4865864" y="5226050"/>
                </a:lnTo>
                <a:lnTo>
                  <a:pt x="4848401" y="5268912"/>
                </a:lnTo>
                <a:lnTo>
                  <a:pt x="4834114" y="5313362"/>
                </a:lnTo>
                <a:lnTo>
                  <a:pt x="4824589" y="5365750"/>
                </a:lnTo>
                <a:lnTo>
                  <a:pt x="4815064" y="5426075"/>
                </a:lnTo>
                <a:lnTo>
                  <a:pt x="4813476" y="5494337"/>
                </a:lnTo>
                <a:lnTo>
                  <a:pt x="4815064" y="5562600"/>
                </a:lnTo>
                <a:lnTo>
                  <a:pt x="4824589" y="5622925"/>
                </a:lnTo>
                <a:lnTo>
                  <a:pt x="4834114" y="5675312"/>
                </a:lnTo>
                <a:lnTo>
                  <a:pt x="4848401" y="5721350"/>
                </a:lnTo>
                <a:lnTo>
                  <a:pt x="4865864" y="5762625"/>
                </a:lnTo>
                <a:lnTo>
                  <a:pt x="4883326" y="5802312"/>
                </a:lnTo>
                <a:lnTo>
                  <a:pt x="4902376" y="5840412"/>
                </a:lnTo>
                <a:lnTo>
                  <a:pt x="4921426" y="5876925"/>
                </a:lnTo>
                <a:lnTo>
                  <a:pt x="4940476" y="5915025"/>
                </a:lnTo>
                <a:lnTo>
                  <a:pt x="4956351" y="5956300"/>
                </a:lnTo>
                <a:lnTo>
                  <a:pt x="4970639" y="6003925"/>
                </a:lnTo>
                <a:lnTo>
                  <a:pt x="4981751" y="6056312"/>
                </a:lnTo>
                <a:lnTo>
                  <a:pt x="4989689" y="6113462"/>
                </a:lnTo>
                <a:lnTo>
                  <a:pt x="4992864" y="6183312"/>
                </a:lnTo>
                <a:lnTo>
                  <a:pt x="4989689" y="6251575"/>
                </a:lnTo>
                <a:lnTo>
                  <a:pt x="4981751" y="6311900"/>
                </a:lnTo>
                <a:lnTo>
                  <a:pt x="4970639" y="6361112"/>
                </a:lnTo>
                <a:lnTo>
                  <a:pt x="4956351" y="6407150"/>
                </a:lnTo>
                <a:lnTo>
                  <a:pt x="4940476" y="6448425"/>
                </a:lnTo>
                <a:lnTo>
                  <a:pt x="4923014" y="6488112"/>
                </a:lnTo>
                <a:lnTo>
                  <a:pt x="4905551" y="6523037"/>
                </a:lnTo>
                <a:lnTo>
                  <a:pt x="4886501" y="6561137"/>
                </a:lnTo>
                <a:lnTo>
                  <a:pt x="4867451" y="6597650"/>
                </a:lnTo>
                <a:lnTo>
                  <a:pt x="4851576" y="6640512"/>
                </a:lnTo>
                <a:lnTo>
                  <a:pt x="4835701" y="6683375"/>
                </a:lnTo>
                <a:lnTo>
                  <a:pt x="4826176" y="6735762"/>
                </a:lnTo>
                <a:lnTo>
                  <a:pt x="4818239" y="6791325"/>
                </a:lnTo>
                <a:lnTo>
                  <a:pt x="4813476" y="6858000"/>
                </a:lnTo>
                <a:lnTo>
                  <a:pt x="0" y="6858000"/>
                </a:lnTo>
                <a:close/>
              </a:path>
            </a:pathLst>
          </a:custGeom>
          <a:solidFill>
            <a:schemeClr val="bg2"/>
          </a:solidFill>
          <a:ln w="0">
            <a:noFill/>
            <a:prstDash val="solid"/>
            <a:round/>
            <a:headEnd/>
            <a:tailEnd/>
          </a:ln>
        </p:spPr>
        <p:txBody>
          <a:bodyPr/>
          <a:lstStyle/>
          <a:p>
            <a:endParaRPr lang="en-US"/>
          </a:p>
        </p:txBody>
      </p:sp>
      <p:sp>
        <p:nvSpPr>
          <p:cNvPr id="16" name="Freeform: Shape 15">
            <a:extLst>
              <a:ext uri="{FF2B5EF4-FFF2-40B4-BE49-F238E27FC236}">
                <a16:creationId xmlns:a16="http://schemas.microsoft.com/office/drawing/2014/main" id="{FDB19D2F-9F08-47D1-A104-0BE7E30113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46365" y="2"/>
            <a:ext cx="5149751" cy="3402351"/>
          </a:xfrm>
          <a:custGeom>
            <a:avLst/>
            <a:gdLst>
              <a:gd name="connsiteX0" fmla="*/ 189795 w 5149751"/>
              <a:gd name="connsiteY0" fmla="*/ 0 h 3402351"/>
              <a:gd name="connsiteX1" fmla="*/ 5149751 w 5149751"/>
              <a:gd name="connsiteY1" fmla="*/ 0 h 3402351"/>
              <a:gd name="connsiteX2" fmla="*/ 5149751 w 5149751"/>
              <a:gd name="connsiteY2" fmla="*/ 3402351 h 3402351"/>
              <a:gd name="connsiteX3" fmla="*/ 1262 w 5149751"/>
              <a:gd name="connsiteY3" fmla="*/ 3402351 h 3402351"/>
              <a:gd name="connsiteX4" fmla="*/ 3359 w 5149751"/>
              <a:gd name="connsiteY4" fmla="*/ 3360737 h 3402351"/>
              <a:gd name="connsiteX5" fmla="*/ 11757 w 5149751"/>
              <a:gd name="connsiteY5" fmla="*/ 3300412 h 3402351"/>
              <a:gd name="connsiteX6" fmla="*/ 23514 w 5149751"/>
              <a:gd name="connsiteY6" fmla="*/ 3248025 h 3402351"/>
              <a:gd name="connsiteX7" fmla="*/ 38631 w 5149751"/>
              <a:gd name="connsiteY7" fmla="*/ 3201987 h 3402351"/>
              <a:gd name="connsiteX8" fmla="*/ 55427 w 5149751"/>
              <a:gd name="connsiteY8" fmla="*/ 3160712 h 3402351"/>
              <a:gd name="connsiteX9" fmla="*/ 75582 w 5149751"/>
              <a:gd name="connsiteY9" fmla="*/ 3121025 h 3402351"/>
              <a:gd name="connsiteX10" fmla="*/ 95737 w 5149751"/>
              <a:gd name="connsiteY10" fmla="*/ 3084512 h 3402351"/>
              <a:gd name="connsiteX11" fmla="*/ 115892 w 5149751"/>
              <a:gd name="connsiteY11" fmla="*/ 3046412 h 3402351"/>
              <a:gd name="connsiteX12" fmla="*/ 134368 w 5149751"/>
              <a:gd name="connsiteY12" fmla="*/ 3009900 h 3402351"/>
              <a:gd name="connsiteX13" fmla="*/ 152844 w 5149751"/>
              <a:gd name="connsiteY13" fmla="*/ 2967037 h 3402351"/>
              <a:gd name="connsiteX14" fmla="*/ 167959 w 5149751"/>
              <a:gd name="connsiteY14" fmla="*/ 2922587 h 3402351"/>
              <a:gd name="connsiteX15" fmla="*/ 178037 w 5149751"/>
              <a:gd name="connsiteY15" fmla="*/ 2868612 h 3402351"/>
              <a:gd name="connsiteX16" fmla="*/ 188115 w 5149751"/>
              <a:gd name="connsiteY16" fmla="*/ 2809875 h 3402351"/>
              <a:gd name="connsiteX17" fmla="*/ 189795 w 5149751"/>
              <a:gd name="connsiteY17" fmla="*/ 2741612 h 3402351"/>
              <a:gd name="connsiteX18" fmla="*/ 188115 w 5149751"/>
              <a:gd name="connsiteY18" fmla="*/ 2671762 h 3402351"/>
              <a:gd name="connsiteX19" fmla="*/ 178037 w 5149751"/>
              <a:gd name="connsiteY19" fmla="*/ 2613025 h 3402351"/>
              <a:gd name="connsiteX20" fmla="*/ 167959 w 5149751"/>
              <a:gd name="connsiteY20" fmla="*/ 2560637 h 3402351"/>
              <a:gd name="connsiteX21" fmla="*/ 152844 w 5149751"/>
              <a:gd name="connsiteY21" fmla="*/ 2513012 h 3402351"/>
              <a:gd name="connsiteX22" fmla="*/ 134368 w 5149751"/>
              <a:gd name="connsiteY22" fmla="*/ 2471737 h 3402351"/>
              <a:gd name="connsiteX23" fmla="*/ 115892 w 5149751"/>
              <a:gd name="connsiteY23" fmla="*/ 2433637 h 3402351"/>
              <a:gd name="connsiteX24" fmla="*/ 95737 w 5149751"/>
              <a:gd name="connsiteY24" fmla="*/ 2395537 h 3402351"/>
              <a:gd name="connsiteX25" fmla="*/ 75582 w 5149751"/>
              <a:gd name="connsiteY25" fmla="*/ 2359025 h 3402351"/>
              <a:gd name="connsiteX26" fmla="*/ 55427 w 5149751"/>
              <a:gd name="connsiteY26" fmla="*/ 2319337 h 3402351"/>
              <a:gd name="connsiteX27" fmla="*/ 38631 w 5149751"/>
              <a:gd name="connsiteY27" fmla="*/ 2278062 h 3402351"/>
              <a:gd name="connsiteX28" fmla="*/ 23514 w 5149751"/>
              <a:gd name="connsiteY28" fmla="*/ 2232025 h 3402351"/>
              <a:gd name="connsiteX29" fmla="*/ 11757 w 5149751"/>
              <a:gd name="connsiteY29" fmla="*/ 2179637 h 3402351"/>
              <a:gd name="connsiteX30" fmla="*/ 3359 w 5149751"/>
              <a:gd name="connsiteY30" fmla="*/ 2119312 h 3402351"/>
              <a:gd name="connsiteX31" fmla="*/ 0 w 5149751"/>
              <a:gd name="connsiteY31" fmla="*/ 2051050 h 3402351"/>
              <a:gd name="connsiteX32" fmla="*/ 3359 w 5149751"/>
              <a:gd name="connsiteY32" fmla="*/ 1982787 h 3402351"/>
              <a:gd name="connsiteX33" fmla="*/ 11757 w 5149751"/>
              <a:gd name="connsiteY33" fmla="*/ 1922462 h 3402351"/>
              <a:gd name="connsiteX34" fmla="*/ 23514 w 5149751"/>
              <a:gd name="connsiteY34" fmla="*/ 1870075 h 3402351"/>
              <a:gd name="connsiteX35" fmla="*/ 38631 w 5149751"/>
              <a:gd name="connsiteY35" fmla="*/ 1824037 h 3402351"/>
              <a:gd name="connsiteX36" fmla="*/ 55427 w 5149751"/>
              <a:gd name="connsiteY36" fmla="*/ 1782762 h 3402351"/>
              <a:gd name="connsiteX37" fmla="*/ 75582 w 5149751"/>
              <a:gd name="connsiteY37" fmla="*/ 1743075 h 3402351"/>
              <a:gd name="connsiteX38" fmla="*/ 95737 w 5149751"/>
              <a:gd name="connsiteY38" fmla="*/ 1708150 h 3402351"/>
              <a:gd name="connsiteX39" fmla="*/ 115892 w 5149751"/>
              <a:gd name="connsiteY39" fmla="*/ 1671637 h 3402351"/>
              <a:gd name="connsiteX40" fmla="*/ 134368 w 5149751"/>
              <a:gd name="connsiteY40" fmla="*/ 1631950 h 3402351"/>
              <a:gd name="connsiteX41" fmla="*/ 152844 w 5149751"/>
              <a:gd name="connsiteY41" fmla="*/ 1589087 h 3402351"/>
              <a:gd name="connsiteX42" fmla="*/ 167959 w 5149751"/>
              <a:gd name="connsiteY42" fmla="*/ 1544637 h 3402351"/>
              <a:gd name="connsiteX43" fmla="*/ 178037 w 5149751"/>
              <a:gd name="connsiteY43" fmla="*/ 1492250 h 3402351"/>
              <a:gd name="connsiteX44" fmla="*/ 188115 w 5149751"/>
              <a:gd name="connsiteY44" fmla="*/ 1431925 h 3402351"/>
              <a:gd name="connsiteX45" fmla="*/ 189795 w 5149751"/>
              <a:gd name="connsiteY45" fmla="*/ 1363662 h 3402351"/>
              <a:gd name="connsiteX46" fmla="*/ 188115 w 5149751"/>
              <a:gd name="connsiteY46" fmla="*/ 1295400 h 3402351"/>
              <a:gd name="connsiteX47" fmla="*/ 178037 w 5149751"/>
              <a:gd name="connsiteY47" fmla="*/ 1235075 h 3402351"/>
              <a:gd name="connsiteX48" fmla="*/ 167959 w 5149751"/>
              <a:gd name="connsiteY48" fmla="*/ 1182687 h 3402351"/>
              <a:gd name="connsiteX49" fmla="*/ 152844 w 5149751"/>
              <a:gd name="connsiteY49" fmla="*/ 1136650 h 3402351"/>
              <a:gd name="connsiteX50" fmla="*/ 134368 w 5149751"/>
              <a:gd name="connsiteY50" fmla="*/ 1095375 h 3402351"/>
              <a:gd name="connsiteX51" fmla="*/ 115892 w 5149751"/>
              <a:gd name="connsiteY51" fmla="*/ 1055687 h 3402351"/>
              <a:gd name="connsiteX52" fmla="*/ 95737 w 5149751"/>
              <a:gd name="connsiteY52" fmla="*/ 1017587 h 3402351"/>
              <a:gd name="connsiteX53" fmla="*/ 75582 w 5149751"/>
              <a:gd name="connsiteY53" fmla="*/ 981075 h 3402351"/>
              <a:gd name="connsiteX54" fmla="*/ 55427 w 5149751"/>
              <a:gd name="connsiteY54" fmla="*/ 942975 h 3402351"/>
              <a:gd name="connsiteX55" fmla="*/ 38631 w 5149751"/>
              <a:gd name="connsiteY55" fmla="*/ 901700 h 3402351"/>
              <a:gd name="connsiteX56" fmla="*/ 23514 w 5149751"/>
              <a:gd name="connsiteY56" fmla="*/ 854075 h 3402351"/>
              <a:gd name="connsiteX57" fmla="*/ 11757 w 5149751"/>
              <a:gd name="connsiteY57" fmla="*/ 801687 h 3402351"/>
              <a:gd name="connsiteX58" fmla="*/ 3359 w 5149751"/>
              <a:gd name="connsiteY58" fmla="*/ 744537 h 3402351"/>
              <a:gd name="connsiteX59" fmla="*/ 0 w 5149751"/>
              <a:gd name="connsiteY59" fmla="*/ 673100 h 3402351"/>
              <a:gd name="connsiteX60" fmla="*/ 3359 w 5149751"/>
              <a:gd name="connsiteY60" fmla="*/ 606425 h 3402351"/>
              <a:gd name="connsiteX61" fmla="*/ 11757 w 5149751"/>
              <a:gd name="connsiteY61" fmla="*/ 546100 h 3402351"/>
              <a:gd name="connsiteX62" fmla="*/ 23514 w 5149751"/>
              <a:gd name="connsiteY62" fmla="*/ 496887 h 3402351"/>
              <a:gd name="connsiteX63" fmla="*/ 38631 w 5149751"/>
              <a:gd name="connsiteY63" fmla="*/ 450850 h 3402351"/>
              <a:gd name="connsiteX64" fmla="*/ 55427 w 5149751"/>
              <a:gd name="connsiteY64" fmla="*/ 409575 h 3402351"/>
              <a:gd name="connsiteX65" fmla="*/ 73902 w 5149751"/>
              <a:gd name="connsiteY65" fmla="*/ 369887 h 3402351"/>
              <a:gd name="connsiteX66" fmla="*/ 92378 w 5149751"/>
              <a:gd name="connsiteY66" fmla="*/ 334962 h 3402351"/>
              <a:gd name="connsiteX67" fmla="*/ 112533 w 5149751"/>
              <a:gd name="connsiteY67" fmla="*/ 296862 h 3402351"/>
              <a:gd name="connsiteX68" fmla="*/ 132688 w 5149751"/>
              <a:gd name="connsiteY68" fmla="*/ 260350 h 3402351"/>
              <a:gd name="connsiteX69" fmla="*/ 149484 w 5149751"/>
              <a:gd name="connsiteY69" fmla="*/ 217487 h 3402351"/>
              <a:gd name="connsiteX70" fmla="*/ 166280 w 5149751"/>
              <a:gd name="connsiteY70" fmla="*/ 174625 h 3402351"/>
              <a:gd name="connsiteX71" fmla="*/ 176358 w 5149751"/>
              <a:gd name="connsiteY71" fmla="*/ 122237 h 3402351"/>
              <a:gd name="connsiteX72" fmla="*/ 184755 w 5149751"/>
              <a:gd name="connsiteY72" fmla="*/ 66675 h 340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5149751" h="3402351">
                <a:moveTo>
                  <a:pt x="189795" y="0"/>
                </a:moveTo>
                <a:lnTo>
                  <a:pt x="5149751" y="0"/>
                </a:lnTo>
                <a:lnTo>
                  <a:pt x="5149751" y="3402351"/>
                </a:lnTo>
                <a:lnTo>
                  <a:pt x="1262" y="3402351"/>
                </a:lnTo>
                <a:lnTo>
                  <a:pt x="3359" y="3360737"/>
                </a:lnTo>
                <a:lnTo>
                  <a:pt x="11757" y="3300412"/>
                </a:lnTo>
                <a:lnTo>
                  <a:pt x="23514" y="3248025"/>
                </a:lnTo>
                <a:lnTo>
                  <a:pt x="38631" y="3201987"/>
                </a:lnTo>
                <a:lnTo>
                  <a:pt x="55427" y="3160712"/>
                </a:lnTo>
                <a:lnTo>
                  <a:pt x="75582" y="3121025"/>
                </a:lnTo>
                <a:lnTo>
                  <a:pt x="95737" y="3084512"/>
                </a:lnTo>
                <a:lnTo>
                  <a:pt x="115892" y="3046412"/>
                </a:lnTo>
                <a:lnTo>
                  <a:pt x="134368" y="3009900"/>
                </a:lnTo>
                <a:lnTo>
                  <a:pt x="152844" y="2967037"/>
                </a:lnTo>
                <a:lnTo>
                  <a:pt x="167959" y="2922587"/>
                </a:lnTo>
                <a:lnTo>
                  <a:pt x="178037" y="2868612"/>
                </a:lnTo>
                <a:lnTo>
                  <a:pt x="188115" y="2809875"/>
                </a:lnTo>
                <a:lnTo>
                  <a:pt x="189795" y="2741612"/>
                </a:lnTo>
                <a:lnTo>
                  <a:pt x="188115" y="2671762"/>
                </a:lnTo>
                <a:lnTo>
                  <a:pt x="178037" y="2613025"/>
                </a:lnTo>
                <a:lnTo>
                  <a:pt x="167959" y="2560637"/>
                </a:lnTo>
                <a:lnTo>
                  <a:pt x="152844" y="2513012"/>
                </a:lnTo>
                <a:lnTo>
                  <a:pt x="134368" y="2471737"/>
                </a:lnTo>
                <a:lnTo>
                  <a:pt x="115892" y="2433637"/>
                </a:lnTo>
                <a:lnTo>
                  <a:pt x="95737" y="2395537"/>
                </a:lnTo>
                <a:lnTo>
                  <a:pt x="75582" y="2359025"/>
                </a:lnTo>
                <a:lnTo>
                  <a:pt x="55427" y="2319337"/>
                </a:lnTo>
                <a:lnTo>
                  <a:pt x="38631" y="2278062"/>
                </a:lnTo>
                <a:lnTo>
                  <a:pt x="23514" y="2232025"/>
                </a:lnTo>
                <a:lnTo>
                  <a:pt x="11757" y="2179637"/>
                </a:lnTo>
                <a:lnTo>
                  <a:pt x="3359" y="2119312"/>
                </a:lnTo>
                <a:lnTo>
                  <a:pt x="0" y="2051050"/>
                </a:lnTo>
                <a:lnTo>
                  <a:pt x="3359" y="1982787"/>
                </a:lnTo>
                <a:lnTo>
                  <a:pt x="11757" y="1922462"/>
                </a:lnTo>
                <a:lnTo>
                  <a:pt x="23514" y="1870075"/>
                </a:lnTo>
                <a:lnTo>
                  <a:pt x="38631" y="1824037"/>
                </a:lnTo>
                <a:lnTo>
                  <a:pt x="55427" y="1782762"/>
                </a:lnTo>
                <a:lnTo>
                  <a:pt x="75582" y="1743075"/>
                </a:lnTo>
                <a:lnTo>
                  <a:pt x="95737" y="1708150"/>
                </a:lnTo>
                <a:lnTo>
                  <a:pt x="115892" y="1671637"/>
                </a:lnTo>
                <a:lnTo>
                  <a:pt x="134368" y="1631950"/>
                </a:lnTo>
                <a:lnTo>
                  <a:pt x="152844" y="1589087"/>
                </a:lnTo>
                <a:lnTo>
                  <a:pt x="167959" y="1544637"/>
                </a:lnTo>
                <a:lnTo>
                  <a:pt x="178037" y="1492250"/>
                </a:lnTo>
                <a:lnTo>
                  <a:pt x="188115" y="1431925"/>
                </a:lnTo>
                <a:lnTo>
                  <a:pt x="189795" y="1363662"/>
                </a:lnTo>
                <a:lnTo>
                  <a:pt x="188115" y="1295400"/>
                </a:lnTo>
                <a:lnTo>
                  <a:pt x="178037" y="1235075"/>
                </a:lnTo>
                <a:lnTo>
                  <a:pt x="167959" y="1182687"/>
                </a:lnTo>
                <a:lnTo>
                  <a:pt x="152844" y="1136650"/>
                </a:lnTo>
                <a:lnTo>
                  <a:pt x="134368" y="1095375"/>
                </a:lnTo>
                <a:lnTo>
                  <a:pt x="115892" y="1055687"/>
                </a:lnTo>
                <a:lnTo>
                  <a:pt x="95737" y="1017587"/>
                </a:lnTo>
                <a:lnTo>
                  <a:pt x="75582" y="981075"/>
                </a:lnTo>
                <a:lnTo>
                  <a:pt x="55427" y="942975"/>
                </a:lnTo>
                <a:lnTo>
                  <a:pt x="38631" y="901700"/>
                </a:lnTo>
                <a:lnTo>
                  <a:pt x="23514" y="854075"/>
                </a:lnTo>
                <a:lnTo>
                  <a:pt x="11757" y="801687"/>
                </a:lnTo>
                <a:lnTo>
                  <a:pt x="3359" y="744537"/>
                </a:lnTo>
                <a:lnTo>
                  <a:pt x="0" y="673100"/>
                </a:lnTo>
                <a:lnTo>
                  <a:pt x="3359" y="606425"/>
                </a:lnTo>
                <a:lnTo>
                  <a:pt x="11757" y="546100"/>
                </a:lnTo>
                <a:lnTo>
                  <a:pt x="23514" y="496887"/>
                </a:lnTo>
                <a:lnTo>
                  <a:pt x="38631" y="450850"/>
                </a:lnTo>
                <a:lnTo>
                  <a:pt x="55427" y="409575"/>
                </a:lnTo>
                <a:lnTo>
                  <a:pt x="73902" y="369887"/>
                </a:lnTo>
                <a:lnTo>
                  <a:pt x="92378" y="334962"/>
                </a:lnTo>
                <a:lnTo>
                  <a:pt x="112533" y="296862"/>
                </a:lnTo>
                <a:lnTo>
                  <a:pt x="132688" y="260350"/>
                </a:lnTo>
                <a:lnTo>
                  <a:pt x="149484" y="217487"/>
                </a:lnTo>
                <a:lnTo>
                  <a:pt x="166280" y="174625"/>
                </a:lnTo>
                <a:lnTo>
                  <a:pt x="176358" y="122237"/>
                </a:lnTo>
                <a:lnTo>
                  <a:pt x="184755" y="666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88DAC099-442A-4CF1-7539-9E843228CB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9173" y="304177"/>
            <a:ext cx="3559477" cy="2803089"/>
          </a:xfrm>
          <a:prstGeom prst="rect">
            <a:avLst/>
          </a:prstGeom>
        </p:spPr>
      </p:pic>
      <p:sp>
        <p:nvSpPr>
          <p:cNvPr id="18" name="Freeform: Shape 17">
            <a:extLst>
              <a:ext uri="{FF2B5EF4-FFF2-40B4-BE49-F238E27FC236}">
                <a16:creationId xmlns:a16="http://schemas.microsoft.com/office/drawing/2014/main" id="{EDDC619B-7F37-4A93-ADCA-7EAE09EE98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46364" y="3511830"/>
            <a:ext cx="5149751" cy="3346171"/>
          </a:xfrm>
          <a:custGeom>
            <a:avLst/>
            <a:gdLst>
              <a:gd name="connsiteX0" fmla="*/ 5387 w 5149751"/>
              <a:gd name="connsiteY0" fmla="*/ 0 h 3346171"/>
              <a:gd name="connsiteX1" fmla="*/ 5149751 w 5149751"/>
              <a:gd name="connsiteY1" fmla="*/ 0 h 3346171"/>
              <a:gd name="connsiteX2" fmla="*/ 5149751 w 5149751"/>
              <a:gd name="connsiteY2" fmla="*/ 3346171 h 3346171"/>
              <a:gd name="connsiteX3" fmla="*/ 189795 w 5149751"/>
              <a:gd name="connsiteY3" fmla="*/ 3346171 h 3346171"/>
              <a:gd name="connsiteX4" fmla="*/ 184755 w 5149751"/>
              <a:gd name="connsiteY4" fmla="*/ 3279496 h 3346171"/>
              <a:gd name="connsiteX5" fmla="*/ 176358 w 5149751"/>
              <a:gd name="connsiteY5" fmla="*/ 3223933 h 3346171"/>
              <a:gd name="connsiteX6" fmla="*/ 166280 w 5149751"/>
              <a:gd name="connsiteY6" fmla="*/ 3171546 h 3346171"/>
              <a:gd name="connsiteX7" fmla="*/ 149484 w 5149751"/>
              <a:gd name="connsiteY7" fmla="*/ 3128683 h 3346171"/>
              <a:gd name="connsiteX8" fmla="*/ 132688 w 5149751"/>
              <a:gd name="connsiteY8" fmla="*/ 3085821 h 3346171"/>
              <a:gd name="connsiteX9" fmla="*/ 112533 w 5149751"/>
              <a:gd name="connsiteY9" fmla="*/ 3049308 h 3346171"/>
              <a:gd name="connsiteX10" fmla="*/ 92378 w 5149751"/>
              <a:gd name="connsiteY10" fmla="*/ 3011208 h 3346171"/>
              <a:gd name="connsiteX11" fmla="*/ 73902 w 5149751"/>
              <a:gd name="connsiteY11" fmla="*/ 2976283 h 3346171"/>
              <a:gd name="connsiteX12" fmla="*/ 55427 w 5149751"/>
              <a:gd name="connsiteY12" fmla="*/ 2936596 h 3346171"/>
              <a:gd name="connsiteX13" fmla="*/ 38631 w 5149751"/>
              <a:gd name="connsiteY13" fmla="*/ 2895321 h 3346171"/>
              <a:gd name="connsiteX14" fmla="*/ 23514 w 5149751"/>
              <a:gd name="connsiteY14" fmla="*/ 2849283 h 3346171"/>
              <a:gd name="connsiteX15" fmla="*/ 11757 w 5149751"/>
              <a:gd name="connsiteY15" fmla="*/ 2800071 h 3346171"/>
              <a:gd name="connsiteX16" fmla="*/ 3359 w 5149751"/>
              <a:gd name="connsiteY16" fmla="*/ 2739746 h 3346171"/>
              <a:gd name="connsiteX17" fmla="*/ 0 w 5149751"/>
              <a:gd name="connsiteY17" fmla="*/ 2671483 h 3346171"/>
              <a:gd name="connsiteX18" fmla="*/ 3359 w 5149751"/>
              <a:gd name="connsiteY18" fmla="*/ 2601633 h 3346171"/>
              <a:gd name="connsiteX19" fmla="*/ 11757 w 5149751"/>
              <a:gd name="connsiteY19" fmla="*/ 2544483 h 3346171"/>
              <a:gd name="connsiteX20" fmla="*/ 23514 w 5149751"/>
              <a:gd name="connsiteY20" fmla="*/ 2492096 h 3346171"/>
              <a:gd name="connsiteX21" fmla="*/ 38631 w 5149751"/>
              <a:gd name="connsiteY21" fmla="*/ 2444471 h 3346171"/>
              <a:gd name="connsiteX22" fmla="*/ 55427 w 5149751"/>
              <a:gd name="connsiteY22" fmla="*/ 2403196 h 3346171"/>
              <a:gd name="connsiteX23" fmla="*/ 75582 w 5149751"/>
              <a:gd name="connsiteY23" fmla="*/ 2365096 h 3346171"/>
              <a:gd name="connsiteX24" fmla="*/ 95737 w 5149751"/>
              <a:gd name="connsiteY24" fmla="*/ 2328583 h 3346171"/>
              <a:gd name="connsiteX25" fmla="*/ 115892 w 5149751"/>
              <a:gd name="connsiteY25" fmla="*/ 2290483 h 3346171"/>
              <a:gd name="connsiteX26" fmla="*/ 134368 w 5149751"/>
              <a:gd name="connsiteY26" fmla="*/ 2250796 h 3346171"/>
              <a:gd name="connsiteX27" fmla="*/ 152844 w 5149751"/>
              <a:gd name="connsiteY27" fmla="*/ 2209521 h 3346171"/>
              <a:gd name="connsiteX28" fmla="*/ 167959 w 5149751"/>
              <a:gd name="connsiteY28" fmla="*/ 2163483 h 3346171"/>
              <a:gd name="connsiteX29" fmla="*/ 178037 w 5149751"/>
              <a:gd name="connsiteY29" fmla="*/ 2111096 h 3346171"/>
              <a:gd name="connsiteX30" fmla="*/ 188115 w 5149751"/>
              <a:gd name="connsiteY30" fmla="*/ 2050771 h 3346171"/>
              <a:gd name="connsiteX31" fmla="*/ 189795 w 5149751"/>
              <a:gd name="connsiteY31" fmla="*/ 1982508 h 3346171"/>
              <a:gd name="connsiteX32" fmla="*/ 188115 w 5149751"/>
              <a:gd name="connsiteY32" fmla="*/ 1914246 h 3346171"/>
              <a:gd name="connsiteX33" fmla="*/ 178037 w 5149751"/>
              <a:gd name="connsiteY33" fmla="*/ 1853921 h 3346171"/>
              <a:gd name="connsiteX34" fmla="*/ 167959 w 5149751"/>
              <a:gd name="connsiteY34" fmla="*/ 1801533 h 3346171"/>
              <a:gd name="connsiteX35" fmla="*/ 152844 w 5149751"/>
              <a:gd name="connsiteY35" fmla="*/ 1757083 h 3346171"/>
              <a:gd name="connsiteX36" fmla="*/ 134368 w 5149751"/>
              <a:gd name="connsiteY36" fmla="*/ 1714221 h 3346171"/>
              <a:gd name="connsiteX37" fmla="*/ 115892 w 5149751"/>
              <a:gd name="connsiteY37" fmla="*/ 1674533 h 3346171"/>
              <a:gd name="connsiteX38" fmla="*/ 95737 w 5149751"/>
              <a:gd name="connsiteY38" fmla="*/ 1638021 h 3346171"/>
              <a:gd name="connsiteX39" fmla="*/ 75582 w 5149751"/>
              <a:gd name="connsiteY39" fmla="*/ 1603096 h 3346171"/>
              <a:gd name="connsiteX40" fmla="*/ 55427 w 5149751"/>
              <a:gd name="connsiteY40" fmla="*/ 1563408 h 3346171"/>
              <a:gd name="connsiteX41" fmla="*/ 38631 w 5149751"/>
              <a:gd name="connsiteY41" fmla="*/ 1522133 h 3346171"/>
              <a:gd name="connsiteX42" fmla="*/ 23514 w 5149751"/>
              <a:gd name="connsiteY42" fmla="*/ 1476096 h 3346171"/>
              <a:gd name="connsiteX43" fmla="*/ 11757 w 5149751"/>
              <a:gd name="connsiteY43" fmla="*/ 1423708 h 3346171"/>
              <a:gd name="connsiteX44" fmla="*/ 3359 w 5149751"/>
              <a:gd name="connsiteY44" fmla="*/ 1363383 h 3346171"/>
              <a:gd name="connsiteX45" fmla="*/ 0 w 5149751"/>
              <a:gd name="connsiteY45" fmla="*/ 1295121 h 3346171"/>
              <a:gd name="connsiteX46" fmla="*/ 3359 w 5149751"/>
              <a:gd name="connsiteY46" fmla="*/ 1226858 h 3346171"/>
              <a:gd name="connsiteX47" fmla="*/ 11757 w 5149751"/>
              <a:gd name="connsiteY47" fmla="*/ 1166533 h 3346171"/>
              <a:gd name="connsiteX48" fmla="*/ 23514 w 5149751"/>
              <a:gd name="connsiteY48" fmla="*/ 1114146 h 3346171"/>
              <a:gd name="connsiteX49" fmla="*/ 38631 w 5149751"/>
              <a:gd name="connsiteY49" fmla="*/ 1068108 h 3346171"/>
              <a:gd name="connsiteX50" fmla="*/ 55427 w 5149751"/>
              <a:gd name="connsiteY50" fmla="*/ 1025246 h 3346171"/>
              <a:gd name="connsiteX51" fmla="*/ 75582 w 5149751"/>
              <a:gd name="connsiteY51" fmla="*/ 987146 h 3346171"/>
              <a:gd name="connsiteX52" fmla="*/ 115892 w 5149751"/>
              <a:gd name="connsiteY52" fmla="*/ 912533 h 3346171"/>
              <a:gd name="connsiteX53" fmla="*/ 134368 w 5149751"/>
              <a:gd name="connsiteY53" fmla="*/ 874433 h 3346171"/>
              <a:gd name="connsiteX54" fmla="*/ 152844 w 5149751"/>
              <a:gd name="connsiteY54" fmla="*/ 831571 h 3346171"/>
              <a:gd name="connsiteX55" fmla="*/ 167959 w 5149751"/>
              <a:gd name="connsiteY55" fmla="*/ 785533 h 3346171"/>
              <a:gd name="connsiteX56" fmla="*/ 178037 w 5149751"/>
              <a:gd name="connsiteY56" fmla="*/ 733146 h 3346171"/>
              <a:gd name="connsiteX57" fmla="*/ 188115 w 5149751"/>
              <a:gd name="connsiteY57" fmla="*/ 674408 h 3346171"/>
              <a:gd name="connsiteX58" fmla="*/ 189795 w 5149751"/>
              <a:gd name="connsiteY58" fmla="*/ 604558 h 3346171"/>
              <a:gd name="connsiteX59" fmla="*/ 188115 w 5149751"/>
              <a:gd name="connsiteY59" fmla="*/ 536296 h 3346171"/>
              <a:gd name="connsiteX60" fmla="*/ 178037 w 5149751"/>
              <a:gd name="connsiteY60" fmla="*/ 475971 h 3346171"/>
              <a:gd name="connsiteX61" fmla="*/ 167959 w 5149751"/>
              <a:gd name="connsiteY61" fmla="*/ 423583 h 3346171"/>
              <a:gd name="connsiteX62" fmla="*/ 152844 w 5149751"/>
              <a:gd name="connsiteY62" fmla="*/ 379133 h 3346171"/>
              <a:gd name="connsiteX63" fmla="*/ 134368 w 5149751"/>
              <a:gd name="connsiteY63" fmla="*/ 336271 h 3346171"/>
              <a:gd name="connsiteX64" fmla="*/ 115892 w 5149751"/>
              <a:gd name="connsiteY64" fmla="*/ 299758 h 3346171"/>
              <a:gd name="connsiteX65" fmla="*/ 75582 w 5149751"/>
              <a:gd name="connsiteY65" fmla="*/ 225146 h 3346171"/>
              <a:gd name="connsiteX66" fmla="*/ 55427 w 5149751"/>
              <a:gd name="connsiteY66" fmla="*/ 185458 h 3346171"/>
              <a:gd name="connsiteX67" fmla="*/ 38631 w 5149751"/>
              <a:gd name="connsiteY67" fmla="*/ 144183 h 3346171"/>
              <a:gd name="connsiteX68" fmla="*/ 23514 w 5149751"/>
              <a:gd name="connsiteY68" fmla="*/ 98146 h 3346171"/>
              <a:gd name="connsiteX69" fmla="*/ 11757 w 5149751"/>
              <a:gd name="connsiteY69" fmla="*/ 45758 h 33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149751" h="3346171">
                <a:moveTo>
                  <a:pt x="5387" y="0"/>
                </a:moveTo>
                <a:lnTo>
                  <a:pt x="5149751" y="0"/>
                </a:lnTo>
                <a:lnTo>
                  <a:pt x="5149751" y="3346171"/>
                </a:lnTo>
                <a:lnTo>
                  <a:pt x="189795" y="3346171"/>
                </a:lnTo>
                <a:lnTo>
                  <a:pt x="184755" y="3279496"/>
                </a:lnTo>
                <a:lnTo>
                  <a:pt x="176358" y="3223933"/>
                </a:lnTo>
                <a:lnTo>
                  <a:pt x="166280" y="3171546"/>
                </a:lnTo>
                <a:lnTo>
                  <a:pt x="149484" y="3128683"/>
                </a:lnTo>
                <a:lnTo>
                  <a:pt x="132688" y="3085821"/>
                </a:lnTo>
                <a:lnTo>
                  <a:pt x="112533" y="3049308"/>
                </a:lnTo>
                <a:lnTo>
                  <a:pt x="92378" y="3011208"/>
                </a:lnTo>
                <a:lnTo>
                  <a:pt x="73902" y="2976283"/>
                </a:lnTo>
                <a:lnTo>
                  <a:pt x="55427" y="2936596"/>
                </a:lnTo>
                <a:lnTo>
                  <a:pt x="38631" y="2895321"/>
                </a:lnTo>
                <a:lnTo>
                  <a:pt x="23514" y="2849283"/>
                </a:lnTo>
                <a:lnTo>
                  <a:pt x="11757" y="2800071"/>
                </a:lnTo>
                <a:lnTo>
                  <a:pt x="3359" y="2739746"/>
                </a:lnTo>
                <a:lnTo>
                  <a:pt x="0" y="2671483"/>
                </a:lnTo>
                <a:lnTo>
                  <a:pt x="3359" y="2601633"/>
                </a:lnTo>
                <a:lnTo>
                  <a:pt x="11757" y="2544483"/>
                </a:lnTo>
                <a:lnTo>
                  <a:pt x="23514" y="2492096"/>
                </a:lnTo>
                <a:lnTo>
                  <a:pt x="38631" y="2444471"/>
                </a:lnTo>
                <a:lnTo>
                  <a:pt x="55427" y="2403196"/>
                </a:lnTo>
                <a:lnTo>
                  <a:pt x="75582" y="2365096"/>
                </a:lnTo>
                <a:lnTo>
                  <a:pt x="95737" y="2328583"/>
                </a:lnTo>
                <a:lnTo>
                  <a:pt x="115892" y="2290483"/>
                </a:lnTo>
                <a:lnTo>
                  <a:pt x="134368" y="2250796"/>
                </a:lnTo>
                <a:lnTo>
                  <a:pt x="152844" y="2209521"/>
                </a:lnTo>
                <a:lnTo>
                  <a:pt x="167959" y="2163483"/>
                </a:lnTo>
                <a:lnTo>
                  <a:pt x="178037" y="2111096"/>
                </a:lnTo>
                <a:lnTo>
                  <a:pt x="188115" y="2050771"/>
                </a:lnTo>
                <a:lnTo>
                  <a:pt x="189795" y="1982508"/>
                </a:lnTo>
                <a:lnTo>
                  <a:pt x="188115" y="1914246"/>
                </a:lnTo>
                <a:lnTo>
                  <a:pt x="178037" y="1853921"/>
                </a:lnTo>
                <a:lnTo>
                  <a:pt x="167959" y="1801533"/>
                </a:lnTo>
                <a:lnTo>
                  <a:pt x="152844" y="1757083"/>
                </a:lnTo>
                <a:lnTo>
                  <a:pt x="134368" y="1714221"/>
                </a:lnTo>
                <a:lnTo>
                  <a:pt x="115892" y="1674533"/>
                </a:lnTo>
                <a:lnTo>
                  <a:pt x="95737" y="1638021"/>
                </a:lnTo>
                <a:lnTo>
                  <a:pt x="75582" y="1603096"/>
                </a:lnTo>
                <a:lnTo>
                  <a:pt x="55427" y="1563408"/>
                </a:lnTo>
                <a:lnTo>
                  <a:pt x="38631" y="1522133"/>
                </a:lnTo>
                <a:lnTo>
                  <a:pt x="23514" y="1476096"/>
                </a:lnTo>
                <a:lnTo>
                  <a:pt x="11757" y="1423708"/>
                </a:lnTo>
                <a:lnTo>
                  <a:pt x="3359" y="1363383"/>
                </a:lnTo>
                <a:lnTo>
                  <a:pt x="0" y="1295121"/>
                </a:lnTo>
                <a:lnTo>
                  <a:pt x="3359" y="1226858"/>
                </a:lnTo>
                <a:lnTo>
                  <a:pt x="11757" y="1166533"/>
                </a:lnTo>
                <a:lnTo>
                  <a:pt x="23514" y="1114146"/>
                </a:lnTo>
                <a:lnTo>
                  <a:pt x="38631" y="1068108"/>
                </a:lnTo>
                <a:lnTo>
                  <a:pt x="55427" y="1025246"/>
                </a:lnTo>
                <a:lnTo>
                  <a:pt x="75582" y="987146"/>
                </a:lnTo>
                <a:lnTo>
                  <a:pt x="115892" y="912533"/>
                </a:lnTo>
                <a:lnTo>
                  <a:pt x="134368" y="874433"/>
                </a:lnTo>
                <a:lnTo>
                  <a:pt x="152844" y="831571"/>
                </a:lnTo>
                <a:lnTo>
                  <a:pt x="167959" y="785533"/>
                </a:lnTo>
                <a:lnTo>
                  <a:pt x="178037" y="733146"/>
                </a:lnTo>
                <a:lnTo>
                  <a:pt x="188115" y="674408"/>
                </a:lnTo>
                <a:lnTo>
                  <a:pt x="189795" y="604558"/>
                </a:lnTo>
                <a:lnTo>
                  <a:pt x="188115" y="536296"/>
                </a:lnTo>
                <a:lnTo>
                  <a:pt x="178037" y="475971"/>
                </a:lnTo>
                <a:lnTo>
                  <a:pt x="167959" y="423583"/>
                </a:lnTo>
                <a:lnTo>
                  <a:pt x="152844" y="379133"/>
                </a:lnTo>
                <a:lnTo>
                  <a:pt x="134368" y="336271"/>
                </a:lnTo>
                <a:lnTo>
                  <a:pt x="115892" y="299758"/>
                </a:lnTo>
                <a:lnTo>
                  <a:pt x="75582" y="225146"/>
                </a:lnTo>
                <a:lnTo>
                  <a:pt x="55427" y="185458"/>
                </a:lnTo>
                <a:lnTo>
                  <a:pt x="38631" y="144183"/>
                </a:lnTo>
                <a:lnTo>
                  <a:pt x="23514" y="98146"/>
                </a:lnTo>
                <a:lnTo>
                  <a:pt x="11757" y="4575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8A687EE6-7607-CC75-1C7C-988DF47131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8068" y="3750734"/>
            <a:ext cx="3241687" cy="2520412"/>
          </a:xfrm>
          <a:prstGeom prst="rect">
            <a:avLst/>
          </a:prstGeom>
        </p:spPr>
      </p:pic>
    </p:spTree>
    <p:extLst>
      <p:ext uri="{BB962C8B-B14F-4D97-AF65-F5344CB8AC3E}">
        <p14:creationId xmlns:p14="http://schemas.microsoft.com/office/powerpoint/2010/main" val="3487270009"/>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Badge</Template>
  <TotalTime>337</TotalTime>
  <Words>996</Words>
  <Application>Microsoft Macintosh PowerPoint</Application>
  <PresentationFormat>Widescreen</PresentationFormat>
  <Paragraphs>84</Paragraphs>
  <Slides>11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Cambria Math</vt:lpstr>
      <vt:lpstr>Gill Sans MT</vt:lpstr>
      <vt:lpstr>Impact</vt:lpstr>
      <vt:lpstr>Badge</vt:lpstr>
      <vt:lpstr>AUTOENCODERS</vt:lpstr>
      <vt:lpstr>Unsupervised learning</vt:lpstr>
      <vt:lpstr>Autoencoders</vt:lpstr>
      <vt:lpstr>Encoder </vt:lpstr>
      <vt:lpstr>Bottle neck (latent space) </vt:lpstr>
      <vt:lpstr>Decoder </vt:lpstr>
      <vt:lpstr>Math </vt:lpstr>
      <vt:lpstr>Math: Hidden Layer</vt:lpstr>
      <vt:lpstr>Training the autoencoder</vt:lpstr>
      <vt:lpstr>Mean Squared error Loss Function</vt:lpstr>
      <vt:lpstr>My project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Hosseini, Tara</dc:creator>
  <cp:lastModifiedBy>Hosseini, Tara</cp:lastModifiedBy>
  <cp:revision>2</cp:revision>
  <dcterms:created xsi:type="dcterms:W3CDTF">2026-06-07T22:26:21Z</dcterms:created>
  <dcterms:modified xsi:type="dcterms:W3CDTF">2026-06-08T04:04:17Z</dcterms:modified>
</cp:coreProperties>
</file>