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2" r:id="rId5"/>
    <p:sldId id="259" r:id="rId6"/>
    <p:sldId id="260"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6/7/26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6/7/26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6/7/26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6/7/26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6/7/26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6/7/26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6/7/26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6/7/26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6/7/26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6/7/26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6/7/26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6/7/26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0.png"/><Relationship Id="rId7" Type="http://schemas.openxmlformats.org/officeDocument/2006/relationships/image" Target="../media/image9.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938D-7604-F5EE-091E-93FB7B6ED06C}"/>
              </a:ext>
            </a:extLst>
          </p:cNvPr>
          <p:cNvSpPr>
            <a:spLocks noGrp="1"/>
          </p:cNvSpPr>
          <p:nvPr>
            <p:ph type="ctrTitle"/>
          </p:nvPr>
        </p:nvSpPr>
        <p:spPr>
          <a:xfrm>
            <a:off x="3005224" y="1993595"/>
            <a:ext cx="5518066" cy="2268559"/>
          </a:xfrm>
        </p:spPr>
        <p:txBody>
          <a:bodyPr>
            <a:normAutofit fontScale="90000"/>
          </a:bodyPr>
          <a:lstStyle/>
          <a:p>
            <a:r>
              <a:rPr lang="en-US" b="1" dirty="0" err="1"/>
              <a:t>XGBoost</a:t>
            </a:r>
            <a:r>
              <a:rPr lang="en-US" b="1" dirty="0"/>
              <a:t>: Regularization Framework-Tree Complexity Penalties</a:t>
            </a:r>
          </a:p>
        </p:txBody>
      </p:sp>
      <p:sp>
        <p:nvSpPr>
          <p:cNvPr id="3" name="Subtitle 2">
            <a:extLst>
              <a:ext uri="{FF2B5EF4-FFF2-40B4-BE49-F238E27FC236}">
                <a16:creationId xmlns:a16="http://schemas.microsoft.com/office/drawing/2014/main" id="{C747F863-3F70-8EC4-66AF-D00D8016B44C}"/>
              </a:ext>
            </a:extLst>
          </p:cNvPr>
          <p:cNvSpPr>
            <a:spLocks noGrp="1"/>
          </p:cNvSpPr>
          <p:nvPr>
            <p:ph type="subTitle" idx="1"/>
          </p:nvPr>
        </p:nvSpPr>
        <p:spPr>
          <a:xfrm>
            <a:off x="3133781" y="5251219"/>
            <a:ext cx="5357600" cy="1160213"/>
          </a:xfrm>
        </p:spPr>
        <p:txBody>
          <a:bodyPr/>
          <a:lstStyle/>
          <a:p>
            <a:r>
              <a:rPr lang="en-US" b="1" dirty="0"/>
              <a:t>By Audrey Su, </a:t>
            </a:r>
            <a:r>
              <a:rPr lang="en-US" b="1" dirty="0" err="1"/>
              <a:t>Datasci</a:t>
            </a:r>
            <a:r>
              <a:rPr lang="en-US" b="1" dirty="0"/>
              <a:t> 224</a:t>
            </a:r>
          </a:p>
        </p:txBody>
      </p:sp>
      <p:pic>
        <p:nvPicPr>
          <p:cNvPr id="2050" name="Picture 2" descr="XGBoost Playground | Machine Learning | Data Science">
            <a:extLst>
              <a:ext uri="{FF2B5EF4-FFF2-40B4-BE49-F238E27FC236}">
                <a16:creationId xmlns:a16="http://schemas.microsoft.com/office/drawing/2014/main" id="{9CC4B087-1E53-8A73-93C7-F97CDAC84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326" y="164132"/>
            <a:ext cx="2155930" cy="2155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206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3FB550-F522-8C7F-FD5C-2C1DE84DE836}"/>
              </a:ext>
            </a:extLst>
          </p:cNvPr>
          <p:cNvSpPr>
            <a:spLocks noGrp="1"/>
          </p:cNvSpPr>
          <p:nvPr>
            <p:ph type="title"/>
          </p:nvPr>
        </p:nvSpPr>
        <p:spPr/>
        <p:txBody>
          <a:bodyPr>
            <a:normAutofit/>
          </a:bodyPr>
          <a:lstStyle/>
          <a:p>
            <a:r>
              <a:rPr lang="en-US" sz="4200" b="1" dirty="0" err="1"/>
              <a:t>XGBoost</a:t>
            </a:r>
            <a:r>
              <a:rPr lang="en-US" sz="4200" b="1" dirty="0"/>
              <a:t> versus Gradient Boosted Trees</a:t>
            </a:r>
          </a:p>
        </p:txBody>
      </p:sp>
      <p:sp>
        <p:nvSpPr>
          <p:cNvPr id="5" name="Text Placeholder 4">
            <a:extLst>
              <a:ext uri="{FF2B5EF4-FFF2-40B4-BE49-F238E27FC236}">
                <a16:creationId xmlns:a16="http://schemas.microsoft.com/office/drawing/2014/main" id="{DE735452-150A-197C-133B-2C9278A54522}"/>
              </a:ext>
            </a:extLst>
          </p:cNvPr>
          <p:cNvSpPr>
            <a:spLocks noGrp="1"/>
          </p:cNvSpPr>
          <p:nvPr>
            <p:ph type="body" idx="1"/>
          </p:nvPr>
        </p:nvSpPr>
        <p:spPr/>
        <p:txBody>
          <a:bodyPr/>
          <a:lstStyle/>
          <a:p>
            <a:endParaRPr lang="en-US"/>
          </a:p>
        </p:txBody>
      </p:sp>
      <p:pic>
        <p:nvPicPr>
          <p:cNvPr id="3074" name="Picture 2" descr="decision tree Icon - Free PNG &amp; SVG 1119933 - Noun Project">
            <a:extLst>
              <a:ext uri="{FF2B5EF4-FFF2-40B4-BE49-F238E27FC236}">
                <a16:creationId xmlns:a16="http://schemas.microsoft.com/office/drawing/2014/main" id="{9593ACF4-A7A6-D69A-3E2A-F05850316B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2227" y="263712"/>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431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B0796-6824-5A45-48F2-ABD235CE04BC}"/>
              </a:ext>
            </a:extLst>
          </p:cNvPr>
          <p:cNvSpPr>
            <a:spLocks noGrp="1"/>
          </p:cNvSpPr>
          <p:nvPr>
            <p:ph type="title"/>
          </p:nvPr>
        </p:nvSpPr>
        <p:spPr/>
        <p:txBody>
          <a:bodyPr/>
          <a:lstStyle/>
          <a:p>
            <a:r>
              <a:rPr lang="en-US" b="1" dirty="0"/>
              <a:t>How </a:t>
            </a:r>
            <a:r>
              <a:rPr lang="en-US" b="1" dirty="0" err="1"/>
              <a:t>XGBoost</a:t>
            </a:r>
            <a:r>
              <a:rPr lang="en-US" b="1" dirty="0"/>
              <a:t> Differs From Gradient Boosted Trees</a:t>
            </a:r>
          </a:p>
        </p:txBody>
      </p:sp>
      <p:sp>
        <p:nvSpPr>
          <p:cNvPr id="3" name="Content Placeholder 2">
            <a:extLst>
              <a:ext uri="{FF2B5EF4-FFF2-40B4-BE49-F238E27FC236}">
                <a16:creationId xmlns:a16="http://schemas.microsoft.com/office/drawing/2014/main" id="{F0FF630B-C904-4D38-B5E6-AA979F7FC474}"/>
              </a:ext>
            </a:extLst>
          </p:cNvPr>
          <p:cNvSpPr>
            <a:spLocks noGrp="1"/>
          </p:cNvSpPr>
          <p:nvPr>
            <p:ph idx="1"/>
          </p:nvPr>
        </p:nvSpPr>
        <p:spPr>
          <a:xfrm>
            <a:off x="2211572" y="2052116"/>
            <a:ext cx="8358567" cy="4455010"/>
          </a:xfrm>
        </p:spPr>
        <p:txBody>
          <a:bodyPr>
            <a:normAutofit fontScale="85000" lnSpcReduction="20000"/>
          </a:bodyPr>
          <a:lstStyle/>
          <a:p>
            <a:r>
              <a:rPr lang="en-US" b="1" u="sng" dirty="0"/>
              <a:t>Gradient Boosted Trees</a:t>
            </a:r>
            <a:r>
              <a:rPr lang="en-US" b="1" dirty="0"/>
              <a:t>: an ensemble learning method that builds decision trees sequentially using boosting</a:t>
            </a:r>
          </a:p>
          <a:p>
            <a:pPr lvl="1"/>
            <a:r>
              <a:rPr lang="en-US" b="1" dirty="0"/>
              <a:t>starts off by fitting an initial “weak learner” decision tree to the data</a:t>
            </a:r>
          </a:p>
          <a:p>
            <a:pPr lvl="1"/>
            <a:r>
              <a:rPr lang="en-US" b="1" dirty="0"/>
              <a:t>at each training iteration computes </a:t>
            </a:r>
            <a:r>
              <a:rPr lang="en-US" b="1"/>
              <a:t>the negative gradient </a:t>
            </a:r>
            <a:r>
              <a:rPr lang="en-US" b="1" dirty="0"/>
              <a:t>of the loss function with respect to the current predictions to help create a new decision tree that attempts to correct the errors of the previous ensemble</a:t>
            </a:r>
          </a:p>
          <a:p>
            <a:r>
              <a:rPr lang="en-US" b="1" u="sng" dirty="0" err="1"/>
              <a:t>XGBoost</a:t>
            </a:r>
            <a:r>
              <a:rPr lang="en-US" b="1" dirty="0"/>
              <a:t>: an ensemble learning method that builds decision trees sequentially using boosting that was created with the intention of improving the Gradient Boosted Trees algorithm</a:t>
            </a:r>
          </a:p>
          <a:p>
            <a:pPr lvl="1"/>
            <a:r>
              <a:rPr lang="en-US" b="1" dirty="0"/>
              <a:t>Faster</a:t>
            </a:r>
          </a:p>
          <a:p>
            <a:pPr lvl="1"/>
            <a:r>
              <a:rPr lang="en-US" b="1" dirty="0"/>
              <a:t>More accurate</a:t>
            </a:r>
          </a:p>
          <a:p>
            <a:pPr lvl="1"/>
            <a:r>
              <a:rPr lang="en-US" b="1" dirty="0"/>
              <a:t>More scalable</a:t>
            </a:r>
          </a:p>
          <a:p>
            <a:pPr lvl="1"/>
            <a:r>
              <a:rPr lang="en-US" b="1" dirty="0"/>
              <a:t>More resistant to overfitting [1]</a:t>
            </a:r>
          </a:p>
          <a:p>
            <a:pPr lvl="1"/>
            <a:endParaRPr lang="en-US" b="1" dirty="0"/>
          </a:p>
        </p:txBody>
      </p:sp>
    </p:spTree>
    <p:extLst>
      <p:ext uri="{BB962C8B-B14F-4D97-AF65-F5344CB8AC3E}">
        <p14:creationId xmlns:p14="http://schemas.microsoft.com/office/powerpoint/2010/main" val="1140970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9830B-B73F-A84B-EB0B-09D01E95ACF1}"/>
              </a:ext>
            </a:extLst>
          </p:cNvPr>
          <p:cNvSpPr>
            <a:spLocks noGrp="1"/>
          </p:cNvSpPr>
          <p:nvPr>
            <p:ph type="title"/>
          </p:nvPr>
        </p:nvSpPr>
        <p:spPr>
          <a:xfrm>
            <a:off x="2609873" y="3083456"/>
            <a:ext cx="7956560" cy="1424746"/>
          </a:xfrm>
        </p:spPr>
        <p:txBody>
          <a:bodyPr>
            <a:normAutofit/>
          </a:bodyPr>
          <a:lstStyle/>
          <a:p>
            <a:r>
              <a:rPr lang="en-US" sz="4200" b="1" dirty="0" err="1"/>
              <a:t>XGBoost’s</a:t>
            </a:r>
            <a:r>
              <a:rPr lang="en-US" sz="4200" b="1" dirty="0"/>
              <a:t> Regularization Framework</a:t>
            </a:r>
          </a:p>
        </p:txBody>
      </p:sp>
      <p:pic>
        <p:nvPicPr>
          <p:cNvPr id="4098" name="Picture 2" descr="Framework - Free networking icons">
            <a:extLst>
              <a:ext uri="{FF2B5EF4-FFF2-40B4-BE49-F238E27FC236}">
                <a16:creationId xmlns:a16="http://schemas.microsoft.com/office/drawing/2014/main" id="{DC44B1F5-CAB5-04FB-1C7D-AE6C9B3F7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0178" y="249276"/>
            <a:ext cx="2430130" cy="2430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697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17BFF-A368-09B7-290C-4B445FDB73DC}"/>
              </a:ext>
            </a:extLst>
          </p:cNvPr>
          <p:cNvSpPr>
            <a:spLocks noGrp="1"/>
          </p:cNvSpPr>
          <p:nvPr>
            <p:ph type="title"/>
          </p:nvPr>
        </p:nvSpPr>
        <p:spPr/>
        <p:txBody>
          <a:bodyPr/>
          <a:lstStyle/>
          <a:p>
            <a:r>
              <a:rPr lang="en-US" b="1" dirty="0"/>
              <a:t>Regularized Objective Function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739A991-8726-5099-6AE2-45A4C83594A0}"/>
                  </a:ext>
                </a:extLst>
              </p:cNvPr>
              <p:cNvSpPr txBox="1"/>
              <p:nvPr/>
            </p:nvSpPr>
            <p:spPr>
              <a:xfrm>
                <a:off x="1727792" y="2436790"/>
                <a:ext cx="6751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𝒏</m:t>
                      </m:r>
                    </m:oMath>
                  </m:oMathPara>
                </a14:m>
                <a:endParaRPr lang="en-US" sz="2000" b="1" dirty="0"/>
              </a:p>
            </p:txBody>
          </p:sp>
        </mc:Choice>
        <mc:Fallback xmlns="">
          <p:sp>
            <p:nvSpPr>
              <p:cNvPr id="6" name="TextBox 5">
                <a:extLst>
                  <a:ext uri="{FF2B5EF4-FFF2-40B4-BE49-F238E27FC236}">
                    <a16:creationId xmlns:a16="http://schemas.microsoft.com/office/drawing/2014/main" id="{C739A991-8726-5099-6AE2-45A4C83594A0}"/>
                  </a:ext>
                </a:extLst>
              </p:cNvPr>
              <p:cNvSpPr txBox="1">
                <a:spLocks noRot="1" noChangeAspect="1" noMove="1" noResize="1" noEditPoints="1" noAdjustHandles="1" noChangeArrowheads="1" noChangeShapeType="1" noTextEdit="1"/>
              </p:cNvSpPr>
              <p:nvPr/>
            </p:nvSpPr>
            <p:spPr>
              <a:xfrm>
                <a:off x="1727792" y="2436790"/>
                <a:ext cx="675168" cy="307777"/>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92BBA3A-3DEE-597A-8AFA-41900ADB96A2}"/>
              </a:ext>
            </a:extLst>
          </p:cNvPr>
          <p:cNvSpPr txBox="1"/>
          <p:nvPr/>
        </p:nvSpPr>
        <p:spPr>
          <a:xfrm>
            <a:off x="2126510" y="2406012"/>
            <a:ext cx="3636337" cy="369332"/>
          </a:xfrm>
          <a:prstGeom prst="rect">
            <a:avLst/>
          </a:prstGeom>
          <a:noFill/>
        </p:spPr>
        <p:txBody>
          <a:bodyPr wrap="square" rtlCol="0">
            <a:spAutoFit/>
          </a:bodyPr>
          <a:lstStyle/>
          <a:p>
            <a:r>
              <a:rPr lang="en-US" dirty="0"/>
              <a:t>= number of rows in dataset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3B94BF-3A37-6B2E-73DB-93385CBC2A11}"/>
                  </a:ext>
                </a:extLst>
              </p:cNvPr>
              <p:cNvSpPr txBox="1"/>
              <p:nvPr/>
            </p:nvSpPr>
            <p:spPr>
              <a:xfrm>
                <a:off x="1727792" y="2679648"/>
                <a:ext cx="6751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 </m:t>
                      </m:r>
                      <m:r>
                        <a:rPr lang="en-US" sz="2000" b="1" i="1" smtClean="0">
                          <a:latin typeface="Cambria Math" panose="02040503050406030204" pitchFamily="18" charset="0"/>
                        </a:rPr>
                        <m:t>𝒕</m:t>
                      </m:r>
                    </m:oMath>
                  </m:oMathPara>
                </a14:m>
                <a:endParaRPr lang="en-US" sz="2000" b="1" dirty="0"/>
              </a:p>
            </p:txBody>
          </p:sp>
        </mc:Choice>
        <mc:Fallback xmlns="">
          <p:sp>
            <p:nvSpPr>
              <p:cNvPr id="8" name="TextBox 7">
                <a:extLst>
                  <a:ext uri="{FF2B5EF4-FFF2-40B4-BE49-F238E27FC236}">
                    <a16:creationId xmlns:a16="http://schemas.microsoft.com/office/drawing/2014/main" id="{7A3B94BF-3A37-6B2E-73DB-93385CBC2A11}"/>
                  </a:ext>
                </a:extLst>
              </p:cNvPr>
              <p:cNvSpPr txBox="1">
                <a:spLocks noRot="1" noChangeAspect="1" noMove="1" noResize="1" noEditPoints="1" noAdjustHandles="1" noChangeArrowheads="1" noChangeShapeType="1" noTextEdit="1"/>
              </p:cNvSpPr>
              <p:nvPr/>
            </p:nvSpPr>
            <p:spPr>
              <a:xfrm>
                <a:off x="1727792" y="2679648"/>
                <a:ext cx="675168" cy="307777"/>
              </a:xfrm>
              <a:prstGeom prst="rect">
                <a:avLst/>
              </a:prstGeom>
              <a:blipFill>
                <a:blip r:embed="rId3"/>
                <a:stretch>
                  <a:fillRect t="-8000" b="-3600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FE90E97-E53D-7D6C-A4C2-8FBAE40C8982}"/>
              </a:ext>
            </a:extLst>
          </p:cNvPr>
          <p:cNvSpPr txBox="1"/>
          <p:nvPr/>
        </p:nvSpPr>
        <p:spPr>
          <a:xfrm>
            <a:off x="2126509" y="2648870"/>
            <a:ext cx="8443629" cy="369332"/>
          </a:xfrm>
          <a:prstGeom prst="rect">
            <a:avLst/>
          </a:prstGeom>
          <a:noFill/>
        </p:spPr>
        <p:txBody>
          <a:bodyPr wrap="square" rtlCol="0">
            <a:spAutoFit/>
          </a:bodyPr>
          <a:lstStyle/>
          <a:p>
            <a:r>
              <a:rPr lang="en-US" dirty="0"/>
              <a:t>= iteration number of </a:t>
            </a:r>
            <a:r>
              <a:rPr lang="en-US" dirty="0" err="1"/>
              <a:t>XGBoost</a:t>
            </a:r>
            <a:r>
              <a:rPr lang="en-US" dirty="0"/>
              <a:t> algorithm</a:t>
            </a:r>
          </a:p>
        </p:txBody>
      </p:sp>
      <p:sp>
        <p:nvSpPr>
          <p:cNvPr id="14" name="TextBox 13">
            <a:extLst>
              <a:ext uri="{FF2B5EF4-FFF2-40B4-BE49-F238E27FC236}">
                <a16:creationId xmlns:a16="http://schemas.microsoft.com/office/drawing/2014/main" id="{D2ABB46F-29DA-59D7-460D-A9905C8B78A6}"/>
              </a:ext>
            </a:extLst>
          </p:cNvPr>
          <p:cNvSpPr txBox="1"/>
          <p:nvPr/>
        </p:nvSpPr>
        <p:spPr>
          <a:xfrm>
            <a:off x="5103632" y="4746300"/>
            <a:ext cx="2126512" cy="369332"/>
          </a:xfrm>
          <a:prstGeom prst="rect">
            <a:avLst/>
          </a:prstGeom>
          <a:noFill/>
        </p:spPr>
        <p:txBody>
          <a:bodyPr wrap="square" rtlCol="0">
            <a:spAutoFit/>
          </a:bodyPr>
          <a:lstStyle/>
          <a:p>
            <a:r>
              <a:rPr lang="en-US" dirty="0"/>
              <a:t>is the loss function </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02F776B-8EC7-ADBD-32CD-9A85E1D4F9F1}"/>
                  </a:ext>
                </a:extLst>
              </p:cNvPr>
              <p:cNvSpPr txBox="1"/>
              <p:nvPr/>
            </p:nvSpPr>
            <p:spPr>
              <a:xfrm>
                <a:off x="1731331" y="3182934"/>
                <a:ext cx="6751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𝒊</m:t>
                          </m:r>
                        </m:sub>
                      </m:sSub>
                    </m:oMath>
                  </m:oMathPara>
                </a14:m>
                <a:endParaRPr lang="en-US" sz="2000" b="1" dirty="0"/>
              </a:p>
            </p:txBody>
          </p:sp>
        </mc:Choice>
        <mc:Fallback xmlns="">
          <p:sp>
            <p:nvSpPr>
              <p:cNvPr id="15" name="TextBox 14">
                <a:extLst>
                  <a:ext uri="{FF2B5EF4-FFF2-40B4-BE49-F238E27FC236}">
                    <a16:creationId xmlns:a16="http://schemas.microsoft.com/office/drawing/2014/main" id="{C02F776B-8EC7-ADBD-32CD-9A85E1D4F9F1}"/>
                  </a:ext>
                </a:extLst>
              </p:cNvPr>
              <p:cNvSpPr txBox="1">
                <a:spLocks noRot="1" noChangeAspect="1" noMove="1" noResize="1" noEditPoints="1" noAdjustHandles="1" noChangeArrowheads="1" noChangeShapeType="1" noTextEdit="1"/>
              </p:cNvSpPr>
              <p:nvPr/>
            </p:nvSpPr>
            <p:spPr>
              <a:xfrm>
                <a:off x="1731331" y="3182934"/>
                <a:ext cx="675168" cy="307777"/>
              </a:xfrm>
              <a:prstGeom prst="rect">
                <a:avLst/>
              </a:prstGeom>
              <a:blipFill>
                <a:blip r:embed="rId5"/>
                <a:stretch>
                  <a:fillRect t="-7692" b="-34615"/>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8DBF36FD-4BB9-2C6E-AEC8-CBBA7118ED9C}"/>
              </a:ext>
            </a:extLst>
          </p:cNvPr>
          <p:cNvSpPr txBox="1"/>
          <p:nvPr/>
        </p:nvSpPr>
        <p:spPr>
          <a:xfrm>
            <a:off x="2130048" y="3152156"/>
            <a:ext cx="8443629" cy="369332"/>
          </a:xfrm>
          <a:prstGeom prst="rect">
            <a:avLst/>
          </a:prstGeom>
          <a:noFill/>
        </p:spPr>
        <p:txBody>
          <a:bodyPr wrap="square" rtlCol="0">
            <a:spAutoFit/>
          </a:bodyPr>
          <a:lstStyle/>
          <a:p>
            <a:r>
              <a:rPr lang="en-US" dirty="0"/>
              <a:t>= the true label for the </a:t>
            </a:r>
            <a:r>
              <a:rPr lang="en-US" dirty="0" err="1"/>
              <a:t>ith</a:t>
            </a:r>
            <a:r>
              <a:rPr lang="en-US" dirty="0"/>
              <a:t> row in the dataset</a:t>
            </a:r>
          </a:p>
        </p:txBody>
      </p:sp>
      <p:sp>
        <p:nvSpPr>
          <p:cNvPr id="21" name="TextBox 20">
            <a:extLst>
              <a:ext uri="{FF2B5EF4-FFF2-40B4-BE49-F238E27FC236}">
                <a16:creationId xmlns:a16="http://schemas.microsoft.com/office/drawing/2014/main" id="{050720E6-EE53-21D3-5ACF-37EFB8049349}"/>
              </a:ext>
            </a:extLst>
          </p:cNvPr>
          <p:cNvSpPr txBox="1"/>
          <p:nvPr/>
        </p:nvSpPr>
        <p:spPr>
          <a:xfrm>
            <a:off x="2126509" y="3612882"/>
            <a:ext cx="8443629" cy="646331"/>
          </a:xfrm>
          <a:prstGeom prst="rect">
            <a:avLst/>
          </a:prstGeom>
          <a:noFill/>
        </p:spPr>
        <p:txBody>
          <a:bodyPr wrap="square" rtlCol="0">
            <a:spAutoFit/>
          </a:bodyPr>
          <a:lstStyle/>
          <a:p>
            <a:r>
              <a:rPr lang="en-US" dirty="0"/>
              <a:t>= the ensemble’s prediction for row </a:t>
            </a:r>
            <a:r>
              <a:rPr lang="en-US" dirty="0" err="1"/>
              <a:t>i</a:t>
            </a:r>
            <a:r>
              <a:rPr lang="en-US" dirty="0"/>
              <a:t>, calculated before adding decision tree trained at iteration t to the ensemble </a:t>
            </a:r>
          </a:p>
        </p:txBody>
      </p:sp>
      <p:pic>
        <p:nvPicPr>
          <p:cNvPr id="25" name="Content Placeholder 24">
            <a:extLst>
              <a:ext uri="{FF2B5EF4-FFF2-40B4-BE49-F238E27FC236}">
                <a16:creationId xmlns:a16="http://schemas.microsoft.com/office/drawing/2014/main" id="{8F99A877-49D6-3B4D-AF00-8F562525890D}"/>
              </a:ext>
            </a:extLst>
          </p:cNvPr>
          <p:cNvPicPr>
            <a:picLocks noGrp="1" noChangeAspect="1"/>
          </p:cNvPicPr>
          <p:nvPr>
            <p:ph idx="1"/>
          </p:nvPr>
        </p:nvPicPr>
        <p:blipFill>
          <a:blip r:embed="rId6"/>
          <a:stretch>
            <a:fillRect/>
          </a:stretch>
        </p:blipFill>
        <p:spPr>
          <a:xfrm>
            <a:off x="1882050" y="1422095"/>
            <a:ext cx="9223545" cy="992130"/>
          </a:xfrm>
          <a:prstGeom prst="rect">
            <a:avLst/>
          </a:prstGeom>
        </p:spPr>
      </p:pic>
      <p:pic>
        <p:nvPicPr>
          <p:cNvPr id="27" name="Picture 26">
            <a:extLst>
              <a:ext uri="{FF2B5EF4-FFF2-40B4-BE49-F238E27FC236}">
                <a16:creationId xmlns:a16="http://schemas.microsoft.com/office/drawing/2014/main" id="{E60E1CD6-06A3-8A0A-520B-AB14192A5A53}"/>
              </a:ext>
            </a:extLst>
          </p:cNvPr>
          <p:cNvPicPr>
            <a:picLocks noChangeAspect="1"/>
          </p:cNvPicPr>
          <p:nvPr/>
        </p:nvPicPr>
        <p:blipFill>
          <a:blip r:embed="rId7"/>
          <a:stretch>
            <a:fillRect/>
          </a:stretch>
        </p:blipFill>
        <p:spPr>
          <a:xfrm>
            <a:off x="1493873" y="3563998"/>
            <a:ext cx="675168" cy="450112"/>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B4F6DF9-EBA5-DB35-9917-2F20182CD186}"/>
                  </a:ext>
                </a:extLst>
              </p:cNvPr>
              <p:cNvSpPr txBox="1"/>
              <p:nvPr/>
            </p:nvSpPr>
            <p:spPr>
              <a:xfrm>
                <a:off x="1741965" y="2927745"/>
                <a:ext cx="6751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𝒊</m:t>
                          </m:r>
                        </m:sub>
                      </m:sSub>
                    </m:oMath>
                  </m:oMathPara>
                </a14:m>
                <a:endParaRPr lang="en-US" sz="2000" b="1" dirty="0"/>
              </a:p>
            </p:txBody>
          </p:sp>
        </mc:Choice>
        <mc:Fallback xmlns="">
          <p:sp>
            <p:nvSpPr>
              <p:cNvPr id="28" name="TextBox 27">
                <a:extLst>
                  <a:ext uri="{FF2B5EF4-FFF2-40B4-BE49-F238E27FC236}">
                    <a16:creationId xmlns:a16="http://schemas.microsoft.com/office/drawing/2014/main" id="{CB4F6DF9-EBA5-DB35-9917-2F20182CD186}"/>
                  </a:ext>
                </a:extLst>
              </p:cNvPr>
              <p:cNvSpPr txBox="1">
                <a:spLocks noRot="1" noChangeAspect="1" noMove="1" noResize="1" noEditPoints="1" noAdjustHandles="1" noChangeArrowheads="1" noChangeShapeType="1" noTextEdit="1"/>
              </p:cNvSpPr>
              <p:nvPr/>
            </p:nvSpPr>
            <p:spPr>
              <a:xfrm>
                <a:off x="1741965" y="2927745"/>
                <a:ext cx="675168" cy="307777"/>
              </a:xfrm>
              <a:prstGeom prst="rect">
                <a:avLst/>
              </a:prstGeom>
              <a:blipFill>
                <a:blip r:embed="rId8"/>
                <a:stretch>
                  <a:fillRect t="-8000" b="-36000"/>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CBAE558E-838E-088C-8CD2-13C4BC13EEF5}"/>
              </a:ext>
            </a:extLst>
          </p:cNvPr>
          <p:cNvSpPr txBox="1"/>
          <p:nvPr/>
        </p:nvSpPr>
        <p:spPr>
          <a:xfrm>
            <a:off x="2140682" y="2896967"/>
            <a:ext cx="8443629" cy="369332"/>
          </a:xfrm>
          <a:prstGeom prst="rect">
            <a:avLst/>
          </a:prstGeom>
          <a:noFill/>
        </p:spPr>
        <p:txBody>
          <a:bodyPr wrap="square" rtlCol="0">
            <a:spAutoFit/>
          </a:bodyPr>
          <a:lstStyle/>
          <a:p>
            <a:r>
              <a:rPr lang="en-US" dirty="0"/>
              <a:t>= feature vector for the </a:t>
            </a:r>
            <a:r>
              <a:rPr lang="en-US" dirty="0" err="1"/>
              <a:t>ith</a:t>
            </a:r>
            <a:r>
              <a:rPr lang="en-US" dirty="0"/>
              <a:t> row in the dataset</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1F0561-B135-FB5E-39DD-F1FD3F9FDC0F}"/>
                  </a:ext>
                </a:extLst>
              </p:cNvPr>
              <p:cNvSpPr txBox="1"/>
              <p:nvPr/>
            </p:nvSpPr>
            <p:spPr>
              <a:xfrm>
                <a:off x="1734869" y="4175305"/>
                <a:ext cx="6751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𝒇</m:t>
                          </m:r>
                        </m:e>
                        <m:sub>
                          <m:r>
                            <a:rPr lang="en-US" sz="2000" b="1" i="1" smtClean="0">
                              <a:latin typeface="Cambria Math" panose="02040503050406030204" pitchFamily="18" charset="0"/>
                            </a:rPr>
                            <m:t>𝒕</m:t>
                          </m:r>
                        </m:sub>
                      </m:sSub>
                    </m:oMath>
                  </m:oMathPara>
                </a14:m>
                <a:endParaRPr lang="en-US" sz="2000" b="1" dirty="0"/>
              </a:p>
            </p:txBody>
          </p:sp>
        </mc:Choice>
        <mc:Fallback xmlns="">
          <p:sp>
            <p:nvSpPr>
              <p:cNvPr id="30" name="TextBox 29">
                <a:extLst>
                  <a:ext uri="{FF2B5EF4-FFF2-40B4-BE49-F238E27FC236}">
                    <a16:creationId xmlns:a16="http://schemas.microsoft.com/office/drawing/2014/main" id="{F11F0561-B135-FB5E-39DD-F1FD3F9FDC0F}"/>
                  </a:ext>
                </a:extLst>
              </p:cNvPr>
              <p:cNvSpPr txBox="1">
                <a:spLocks noRot="1" noChangeAspect="1" noMove="1" noResize="1" noEditPoints="1" noAdjustHandles="1" noChangeArrowheads="1" noChangeShapeType="1" noTextEdit="1"/>
              </p:cNvSpPr>
              <p:nvPr/>
            </p:nvSpPr>
            <p:spPr>
              <a:xfrm>
                <a:off x="1734869" y="4175305"/>
                <a:ext cx="675168" cy="307777"/>
              </a:xfrm>
              <a:prstGeom prst="rect">
                <a:avLst/>
              </a:prstGeom>
              <a:blipFill>
                <a:blip r:embed="rId9"/>
                <a:stretch>
                  <a:fillRect t="-8000" b="-40000"/>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1E752852-656B-66AB-2883-EF6AF8BE7760}"/>
              </a:ext>
            </a:extLst>
          </p:cNvPr>
          <p:cNvSpPr txBox="1"/>
          <p:nvPr/>
        </p:nvSpPr>
        <p:spPr>
          <a:xfrm>
            <a:off x="2133586" y="4144527"/>
            <a:ext cx="8443629" cy="369332"/>
          </a:xfrm>
          <a:prstGeom prst="rect">
            <a:avLst/>
          </a:prstGeom>
          <a:noFill/>
        </p:spPr>
        <p:txBody>
          <a:bodyPr wrap="square" rtlCol="0">
            <a:spAutoFit/>
          </a:bodyPr>
          <a:lstStyle/>
          <a:p>
            <a:r>
              <a:rPr lang="en-US" dirty="0"/>
              <a:t>= decision tree that was trained at iteration t</a:t>
            </a:r>
          </a:p>
        </p:txBody>
      </p:sp>
      <p:pic>
        <p:nvPicPr>
          <p:cNvPr id="35" name="Picture 34">
            <a:extLst>
              <a:ext uri="{FF2B5EF4-FFF2-40B4-BE49-F238E27FC236}">
                <a16:creationId xmlns:a16="http://schemas.microsoft.com/office/drawing/2014/main" id="{AC61BDF3-12ED-DDF5-1B8F-230DF80134DA}"/>
              </a:ext>
            </a:extLst>
          </p:cNvPr>
          <p:cNvPicPr>
            <a:picLocks noChangeAspect="1"/>
          </p:cNvPicPr>
          <p:nvPr/>
        </p:nvPicPr>
        <p:blipFill>
          <a:blip r:embed="rId10"/>
          <a:stretch>
            <a:fillRect/>
          </a:stretch>
        </p:blipFill>
        <p:spPr>
          <a:xfrm>
            <a:off x="1882051" y="5350947"/>
            <a:ext cx="1039479" cy="528858"/>
          </a:xfrm>
          <a:prstGeom prst="rect">
            <a:avLst/>
          </a:prstGeom>
        </p:spPr>
      </p:pic>
      <p:sp>
        <p:nvSpPr>
          <p:cNvPr id="36" name="TextBox 35">
            <a:extLst>
              <a:ext uri="{FF2B5EF4-FFF2-40B4-BE49-F238E27FC236}">
                <a16:creationId xmlns:a16="http://schemas.microsoft.com/office/drawing/2014/main" id="{FB4893E0-3630-1FB8-08D7-59877BC7B76A}"/>
              </a:ext>
            </a:extLst>
          </p:cNvPr>
          <p:cNvSpPr txBox="1"/>
          <p:nvPr/>
        </p:nvSpPr>
        <p:spPr>
          <a:xfrm>
            <a:off x="2921530" y="5401603"/>
            <a:ext cx="2800767" cy="369332"/>
          </a:xfrm>
          <a:prstGeom prst="rect">
            <a:avLst/>
          </a:prstGeom>
          <a:noFill/>
        </p:spPr>
        <p:txBody>
          <a:bodyPr wrap="none" rtlCol="0">
            <a:spAutoFit/>
          </a:bodyPr>
          <a:lstStyle/>
          <a:p>
            <a:r>
              <a:rPr lang="en-US" dirty="0"/>
              <a:t>the regularization term [1]</a:t>
            </a:r>
          </a:p>
        </p:txBody>
      </p:sp>
      <p:pic>
        <p:nvPicPr>
          <p:cNvPr id="10" name="Picture 9">
            <a:extLst>
              <a:ext uri="{FF2B5EF4-FFF2-40B4-BE49-F238E27FC236}">
                <a16:creationId xmlns:a16="http://schemas.microsoft.com/office/drawing/2014/main" id="{FC7645D9-5A10-882E-529F-DD8113D15CDA}"/>
              </a:ext>
            </a:extLst>
          </p:cNvPr>
          <p:cNvPicPr>
            <a:picLocks noChangeAspect="1"/>
          </p:cNvPicPr>
          <p:nvPr/>
        </p:nvPicPr>
        <p:blipFill>
          <a:blip r:embed="rId11"/>
          <a:stretch>
            <a:fillRect/>
          </a:stretch>
        </p:blipFill>
        <p:spPr>
          <a:xfrm>
            <a:off x="1881407" y="4644276"/>
            <a:ext cx="3222225" cy="580959"/>
          </a:xfrm>
          <a:prstGeom prst="rect">
            <a:avLst/>
          </a:prstGeom>
        </p:spPr>
      </p:pic>
    </p:spTree>
    <p:extLst>
      <p:ext uri="{BB962C8B-B14F-4D97-AF65-F5344CB8AC3E}">
        <p14:creationId xmlns:p14="http://schemas.microsoft.com/office/powerpoint/2010/main" val="167637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2E5D-3785-CEA0-A3C8-5868D76628E4}"/>
              </a:ext>
            </a:extLst>
          </p:cNvPr>
          <p:cNvSpPr>
            <a:spLocks noGrp="1"/>
          </p:cNvSpPr>
          <p:nvPr>
            <p:ph type="title"/>
          </p:nvPr>
        </p:nvSpPr>
        <p:spPr/>
        <p:txBody>
          <a:bodyPr/>
          <a:lstStyle/>
          <a:p>
            <a:r>
              <a:rPr lang="en-US" b="1" dirty="0"/>
              <a:t>The Regularization Term</a:t>
            </a:r>
          </a:p>
        </p:txBody>
      </p:sp>
      <p:pic>
        <p:nvPicPr>
          <p:cNvPr id="9" name="Picture 8">
            <a:extLst>
              <a:ext uri="{FF2B5EF4-FFF2-40B4-BE49-F238E27FC236}">
                <a16:creationId xmlns:a16="http://schemas.microsoft.com/office/drawing/2014/main" id="{2D6111EB-9D8A-4CBC-3EBF-4455CC843FBE}"/>
              </a:ext>
            </a:extLst>
          </p:cNvPr>
          <p:cNvPicPr>
            <a:picLocks noChangeAspect="1"/>
          </p:cNvPicPr>
          <p:nvPr/>
        </p:nvPicPr>
        <p:blipFill>
          <a:blip r:embed="rId2"/>
          <a:stretch>
            <a:fillRect/>
          </a:stretch>
        </p:blipFill>
        <p:spPr>
          <a:xfrm>
            <a:off x="2308689" y="1496926"/>
            <a:ext cx="8261450" cy="776717"/>
          </a:xfrm>
          <a:prstGeom prst="rect">
            <a:avLst/>
          </a:prstGeom>
        </p:spPr>
      </p:pic>
      <p:sp>
        <p:nvSpPr>
          <p:cNvPr id="12" name="Content Placeholder 2">
            <a:extLst>
              <a:ext uri="{FF2B5EF4-FFF2-40B4-BE49-F238E27FC236}">
                <a16:creationId xmlns:a16="http://schemas.microsoft.com/office/drawing/2014/main" id="{7A8547F3-688E-92B6-1789-8E445F870E4B}"/>
              </a:ext>
            </a:extLst>
          </p:cNvPr>
          <p:cNvSpPr>
            <a:spLocks noGrp="1"/>
          </p:cNvSpPr>
          <p:nvPr>
            <p:ph idx="1"/>
          </p:nvPr>
        </p:nvSpPr>
        <p:spPr>
          <a:xfrm>
            <a:off x="1799755" y="2632900"/>
            <a:ext cx="8358567" cy="4455010"/>
          </a:xfrm>
        </p:spPr>
        <p:txBody>
          <a:bodyPr>
            <a:normAutofit/>
          </a:bodyPr>
          <a:lstStyle/>
          <a:p>
            <a:pPr lvl="1"/>
            <a:r>
              <a:rPr lang="en-US" b="1" dirty="0"/>
              <a:t>The purpose of the regularization term is to penalize each decision tree trained at each iteration t for being too complex so that the overall ensemble of decision trees can generalize better to unseen data</a:t>
            </a:r>
          </a:p>
          <a:p>
            <a:pPr lvl="1"/>
            <a:r>
              <a:rPr lang="en-US" b="1" dirty="0"/>
              <a:t>Helps to prevent decision trees from memorizing noise or variations specific only to the training data</a:t>
            </a:r>
          </a:p>
          <a:p>
            <a:pPr lvl="1"/>
            <a:r>
              <a:rPr lang="en-US" b="1" dirty="0"/>
              <a:t>Instead incentivizes decision trees to learn overall patterns in the training data [1]</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4FEED8B-A7FC-553D-A79A-4338AC534C29}"/>
                  </a:ext>
                </a:extLst>
              </p:cNvPr>
              <p:cNvSpPr txBox="1"/>
              <p:nvPr/>
            </p:nvSpPr>
            <p:spPr>
              <a:xfrm>
                <a:off x="2073349" y="2638791"/>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𝑻</m:t>
                      </m:r>
                    </m:oMath>
                  </m:oMathPara>
                </a14:m>
                <a:endParaRPr lang="en-US" b="1" dirty="0"/>
              </a:p>
            </p:txBody>
          </p:sp>
        </mc:Choice>
        <mc:Fallback xmlns="">
          <p:sp>
            <p:nvSpPr>
              <p:cNvPr id="3" name="TextBox 2">
                <a:extLst>
                  <a:ext uri="{FF2B5EF4-FFF2-40B4-BE49-F238E27FC236}">
                    <a16:creationId xmlns:a16="http://schemas.microsoft.com/office/drawing/2014/main" id="{44FEED8B-A7FC-553D-A79A-4338AC534C29}"/>
                  </a:ext>
                </a:extLst>
              </p:cNvPr>
              <p:cNvSpPr txBox="1">
                <a:spLocks noRot="1" noChangeAspect="1" noMove="1" noResize="1" noEditPoints="1" noAdjustHandles="1" noChangeArrowheads="1" noChangeShapeType="1" noTextEdit="1"/>
              </p:cNvSpPr>
              <p:nvPr/>
            </p:nvSpPr>
            <p:spPr>
              <a:xfrm>
                <a:off x="2073349" y="2638791"/>
                <a:ext cx="829340" cy="276999"/>
              </a:xfrm>
              <a:prstGeom prst="rect">
                <a:avLst/>
              </a:prstGeom>
              <a:blipFill>
                <a:blip r:embed="rId3"/>
                <a:stretch>
                  <a:fillRect b="-869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A171D42-F901-061D-BC57-56769D25679A}"/>
              </a:ext>
            </a:extLst>
          </p:cNvPr>
          <p:cNvSpPr txBox="1"/>
          <p:nvPr/>
        </p:nvSpPr>
        <p:spPr>
          <a:xfrm>
            <a:off x="2488019" y="2592624"/>
            <a:ext cx="6256841" cy="369332"/>
          </a:xfrm>
          <a:prstGeom prst="rect">
            <a:avLst/>
          </a:prstGeom>
          <a:noFill/>
        </p:spPr>
        <p:txBody>
          <a:bodyPr wrap="none" rtlCol="0">
            <a:spAutoFit/>
          </a:bodyPr>
          <a:lstStyle/>
          <a:p>
            <a:r>
              <a:rPr lang="en-US" dirty="0"/>
              <a:t>= number of leaves in the decision tree trained at iteration 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6400CF0-774E-B8F1-C1B8-E10150C823E5}"/>
                  </a:ext>
                </a:extLst>
              </p:cNvPr>
              <p:cNvSpPr txBox="1"/>
              <p:nvPr/>
            </p:nvSpPr>
            <p:spPr>
              <a:xfrm>
                <a:off x="2023478" y="2849561"/>
                <a:ext cx="829340" cy="3027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oMath>
                  </m:oMathPara>
                </a14:m>
                <a:endParaRPr lang="en-US" b="1" dirty="0"/>
              </a:p>
            </p:txBody>
          </p:sp>
        </mc:Choice>
        <mc:Fallback xmlns="">
          <p:sp>
            <p:nvSpPr>
              <p:cNvPr id="5" name="TextBox 4">
                <a:extLst>
                  <a:ext uri="{FF2B5EF4-FFF2-40B4-BE49-F238E27FC236}">
                    <a16:creationId xmlns:a16="http://schemas.microsoft.com/office/drawing/2014/main" id="{06400CF0-774E-B8F1-C1B8-E10150C823E5}"/>
                  </a:ext>
                </a:extLst>
              </p:cNvPr>
              <p:cNvSpPr txBox="1">
                <a:spLocks noRot="1" noChangeAspect="1" noMove="1" noResize="1" noEditPoints="1" noAdjustHandles="1" noChangeArrowheads="1" noChangeShapeType="1" noTextEdit="1"/>
              </p:cNvSpPr>
              <p:nvPr/>
            </p:nvSpPr>
            <p:spPr>
              <a:xfrm>
                <a:off x="2023478" y="2849561"/>
                <a:ext cx="829340" cy="302712"/>
              </a:xfrm>
              <a:prstGeom prst="rect">
                <a:avLst/>
              </a:prstGeom>
              <a:blipFill>
                <a:blip r:embed="rId4"/>
                <a:stretch>
                  <a:fillRect b="-2400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BDAE0E2-293C-25D4-4BFF-D78F314E418E}"/>
              </a:ext>
            </a:extLst>
          </p:cNvPr>
          <p:cNvSpPr txBox="1"/>
          <p:nvPr/>
        </p:nvSpPr>
        <p:spPr>
          <a:xfrm>
            <a:off x="2502190" y="2840721"/>
            <a:ext cx="6603090" cy="369332"/>
          </a:xfrm>
          <a:prstGeom prst="rect">
            <a:avLst/>
          </a:prstGeom>
          <a:noFill/>
        </p:spPr>
        <p:txBody>
          <a:bodyPr wrap="none" rtlCol="0">
            <a:spAutoFit/>
          </a:bodyPr>
          <a:lstStyle/>
          <a:p>
            <a:r>
              <a:rPr lang="en-US" dirty="0"/>
              <a:t>= weights for the leaves of the decision tree trained at iteration 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C10BA8D-EC79-E3BB-A282-2FDDDDB575B4}"/>
                  </a:ext>
                </a:extLst>
              </p:cNvPr>
              <p:cNvSpPr txBox="1"/>
              <p:nvPr/>
            </p:nvSpPr>
            <p:spPr>
              <a:xfrm>
                <a:off x="2044744" y="2344966"/>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𝒇</m:t>
                          </m:r>
                        </m:e>
                        <m:sub>
                          <m:r>
                            <a:rPr lang="en-US" b="1" i="1" smtClean="0">
                              <a:latin typeface="Cambria Math" panose="02040503050406030204" pitchFamily="18" charset="0"/>
                            </a:rPr>
                            <m:t>𝒕</m:t>
                          </m:r>
                        </m:sub>
                      </m:sSub>
                    </m:oMath>
                  </m:oMathPara>
                </a14:m>
                <a:endParaRPr lang="en-US" b="1" dirty="0"/>
              </a:p>
            </p:txBody>
          </p:sp>
        </mc:Choice>
        <mc:Fallback xmlns="">
          <p:sp>
            <p:nvSpPr>
              <p:cNvPr id="7" name="TextBox 6">
                <a:extLst>
                  <a:ext uri="{FF2B5EF4-FFF2-40B4-BE49-F238E27FC236}">
                    <a16:creationId xmlns:a16="http://schemas.microsoft.com/office/drawing/2014/main" id="{0C10BA8D-EC79-E3BB-A282-2FDDDDB575B4}"/>
                  </a:ext>
                </a:extLst>
              </p:cNvPr>
              <p:cNvSpPr txBox="1">
                <a:spLocks noRot="1" noChangeAspect="1" noMove="1" noResize="1" noEditPoints="1" noAdjustHandles="1" noChangeArrowheads="1" noChangeShapeType="1" noTextEdit="1"/>
              </p:cNvSpPr>
              <p:nvPr/>
            </p:nvSpPr>
            <p:spPr>
              <a:xfrm>
                <a:off x="2044744" y="2344966"/>
                <a:ext cx="829340" cy="276999"/>
              </a:xfrm>
              <a:prstGeom prst="rect">
                <a:avLst/>
              </a:prstGeom>
              <a:blipFill>
                <a:blip r:embed="rId5"/>
                <a:stretch>
                  <a:fillRect b="-3913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CB01F834-3FEB-2644-8892-7B2F23EFE794}"/>
              </a:ext>
            </a:extLst>
          </p:cNvPr>
          <p:cNvSpPr txBox="1"/>
          <p:nvPr/>
        </p:nvSpPr>
        <p:spPr>
          <a:xfrm>
            <a:off x="2491557" y="2319716"/>
            <a:ext cx="4653838" cy="369332"/>
          </a:xfrm>
          <a:prstGeom prst="rect">
            <a:avLst/>
          </a:prstGeom>
          <a:noFill/>
        </p:spPr>
        <p:txBody>
          <a:bodyPr wrap="none" rtlCol="0">
            <a:spAutoFit/>
          </a:bodyPr>
          <a:lstStyle/>
          <a:p>
            <a:r>
              <a:rPr lang="en-US" dirty="0"/>
              <a:t>= decision tree that was trained at iteration t</a:t>
            </a:r>
          </a:p>
        </p:txBody>
      </p:sp>
    </p:spTree>
    <p:extLst>
      <p:ext uri="{BB962C8B-B14F-4D97-AF65-F5344CB8AC3E}">
        <p14:creationId xmlns:p14="http://schemas.microsoft.com/office/powerpoint/2010/main" val="4062286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1BB3-D063-CB85-1BFD-60E11299BDFD}"/>
              </a:ext>
            </a:extLst>
          </p:cNvPr>
          <p:cNvSpPr>
            <a:spLocks noGrp="1"/>
          </p:cNvSpPr>
          <p:nvPr>
            <p:ph type="title"/>
          </p:nvPr>
        </p:nvSpPr>
        <p:spPr/>
        <p:txBody>
          <a:bodyPr>
            <a:normAutofit/>
          </a:bodyPr>
          <a:lstStyle/>
          <a:p>
            <a:r>
              <a:rPr lang="en-US" sz="3800" b="1" dirty="0"/>
              <a:t>Tree Complexity Penalties</a:t>
            </a:r>
          </a:p>
        </p:txBody>
      </p:sp>
      <p:sp>
        <p:nvSpPr>
          <p:cNvPr id="3" name="Text Placeholder 2">
            <a:extLst>
              <a:ext uri="{FF2B5EF4-FFF2-40B4-BE49-F238E27FC236}">
                <a16:creationId xmlns:a16="http://schemas.microsoft.com/office/drawing/2014/main" id="{A6E60CC9-9262-535A-AABD-52A00E2E1507}"/>
              </a:ext>
            </a:extLst>
          </p:cNvPr>
          <p:cNvSpPr>
            <a:spLocks noGrp="1"/>
          </p:cNvSpPr>
          <p:nvPr>
            <p:ph type="body" idx="1"/>
          </p:nvPr>
        </p:nvSpPr>
        <p:spPr/>
        <p:txBody>
          <a:bodyPr/>
          <a:lstStyle/>
          <a:p>
            <a:endParaRPr lang="en-US"/>
          </a:p>
        </p:txBody>
      </p:sp>
      <p:pic>
        <p:nvPicPr>
          <p:cNvPr id="5122" name="Picture 2" descr="Decision Tree Clipart - Decision Tree Icon Transparent - (703x800) Png  Clipart Download">
            <a:extLst>
              <a:ext uri="{FF2B5EF4-FFF2-40B4-BE49-F238E27FC236}">
                <a16:creationId xmlns:a16="http://schemas.microsoft.com/office/drawing/2014/main" id="{DADFC693-D1CF-6878-3E17-6E22E626A6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5567" y="287095"/>
            <a:ext cx="2587975" cy="2945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026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E0153-05C0-4120-1A9B-F81A807579E3}"/>
              </a:ext>
            </a:extLst>
          </p:cNvPr>
          <p:cNvSpPr>
            <a:spLocks noGrp="1"/>
          </p:cNvSpPr>
          <p:nvPr>
            <p:ph type="title"/>
          </p:nvPr>
        </p:nvSpPr>
        <p:spPr/>
        <p:txBody>
          <a:bodyPr/>
          <a:lstStyle/>
          <a:p>
            <a:r>
              <a:rPr lang="en-US" b="1" dirty="0"/>
              <a:t>Leaf Count Penalty</a:t>
            </a:r>
          </a:p>
        </p:txBody>
      </p:sp>
      <p:sp>
        <p:nvSpPr>
          <p:cNvPr id="3" name="Content Placeholder 2">
            <a:extLst>
              <a:ext uri="{FF2B5EF4-FFF2-40B4-BE49-F238E27FC236}">
                <a16:creationId xmlns:a16="http://schemas.microsoft.com/office/drawing/2014/main" id="{263BFB1A-8E62-C2A5-C4C6-376530B4BE1B}"/>
              </a:ext>
            </a:extLst>
          </p:cNvPr>
          <p:cNvSpPr>
            <a:spLocks noGrp="1"/>
          </p:cNvSpPr>
          <p:nvPr>
            <p:ph idx="1"/>
          </p:nvPr>
        </p:nvSpPr>
        <p:spPr>
          <a:xfrm>
            <a:off x="2200939" y="2259832"/>
            <a:ext cx="7796540" cy="3997828"/>
          </a:xfrm>
        </p:spPr>
        <p:txBody>
          <a:bodyPr>
            <a:normAutofit/>
          </a:bodyPr>
          <a:lstStyle/>
          <a:p>
            <a:r>
              <a:rPr lang="en-US" sz="2200" b="1" dirty="0"/>
              <a:t>This penalty term discourages each decision tree from having too many leaves</a:t>
            </a:r>
          </a:p>
          <a:p>
            <a:r>
              <a:rPr lang="en-US" sz="2200" b="1" dirty="0"/>
              <a:t>This helps to control size and depth of each decision tree</a:t>
            </a:r>
          </a:p>
          <a:p>
            <a:r>
              <a:rPr lang="en-US" sz="2200" b="1" dirty="0"/>
              <a:t>Attempts to make each decision tree simpler [2]</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692BB9-C5C6-CCDB-7296-E6D5B2F0E92B}"/>
                  </a:ext>
                </a:extLst>
              </p:cNvPr>
              <p:cNvSpPr txBox="1"/>
              <p:nvPr/>
            </p:nvSpPr>
            <p:spPr>
              <a:xfrm>
                <a:off x="2241626" y="1346671"/>
                <a:ext cx="732572" cy="5847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800" b="1" i="1" smtClean="0">
                          <a:latin typeface="Cambria Math" panose="02040503050406030204" pitchFamily="18" charset="0"/>
                        </a:rPr>
                        <m:t>𝜸</m:t>
                      </m:r>
                      <m:r>
                        <a:rPr lang="en-US" sz="3800" b="1" i="1" smtClean="0">
                          <a:latin typeface="Cambria Math" panose="02040503050406030204" pitchFamily="18" charset="0"/>
                        </a:rPr>
                        <m:t>𝑻</m:t>
                      </m:r>
                    </m:oMath>
                  </m:oMathPara>
                </a14:m>
                <a:endParaRPr lang="en-US" sz="3800" b="1" dirty="0"/>
              </a:p>
            </p:txBody>
          </p:sp>
        </mc:Choice>
        <mc:Fallback xmlns="">
          <p:sp>
            <p:nvSpPr>
              <p:cNvPr id="4" name="TextBox 3">
                <a:extLst>
                  <a:ext uri="{FF2B5EF4-FFF2-40B4-BE49-F238E27FC236}">
                    <a16:creationId xmlns:a16="http://schemas.microsoft.com/office/drawing/2014/main" id="{28692BB9-C5C6-CCDB-7296-E6D5B2F0E92B}"/>
                  </a:ext>
                </a:extLst>
              </p:cNvPr>
              <p:cNvSpPr txBox="1">
                <a:spLocks noRot="1" noChangeAspect="1" noMove="1" noResize="1" noEditPoints="1" noAdjustHandles="1" noChangeArrowheads="1" noChangeShapeType="1" noTextEdit="1"/>
              </p:cNvSpPr>
              <p:nvPr/>
            </p:nvSpPr>
            <p:spPr>
              <a:xfrm>
                <a:off x="2241626" y="1346671"/>
                <a:ext cx="732572" cy="584775"/>
              </a:xfrm>
              <a:prstGeom prst="rect">
                <a:avLst/>
              </a:prstGeom>
              <a:blipFill>
                <a:blip r:embed="rId2"/>
                <a:stretch>
                  <a:fillRect l="-18644" r="-16949" b="-29787"/>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052E7CB7-388F-17FE-6A1D-2F8BCEC8882D}"/>
              </a:ext>
            </a:extLst>
          </p:cNvPr>
          <p:cNvSpPr/>
          <p:nvPr/>
        </p:nvSpPr>
        <p:spPr>
          <a:xfrm>
            <a:off x="2094614" y="1399835"/>
            <a:ext cx="999460" cy="584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81764F-F173-1A83-BF2A-38AA77389607}"/>
                  </a:ext>
                </a:extLst>
              </p:cNvPr>
              <p:cNvSpPr txBox="1"/>
              <p:nvPr/>
            </p:nvSpPr>
            <p:spPr>
              <a:xfrm>
                <a:off x="1775631" y="2319808"/>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𝑻</m:t>
                      </m:r>
                    </m:oMath>
                  </m:oMathPara>
                </a14:m>
                <a:endParaRPr lang="en-US" b="1" dirty="0"/>
              </a:p>
            </p:txBody>
          </p:sp>
        </mc:Choice>
        <mc:Fallback xmlns="">
          <p:sp>
            <p:nvSpPr>
              <p:cNvPr id="10" name="TextBox 9">
                <a:extLst>
                  <a:ext uri="{FF2B5EF4-FFF2-40B4-BE49-F238E27FC236}">
                    <a16:creationId xmlns:a16="http://schemas.microsoft.com/office/drawing/2014/main" id="{3081764F-F173-1A83-BF2A-38AA77389607}"/>
                  </a:ext>
                </a:extLst>
              </p:cNvPr>
              <p:cNvSpPr txBox="1">
                <a:spLocks noRot="1" noChangeAspect="1" noMove="1" noResize="1" noEditPoints="1" noAdjustHandles="1" noChangeArrowheads="1" noChangeShapeType="1" noTextEdit="1"/>
              </p:cNvSpPr>
              <p:nvPr/>
            </p:nvSpPr>
            <p:spPr>
              <a:xfrm>
                <a:off x="1775631" y="2319808"/>
                <a:ext cx="829340" cy="276999"/>
              </a:xfrm>
              <a:prstGeom prst="rect">
                <a:avLst/>
              </a:prstGeom>
              <a:blipFill>
                <a:blip r:embed="rId3"/>
                <a:stretch>
                  <a:fillRect b="-869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EEC18ED8-2DB1-BCA5-5E31-B42A2F4A64DF}"/>
              </a:ext>
            </a:extLst>
          </p:cNvPr>
          <p:cNvSpPr txBox="1"/>
          <p:nvPr/>
        </p:nvSpPr>
        <p:spPr>
          <a:xfrm>
            <a:off x="2190301" y="2273641"/>
            <a:ext cx="6256841" cy="369332"/>
          </a:xfrm>
          <a:prstGeom prst="rect">
            <a:avLst/>
          </a:prstGeom>
          <a:noFill/>
        </p:spPr>
        <p:txBody>
          <a:bodyPr wrap="none" rtlCol="0">
            <a:spAutoFit/>
          </a:bodyPr>
          <a:lstStyle/>
          <a:p>
            <a:r>
              <a:rPr lang="en-US" dirty="0"/>
              <a:t>= number of leaves in the decision tree trained at iteration 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9FF366-D688-4C5F-A8C7-C27538044013}"/>
                  </a:ext>
                </a:extLst>
              </p:cNvPr>
              <p:cNvSpPr txBox="1"/>
              <p:nvPr/>
            </p:nvSpPr>
            <p:spPr>
              <a:xfrm>
                <a:off x="1779169" y="2036269"/>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𝜸</m:t>
                      </m:r>
                    </m:oMath>
                  </m:oMathPara>
                </a14:m>
                <a:endParaRPr/>
              </a:p>
            </p:txBody>
          </p:sp>
        </mc:Choice>
        <mc:Fallback xmlns="">
          <p:sp>
            <p:nvSpPr>
              <p:cNvPr id="12" name="TextBox 11">
                <a:extLst>
                  <a:ext uri="{FF2B5EF4-FFF2-40B4-BE49-F238E27FC236}">
                    <a16:creationId xmlns:a16="http://schemas.microsoft.com/office/drawing/2014/main" id="{EE9FF366-D688-4C5F-A8C7-C27538044013}"/>
                  </a:ext>
                </a:extLst>
              </p:cNvPr>
              <p:cNvSpPr txBox="1">
                <a:spLocks noRot="1" noChangeAspect="1" noMove="1" noResize="1" noEditPoints="1" noAdjustHandles="1" noChangeArrowheads="1" noChangeShapeType="1" noTextEdit="1"/>
              </p:cNvSpPr>
              <p:nvPr/>
            </p:nvSpPr>
            <p:spPr>
              <a:xfrm>
                <a:off x="1779169" y="2036269"/>
                <a:ext cx="829340" cy="276999"/>
              </a:xfrm>
              <a:prstGeom prst="rect">
                <a:avLst/>
              </a:prstGeom>
              <a:blipFill>
                <a:blip r:embed="rId4"/>
                <a:stretch>
                  <a:fillRect t="-27273" b="-54545"/>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DDFC9E1B-C39B-45F0-20E8-8F4E5A384382}"/>
              </a:ext>
            </a:extLst>
          </p:cNvPr>
          <p:cNvSpPr txBox="1"/>
          <p:nvPr/>
        </p:nvSpPr>
        <p:spPr>
          <a:xfrm>
            <a:off x="2193839" y="1990102"/>
            <a:ext cx="9219190" cy="369332"/>
          </a:xfrm>
          <a:prstGeom prst="rect">
            <a:avLst/>
          </a:prstGeom>
          <a:noFill/>
        </p:spPr>
        <p:txBody>
          <a:bodyPr wrap="none" rtlCol="0">
            <a:spAutoFit/>
          </a:bodyPr>
          <a:lstStyle/>
          <a:p>
            <a:r>
              <a:rPr lang="en-US" dirty="0"/>
              <a:t>= “cost” assigned for every additional leaf added to the decision tree trained at iteration t </a:t>
            </a:r>
          </a:p>
        </p:txBody>
      </p:sp>
    </p:spTree>
    <p:extLst>
      <p:ext uri="{BB962C8B-B14F-4D97-AF65-F5344CB8AC3E}">
        <p14:creationId xmlns:p14="http://schemas.microsoft.com/office/powerpoint/2010/main" val="3200044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AD95-F476-ADFC-D207-7AED86F6C475}"/>
              </a:ext>
            </a:extLst>
          </p:cNvPr>
          <p:cNvSpPr>
            <a:spLocks noGrp="1"/>
          </p:cNvSpPr>
          <p:nvPr>
            <p:ph type="title"/>
          </p:nvPr>
        </p:nvSpPr>
        <p:spPr/>
        <p:txBody>
          <a:bodyPr/>
          <a:lstStyle/>
          <a:p>
            <a:r>
              <a:rPr lang="en-US" b="1" dirty="0"/>
              <a:t>L2 (Ridge) Leaf Weight 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D53E80-5F4A-DA22-12B2-95C73A1D3326}"/>
                  </a:ext>
                </a:extLst>
              </p:cNvPr>
              <p:cNvSpPr>
                <a:spLocks noGrp="1"/>
              </p:cNvSpPr>
              <p:nvPr>
                <p:ph idx="1"/>
              </p:nvPr>
            </p:nvSpPr>
            <p:spPr>
              <a:xfrm>
                <a:off x="2178173" y="3793350"/>
                <a:ext cx="7796540" cy="3997828"/>
              </a:xfrm>
            </p:spPr>
            <p:txBody>
              <a:bodyPr/>
              <a:lstStyle/>
              <a:p>
                <a:r>
                  <a:rPr lang="en-US" sz="2400" b="1" dirty="0"/>
                  <a:t>Discourages</a:t>
                </a:r>
                <a:r>
                  <a:rPr lang="en-US" sz="2400" dirty="0"/>
                  <a:t> </a:t>
                </a:r>
                <a:r>
                  <a:rPr lang="en-US" sz="2400" b="1" dirty="0"/>
                  <a:t>each leaf of each decision tree from having a large weight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𝒘</m:t>
                        </m:r>
                      </m:e>
                      <m:sub>
                        <m:r>
                          <a:rPr lang="en-US" sz="2400" b="1" i="1" smtClean="0">
                            <a:latin typeface="Cambria Math" panose="02040503050406030204" pitchFamily="18" charset="0"/>
                          </a:rPr>
                          <m:t>𝒋</m:t>
                        </m:r>
                      </m:sub>
                    </m:sSub>
                  </m:oMath>
                </a14:m>
                <a:endParaRPr lang="en-US" sz="2400" b="1" dirty="0"/>
              </a:p>
              <a:p>
                <a:r>
                  <a:rPr lang="en-US" sz="2400" b="1" dirty="0"/>
                  <a:t>Attempts to shrink each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𝒘</m:t>
                        </m:r>
                      </m:e>
                      <m:sub>
                        <m:r>
                          <a:rPr lang="en-US" sz="2400" b="1" i="1">
                            <a:latin typeface="Cambria Math" panose="02040503050406030204" pitchFamily="18" charset="0"/>
                          </a:rPr>
                          <m:t>𝒋</m:t>
                        </m:r>
                      </m:sub>
                    </m:sSub>
                  </m:oMath>
                </a14:m>
                <a:r>
                  <a:rPr lang="en-US" sz="2400" b="1" dirty="0"/>
                  <a:t> to approach 0</a:t>
                </a:r>
              </a:p>
              <a:p>
                <a:r>
                  <a:rPr lang="en-US" sz="2400" b="1" dirty="0"/>
                  <a:t>Prevents any single leaf from dominating the calculation when each decision tree generates a prediction [2]</a:t>
                </a:r>
              </a:p>
              <a:p>
                <a:endParaRPr lang="en-US" b="1" dirty="0"/>
              </a:p>
              <a:p>
                <a:endParaRPr lang="en-US" b="1" dirty="0"/>
              </a:p>
              <a:p>
                <a:endParaRPr lang="en-US" b="1" dirty="0"/>
              </a:p>
              <a:p>
                <a:endParaRPr lang="en-US" b="1" dirty="0"/>
              </a:p>
            </p:txBody>
          </p:sp>
        </mc:Choice>
        <mc:Fallback xmlns="">
          <p:sp>
            <p:nvSpPr>
              <p:cNvPr id="3" name="Content Placeholder 2">
                <a:extLst>
                  <a:ext uri="{FF2B5EF4-FFF2-40B4-BE49-F238E27FC236}">
                    <a16:creationId xmlns:a16="http://schemas.microsoft.com/office/drawing/2014/main" id="{8BD53E80-5F4A-DA22-12B2-95C73A1D3326}"/>
                  </a:ext>
                </a:extLst>
              </p:cNvPr>
              <p:cNvSpPr>
                <a:spLocks noGrp="1" noRot="1" noChangeAspect="1" noMove="1" noResize="1" noEditPoints="1" noAdjustHandles="1" noChangeArrowheads="1" noChangeShapeType="1" noTextEdit="1"/>
              </p:cNvSpPr>
              <p:nvPr>
                <p:ph idx="1"/>
              </p:nvPr>
            </p:nvSpPr>
            <p:spPr>
              <a:xfrm>
                <a:off x="2178173" y="3793350"/>
                <a:ext cx="7796540" cy="3997828"/>
              </a:xfrm>
              <a:blipFill>
                <a:blip r:embed="rId2"/>
                <a:stretch>
                  <a:fillRect l="-813" t="-183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4F70293-11DE-362F-E76E-92151EA97C47}"/>
                  </a:ext>
                </a:extLst>
              </p:cNvPr>
              <p:cNvSpPr txBox="1"/>
              <p:nvPr/>
            </p:nvSpPr>
            <p:spPr>
              <a:xfrm>
                <a:off x="2241624" y="1516797"/>
                <a:ext cx="1501372" cy="11832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600" b="1" i="1" smtClean="0">
                              <a:latin typeface="Cambria Math" panose="02040503050406030204" pitchFamily="18" charset="0"/>
                            </a:rPr>
                          </m:ctrlPr>
                        </m:fPr>
                        <m:num>
                          <m:r>
                            <a:rPr lang="en-US" sz="2600" b="1" i="1" smtClean="0">
                              <a:latin typeface="Cambria Math" panose="02040503050406030204" pitchFamily="18" charset="0"/>
                            </a:rPr>
                            <m:t>𝟏</m:t>
                          </m:r>
                        </m:num>
                        <m:den>
                          <m:r>
                            <a:rPr lang="en-US" sz="2600" b="1" i="1" smtClean="0">
                              <a:latin typeface="Cambria Math" panose="02040503050406030204" pitchFamily="18" charset="0"/>
                            </a:rPr>
                            <m:t>𝟐</m:t>
                          </m:r>
                        </m:den>
                      </m:f>
                      <m:r>
                        <a:rPr lang="en-US" sz="2600" b="1" i="1" smtClean="0">
                          <a:latin typeface="Cambria Math" panose="02040503050406030204" pitchFamily="18" charset="0"/>
                        </a:rPr>
                        <m:t>𝝀</m:t>
                      </m:r>
                      <m:nary>
                        <m:naryPr>
                          <m:chr m:val="∑"/>
                          <m:ctrlPr>
                            <a:rPr lang="en-US" sz="2600" b="1" i="1" smtClean="0">
                              <a:latin typeface="Cambria Math" panose="02040503050406030204" pitchFamily="18" charset="0"/>
                            </a:rPr>
                          </m:ctrlPr>
                        </m:naryPr>
                        <m:sub>
                          <m:r>
                            <m:rPr>
                              <m:brk m:alnAt="23"/>
                            </m:rPr>
                            <a:rPr lang="en-US" sz="2600" b="1" i="1" smtClean="0">
                              <a:latin typeface="Cambria Math" panose="02040503050406030204" pitchFamily="18" charset="0"/>
                            </a:rPr>
                            <m:t>𝒋</m:t>
                          </m:r>
                          <m:r>
                            <a:rPr lang="en-US" sz="2600" b="1" i="1" smtClean="0">
                              <a:latin typeface="Cambria Math" panose="02040503050406030204" pitchFamily="18" charset="0"/>
                            </a:rPr>
                            <m:t>=</m:t>
                          </m:r>
                          <m:r>
                            <a:rPr lang="en-US" sz="2600" b="1" i="1" smtClean="0">
                              <a:latin typeface="Cambria Math" panose="02040503050406030204" pitchFamily="18" charset="0"/>
                            </a:rPr>
                            <m:t>𝟏</m:t>
                          </m:r>
                        </m:sub>
                        <m:sup>
                          <m:r>
                            <a:rPr lang="en-US" sz="2600" b="1" i="1" smtClean="0">
                              <a:latin typeface="Cambria Math" panose="02040503050406030204" pitchFamily="18" charset="0"/>
                            </a:rPr>
                            <m:t>𝑻</m:t>
                          </m:r>
                        </m:sup>
                        <m:e>
                          <m:sSubSup>
                            <m:sSubSupPr>
                              <m:ctrlPr>
                                <a:rPr lang="en-US" sz="2600" b="1" i="1" smtClean="0">
                                  <a:latin typeface="Cambria Math" panose="02040503050406030204" pitchFamily="18" charset="0"/>
                                </a:rPr>
                              </m:ctrlPr>
                            </m:sSubSupPr>
                            <m:e>
                              <m:r>
                                <a:rPr lang="en-US" sz="2600" b="1" i="1" smtClean="0">
                                  <a:latin typeface="Cambria Math" panose="02040503050406030204" pitchFamily="18" charset="0"/>
                                </a:rPr>
                                <m:t>𝒘</m:t>
                              </m:r>
                            </m:e>
                            <m:sub>
                              <m:r>
                                <a:rPr lang="en-US" sz="2600" b="1" i="1" smtClean="0">
                                  <a:latin typeface="Cambria Math" panose="02040503050406030204" pitchFamily="18" charset="0"/>
                                </a:rPr>
                                <m:t>𝒋</m:t>
                              </m:r>
                            </m:sub>
                            <m:sup>
                              <m:r>
                                <a:rPr lang="en-US" sz="2600" b="1" i="1" smtClean="0">
                                  <a:latin typeface="Cambria Math" panose="02040503050406030204" pitchFamily="18" charset="0"/>
                                </a:rPr>
                                <m:t>𝟐</m:t>
                              </m:r>
                            </m:sup>
                          </m:sSubSup>
                        </m:e>
                      </m:nary>
                    </m:oMath>
                  </m:oMathPara>
                </a14:m>
                <a:endParaRPr lang="en-US" sz="2600" b="1" dirty="0"/>
              </a:p>
            </p:txBody>
          </p:sp>
        </mc:Choice>
        <mc:Fallback xmlns="">
          <p:sp>
            <p:nvSpPr>
              <p:cNvPr id="4" name="TextBox 3">
                <a:extLst>
                  <a:ext uri="{FF2B5EF4-FFF2-40B4-BE49-F238E27FC236}">
                    <a16:creationId xmlns:a16="http://schemas.microsoft.com/office/drawing/2014/main" id="{B4F70293-11DE-362F-E76E-92151EA97C47}"/>
                  </a:ext>
                </a:extLst>
              </p:cNvPr>
              <p:cNvSpPr txBox="1">
                <a:spLocks noRot="1" noChangeAspect="1" noMove="1" noResize="1" noEditPoints="1" noAdjustHandles="1" noChangeArrowheads="1" noChangeShapeType="1" noTextEdit="1"/>
              </p:cNvSpPr>
              <p:nvPr/>
            </p:nvSpPr>
            <p:spPr>
              <a:xfrm>
                <a:off x="2241624" y="1516797"/>
                <a:ext cx="1501372" cy="1183273"/>
              </a:xfrm>
              <a:prstGeom prst="rect">
                <a:avLst/>
              </a:prstGeom>
              <a:blipFill>
                <a:blip r:embed="rId3"/>
                <a:stretch>
                  <a:fillRect l="-47899" t="-108511" r="-21849" b="-164894"/>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7FA63C5A-B11E-D5D1-74C4-86E5B82BFAB1}"/>
              </a:ext>
            </a:extLst>
          </p:cNvPr>
          <p:cNvSpPr/>
          <p:nvPr/>
        </p:nvSpPr>
        <p:spPr>
          <a:xfrm>
            <a:off x="2147777" y="1452997"/>
            <a:ext cx="1659018" cy="13415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D2B80D4-7D85-2FB7-243B-72E3E172C113}"/>
                  </a:ext>
                </a:extLst>
              </p:cNvPr>
              <p:cNvSpPr txBox="1"/>
              <p:nvPr/>
            </p:nvSpPr>
            <p:spPr>
              <a:xfrm>
                <a:off x="3710759" y="2032726"/>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𝑻</m:t>
                      </m:r>
                    </m:oMath>
                  </m:oMathPara>
                </a14:m>
                <a:endParaRPr lang="en-US" b="1" dirty="0"/>
              </a:p>
            </p:txBody>
          </p:sp>
        </mc:Choice>
        <mc:Fallback xmlns="">
          <p:sp>
            <p:nvSpPr>
              <p:cNvPr id="6" name="TextBox 5">
                <a:extLst>
                  <a:ext uri="{FF2B5EF4-FFF2-40B4-BE49-F238E27FC236}">
                    <a16:creationId xmlns:a16="http://schemas.microsoft.com/office/drawing/2014/main" id="{DD2B80D4-7D85-2FB7-243B-72E3E172C113}"/>
                  </a:ext>
                </a:extLst>
              </p:cNvPr>
              <p:cNvSpPr txBox="1">
                <a:spLocks noRot="1" noChangeAspect="1" noMove="1" noResize="1" noEditPoints="1" noAdjustHandles="1" noChangeArrowheads="1" noChangeShapeType="1" noTextEdit="1"/>
              </p:cNvSpPr>
              <p:nvPr/>
            </p:nvSpPr>
            <p:spPr>
              <a:xfrm>
                <a:off x="3710759" y="2032726"/>
                <a:ext cx="829340" cy="276999"/>
              </a:xfrm>
              <a:prstGeom prst="rect">
                <a:avLst/>
              </a:prstGeom>
              <a:blipFill>
                <a:blip r:embed="rId4"/>
                <a:stretch>
                  <a:fillRect b="-1304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4D30665F-A0DF-3CE1-FC71-95F3D295A8D9}"/>
              </a:ext>
            </a:extLst>
          </p:cNvPr>
          <p:cNvSpPr txBox="1"/>
          <p:nvPr/>
        </p:nvSpPr>
        <p:spPr>
          <a:xfrm>
            <a:off x="4125429" y="1986559"/>
            <a:ext cx="6256841" cy="369332"/>
          </a:xfrm>
          <a:prstGeom prst="rect">
            <a:avLst/>
          </a:prstGeom>
          <a:noFill/>
        </p:spPr>
        <p:txBody>
          <a:bodyPr wrap="none" rtlCol="0">
            <a:spAutoFit/>
          </a:bodyPr>
          <a:lstStyle/>
          <a:p>
            <a:r>
              <a:rPr lang="en-US" dirty="0"/>
              <a:t>= number of leaves in the decision tree trained at iteration 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D30791B-A065-DACE-72C8-E5786F2C60DC}"/>
                  </a:ext>
                </a:extLst>
              </p:cNvPr>
              <p:cNvSpPr txBox="1"/>
              <p:nvPr/>
            </p:nvSpPr>
            <p:spPr>
              <a:xfrm>
                <a:off x="3714297" y="2323348"/>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𝝀</m:t>
                      </m:r>
                    </m:oMath>
                  </m:oMathPara>
                </a14:m>
                <a:endParaRPr/>
              </a:p>
            </p:txBody>
          </p:sp>
        </mc:Choice>
        <mc:Fallback xmlns="">
          <p:sp>
            <p:nvSpPr>
              <p:cNvPr id="8" name="TextBox 7">
                <a:extLst>
                  <a:ext uri="{FF2B5EF4-FFF2-40B4-BE49-F238E27FC236}">
                    <a16:creationId xmlns:a16="http://schemas.microsoft.com/office/drawing/2014/main" id="{3D30791B-A065-DACE-72C8-E5786F2C60DC}"/>
                  </a:ext>
                </a:extLst>
              </p:cNvPr>
              <p:cNvSpPr txBox="1">
                <a:spLocks noRot="1" noChangeAspect="1" noMove="1" noResize="1" noEditPoints="1" noAdjustHandles="1" noChangeArrowheads="1" noChangeShapeType="1" noTextEdit="1"/>
              </p:cNvSpPr>
              <p:nvPr/>
            </p:nvSpPr>
            <p:spPr>
              <a:xfrm>
                <a:off x="3714297" y="2323348"/>
                <a:ext cx="829340" cy="276999"/>
              </a:xfrm>
              <a:prstGeom prst="rect">
                <a:avLst/>
              </a:prstGeom>
              <a:blipFill>
                <a:blip r:embed="rId5"/>
                <a:stretch>
                  <a:fillRect t="-21739" b="-5217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7892AC5-2D87-2574-AAC8-637037F8DB7F}"/>
              </a:ext>
            </a:extLst>
          </p:cNvPr>
          <p:cNvSpPr txBox="1"/>
          <p:nvPr/>
        </p:nvSpPr>
        <p:spPr>
          <a:xfrm>
            <a:off x="4128967" y="2277181"/>
            <a:ext cx="5474576" cy="369332"/>
          </a:xfrm>
          <a:prstGeom prst="rect">
            <a:avLst/>
          </a:prstGeom>
          <a:noFill/>
        </p:spPr>
        <p:txBody>
          <a:bodyPr wrap="none" rtlCol="0">
            <a:spAutoFit/>
          </a:bodyPr>
          <a:lstStyle/>
          <a:p>
            <a:r>
              <a:rPr lang="en-US" dirty="0"/>
              <a:t>= “cost” assigned to the sum of the squared weights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AA23F9-5FC7-ACCC-26C2-39D012AC4730}"/>
                  </a:ext>
                </a:extLst>
              </p:cNvPr>
              <p:cNvSpPr txBox="1"/>
              <p:nvPr/>
            </p:nvSpPr>
            <p:spPr>
              <a:xfrm>
                <a:off x="3650256" y="1701241"/>
                <a:ext cx="829340" cy="3027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oMath>
                  </m:oMathPara>
                </a14:m>
                <a:endParaRPr lang="en-US" b="1" dirty="0"/>
              </a:p>
            </p:txBody>
          </p:sp>
        </mc:Choice>
        <mc:Fallback xmlns="">
          <p:sp>
            <p:nvSpPr>
              <p:cNvPr id="10" name="TextBox 9">
                <a:extLst>
                  <a:ext uri="{FF2B5EF4-FFF2-40B4-BE49-F238E27FC236}">
                    <a16:creationId xmlns:a16="http://schemas.microsoft.com/office/drawing/2014/main" id="{EBAA23F9-5FC7-ACCC-26C2-39D012AC4730}"/>
                  </a:ext>
                </a:extLst>
              </p:cNvPr>
              <p:cNvSpPr txBox="1">
                <a:spLocks noRot="1" noChangeAspect="1" noMove="1" noResize="1" noEditPoints="1" noAdjustHandles="1" noChangeArrowheads="1" noChangeShapeType="1" noTextEdit="1"/>
              </p:cNvSpPr>
              <p:nvPr/>
            </p:nvSpPr>
            <p:spPr>
              <a:xfrm>
                <a:off x="3650256" y="1701241"/>
                <a:ext cx="829340" cy="302712"/>
              </a:xfrm>
              <a:prstGeom prst="rect">
                <a:avLst/>
              </a:prstGeom>
              <a:blipFill>
                <a:blip r:embed="rId6"/>
                <a:stretch>
                  <a:fillRect b="-24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D9DD62A0-2BB8-D4C3-1681-9BE30EA78073}"/>
              </a:ext>
            </a:extLst>
          </p:cNvPr>
          <p:cNvSpPr txBox="1"/>
          <p:nvPr/>
        </p:nvSpPr>
        <p:spPr>
          <a:xfrm>
            <a:off x="4128968" y="1692401"/>
            <a:ext cx="6603090" cy="369332"/>
          </a:xfrm>
          <a:prstGeom prst="rect">
            <a:avLst/>
          </a:prstGeom>
          <a:noFill/>
        </p:spPr>
        <p:txBody>
          <a:bodyPr wrap="none" rtlCol="0">
            <a:spAutoFit/>
          </a:bodyPr>
          <a:lstStyle/>
          <a:p>
            <a:r>
              <a:rPr lang="en-US" dirty="0"/>
              <a:t>= weights for the leaves of the decision tree trained at iteration t</a:t>
            </a:r>
          </a:p>
        </p:txBody>
      </p:sp>
    </p:spTree>
    <p:extLst>
      <p:ext uri="{BB962C8B-B14F-4D97-AF65-F5344CB8AC3E}">
        <p14:creationId xmlns:p14="http://schemas.microsoft.com/office/powerpoint/2010/main" val="1186774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3A42-46A0-10C9-F058-1E6D4929159C}"/>
              </a:ext>
            </a:extLst>
          </p:cNvPr>
          <p:cNvSpPr>
            <a:spLocks noGrp="1"/>
          </p:cNvSpPr>
          <p:nvPr>
            <p:ph type="title"/>
          </p:nvPr>
        </p:nvSpPr>
        <p:spPr/>
        <p:txBody>
          <a:bodyPr/>
          <a:lstStyle/>
          <a:p>
            <a:r>
              <a:rPr lang="en-US" b="1" dirty="0"/>
              <a:t>L1 Leaf Weight Regularization (LASSO)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D5D745-9149-490B-6AA1-DC6425AEF19E}"/>
                  </a:ext>
                </a:extLst>
              </p:cNvPr>
              <p:cNvSpPr>
                <a:spLocks noGrp="1"/>
              </p:cNvSpPr>
              <p:nvPr>
                <p:ph idx="1"/>
              </p:nvPr>
            </p:nvSpPr>
            <p:spPr>
              <a:xfrm>
                <a:off x="1917148" y="4061638"/>
                <a:ext cx="8821735" cy="3232297"/>
              </a:xfrm>
            </p:spPr>
            <p:txBody>
              <a:bodyPr>
                <a:normAutofit fontScale="77500" lnSpcReduction="20000"/>
              </a:bodyPr>
              <a:lstStyle/>
              <a:p>
                <a:r>
                  <a:rPr lang="en-US" sz="2300" b="1" dirty="0"/>
                  <a:t>Also discourages each leaf of each decision tree from having a large weight </a:t>
                </a:r>
                <a14:m>
                  <m:oMath xmlns:m="http://schemas.openxmlformats.org/officeDocument/2006/math">
                    <m:sSub>
                      <m:sSubPr>
                        <m:ctrlPr>
                          <a:rPr lang="en-US" sz="2300" b="1" i="1">
                            <a:latin typeface="Cambria Math" panose="02040503050406030204" pitchFamily="18" charset="0"/>
                          </a:rPr>
                        </m:ctrlPr>
                      </m:sSubPr>
                      <m:e>
                        <m:r>
                          <a:rPr lang="en-US" sz="2300" b="1" i="1">
                            <a:latin typeface="Cambria Math" panose="02040503050406030204" pitchFamily="18" charset="0"/>
                          </a:rPr>
                          <m:t>𝒘</m:t>
                        </m:r>
                      </m:e>
                      <m:sub>
                        <m:r>
                          <a:rPr lang="en-US" sz="2300" b="1" i="1">
                            <a:latin typeface="Cambria Math" panose="02040503050406030204" pitchFamily="18" charset="0"/>
                          </a:rPr>
                          <m:t>𝒋</m:t>
                        </m:r>
                      </m:sub>
                    </m:sSub>
                  </m:oMath>
                </a14:m>
                <a:endParaRPr lang="en-US" sz="2300" b="1" dirty="0"/>
              </a:p>
              <a:p>
                <a:r>
                  <a:rPr lang="en-US" sz="2300" b="1" dirty="0"/>
                  <a:t>Has the ability to shrink leaf weights to exactly 0</a:t>
                </a:r>
              </a:p>
              <a:p>
                <a:r>
                  <a:rPr lang="en-US" sz="2300" b="1" dirty="0"/>
                  <a:t>Shrinks leaf weights more aggressively than L2 Leaf Weight Regularization</a:t>
                </a:r>
              </a:p>
              <a:p>
                <a:r>
                  <a:rPr lang="en-US" sz="2300" b="1" dirty="0"/>
                  <a:t>Can result in sparser decision trees</a:t>
                </a:r>
              </a:p>
              <a:p>
                <a:r>
                  <a:rPr lang="en-US" sz="2300" b="1" dirty="0"/>
                  <a:t>Note: optional penalty term that isn’t used in all implementations of </a:t>
                </a:r>
                <a:r>
                  <a:rPr lang="en-US" sz="2300" b="1" dirty="0" err="1"/>
                  <a:t>XGBoost</a:t>
                </a:r>
                <a:r>
                  <a:rPr lang="en-US" sz="2300" b="1" dirty="0"/>
                  <a:t> [2]</a:t>
                </a:r>
              </a:p>
              <a:p>
                <a:endParaRPr lang="en-US" b="1" dirty="0"/>
              </a:p>
              <a:p>
                <a:endParaRPr lang="en-US" b="1" dirty="0"/>
              </a:p>
              <a:p>
                <a:endParaRPr lang="en-US" b="1" dirty="0"/>
              </a:p>
            </p:txBody>
          </p:sp>
        </mc:Choice>
        <mc:Fallback xmlns="">
          <p:sp>
            <p:nvSpPr>
              <p:cNvPr id="3" name="Content Placeholder 2">
                <a:extLst>
                  <a:ext uri="{FF2B5EF4-FFF2-40B4-BE49-F238E27FC236}">
                    <a16:creationId xmlns:a16="http://schemas.microsoft.com/office/drawing/2014/main" id="{51D5D745-9149-490B-6AA1-DC6425AEF19E}"/>
                  </a:ext>
                </a:extLst>
              </p:cNvPr>
              <p:cNvSpPr>
                <a:spLocks noGrp="1" noRot="1" noChangeAspect="1" noMove="1" noResize="1" noEditPoints="1" noAdjustHandles="1" noChangeArrowheads="1" noChangeShapeType="1" noTextEdit="1"/>
              </p:cNvSpPr>
              <p:nvPr>
                <p:ph idx="1"/>
              </p:nvPr>
            </p:nvSpPr>
            <p:spPr>
              <a:xfrm>
                <a:off x="1917148" y="4061638"/>
                <a:ext cx="8821735" cy="3232297"/>
              </a:xfrm>
              <a:blipFill>
                <a:blip r:embed="rId2"/>
                <a:stretch>
                  <a:fillRect l="-287" t="-15625" r="-7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DDA8BB-7435-01E0-4952-E07E5395F4C6}"/>
                  </a:ext>
                </a:extLst>
              </p:cNvPr>
              <p:cNvSpPr txBox="1"/>
              <p:nvPr/>
            </p:nvSpPr>
            <p:spPr>
              <a:xfrm>
                <a:off x="2124664" y="1878301"/>
                <a:ext cx="1453538" cy="11841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600" b="1" i="1" dirty="0" smtClean="0">
                          <a:latin typeface="Cambria Math" panose="02040503050406030204" pitchFamily="18" charset="0"/>
                        </a:rPr>
                        <m:t>𝜶</m:t>
                      </m:r>
                      <m:nary>
                        <m:naryPr>
                          <m:chr m:val="∑"/>
                          <m:ctrlPr>
                            <a:rPr lang="en-US" sz="2600" b="1" i="1" smtClean="0">
                              <a:latin typeface="Cambria Math" panose="02040503050406030204" pitchFamily="18" charset="0"/>
                            </a:rPr>
                          </m:ctrlPr>
                        </m:naryPr>
                        <m:sub>
                          <m:r>
                            <m:rPr>
                              <m:brk m:alnAt="23"/>
                            </m:rPr>
                            <a:rPr lang="en-US" sz="2600" b="1" i="1" smtClean="0">
                              <a:latin typeface="Cambria Math" panose="02040503050406030204" pitchFamily="18" charset="0"/>
                            </a:rPr>
                            <m:t>𝒋</m:t>
                          </m:r>
                          <m:r>
                            <a:rPr lang="en-US" sz="2600" b="1" i="1" smtClean="0">
                              <a:latin typeface="Cambria Math" panose="02040503050406030204" pitchFamily="18" charset="0"/>
                            </a:rPr>
                            <m:t>=</m:t>
                          </m:r>
                          <m:r>
                            <a:rPr lang="en-US" sz="2600" b="1" i="1" smtClean="0">
                              <a:latin typeface="Cambria Math" panose="02040503050406030204" pitchFamily="18" charset="0"/>
                            </a:rPr>
                            <m:t>𝟏</m:t>
                          </m:r>
                        </m:sub>
                        <m:sup>
                          <m:r>
                            <a:rPr lang="en-US" sz="2600" b="1" i="1" smtClean="0">
                              <a:latin typeface="Cambria Math" panose="02040503050406030204" pitchFamily="18" charset="0"/>
                            </a:rPr>
                            <m:t>𝑻</m:t>
                          </m:r>
                        </m:sup>
                        <m:e>
                          <m:sSub>
                            <m:sSubPr>
                              <m:ctrlPr>
                                <a:rPr lang="en-US" sz="2600" b="1" i="1" smtClean="0">
                                  <a:latin typeface="Cambria Math" panose="02040503050406030204" pitchFamily="18" charset="0"/>
                                </a:rPr>
                              </m:ctrlPr>
                            </m:sSubPr>
                            <m:e>
                              <m:r>
                                <a:rPr lang="en-US" sz="2600" b="1" i="1" smtClean="0">
                                  <a:latin typeface="Cambria Math" panose="02040503050406030204" pitchFamily="18" charset="0"/>
                                </a:rPr>
                                <m:t>|</m:t>
                              </m:r>
                              <m:r>
                                <a:rPr lang="en-US" sz="2600" b="1" i="1" smtClean="0">
                                  <a:latin typeface="Cambria Math" panose="02040503050406030204" pitchFamily="18" charset="0"/>
                                </a:rPr>
                                <m:t>𝒘</m:t>
                              </m:r>
                            </m:e>
                            <m:sub>
                              <m:r>
                                <a:rPr lang="en-US" sz="2600" b="1" i="1" smtClean="0">
                                  <a:latin typeface="Cambria Math" panose="02040503050406030204" pitchFamily="18" charset="0"/>
                                </a:rPr>
                                <m:t>𝒋</m:t>
                              </m:r>
                            </m:sub>
                          </m:sSub>
                          <m:r>
                            <a:rPr lang="en-US" sz="2600" b="1" i="1" smtClean="0">
                              <a:latin typeface="Cambria Math" panose="02040503050406030204" pitchFamily="18" charset="0"/>
                            </a:rPr>
                            <m:t>|</m:t>
                          </m:r>
                        </m:e>
                      </m:nary>
                    </m:oMath>
                  </m:oMathPara>
                </a14:m>
                <a:endParaRPr lang="en-US" sz="2600" b="1" dirty="0"/>
              </a:p>
            </p:txBody>
          </p:sp>
        </mc:Choice>
        <mc:Fallback xmlns="">
          <p:sp>
            <p:nvSpPr>
              <p:cNvPr id="4" name="TextBox 3">
                <a:extLst>
                  <a:ext uri="{FF2B5EF4-FFF2-40B4-BE49-F238E27FC236}">
                    <a16:creationId xmlns:a16="http://schemas.microsoft.com/office/drawing/2014/main" id="{E1DDA8BB-7435-01E0-4952-E07E5395F4C6}"/>
                  </a:ext>
                </a:extLst>
              </p:cNvPr>
              <p:cNvSpPr txBox="1">
                <a:spLocks noRot="1" noChangeAspect="1" noMove="1" noResize="1" noEditPoints="1" noAdjustHandles="1" noChangeArrowheads="1" noChangeShapeType="1" noTextEdit="1"/>
              </p:cNvSpPr>
              <p:nvPr/>
            </p:nvSpPr>
            <p:spPr>
              <a:xfrm>
                <a:off x="2124664" y="1878301"/>
                <a:ext cx="1453538" cy="1184170"/>
              </a:xfrm>
              <a:prstGeom prst="rect">
                <a:avLst/>
              </a:prstGeom>
              <a:blipFill>
                <a:blip r:embed="rId3"/>
                <a:stretch>
                  <a:fillRect l="-64348" t="-108511" r="-11304" b="-164894"/>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45301502-1E93-C059-D06D-8A3398C37247}"/>
              </a:ext>
            </a:extLst>
          </p:cNvPr>
          <p:cNvSpPr/>
          <p:nvPr/>
        </p:nvSpPr>
        <p:spPr>
          <a:xfrm>
            <a:off x="2030817" y="1814501"/>
            <a:ext cx="1626778" cy="13415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FEE328-B7CC-FCD8-23A4-64D623A3FE13}"/>
                  </a:ext>
                </a:extLst>
              </p:cNvPr>
              <p:cNvSpPr txBox="1"/>
              <p:nvPr/>
            </p:nvSpPr>
            <p:spPr>
              <a:xfrm>
                <a:off x="3615062" y="2369151"/>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𝑻</m:t>
                      </m:r>
                    </m:oMath>
                  </m:oMathPara>
                </a14:m>
                <a:endParaRPr lang="en-US" b="1" dirty="0"/>
              </a:p>
            </p:txBody>
          </p:sp>
        </mc:Choice>
        <mc:Fallback xmlns="">
          <p:sp>
            <p:nvSpPr>
              <p:cNvPr id="6" name="TextBox 5">
                <a:extLst>
                  <a:ext uri="{FF2B5EF4-FFF2-40B4-BE49-F238E27FC236}">
                    <a16:creationId xmlns:a16="http://schemas.microsoft.com/office/drawing/2014/main" id="{7CFEE328-B7CC-FCD8-23A4-64D623A3FE13}"/>
                  </a:ext>
                </a:extLst>
              </p:cNvPr>
              <p:cNvSpPr txBox="1">
                <a:spLocks noRot="1" noChangeAspect="1" noMove="1" noResize="1" noEditPoints="1" noAdjustHandles="1" noChangeArrowheads="1" noChangeShapeType="1" noTextEdit="1"/>
              </p:cNvSpPr>
              <p:nvPr/>
            </p:nvSpPr>
            <p:spPr>
              <a:xfrm>
                <a:off x="3615062" y="2369151"/>
                <a:ext cx="829340" cy="276999"/>
              </a:xfrm>
              <a:prstGeom prst="rect">
                <a:avLst/>
              </a:prstGeom>
              <a:blipFill>
                <a:blip r:embed="rId4"/>
                <a:stretch>
                  <a:fillRect b="-869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E32C16C-24EC-E6F1-385C-42D8D2F38FC0}"/>
              </a:ext>
            </a:extLst>
          </p:cNvPr>
          <p:cNvSpPr txBox="1"/>
          <p:nvPr/>
        </p:nvSpPr>
        <p:spPr>
          <a:xfrm>
            <a:off x="4029732" y="2322984"/>
            <a:ext cx="6256841" cy="369332"/>
          </a:xfrm>
          <a:prstGeom prst="rect">
            <a:avLst/>
          </a:prstGeom>
          <a:noFill/>
        </p:spPr>
        <p:txBody>
          <a:bodyPr wrap="none" rtlCol="0">
            <a:spAutoFit/>
          </a:bodyPr>
          <a:lstStyle/>
          <a:p>
            <a:r>
              <a:rPr lang="en-US" dirty="0"/>
              <a:t>= number of leaves in the decision tree trained at iteration 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9188A97-BD4B-1CC3-4C1D-2D9449D44BB8}"/>
                  </a:ext>
                </a:extLst>
              </p:cNvPr>
              <p:cNvSpPr txBox="1"/>
              <p:nvPr/>
            </p:nvSpPr>
            <p:spPr>
              <a:xfrm>
                <a:off x="3597334" y="2659773"/>
                <a:ext cx="8293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𝜶</m:t>
                      </m:r>
                    </m:oMath>
                  </m:oMathPara>
                </a14:m>
                <a:endParaRPr/>
              </a:p>
            </p:txBody>
          </p:sp>
        </mc:Choice>
        <mc:Fallback xmlns="">
          <p:sp>
            <p:nvSpPr>
              <p:cNvPr id="8" name="TextBox 7">
                <a:extLst>
                  <a:ext uri="{FF2B5EF4-FFF2-40B4-BE49-F238E27FC236}">
                    <a16:creationId xmlns:a16="http://schemas.microsoft.com/office/drawing/2014/main" id="{E9188A97-BD4B-1CC3-4C1D-2D9449D44BB8}"/>
                  </a:ext>
                </a:extLst>
              </p:cNvPr>
              <p:cNvSpPr txBox="1">
                <a:spLocks noRot="1" noChangeAspect="1" noMove="1" noResize="1" noEditPoints="1" noAdjustHandles="1" noChangeArrowheads="1" noChangeShapeType="1" noTextEdit="1"/>
              </p:cNvSpPr>
              <p:nvPr/>
            </p:nvSpPr>
            <p:spPr>
              <a:xfrm>
                <a:off x="3597334" y="2659773"/>
                <a:ext cx="829340" cy="276999"/>
              </a:xfrm>
              <a:prstGeom prst="rect">
                <a:avLst/>
              </a:prstGeom>
              <a:blipFill>
                <a:blip r:embed="rId5"/>
                <a:stretch>
                  <a:fillRect t="-26087" b="-4782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41CF5B4-CECA-CA1D-21F6-EF22ADD02261}"/>
              </a:ext>
            </a:extLst>
          </p:cNvPr>
          <p:cNvSpPr txBox="1"/>
          <p:nvPr/>
        </p:nvSpPr>
        <p:spPr>
          <a:xfrm>
            <a:off x="4033270" y="2613606"/>
            <a:ext cx="6769802" cy="369332"/>
          </a:xfrm>
          <a:prstGeom prst="rect">
            <a:avLst/>
          </a:prstGeom>
          <a:noFill/>
        </p:spPr>
        <p:txBody>
          <a:bodyPr wrap="none" rtlCol="0">
            <a:spAutoFit/>
          </a:bodyPr>
          <a:lstStyle/>
          <a:p>
            <a:r>
              <a:rPr lang="en-US" dirty="0"/>
              <a:t>= “cost” assigned to the sum of the absolute value of the weights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B492284-2FA8-3E3B-E2D7-677F926062E8}"/>
                  </a:ext>
                </a:extLst>
              </p:cNvPr>
              <p:cNvSpPr txBox="1"/>
              <p:nvPr/>
            </p:nvSpPr>
            <p:spPr>
              <a:xfrm>
                <a:off x="3554559" y="2037666"/>
                <a:ext cx="829340" cy="3027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oMath>
                  </m:oMathPara>
                </a14:m>
                <a:endParaRPr lang="en-US" b="1" dirty="0"/>
              </a:p>
            </p:txBody>
          </p:sp>
        </mc:Choice>
        <mc:Fallback xmlns="">
          <p:sp>
            <p:nvSpPr>
              <p:cNvPr id="10" name="TextBox 9">
                <a:extLst>
                  <a:ext uri="{FF2B5EF4-FFF2-40B4-BE49-F238E27FC236}">
                    <a16:creationId xmlns:a16="http://schemas.microsoft.com/office/drawing/2014/main" id="{CB492284-2FA8-3E3B-E2D7-677F926062E8}"/>
                  </a:ext>
                </a:extLst>
              </p:cNvPr>
              <p:cNvSpPr txBox="1">
                <a:spLocks noRot="1" noChangeAspect="1" noMove="1" noResize="1" noEditPoints="1" noAdjustHandles="1" noChangeArrowheads="1" noChangeShapeType="1" noTextEdit="1"/>
              </p:cNvSpPr>
              <p:nvPr/>
            </p:nvSpPr>
            <p:spPr>
              <a:xfrm>
                <a:off x="3554559" y="2037666"/>
                <a:ext cx="829340" cy="302712"/>
              </a:xfrm>
              <a:prstGeom prst="rect">
                <a:avLst/>
              </a:prstGeom>
              <a:blipFill>
                <a:blip r:embed="rId6"/>
                <a:stretch>
                  <a:fillRect b="-24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93F3569-9581-AB9E-03D6-597CC24CB5C4}"/>
              </a:ext>
            </a:extLst>
          </p:cNvPr>
          <p:cNvSpPr txBox="1"/>
          <p:nvPr/>
        </p:nvSpPr>
        <p:spPr>
          <a:xfrm>
            <a:off x="4033271" y="2028826"/>
            <a:ext cx="6603090" cy="369332"/>
          </a:xfrm>
          <a:prstGeom prst="rect">
            <a:avLst/>
          </a:prstGeom>
          <a:noFill/>
        </p:spPr>
        <p:txBody>
          <a:bodyPr wrap="none" rtlCol="0">
            <a:spAutoFit/>
          </a:bodyPr>
          <a:lstStyle/>
          <a:p>
            <a:r>
              <a:rPr lang="en-US" dirty="0"/>
              <a:t>= weights for the leaves of the decision tree trained at iteration t</a:t>
            </a:r>
          </a:p>
        </p:txBody>
      </p:sp>
    </p:spTree>
    <p:extLst>
      <p:ext uri="{BB962C8B-B14F-4D97-AF65-F5344CB8AC3E}">
        <p14:creationId xmlns:p14="http://schemas.microsoft.com/office/powerpoint/2010/main" val="169555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0000B-EC5E-AE35-8DFF-4F2F2547E4CB}"/>
              </a:ext>
            </a:extLst>
          </p:cNvPr>
          <p:cNvSpPr>
            <a:spLocks noGrp="1"/>
          </p:cNvSpPr>
          <p:nvPr>
            <p:ph type="title"/>
          </p:nvPr>
        </p:nvSpPr>
        <p:spPr/>
        <p:txBody>
          <a:bodyPr>
            <a:noAutofit/>
          </a:bodyPr>
          <a:lstStyle/>
          <a:p>
            <a:r>
              <a:rPr lang="en-US" b="1" u="sng" dirty="0"/>
              <a:t>Research Question</a:t>
            </a:r>
            <a:r>
              <a:rPr lang="en-US" b="1" dirty="0"/>
              <a:t>: Among a cohort of patients part of The Cancer Genome Atlas Program with glioma, how well can machine learning classify the patients as having either Lower-Grade Glioma or Glioblastoma Multiforme?   </a:t>
            </a:r>
          </a:p>
        </p:txBody>
      </p:sp>
      <p:sp>
        <p:nvSpPr>
          <p:cNvPr id="3" name="Text Placeholder 2">
            <a:extLst>
              <a:ext uri="{FF2B5EF4-FFF2-40B4-BE49-F238E27FC236}">
                <a16:creationId xmlns:a16="http://schemas.microsoft.com/office/drawing/2014/main" id="{540E128B-F385-553F-73DB-01D5DD206998}"/>
              </a:ext>
            </a:extLst>
          </p:cNvPr>
          <p:cNvSpPr>
            <a:spLocks noGrp="1"/>
          </p:cNvSpPr>
          <p:nvPr>
            <p:ph type="body" idx="1"/>
          </p:nvPr>
        </p:nvSpPr>
        <p:spPr/>
        <p:txBody>
          <a:bodyPr/>
          <a:lstStyle/>
          <a:p>
            <a:endParaRPr lang="en-US"/>
          </a:p>
        </p:txBody>
      </p:sp>
      <p:pic>
        <p:nvPicPr>
          <p:cNvPr id="6146" name="Picture 2" descr="Brain Clipart PNG Transparent | OnlyGFX.com">
            <a:extLst>
              <a:ext uri="{FF2B5EF4-FFF2-40B4-BE49-F238E27FC236}">
                <a16:creationId xmlns:a16="http://schemas.microsoft.com/office/drawing/2014/main" id="{F6D1DADE-3141-E5DF-869E-21B3616E1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4908" y="542802"/>
            <a:ext cx="3011258" cy="1971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430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87181-9A62-3C78-F0E0-7489964C56AB}"/>
              </a:ext>
            </a:extLst>
          </p:cNvPr>
          <p:cNvSpPr>
            <a:spLocks noGrp="1"/>
          </p:cNvSpPr>
          <p:nvPr>
            <p:ph type="title"/>
          </p:nvPr>
        </p:nvSpPr>
        <p:spPr/>
        <p:txBody>
          <a:bodyPr/>
          <a:lstStyle/>
          <a:p>
            <a:r>
              <a:rPr lang="en-US" b="1" dirty="0"/>
              <a:t>How </a:t>
            </a:r>
            <a:r>
              <a:rPr lang="en-US" b="1" dirty="0" err="1"/>
              <a:t>XGBoost</a:t>
            </a:r>
            <a:r>
              <a:rPr lang="en-US" b="1" dirty="0"/>
              <a:t> Will Help Answer My Research Question </a:t>
            </a:r>
          </a:p>
        </p:txBody>
      </p:sp>
      <p:sp>
        <p:nvSpPr>
          <p:cNvPr id="3" name="Content Placeholder 2">
            <a:extLst>
              <a:ext uri="{FF2B5EF4-FFF2-40B4-BE49-F238E27FC236}">
                <a16:creationId xmlns:a16="http://schemas.microsoft.com/office/drawing/2014/main" id="{C12FBCBD-F8FA-BC6B-6C26-BFD3A9D3D5A9}"/>
              </a:ext>
            </a:extLst>
          </p:cNvPr>
          <p:cNvSpPr>
            <a:spLocks noGrp="1"/>
          </p:cNvSpPr>
          <p:nvPr>
            <p:ph idx="1"/>
          </p:nvPr>
        </p:nvSpPr>
        <p:spPr>
          <a:xfrm>
            <a:off x="2200940" y="2424256"/>
            <a:ext cx="8369199" cy="3997828"/>
          </a:xfrm>
        </p:spPr>
        <p:txBody>
          <a:bodyPr>
            <a:normAutofit fontScale="77500" lnSpcReduction="20000"/>
          </a:bodyPr>
          <a:lstStyle/>
          <a:p>
            <a:r>
              <a:rPr lang="en-US" b="1" u="sng" dirty="0"/>
              <a:t>Dataset</a:t>
            </a:r>
            <a:r>
              <a:rPr lang="en-US" b="1" dirty="0"/>
              <a:t>: consists of 839 patients with glioma, and 23 genes and clinical features such as gender, age at diagnosis, and whether tumor protein p53 was mutated or not [3]</a:t>
            </a:r>
          </a:p>
          <a:p>
            <a:r>
              <a:rPr lang="en-US" b="1" dirty="0"/>
              <a:t>Split the dataset so that 70% is training set, 30% is test set</a:t>
            </a:r>
          </a:p>
          <a:p>
            <a:r>
              <a:rPr lang="en-US" b="1" dirty="0" err="1"/>
              <a:t>XGBoost</a:t>
            </a:r>
            <a:r>
              <a:rPr lang="en-US" b="1" dirty="0"/>
              <a:t> will be applied on the dataset to classify patients as either having Lower-Grade Glioma or Glioblastoma Multiforme</a:t>
            </a:r>
          </a:p>
          <a:p>
            <a:r>
              <a:rPr lang="en-US" b="1" dirty="0" err="1"/>
              <a:t>XGBoost</a:t>
            </a:r>
            <a:r>
              <a:rPr lang="en-US" b="1" dirty="0"/>
              <a:t> is a strong machine learning model to use for this classification task because its regularization term in its regularized objective function has built-in support to help prevent overfitting</a:t>
            </a:r>
          </a:p>
          <a:p>
            <a:pPr lvl="1"/>
            <a:r>
              <a:rPr lang="en-US" b="1" dirty="0"/>
              <a:t>Especially useful because the dataset only contains 839 patients</a:t>
            </a:r>
          </a:p>
          <a:p>
            <a:r>
              <a:rPr lang="en-US" b="1" dirty="0" err="1"/>
              <a:t>XGBoost</a:t>
            </a:r>
            <a:r>
              <a:rPr lang="en-US" b="1" dirty="0"/>
              <a:t> also has been demonstrated to perform well in classification tasks for healthcare [4]</a:t>
            </a:r>
          </a:p>
        </p:txBody>
      </p:sp>
    </p:spTree>
    <p:extLst>
      <p:ext uri="{BB962C8B-B14F-4D97-AF65-F5344CB8AC3E}">
        <p14:creationId xmlns:p14="http://schemas.microsoft.com/office/powerpoint/2010/main" val="4106574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6D12-209F-B607-8EAF-9F230DA514BE}"/>
              </a:ext>
            </a:extLst>
          </p:cNvPr>
          <p:cNvSpPr>
            <a:spLocks noGrp="1"/>
          </p:cNvSpPr>
          <p:nvPr>
            <p:ph type="title"/>
          </p:nvPr>
        </p:nvSpPr>
        <p:spPr/>
        <p:txBody>
          <a:bodyPr/>
          <a:lstStyle/>
          <a:p>
            <a:r>
              <a:rPr lang="en-US" b="1" dirty="0"/>
              <a:t>Sources</a:t>
            </a:r>
          </a:p>
        </p:txBody>
      </p:sp>
      <p:sp>
        <p:nvSpPr>
          <p:cNvPr id="3" name="Content Placeholder 2">
            <a:extLst>
              <a:ext uri="{FF2B5EF4-FFF2-40B4-BE49-F238E27FC236}">
                <a16:creationId xmlns:a16="http://schemas.microsoft.com/office/drawing/2014/main" id="{3CE0229B-5045-F657-D8B2-E65887D0DC3B}"/>
              </a:ext>
            </a:extLst>
          </p:cNvPr>
          <p:cNvSpPr>
            <a:spLocks noGrp="1"/>
          </p:cNvSpPr>
          <p:nvPr>
            <p:ph idx="1"/>
          </p:nvPr>
        </p:nvSpPr>
        <p:spPr/>
        <p:txBody>
          <a:bodyPr>
            <a:normAutofit fontScale="70000" lnSpcReduction="20000"/>
          </a:bodyPr>
          <a:lstStyle/>
          <a:p>
            <a:r>
              <a:rPr lang="en-US" dirty="0"/>
              <a:t>[1] Tianqi Chen and Carlos </a:t>
            </a:r>
            <a:r>
              <a:rPr lang="en-US" dirty="0" err="1"/>
              <a:t>Guestrin</a:t>
            </a:r>
            <a:r>
              <a:rPr lang="en-US" dirty="0"/>
              <a:t>. 2016. </a:t>
            </a:r>
            <a:r>
              <a:rPr lang="en-US" dirty="0" err="1"/>
              <a:t>XGBoost</a:t>
            </a:r>
            <a:r>
              <a:rPr lang="en-US" dirty="0"/>
              <a:t>: A Scalable Tree Boosting System. In Proceedings of the 22nd ACM SIGKDD International Conference on Knowledge Discovery and Data Mining (KDD '16). Association for Computing Machinery, New York, NY, USA, 785–794. https://doi.org/10.1145/2939672.2939785</a:t>
            </a:r>
          </a:p>
          <a:p>
            <a:r>
              <a:rPr lang="en-US" dirty="0"/>
              <a:t>[2] Guillaume, S. (2022, February 24). Visually understand </a:t>
            </a:r>
            <a:r>
              <a:rPr lang="en-US" dirty="0" err="1"/>
              <a:t>XGBoost</a:t>
            </a:r>
            <a:r>
              <a:rPr lang="en-US" dirty="0"/>
              <a:t>, </a:t>
            </a:r>
            <a:r>
              <a:rPr lang="en-US" dirty="0" err="1"/>
              <a:t>LightGBM</a:t>
            </a:r>
            <a:r>
              <a:rPr lang="en-US" dirty="0"/>
              <a:t> and </a:t>
            </a:r>
            <a:r>
              <a:rPr lang="en-US" dirty="0" err="1"/>
              <a:t>CatBoost</a:t>
            </a:r>
            <a:r>
              <a:rPr lang="en-US" dirty="0"/>
              <a:t> Regularization Parameters. Towards Data Science. https://</a:t>
            </a:r>
            <a:r>
              <a:rPr lang="en-US" dirty="0" err="1"/>
              <a:t>towardsdatascience.com</a:t>
            </a:r>
            <a:r>
              <a:rPr lang="en-US" dirty="0"/>
              <a:t>/visually-understand-xgboost-lightgbm-and-catboost-regularization-parameters-aa12abcd4c17/ </a:t>
            </a:r>
          </a:p>
          <a:p>
            <a:r>
              <a:rPr lang="en-US" dirty="0"/>
              <a:t>[3] Tasci, E., Zhuge, Y., Kaur, H., </a:t>
            </a:r>
            <a:r>
              <a:rPr lang="en-US" dirty="0" err="1"/>
              <a:t>Camphausen</a:t>
            </a:r>
            <a:r>
              <a:rPr lang="en-US" dirty="0"/>
              <a:t>, K., &amp; Krauze, A. V. (2022). Hierarchical Voting-Based Feature Selection and Ensemble Learning Model Scheme for Glioma Grading with Clinical and Molecular Characteristics. International Journal of Molecular Sciences, 23(22), 14155.</a:t>
            </a:r>
          </a:p>
          <a:p>
            <a:r>
              <a:rPr lang="en-US" dirty="0"/>
              <a:t>[4] Rafie, Z., Talab, M. S., Koor, B. E. Z., </a:t>
            </a:r>
            <a:r>
              <a:rPr lang="en-US" dirty="0" err="1"/>
              <a:t>Garavand</a:t>
            </a:r>
            <a:r>
              <a:rPr lang="en-US" dirty="0"/>
              <a:t>, A., </a:t>
            </a:r>
            <a:r>
              <a:rPr lang="en-US" dirty="0" err="1"/>
              <a:t>Salehnasab</a:t>
            </a:r>
            <a:r>
              <a:rPr lang="en-US" dirty="0"/>
              <a:t>, C., &amp; </a:t>
            </a:r>
            <a:r>
              <a:rPr lang="en-US" dirty="0" err="1"/>
              <a:t>Ghaderzadeh</a:t>
            </a:r>
            <a:r>
              <a:rPr lang="en-US" dirty="0"/>
              <a:t>, M. (2025). Leveraging </a:t>
            </a:r>
            <a:r>
              <a:rPr lang="en-US" dirty="0" err="1"/>
              <a:t>XGBoost</a:t>
            </a:r>
            <a:r>
              <a:rPr lang="en-US" dirty="0"/>
              <a:t> and explainable AI for accurate prediction of type 2 diabetes. </a:t>
            </a:r>
            <a:r>
              <a:rPr lang="en-US" i="1" dirty="0"/>
              <a:t>BMC public health</a:t>
            </a:r>
            <a:r>
              <a:rPr lang="en-US" dirty="0"/>
              <a:t>, </a:t>
            </a:r>
            <a:r>
              <a:rPr lang="en-US" i="1" dirty="0"/>
              <a:t>25</a:t>
            </a:r>
            <a:r>
              <a:rPr lang="en-US" dirty="0"/>
              <a:t>(1), 3688. https://</a:t>
            </a:r>
            <a:r>
              <a:rPr lang="en-US" dirty="0" err="1"/>
              <a:t>doi.org</a:t>
            </a:r>
            <a:r>
              <a:rPr lang="en-US" dirty="0"/>
              <a:t>/10.1186/s12889-025-24953-w</a:t>
            </a:r>
          </a:p>
        </p:txBody>
      </p:sp>
    </p:spTree>
    <p:extLst>
      <p:ext uri="{BB962C8B-B14F-4D97-AF65-F5344CB8AC3E}">
        <p14:creationId xmlns:p14="http://schemas.microsoft.com/office/powerpoint/2010/main" val="1095952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D5CB-D554-B90C-E596-B008B9CB0930}"/>
              </a:ext>
            </a:extLst>
          </p:cNvPr>
          <p:cNvSpPr>
            <a:spLocks noGrp="1"/>
          </p:cNvSpPr>
          <p:nvPr>
            <p:ph type="title"/>
          </p:nvPr>
        </p:nvSpPr>
        <p:spPr/>
        <p:txBody>
          <a:bodyPr>
            <a:normAutofit/>
          </a:bodyPr>
          <a:lstStyle/>
          <a:p>
            <a:r>
              <a:rPr lang="en-US" sz="4800" b="1" dirty="0"/>
              <a:t>Any questions?</a:t>
            </a:r>
          </a:p>
        </p:txBody>
      </p:sp>
      <p:sp>
        <p:nvSpPr>
          <p:cNvPr id="3" name="Text Placeholder 2">
            <a:extLst>
              <a:ext uri="{FF2B5EF4-FFF2-40B4-BE49-F238E27FC236}">
                <a16:creationId xmlns:a16="http://schemas.microsoft.com/office/drawing/2014/main" id="{A0C9171B-BE45-25EE-FF87-D44E9064CFF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845729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2542</TotalTime>
  <Words>977</Words>
  <Application>Microsoft Macintosh PowerPoint</Application>
  <PresentationFormat>Widescreen</PresentationFormat>
  <Paragraphs>88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MS Shell Dlg 2</vt:lpstr>
      <vt:lpstr>Arial</vt:lpstr>
      <vt:lpstr>Cambria Math</vt:lpstr>
      <vt:lpstr>Wingdings</vt:lpstr>
      <vt:lpstr>Wingdings 3</vt:lpstr>
      <vt:lpstr>Madison</vt:lpstr>
      <vt:lpstr>XGBoost: Regularization Framework-Tree Complexity Penalties</vt:lpstr>
      <vt:lpstr>XGBoost versus Gradient Boosted Trees</vt:lpstr>
      <vt:lpstr>How XGBoost Differs From Gradient Boosted Trees</vt:lpstr>
      <vt:lpstr>XGBoost’s Regularization Framework</vt:lpstr>
      <vt:lpstr>Regularized Objective Function</vt:lpstr>
      <vt:lpstr>The Regularization Term</vt:lpstr>
      <vt:lpstr>Tree Complexity Penalties</vt:lpstr>
      <vt:lpstr>Leaf Count Penalty</vt:lpstr>
      <vt:lpstr>L2 (Ridge) Leaf Weight Regularization</vt:lpstr>
      <vt:lpstr>L1 Leaf Weight Regularization (LASSO)</vt:lpstr>
      <vt:lpstr>Research Question: Among a cohort of patients part of The Cancer Genome Atlas Program with glioma, how well can machine learning classify the patients as having either Lower-Grade Glioma or Glioblastoma Multiforme?   </vt:lpstr>
      <vt:lpstr>How XGBoost Will Help Answer My Research Question </vt:lpstr>
      <vt:lpstr>Sources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 Audrey</dc:creator>
  <cp:lastModifiedBy>Su, Audrey</cp:lastModifiedBy>
  <cp:revision>347</cp:revision>
  <dcterms:created xsi:type="dcterms:W3CDTF">2026-06-05T22:14:10Z</dcterms:created>
  <dcterms:modified xsi:type="dcterms:W3CDTF">2026-06-08T05:21:07Z</dcterms:modified>
</cp:coreProperties>
</file>