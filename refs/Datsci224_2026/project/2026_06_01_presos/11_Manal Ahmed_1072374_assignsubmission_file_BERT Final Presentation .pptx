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3" r:id="rId2"/>
    <p:sldId id="256" r:id="rId3"/>
    <p:sldId id="257" r:id="rId4"/>
    <p:sldId id="258" r:id="rId5"/>
    <p:sldId id="259" r:id="rId6"/>
    <p:sldId id="265" r:id="rId7"/>
    <p:sldId id="260" r:id="rId8"/>
    <p:sldId id="261" r:id="rId9"/>
    <p:sldId id="262"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56"/>
    <p:restoredTop sz="78655"/>
  </p:normalViewPr>
  <p:slideViewPr>
    <p:cSldViewPr snapToGrid="0" snapToObjects="1">
      <p:cViewPr>
        <p:scale>
          <a:sx n="115" d="100"/>
          <a:sy n="115" d="100"/>
        </p:scale>
        <p:origin x="576" y="5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92303F-7E08-B444-9B41-98FF78FED0B9}" type="datetimeFigureOut">
              <a:rPr lang="en-US" smtClean="0"/>
              <a:t>5/31/26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F64805-A603-2D4F-8A45-5A048333068E}" type="slidenum">
              <a:rPr lang="en-US" smtClean="0"/>
              <a:t>‹#›</a:t>
            </a:fld>
            <a:endParaRPr lang="en-US"/>
          </a:p>
        </p:txBody>
      </p:sp>
    </p:spTree>
    <p:extLst>
      <p:ext uri="{BB962C8B-B14F-4D97-AF65-F5344CB8AC3E}">
        <p14:creationId xmlns:p14="http://schemas.microsoft.com/office/powerpoint/2010/main" val="132943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Think about the word 'bank.' In the first sentence, 'The bank is near the river,' it probably means the ground next to the river. But in 'I deposited money in the bank,' it's a financial institution. Same word, completely different meaning.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decades, traditional NLP methods couldn't reliably understand which meaning was intended without a lot of manual rule-writing. BERT solved this by learning to use surrounding context —&gt; both what comes before AND after a word —&gt; to understand its true meaning. This is the core problem BERT addresses.</a:t>
            </a:r>
          </a:p>
        </p:txBody>
      </p:sp>
      <p:sp>
        <p:nvSpPr>
          <p:cNvPr id="4" name="Slide Number Placeholder 3"/>
          <p:cNvSpPr>
            <a:spLocks noGrp="1"/>
          </p:cNvSpPr>
          <p:nvPr>
            <p:ph type="sldNum" sz="quarter" idx="5"/>
          </p:nvPr>
        </p:nvSpPr>
        <p:spPr/>
        <p:txBody>
          <a:bodyPr/>
          <a:lstStyle/>
          <a:p>
            <a:fld id="{94F64805-A603-2D4F-8A45-5A048333068E}" type="slidenum">
              <a:rPr lang="en-US" smtClean="0"/>
              <a:t>2</a:t>
            </a:fld>
            <a:endParaRPr lang="en-US"/>
          </a:p>
        </p:txBody>
      </p:sp>
    </p:spTree>
    <p:extLst>
      <p:ext uri="{BB962C8B-B14F-4D97-AF65-F5344CB8AC3E}">
        <p14:creationId xmlns:p14="http://schemas.microsoft.com/office/powerpoint/2010/main" val="3542262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You've already learned that Transformers use attention to process words in parallel and understand relationships between words. BERT keeps that foundation but makes three major changes to how language is learned. Let's explore those innovations now.</a:t>
            </a:r>
          </a:p>
          <a:p>
            <a:endParaRPr lang="en-US" dirty="0"/>
          </a:p>
        </p:txBody>
      </p:sp>
      <p:sp>
        <p:nvSpPr>
          <p:cNvPr id="4" name="Slide Number Placeholder 3"/>
          <p:cNvSpPr>
            <a:spLocks noGrp="1"/>
          </p:cNvSpPr>
          <p:nvPr>
            <p:ph type="sldNum" sz="quarter" idx="5"/>
          </p:nvPr>
        </p:nvSpPr>
        <p:spPr/>
        <p:txBody>
          <a:bodyPr/>
          <a:lstStyle/>
          <a:p>
            <a:fld id="{94F64805-A603-2D4F-8A45-5A048333068E}" type="slidenum">
              <a:rPr lang="en-US" smtClean="0"/>
              <a:t>3</a:t>
            </a:fld>
            <a:endParaRPr lang="en-US"/>
          </a:p>
        </p:txBody>
      </p:sp>
    </p:spTree>
    <p:extLst>
      <p:ext uri="{BB962C8B-B14F-4D97-AF65-F5344CB8AC3E}">
        <p14:creationId xmlns:p14="http://schemas.microsoft.com/office/powerpoint/2010/main" val="1356516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First innovation: bidirectional context. A standard language model predicts words by only looking at what came before —&gt; like reading left to right and stopping at the blank. It sees 'The dog chased the ___' and has to guess from just that context.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But BERT sees the entire sentence at once: 'The dog chased the ___ around the yard.' It sees both what came before AND what comes after. This gives BERT much richer context to understand what word belongs in that blank. That's the first major difference from standard Transformers —&gt; they're unidirectional, BERT is bidirectional</a:t>
            </a:r>
          </a:p>
        </p:txBody>
      </p:sp>
      <p:sp>
        <p:nvSpPr>
          <p:cNvPr id="4" name="Slide Number Placeholder 3"/>
          <p:cNvSpPr>
            <a:spLocks noGrp="1"/>
          </p:cNvSpPr>
          <p:nvPr>
            <p:ph type="sldNum" sz="quarter" idx="5"/>
          </p:nvPr>
        </p:nvSpPr>
        <p:spPr/>
        <p:txBody>
          <a:bodyPr/>
          <a:lstStyle/>
          <a:p>
            <a:fld id="{94F64805-A603-2D4F-8A45-5A048333068E}" type="slidenum">
              <a:rPr lang="en-US" smtClean="0"/>
              <a:t>4</a:t>
            </a:fld>
            <a:endParaRPr lang="en-US"/>
          </a:p>
        </p:txBody>
      </p:sp>
    </p:spTree>
    <p:extLst>
      <p:ext uri="{BB962C8B-B14F-4D97-AF65-F5344CB8AC3E}">
        <p14:creationId xmlns:p14="http://schemas.microsoft.com/office/powerpoint/2010/main" val="2870820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Second innovation: Masked Language Modeling, or MLM. Instead of learning to predict the next word like traditional language models, BERT hides random words in sentences —&gt; replacing them with a [MASK] token —&gt; and learns to predict what word should go there. It's like a fill-in-the-blanks game played on billions of sentences. This forces BERT to really understand context because it needs both left and right information to fill in the blank.</a:t>
            </a:r>
          </a:p>
          <a:p>
            <a:endParaRPr lang="en-US" dirty="0"/>
          </a:p>
        </p:txBody>
      </p:sp>
      <p:sp>
        <p:nvSpPr>
          <p:cNvPr id="4" name="Slide Number Placeholder 3"/>
          <p:cNvSpPr>
            <a:spLocks noGrp="1"/>
          </p:cNvSpPr>
          <p:nvPr>
            <p:ph type="sldNum" sz="quarter" idx="5"/>
          </p:nvPr>
        </p:nvSpPr>
        <p:spPr/>
        <p:txBody>
          <a:bodyPr/>
          <a:lstStyle/>
          <a:p>
            <a:fld id="{94F64805-A603-2D4F-8A45-5A048333068E}" type="slidenum">
              <a:rPr lang="en-US" smtClean="0"/>
              <a:t>5</a:t>
            </a:fld>
            <a:endParaRPr lang="en-US"/>
          </a:p>
        </p:txBody>
      </p:sp>
    </p:spTree>
    <p:extLst>
      <p:ext uri="{BB962C8B-B14F-4D97-AF65-F5344CB8AC3E}">
        <p14:creationId xmlns:p14="http://schemas.microsoft.com/office/powerpoint/2010/main" val="3264462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Third innovation: Next Sentence Prediction. BERT also learns whether two sentences follow each other naturally or not. This teaches BERT about sentence-level relationships, not just word-level.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 BERT has three major differences from standard Transformers: bidirectional context, masked language modeling as its training task, and understanding sentence relationships. These three changes dramatically improve how well BERT understands language.</a:t>
            </a:r>
          </a:p>
          <a:p>
            <a:endParaRPr lang="en-US" dirty="0"/>
          </a:p>
        </p:txBody>
      </p:sp>
      <p:sp>
        <p:nvSpPr>
          <p:cNvPr id="4" name="Slide Number Placeholder 3"/>
          <p:cNvSpPr>
            <a:spLocks noGrp="1"/>
          </p:cNvSpPr>
          <p:nvPr>
            <p:ph type="sldNum" sz="quarter" idx="5"/>
          </p:nvPr>
        </p:nvSpPr>
        <p:spPr/>
        <p:txBody>
          <a:bodyPr/>
          <a:lstStyle/>
          <a:p>
            <a:fld id="{94F64805-A603-2D4F-8A45-5A048333068E}" type="slidenum">
              <a:rPr lang="en-US" smtClean="0"/>
              <a:t>6</a:t>
            </a:fld>
            <a:endParaRPr lang="en-US"/>
          </a:p>
        </p:txBody>
      </p:sp>
    </p:spTree>
    <p:extLst>
      <p:ext uri="{BB962C8B-B14F-4D97-AF65-F5344CB8AC3E}">
        <p14:creationId xmlns:p14="http://schemas.microsoft.com/office/powerpoint/2010/main" val="3294074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Here's how BERT is structured. A sentence comes in, gets broken into tokens, converted to embeddings, then passes through 12 Transformer encoder layers —&gt;  these are the attention mechanisms that look in both directions.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Notice: BERT uses only the encoder part of the original Transformer architecture —&gt; no decoder. This is a major architectural difference. The original Transformer used both encoder and decoder because it was designed for translation. BERT only needs the encoder to understand language deeply.</a:t>
            </a:r>
          </a:p>
          <a:p>
            <a:endParaRPr lang="en-US" sz="1200" b="0" kern="1200" dirty="0">
              <a:solidFill>
                <a:schemeClr val="tx1"/>
              </a:solidFill>
              <a:effectLst/>
              <a:latin typeface="+mn-lt"/>
              <a:ea typeface="+mn-ea"/>
              <a:cs typeface="+mn-cs"/>
            </a:endParaRPr>
          </a:p>
          <a:p>
            <a:pPr marL="171450" indent="-171450">
              <a:buFontTx/>
              <a:buChar char="-"/>
            </a:pPr>
            <a:r>
              <a:rPr lang="en-US" dirty="0"/>
              <a:t>The encoder's job is to understand the input.</a:t>
            </a:r>
          </a:p>
          <a:p>
            <a:pPr marL="171450" indent="-171450">
              <a:buFontTx/>
              <a:buChar char="-"/>
            </a:pPr>
            <a:r>
              <a:rPr lang="en-US" dirty="0"/>
              <a:t>The decoder's job is to generate text.</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Another key difference: at every layer, BERT's attention is bidirectional. It can look both forward and backward. This is what makes BERT fundamentally different from the original Transformer design, where attention is typically directional.</a:t>
            </a:r>
          </a:p>
          <a:p>
            <a:endParaRPr lang="en-US" dirty="0"/>
          </a:p>
        </p:txBody>
      </p:sp>
      <p:sp>
        <p:nvSpPr>
          <p:cNvPr id="4" name="Slide Number Placeholder 3"/>
          <p:cNvSpPr>
            <a:spLocks noGrp="1"/>
          </p:cNvSpPr>
          <p:nvPr>
            <p:ph type="sldNum" sz="quarter" idx="5"/>
          </p:nvPr>
        </p:nvSpPr>
        <p:spPr/>
        <p:txBody>
          <a:bodyPr/>
          <a:lstStyle/>
          <a:p>
            <a:fld id="{94F64805-A603-2D4F-8A45-5A048333068E}" type="slidenum">
              <a:rPr lang="en-US" smtClean="0"/>
              <a:t>7</a:t>
            </a:fld>
            <a:endParaRPr lang="en-US"/>
          </a:p>
        </p:txBody>
      </p:sp>
    </p:spTree>
    <p:extLst>
      <p:ext uri="{BB962C8B-B14F-4D97-AF65-F5344CB8AC3E}">
        <p14:creationId xmlns:p14="http://schemas.microsoft.com/office/powerpoint/2010/main" val="1000723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how does BERT help us? Let me show you why bidirectional context matters for real.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Look at this review: 'I expected this to be boring, but the plot twist made it incredible.' A standard left-to-right language model reads the beginning—&gt; 'I expected this to be boring’—&gt; and thinks: negative review. It stops there. But BERT sees the entire sentence at once. It reads the 'but' and sees 'incredible' at the end, and understands this is actually a positive review.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Or consider: 'The movie wasn't the worst I've seen; it was actually pretty good.' A standard model gets confused by the negation in the first part. But BERT sees both the negation AND the positive reinforcement at the end, and correctly classifies it as positive.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where BERT's bidirectional context is the game-changer. It doesn't get stuck on early words. It reads the whole sentence first, then makes a decision. This is why BERT handles nuanced, complex sentiment so much better than traditional models. It's not just that BERT is pre-trained, it's that the bidirectional architecture fundamentally changes how it understands language.</a:t>
            </a:r>
          </a:p>
          <a:p>
            <a:endParaRPr lang="en-US" dirty="0"/>
          </a:p>
        </p:txBody>
      </p:sp>
      <p:sp>
        <p:nvSpPr>
          <p:cNvPr id="4" name="Slide Number Placeholder 3"/>
          <p:cNvSpPr>
            <a:spLocks noGrp="1"/>
          </p:cNvSpPr>
          <p:nvPr>
            <p:ph type="sldNum" sz="quarter" idx="5"/>
          </p:nvPr>
        </p:nvSpPr>
        <p:spPr/>
        <p:txBody>
          <a:bodyPr/>
          <a:lstStyle/>
          <a:p>
            <a:fld id="{94F64805-A603-2D4F-8A45-5A048333068E}" type="slidenum">
              <a:rPr lang="en-US" smtClean="0"/>
              <a:t>8</a:t>
            </a:fld>
            <a:endParaRPr lang="en-US"/>
          </a:p>
        </p:txBody>
      </p:sp>
    </p:spTree>
    <p:extLst>
      <p:ext uri="{BB962C8B-B14F-4D97-AF65-F5344CB8AC3E}">
        <p14:creationId xmlns:p14="http://schemas.microsoft.com/office/powerpoint/2010/main" val="3569674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To summarize: BERT takes the Transformer architecture and makes three key innovations. It uses bidirectional context instead of directional. It learns language through masked language modeling instead of next-word prediction. And it can be fine-tuned on any NLP task </a:t>
            </a:r>
            <a:r>
              <a:rPr lang="en-US" sz="1200" b="0" kern="1200" dirty="0">
                <a:solidFill>
                  <a:schemeClr val="tx1"/>
                </a:solidFill>
                <a:effectLst/>
                <a:latin typeface="+mn-lt"/>
                <a:ea typeface="+mn-ea"/>
                <a:cs typeface="+mn-cs"/>
                <a:sym typeface="Wingdings" pitchFamily="2" charset="2"/>
              </a:rPr>
              <a:t></a:t>
            </a:r>
            <a:r>
              <a:rPr lang="en-US" sz="1200" b="0" kern="1200" dirty="0">
                <a:solidFill>
                  <a:schemeClr val="tx1"/>
                </a:solidFill>
                <a:effectLst/>
                <a:latin typeface="+mn-lt"/>
                <a:ea typeface="+mn-ea"/>
                <a:cs typeface="+mn-cs"/>
              </a:rPr>
              <a:t> sentiment analysis, question answering, named entity recognition — and perform extremely well because it has already learned language deeply.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That's why BERT was such a breakthrough: it showed that if you teach an AI to understand language deeply through bidirectional context and MLM, it can adapt to almost any downstream NLP task. Thank you.</a:t>
            </a:r>
          </a:p>
          <a:p>
            <a:endParaRPr lang="en-US" dirty="0"/>
          </a:p>
        </p:txBody>
      </p:sp>
      <p:sp>
        <p:nvSpPr>
          <p:cNvPr id="4" name="Slide Number Placeholder 3"/>
          <p:cNvSpPr>
            <a:spLocks noGrp="1"/>
          </p:cNvSpPr>
          <p:nvPr>
            <p:ph type="sldNum" sz="quarter" idx="5"/>
          </p:nvPr>
        </p:nvSpPr>
        <p:spPr/>
        <p:txBody>
          <a:bodyPr/>
          <a:lstStyle/>
          <a:p>
            <a:fld id="{94F64805-A603-2D4F-8A45-5A048333068E}" type="slidenum">
              <a:rPr lang="en-US" smtClean="0"/>
              <a:t>9</a:t>
            </a:fld>
            <a:endParaRPr lang="en-US"/>
          </a:p>
        </p:txBody>
      </p:sp>
    </p:spTree>
    <p:extLst>
      <p:ext uri="{BB962C8B-B14F-4D97-AF65-F5344CB8AC3E}">
        <p14:creationId xmlns:p14="http://schemas.microsoft.com/office/powerpoint/2010/main" val="1633435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D2F961A-A1F8-BDE7-8D2F-E8C4436E53EB}"/>
              </a:ext>
            </a:extLst>
          </p:cNvPr>
          <p:cNvPicPr>
            <a:picLocks noChangeAspect="1"/>
          </p:cNvPicPr>
          <p:nvPr/>
        </p:nvPicPr>
        <p:blipFill>
          <a:blip r:embed="rId2"/>
          <a:srcRect l="16005" r="4704"/>
          <a:stretch>
            <a:fillRect/>
          </a:stretch>
        </p:blipFill>
        <p:spPr>
          <a:xfrm>
            <a:off x="20" y="10"/>
            <a:ext cx="9667104" cy="6857990"/>
          </a:xfrm>
          <a:prstGeom prst="rect">
            <a:avLst/>
          </a:prstGeom>
        </p:spPr>
      </p:pic>
      <p:sp>
        <p:nvSpPr>
          <p:cNvPr id="10" name="Rectangle 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3684" y="0"/>
            <a:ext cx="706513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A82C75A3-D642-85AF-41DC-9E19E6ABF78A}"/>
              </a:ext>
            </a:extLst>
          </p:cNvPr>
          <p:cNvSpPr txBox="1"/>
          <p:nvPr/>
        </p:nvSpPr>
        <p:spPr>
          <a:xfrm>
            <a:off x="8367631" y="1557619"/>
            <a:ext cx="3821194" cy="3742762"/>
          </a:xfrm>
          <a:prstGeom prst="rect">
            <a:avLst/>
          </a:prstGeom>
        </p:spPr>
        <p:txBody>
          <a:bodyPr vert="horz" lIns="91440" tIns="45720" rIns="91440" bIns="45720" rtlCol="0">
            <a:normAutofit/>
          </a:bodyPr>
          <a:lstStyle/>
          <a:p>
            <a:pPr algn="ctr" defTabSz="914400">
              <a:lnSpc>
                <a:spcPct val="90000"/>
              </a:lnSpc>
              <a:spcAft>
                <a:spcPts val="600"/>
              </a:spcAft>
            </a:pPr>
            <a:r>
              <a:rPr lang="en-US" sz="3200" b="1" dirty="0"/>
              <a:t>BERT: From Transformers to Bidirectional Understanding</a:t>
            </a:r>
            <a:endParaRPr lang="en-US" sz="3200" dirty="0"/>
          </a:p>
          <a:p>
            <a:pPr indent="-228600" algn="ctr" defTabSz="914400">
              <a:lnSpc>
                <a:spcPct val="90000"/>
              </a:lnSpc>
              <a:spcAft>
                <a:spcPts val="600"/>
              </a:spcAft>
              <a:buFont typeface="Arial" panose="020B0604020202020204" pitchFamily="34" charset="0"/>
              <a:buChar char="•"/>
            </a:pPr>
            <a:endParaRPr lang="en-US" sz="2000" dirty="0"/>
          </a:p>
          <a:p>
            <a:pPr indent="-228600" algn="ctr" defTabSz="914400">
              <a:lnSpc>
                <a:spcPct val="90000"/>
              </a:lnSpc>
              <a:spcAft>
                <a:spcPts val="600"/>
              </a:spcAft>
              <a:buFont typeface="Arial" panose="020B0604020202020204" pitchFamily="34" charset="0"/>
              <a:buChar char="•"/>
            </a:pPr>
            <a:endParaRPr lang="en-US" sz="2000" dirty="0"/>
          </a:p>
          <a:p>
            <a:pPr algn="ctr" defTabSz="914400">
              <a:lnSpc>
                <a:spcPct val="90000"/>
              </a:lnSpc>
              <a:spcAft>
                <a:spcPts val="600"/>
              </a:spcAft>
            </a:pPr>
            <a:r>
              <a:rPr lang="en-US" sz="2000" dirty="0"/>
              <a:t>DATASCI 224 Spring 2026</a:t>
            </a:r>
          </a:p>
          <a:p>
            <a:pPr algn="ctr" defTabSz="914400">
              <a:lnSpc>
                <a:spcPct val="90000"/>
              </a:lnSpc>
              <a:spcAft>
                <a:spcPts val="600"/>
              </a:spcAft>
            </a:pPr>
            <a:r>
              <a:rPr lang="en-US" sz="2000" dirty="0"/>
              <a:t>Manal Ahmed</a:t>
            </a:r>
          </a:p>
        </p:txBody>
      </p:sp>
    </p:spTree>
    <p:extLst>
      <p:ext uri="{BB962C8B-B14F-4D97-AF65-F5344CB8AC3E}">
        <p14:creationId xmlns:p14="http://schemas.microsoft.com/office/powerpoint/2010/main" val="2211083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4850559" cy="646331"/>
          </a:xfrm>
          <a:prstGeom prst="rect">
            <a:avLst/>
          </a:prstGeom>
          <a:noFill/>
        </p:spPr>
        <p:txBody>
          <a:bodyPr wrap="none">
            <a:spAutoFit/>
          </a:bodyPr>
          <a:lstStyle/>
          <a:p>
            <a:pPr>
              <a:defRPr sz="2600" b="1">
                <a:solidFill>
                  <a:srgbClr val="1E1E1E"/>
                </a:solidFill>
              </a:defRPr>
            </a:pPr>
            <a:r>
              <a:rPr sz="3600" dirty="0"/>
              <a:t>Why Do We Need BERT?</a:t>
            </a:r>
          </a:p>
        </p:txBody>
      </p:sp>
      <p:sp>
        <p:nvSpPr>
          <p:cNvPr id="4" name="TextBox 3"/>
          <p:cNvSpPr txBox="1"/>
          <p:nvPr/>
        </p:nvSpPr>
        <p:spPr>
          <a:xfrm>
            <a:off x="822959" y="1401372"/>
            <a:ext cx="9959835" cy="4524315"/>
          </a:xfrm>
          <a:prstGeom prst="rect">
            <a:avLst/>
          </a:prstGeom>
          <a:noFill/>
        </p:spPr>
        <p:txBody>
          <a:bodyPr wrap="square">
            <a:spAutoFit/>
          </a:bodyPr>
          <a:lstStyle/>
          <a:p>
            <a:pPr>
              <a:defRPr sz="2000"/>
            </a:pPr>
            <a:r>
              <a:rPr sz="3200" b="1" dirty="0"/>
              <a:t>Two sentences, one word: 'bank’</a:t>
            </a:r>
          </a:p>
          <a:p>
            <a:pPr marL="342900" indent="-342900">
              <a:buFont typeface="Arial" panose="020B0604020202020204" pitchFamily="34" charset="0"/>
              <a:buChar char="•"/>
              <a:defRPr sz="2000"/>
            </a:pPr>
            <a:r>
              <a:rPr sz="3200" dirty="0"/>
              <a:t>"The bank is near the river."</a:t>
            </a:r>
          </a:p>
          <a:p>
            <a:pPr marL="342900" indent="-342900">
              <a:buFont typeface="Arial" panose="020B0604020202020204" pitchFamily="34" charset="0"/>
              <a:buChar char="•"/>
              <a:defRPr sz="2000"/>
            </a:pPr>
            <a:r>
              <a:rPr sz="3200" dirty="0"/>
              <a:t>"I deposited money in the bank."</a:t>
            </a:r>
            <a:endParaRPr lang="en-US" sz="3200" dirty="0"/>
          </a:p>
          <a:p>
            <a:pPr marL="342900" indent="-342900">
              <a:buFont typeface="Arial" panose="020B0604020202020204" pitchFamily="34" charset="0"/>
              <a:buChar char="•"/>
              <a:defRPr sz="2000"/>
            </a:pPr>
            <a:endParaRPr lang="en-US" sz="3200" dirty="0"/>
          </a:p>
          <a:p>
            <a:pPr>
              <a:defRPr sz="2000"/>
            </a:pPr>
            <a:r>
              <a:rPr lang="en-US" sz="3200" b="1" dirty="0">
                <a:solidFill>
                  <a:srgbClr val="0070C0"/>
                </a:solidFill>
              </a:rPr>
              <a:t>Key Points:</a:t>
            </a:r>
            <a:endParaRPr sz="3200" b="1" dirty="0">
              <a:solidFill>
                <a:srgbClr val="0070C0"/>
              </a:solidFill>
            </a:endParaRPr>
          </a:p>
          <a:p>
            <a:pPr>
              <a:defRPr sz="2000"/>
            </a:pPr>
            <a:r>
              <a:rPr lang="en-US" sz="3200" dirty="0"/>
              <a:t>-   </a:t>
            </a:r>
            <a:r>
              <a:rPr sz="3200" dirty="0"/>
              <a:t>Traditional NLP struggled with context</a:t>
            </a:r>
          </a:p>
          <a:p>
            <a:pPr marL="457200" indent="-457200">
              <a:buFontTx/>
              <a:buChar char="-"/>
              <a:defRPr sz="2000"/>
            </a:pPr>
            <a:r>
              <a:rPr sz="3200" dirty="0"/>
              <a:t>Understanding language requires surrounding words</a:t>
            </a:r>
            <a:endParaRPr lang="en-US" sz="3200" dirty="0"/>
          </a:p>
          <a:p>
            <a:pPr marL="457200" indent="-457200">
              <a:buFontTx/>
              <a:buChar char="-"/>
              <a:defRPr sz="2000"/>
            </a:pPr>
            <a:r>
              <a:rPr lang="en-US" sz="3200" dirty="0"/>
              <a:t>One word, many meanings </a:t>
            </a:r>
            <a:r>
              <a:rPr lang="en-US" sz="3200" dirty="0">
                <a:sym typeface="Wingdings" pitchFamily="2" charset="2"/>
              </a:rPr>
              <a:t> </a:t>
            </a:r>
            <a:r>
              <a:rPr lang="en-US" sz="3200" dirty="0"/>
              <a:t>context matters</a:t>
            </a:r>
          </a:p>
          <a:p>
            <a:pPr marL="457200" indent="-457200">
              <a:buFontTx/>
              <a:buChar char="-"/>
              <a:defRPr sz="2000"/>
            </a:pPr>
            <a:endParaRPr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7825732" cy="646331"/>
          </a:xfrm>
          <a:prstGeom prst="rect">
            <a:avLst/>
          </a:prstGeom>
          <a:noFill/>
        </p:spPr>
        <p:txBody>
          <a:bodyPr wrap="none">
            <a:spAutoFit/>
          </a:bodyPr>
          <a:lstStyle/>
          <a:p>
            <a:pPr>
              <a:defRPr sz="2600" b="1">
                <a:solidFill>
                  <a:srgbClr val="1E1E1E"/>
                </a:solidFill>
              </a:defRPr>
            </a:pPr>
            <a:r>
              <a:rPr sz="3600" dirty="0"/>
              <a:t>What Are Transformers? (Quick Review)</a:t>
            </a:r>
          </a:p>
        </p:txBody>
      </p:sp>
      <p:sp>
        <p:nvSpPr>
          <p:cNvPr id="5" name="TextBox 4">
            <a:extLst>
              <a:ext uri="{FF2B5EF4-FFF2-40B4-BE49-F238E27FC236}">
                <a16:creationId xmlns:a16="http://schemas.microsoft.com/office/drawing/2014/main" id="{233A3409-3EA1-A283-F118-6A4EEF41BB38}"/>
              </a:ext>
            </a:extLst>
          </p:cNvPr>
          <p:cNvSpPr txBox="1"/>
          <p:nvPr/>
        </p:nvSpPr>
        <p:spPr>
          <a:xfrm>
            <a:off x="700644" y="1012091"/>
            <a:ext cx="11198431" cy="5478423"/>
          </a:xfrm>
          <a:prstGeom prst="rect">
            <a:avLst/>
          </a:prstGeom>
          <a:noFill/>
        </p:spPr>
        <p:txBody>
          <a:bodyPr wrap="square" rtlCol="0">
            <a:spAutoFit/>
          </a:bodyPr>
          <a:lstStyle/>
          <a:p>
            <a:r>
              <a:rPr lang="en-US" sz="2400" b="1" dirty="0">
                <a:solidFill>
                  <a:srgbClr val="FF0000"/>
                </a:solidFill>
              </a:rPr>
              <a:t>Three Key Features of Transformers</a:t>
            </a:r>
          </a:p>
          <a:p>
            <a:pPr marL="342900" indent="-342900">
              <a:buFont typeface="+mj-lt"/>
              <a:buAutoNum type="arabicPeriod"/>
            </a:pPr>
            <a:r>
              <a:rPr lang="en-US" sz="2400" dirty="0"/>
              <a:t> </a:t>
            </a:r>
            <a:r>
              <a:rPr lang="en-US" sz="2400" b="1" dirty="0"/>
              <a:t>Attention Mechanism</a:t>
            </a:r>
            <a:br>
              <a:rPr lang="en-US" sz="2400" dirty="0"/>
            </a:br>
            <a:r>
              <a:rPr lang="en-US" sz="2400" dirty="0"/>
              <a:t>Learns which words in a sentence are most important to focus on.</a:t>
            </a:r>
          </a:p>
          <a:p>
            <a:pPr marL="342900" indent="-342900">
              <a:buFont typeface="+mj-lt"/>
              <a:buAutoNum type="arabicPeriod"/>
            </a:pPr>
            <a:r>
              <a:rPr lang="en-US" sz="2400" dirty="0"/>
              <a:t> </a:t>
            </a:r>
            <a:r>
              <a:rPr lang="en-US" sz="2400" b="1" dirty="0"/>
              <a:t>Encoder- Decoder Architecture</a:t>
            </a:r>
            <a:br>
              <a:rPr lang="en-US" sz="2400" dirty="0"/>
            </a:br>
            <a:r>
              <a:rPr lang="en-US" sz="2400" dirty="0"/>
              <a:t>The encoder understands the input, and the decoder generates the output.</a:t>
            </a:r>
          </a:p>
          <a:p>
            <a:pPr marL="342900" indent="-342900">
              <a:buFont typeface="+mj-lt"/>
              <a:buAutoNum type="arabicPeriod"/>
            </a:pPr>
            <a:r>
              <a:rPr lang="en-US" sz="2400" b="1" dirty="0"/>
              <a:t>Parallel Processing</a:t>
            </a:r>
            <a:br>
              <a:rPr lang="en-US" sz="2400" dirty="0"/>
            </a:br>
            <a:r>
              <a:rPr lang="en-US" sz="2400" dirty="0"/>
              <a:t>Processes all words simultaneously, making training much faster than RNNs.</a:t>
            </a:r>
          </a:p>
          <a:p>
            <a:endParaRPr lang="en-US" sz="2000" dirty="0"/>
          </a:p>
          <a:p>
            <a:r>
              <a:rPr lang="en-US" sz="2400" b="1" dirty="0">
                <a:solidFill>
                  <a:srgbClr val="FF0000"/>
                </a:solidFill>
              </a:rPr>
              <a:t>Simple Transformer Workflow: </a:t>
            </a:r>
          </a:p>
          <a:p>
            <a:endParaRPr lang="en-US" sz="2000" b="1" dirty="0"/>
          </a:p>
          <a:p>
            <a:pPr algn="ctr"/>
            <a:r>
              <a:rPr lang="en-US" sz="2000" b="1" dirty="0"/>
              <a:t>Input Sentence</a:t>
            </a:r>
            <a:br>
              <a:rPr lang="en-US" sz="2000" b="1" dirty="0"/>
            </a:br>
            <a:r>
              <a:rPr lang="en-US" sz="2000" b="1" dirty="0"/>
              <a:t>       ↓</a:t>
            </a:r>
            <a:br>
              <a:rPr lang="en-US" sz="2000" b="1" dirty="0"/>
            </a:br>
            <a:r>
              <a:rPr lang="en-US" sz="2000" b="1" dirty="0"/>
              <a:t>   Transformer</a:t>
            </a:r>
            <a:br>
              <a:rPr lang="en-US" sz="2000" b="1" dirty="0"/>
            </a:br>
            <a:r>
              <a:rPr lang="en-US" sz="2000" b="1" dirty="0"/>
              <a:t>       ↓</a:t>
            </a:r>
            <a:br>
              <a:rPr lang="en-US" sz="2000" b="1" dirty="0"/>
            </a:br>
            <a:r>
              <a:rPr lang="en-US" sz="2000" b="1" dirty="0"/>
              <a:t>     Output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8150821" cy="646331"/>
          </a:xfrm>
          <a:prstGeom prst="rect">
            <a:avLst/>
          </a:prstGeom>
          <a:noFill/>
        </p:spPr>
        <p:txBody>
          <a:bodyPr wrap="none">
            <a:spAutoFit/>
          </a:bodyPr>
          <a:lstStyle/>
          <a:p>
            <a:r>
              <a:rPr lang="en-US" sz="3600" b="1" dirty="0"/>
              <a:t>BERT Innovation #1: Bidirectional Context</a:t>
            </a:r>
          </a:p>
        </p:txBody>
      </p:sp>
      <p:sp>
        <p:nvSpPr>
          <p:cNvPr id="6" name="TextBox 5">
            <a:extLst>
              <a:ext uri="{FF2B5EF4-FFF2-40B4-BE49-F238E27FC236}">
                <a16:creationId xmlns:a16="http://schemas.microsoft.com/office/drawing/2014/main" id="{9CD33559-BA1F-49E7-726C-D182E0F2EC87}"/>
              </a:ext>
            </a:extLst>
          </p:cNvPr>
          <p:cNvSpPr txBox="1"/>
          <p:nvPr/>
        </p:nvSpPr>
        <p:spPr>
          <a:xfrm>
            <a:off x="973777" y="1012091"/>
            <a:ext cx="5120635" cy="4093428"/>
          </a:xfrm>
          <a:prstGeom prst="rect">
            <a:avLst/>
          </a:prstGeom>
          <a:noFill/>
        </p:spPr>
        <p:txBody>
          <a:bodyPr wrap="square" rtlCol="0">
            <a:spAutoFit/>
          </a:bodyPr>
          <a:lstStyle/>
          <a:p>
            <a:r>
              <a:rPr lang="en-US" sz="2400" b="1" dirty="0">
                <a:solidFill>
                  <a:srgbClr val="FF0000"/>
                </a:solidFill>
              </a:rPr>
              <a:t>Standard Language Model</a:t>
            </a:r>
            <a:endParaRPr lang="en-US" b="1" dirty="0">
              <a:solidFill>
                <a:srgbClr val="FF0000"/>
              </a:solidFill>
            </a:endParaRPr>
          </a:p>
          <a:p>
            <a:endParaRPr lang="en-US" dirty="0"/>
          </a:p>
          <a:p>
            <a:r>
              <a:rPr lang="en-US" sz="2000" b="1" dirty="0"/>
              <a:t>What the model sees:</a:t>
            </a:r>
            <a:endParaRPr lang="en-US" sz="2000" dirty="0"/>
          </a:p>
          <a:p>
            <a:r>
              <a:rPr lang="en-US" sz="2000" dirty="0"/>
              <a:t>The dog chased the ___</a:t>
            </a:r>
          </a:p>
          <a:p>
            <a:endParaRPr lang="en-US" sz="2000" dirty="0"/>
          </a:p>
          <a:p>
            <a:r>
              <a:rPr lang="en-US" sz="2000" b="1" dirty="0"/>
              <a:t>Prediction:</a:t>
            </a:r>
            <a:endParaRPr lang="en-US" sz="2000" dirty="0"/>
          </a:p>
          <a:p>
            <a:r>
              <a:rPr lang="en-US" sz="2000" dirty="0"/>
              <a:t>cat </a:t>
            </a:r>
          </a:p>
          <a:p>
            <a:r>
              <a:rPr lang="en-US" sz="2000" dirty="0"/>
              <a:t>ball </a:t>
            </a:r>
          </a:p>
          <a:p>
            <a:endParaRPr lang="en-US" sz="2000" dirty="0"/>
          </a:p>
          <a:p>
            <a:r>
              <a:rPr lang="en-US" sz="2000" b="1" dirty="0"/>
              <a:t>Limitation:</a:t>
            </a:r>
            <a:br>
              <a:rPr lang="en-US" sz="2000" dirty="0"/>
            </a:br>
            <a:r>
              <a:rPr lang="en-US" sz="2000" dirty="0"/>
              <a:t>Only uses words that come </a:t>
            </a:r>
            <a:r>
              <a:rPr lang="en-US" sz="2000" b="1" dirty="0"/>
              <a:t>before</a:t>
            </a:r>
            <a:r>
              <a:rPr lang="en-US" sz="2000" dirty="0"/>
              <a:t> the blank, resulting in limited context.</a:t>
            </a:r>
          </a:p>
          <a:p>
            <a:endParaRPr lang="en-US"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D2FD550-CC6C-39AD-F462-309505325832}"/>
                  </a:ext>
                </a:extLst>
              </p:cNvPr>
              <p:cNvSpPr txBox="1"/>
              <p:nvPr/>
            </p:nvSpPr>
            <p:spPr>
              <a:xfrm>
                <a:off x="6242456" y="1012091"/>
                <a:ext cx="5462649" cy="4924425"/>
              </a:xfrm>
              <a:prstGeom prst="rect">
                <a:avLst/>
              </a:prstGeom>
              <a:noFill/>
            </p:spPr>
            <p:txBody>
              <a:bodyPr wrap="square" rtlCol="0">
                <a:spAutoFit/>
              </a:bodyPr>
              <a:lstStyle/>
              <a:p>
                <a:r>
                  <a:rPr lang="en-US" sz="2400" b="1" dirty="0">
                    <a:solidFill>
                      <a:srgbClr val="0070C0"/>
                    </a:solidFill>
                  </a:rPr>
                  <a:t>BERT (Bidirectional Context)</a:t>
                </a:r>
              </a:p>
              <a:p>
                <a:endParaRPr lang="en-US" dirty="0"/>
              </a:p>
              <a:p>
                <a:r>
                  <a:rPr lang="en-US" sz="2000" b="1" dirty="0"/>
                  <a:t>What BERT sees:</a:t>
                </a:r>
                <a:endParaRPr lang="en-US" sz="2000" dirty="0"/>
              </a:p>
              <a:p>
                <a:r>
                  <a:rPr lang="en-US" sz="2000" dirty="0"/>
                  <a:t>The dog chased the ___ around the yard.</a:t>
                </a:r>
              </a:p>
              <a:p>
                <a:endParaRPr lang="en-US" sz="2000" dirty="0"/>
              </a:p>
              <a:p>
                <a:r>
                  <a:rPr lang="en-US" sz="2000" b="1" dirty="0"/>
                  <a:t>Prediction:</a:t>
                </a:r>
                <a:br>
                  <a:rPr lang="en-US" sz="2000" dirty="0"/>
                </a:br>
                <a:r>
                  <a:rPr lang="en-US" sz="2000" dirty="0"/>
                  <a:t>More accurate because BERT uses information from both sides of the blank.</a:t>
                </a:r>
              </a:p>
              <a:p>
                <a:endParaRPr lang="en-US" sz="2000" dirty="0"/>
              </a:p>
              <a:p>
                <a:r>
                  <a:rPr lang="en-US" sz="2000" b="1" dirty="0"/>
                  <a:t>Advantage:</a:t>
                </a:r>
                <a:br>
                  <a:rPr lang="en-US" sz="2000" dirty="0"/>
                </a:br>
                <a:r>
                  <a:rPr lang="en-US" sz="2000" dirty="0"/>
                  <a:t>Uses the </a:t>
                </a:r>
                <a:r>
                  <a:rPr lang="en-US" sz="2000" b="1" dirty="0"/>
                  <a:t>full context</a:t>
                </a:r>
                <a:r>
                  <a:rPr lang="en-US" sz="2000" dirty="0"/>
                  <a:t> of the sentence to make predictions.</a:t>
                </a:r>
              </a:p>
              <a:p>
                <a:pPr>
                  <a:buNone/>
                </a:pPr>
                <a:br>
                  <a:rPr lang="en-US" dirty="0">
                    <a:solidFill>
                      <a:srgbClr val="0070C0"/>
                    </a:solidFill>
                  </a:rPr>
                </a:br>
                <a:r>
                  <a:rPr lang="en-US" dirty="0">
                    <a:solidFill>
                      <a:srgbClr val="0070C0"/>
                    </a:solidFill>
                  </a:rPr>
                  <a:t>BERT predicts a masked word using both sides:</a:t>
                </a:r>
              </a:p>
              <a:p>
                <a:pPr>
                  <a:buNone/>
                </a:pPr>
                <a14:m>
                  <m:oMathPara xmlns:m="http://schemas.openxmlformats.org/officeDocument/2006/math">
                    <m:oMathParaPr>
                      <m:jc m:val="centerGroup"/>
                    </m:oMathParaPr>
                    <m:oMath xmlns:m="http://schemas.openxmlformats.org/officeDocument/2006/math">
                      <m:r>
                        <a:rPr lang="en-US" i="1">
                          <a:solidFill>
                            <a:srgbClr val="0070C0"/>
                          </a:solidFill>
                          <a:latin typeface="Cambria Math" panose="02040503050406030204" pitchFamily="18" charset="0"/>
                        </a:rPr>
                        <m:t>𝑃</m:t>
                      </m:r>
                      <m:d>
                        <m:dPr>
                          <m:sepChr m:val=","/>
                          <m:ctrlPr>
                            <a:rPr lang="ar-AE" i="1">
                              <a:solidFill>
                                <a:srgbClr val="0070C0"/>
                              </a:solidFill>
                              <a:latin typeface="Cambria Math" panose="02040503050406030204" pitchFamily="18" charset="0"/>
                            </a:rPr>
                          </m:ctrlPr>
                        </m:dPr>
                        <m:e>
                          <m:sSub>
                            <m:sSubPr>
                              <m:ctrlPr>
                                <a:rPr lang="ar-AE" i="1">
                                  <a:solidFill>
                                    <a:srgbClr val="0070C0"/>
                                  </a:solidFill>
                                  <a:latin typeface="Cambria Math" panose="02040503050406030204" pitchFamily="18" charset="0"/>
                                </a:rPr>
                              </m:ctrlPr>
                            </m:sSubPr>
                            <m:e>
                              <m:r>
                                <a:rPr lang="ar-AE" i="1">
                                  <a:solidFill>
                                    <a:srgbClr val="0070C0"/>
                                  </a:solidFill>
                                  <a:latin typeface="Cambria Math" panose="02040503050406030204" pitchFamily="18" charset="0"/>
                                </a:rPr>
                                <m:t>𝑤</m:t>
                              </m:r>
                            </m:e>
                            <m:sub>
                              <m:r>
                                <a:rPr lang="ar-AE" i="1">
                                  <a:solidFill>
                                    <a:srgbClr val="0070C0"/>
                                  </a:solidFill>
                                  <a:latin typeface="Cambria Math" panose="02040503050406030204" pitchFamily="18" charset="0"/>
                                </a:rPr>
                                <m:t>𝑖</m:t>
                              </m:r>
                            </m:sub>
                          </m:sSub>
                        </m:e>
                        <m:e>
                          <m:r>
                            <a:rPr lang="ar-AE">
                              <a:solidFill>
                                <a:srgbClr val="0070C0"/>
                              </a:solidFill>
                              <a:latin typeface="Cambria Math" panose="02040503050406030204" pitchFamily="18" charset="0"/>
                            </a:rPr>
                            <m:t>∣</m:t>
                          </m:r>
                        </m:e>
                        <m:e>
                          <m:sSub>
                            <m:sSubPr>
                              <m:ctrlPr>
                                <a:rPr lang="ar-AE" i="1">
                                  <a:solidFill>
                                    <a:srgbClr val="0070C0"/>
                                  </a:solidFill>
                                  <a:latin typeface="Cambria Math" panose="02040503050406030204" pitchFamily="18" charset="0"/>
                                </a:rPr>
                              </m:ctrlPr>
                            </m:sSubPr>
                            <m:e>
                              <m:r>
                                <a:rPr lang="ar-AE" i="1">
                                  <a:solidFill>
                                    <a:srgbClr val="0070C0"/>
                                  </a:solidFill>
                                  <a:latin typeface="Cambria Math" panose="02040503050406030204" pitchFamily="18" charset="0"/>
                                </a:rPr>
                                <m:t>𝑤</m:t>
                              </m:r>
                            </m:e>
                            <m:sub>
                              <m:r>
                                <a:rPr lang="ar-AE">
                                  <a:solidFill>
                                    <a:srgbClr val="0070C0"/>
                                  </a:solidFill>
                                  <a:latin typeface="Cambria Math" panose="02040503050406030204" pitchFamily="18" charset="0"/>
                                </a:rPr>
                                <m:t>1</m:t>
                              </m:r>
                            </m:sub>
                          </m:sSub>
                        </m:e>
                        <m:e>
                          <m:r>
                            <a:rPr lang="ar-AE">
                              <a:solidFill>
                                <a:srgbClr val="0070C0"/>
                              </a:solidFill>
                              <a:latin typeface="Cambria Math" panose="02040503050406030204" pitchFamily="18" charset="0"/>
                            </a:rPr>
                            <m:t>…</m:t>
                          </m:r>
                        </m:e>
                        <m:e>
                          <m:sSub>
                            <m:sSubPr>
                              <m:ctrlPr>
                                <a:rPr lang="ar-AE" i="1">
                                  <a:solidFill>
                                    <a:srgbClr val="0070C0"/>
                                  </a:solidFill>
                                  <a:latin typeface="Cambria Math" panose="02040503050406030204" pitchFamily="18" charset="0"/>
                                </a:rPr>
                              </m:ctrlPr>
                            </m:sSubPr>
                            <m:e>
                              <m:r>
                                <a:rPr lang="ar-AE" i="1">
                                  <a:solidFill>
                                    <a:srgbClr val="0070C0"/>
                                  </a:solidFill>
                                  <a:latin typeface="Cambria Math" panose="02040503050406030204" pitchFamily="18" charset="0"/>
                                </a:rPr>
                                <m:t>𝑤</m:t>
                              </m:r>
                            </m:e>
                            <m:sub>
                              <m:r>
                                <a:rPr lang="ar-AE" i="1">
                                  <a:solidFill>
                                    <a:srgbClr val="0070C0"/>
                                  </a:solidFill>
                                  <a:latin typeface="Cambria Math" panose="02040503050406030204" pitchFamily="18" charset="0"/>
                                </a:rPr>
                                <m:t>𝑖</m:t>
                              </m:r>
                              <m:r>
                                <a:rPr lang="ar-AE">
                                  <a:solidFill>
                                    <a:srgbClr val="0070C0"/>
                                  </a:solidFill>
                                  <a:latin typeface="Cambria Math" panose="02040503050406030204" pitchFamily="18" charset="0"/>
                                </a:rPr>
                                <m:t>−1</m:t>
                              </m:r>
                            </m:sub>
                          </m:sSub>
                        </m:e>
                        <m:e>
                          <m:sSub>
                            <m:sSubPr>
                              <m:ctrlPr>
                                <a:rPr lang="ar-AE" i="1">
                                  <a:solidFill>
                                    <a:srgbClr val="0070C0"/>
                                  </a:solidFill>
                                  <a:latin typeface="Cambria Math" panose="02040503050406030204" pitchFamily="18" charset="0"/>
                                </a:rPr>
                              </m:ctrlPr>
                            </m:sSubPr>
                            <m:e>
                              <m:r>
                                <a:rPr lang="ar-AE" i="1">
                                  <a:solidFill>
                                    <a:srgbClr val="0070C0"/>
                                  </a:solidFill>
                                  <a:latin typeface="Cambria Math" panose="02040503050406030204" pitchFamily="18" charset="0"/>
                                </a:rPr>
                                <m:t>𝑤</m:t>
                              </m:r>
                            </m:e>
                            <m:sub>
                              <m:r>
                                <a:rPr lang="ar-AE" i="1">
                                  <a:solidFill>
                                    <a:srgbClr val="0070C0"/>
                                  </a:solidFill>
                                  <a:latin typeface="Cambria Math" panose="02040503050406030204" pitchFamily="18" charset="0"/>
                                </a:rPr>
                                <m:t>𝑖</m:t>
                              </m:r>
                              <m:r>
                                <a:rPr lang="ar-AE">
                                  <a:solidFill>
                                    <a:srgbClr val="0070C0"/>
                                  </a:solidFill>
                                  <a:latin typeface="Cambria Math" panose="02040503050406030204" pitchFamily="18" charset="0"/>
                                </a:rPr>
                                <m:t>+1</m:t>
                              </m:r>
                            </m:sub>
                          </m:sSub>
                          <m:r>
                            <a:rPr lang="ar-AE">
                              <a:solidFill>
                                <a:srgbClr val="0070C0"/>
                              </a:solidFill>
                              <a:latin typeface="Cambria Math" panose="02040503050406030204" pitchFamily="18" charset="0"/>
                            </a:rPr>
                            <m:t>…</m:t>
                          </m:r>
                          <m:sSub>
                            <m:sSubPr>
                              <m:ctrlPr>
                                <a:rPr lang="ar-AE" i="1">
                                  <a:solidFill>
                                    <a:srgbClr val="0070C0"/>
                                  </a:solidFill>
                                  <a:latin typeface="Cambria Math" panose="02040503050406030204" pitchFamily="18" charset="0"/>
                                </a:rPr>
                              </m:ctrlPr>
                            </m:sSubPr>
                            <m:e>
                              <m:r>
                                <a:rPr lang="ar-AE" i="1">
                                  <a:solidFill>
                                    <a:srgbClr val="0070C0"/>
                                  </a:solidFill>
                                  <a:latin typeface="Cambria Math" panose="02040503050406030204" pitchFamily="18" charset="0"/>
                                </a:rPr>
                                <m:t>𝑤</m:t>
                              </m:r>
                            </m:e>
                            <m:sub>
                              <m:r>
                                <a:rPr lang="ar-AE" i="1">
                                  <a:solidFill>
                                    <a:srgbClr val="0070C0"/>
                                  </a:solidFill>
                                  <a:latin typeface="Cambria Math" panose="02040503050406030204" pitchFamily="18" charset="0"/>
                                </a:rPr>
                                <m:t>𝑛</m:t>
                              </m:r>
                            </m:sub>
                          </m:sSub>
                        </m:e>
                      </m:d>
                    </m:oMath>
                  </m:oMathPara>
                </a14:m>
                <a:endParaRPr lang="en-US" dirty="0">
                  <a:solidFill>
                    <a:srgbClr val="0070C0"/>
                  </a:solidFill>
                </a:endParaRPr>
              </a:p>
              <a:p>
                <a:endParaRPr lang="en-US" dirty="0"/>
              </a:p>
            </p:txBody>
          </p:sp>
        </mc:Choice>
        <mc:Fallback>
          <p:sp>
            <p:nvSpPr>
              <p:cNvPr id="7" name="TextBox 6">
                <a:extLst>
                  <a:ext uri="{FF2B5EF4-FFF2-40B4-BE49-F238E27FC236}">
                    <a16:creationId xmlns:a16="http://schemas.microsoft.com/office/drawing/2014/main" id="{AD2FD550-CC6C-39AD-F462-309505325832}"/>
                  </a:ext>
                </a:extLst>
              </p:cNvPr>
              <p:cNvSpPr txBox="1">
                <a:spLocks noRot="1" noChangeAspect="1" noMove="1" noResize="1" noEditPoints="1" noAdjustHandles="1" noChangeArrowheads="1" noChangeShapeType="1" noTextEdit="1"/>
              </p:cNvSpPr>
              <p:nvPr/>
            </p:nvSpPr>
            <p:spPr>
              <a:xfrm>
                <a:off x="6242456" y="1012091"/>
                <a:ext cx="5462649" cy="4924425"/>
              </a:xfrm>
              <a:prstGeom prst="rect">
                <a:avLst/>
              </a:prstGeom>
              <a:blipFill>
                <a:blip r:embed="rId3"/>
                <a:stretch>
                  <a:fillRect l="-1856" t="-102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C276F9E-508B-EEC3-AB28-865D69D589B8}"/>
              </a:ext>
            </a:extLst>
          </p:cNvPr>
          <p:cNvSpPr txBox="1"/>
          <p:nvPr/>
        </p:nvSpPr>
        <p:spPr>
          <a:xfrm>
            <a:off x="555388" y="5752814"/>
            <a:ext cx="11165556" cy="984885"/>
          </a:xfrm>
          <a:prstGeom prst="rect">
            <a:avLst/>
          </a:prstGeom>
          <a:noFill/>
        </p:spPr>
        <p:txBody>
          <a:bodyPr wrap="square" rtlCol="0">
            <a:spAutoFit/>
          </a:bodyPr>
          <a:lstStyle/>
          <a:p>
            <a:r>
              <a:rPr lang="en-US" sz="2000" b="1" dirty="0">
                <a:highlight>
                  <a:srgbClr val="FFFF00"/>
                </a:highlight>
              </a:rPr>
              <a:t>KEY TAKEAWAY: </a:t>
            </a:r>
            <a:r>
              <a:rPr lang="en-US" sz="2000" dirty="0"/>
              <a:t>Traditional models are like reading with your eyes closed after the blank. BERT reads the entire sentence.</a:t>
            </a:r>
          </a:p>
          <a:p>
            <a:endParaRPr lang="en-US"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BFFB69F-CE90-D90E-2A8A-A787A0E56F6A}"/>
                  </a:ext>
                </a:extLst>
              </p:cNvPr>
              <p:cNvSpPr txBox="1"/>
              <p:nvPr/>
            </p:nvSpPr>
            <p:spPr>
              <a:xfrm>
                <a:off x="555388" y="4920853"/>
                <a:ext cx="6122018" cy="923330"/>
              </a:xfrm>
              <a:prstGeom prst="rect">
                <a:avLst/>
              </a:prstGeom>
              <a:noFill/>
            </p:spPr>
            <p:txBody>
              <a:bodyPr wrap="square">
                <a:spAutoFit/>
              </a:bodyPr>
              <a:lstStyle/>
              <a:p>
                <a:pPr>
                  <a:buNone/>
                </a:pPr>
                <a:r>
                  <a:rPr lang="en-US" dirty="0">
                    <a:solidFill>
                      <a:srgbClr val="FF0000"/>
                    </a:solidFill>
                  </a:rPr>
                  <a:t>Traditional language models predict the next word:</a:t>
                </a:r>
              </a:p>
              <a:p>
                <a:pPr>
                  <a:buNone/>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rPr>
                        <m:t>𝑃</m:t>
                      </m:r>
                      <m:d>
                        <m:dPr>
                          <m:sepChr m:val=","/>
                          <m:ctrlPr>
                            <a:rPr lang="ar-AE" i="1">
                              <a:solidFill>
                                <a:srgbClr val="FF0000"/>
                              </a:solidFill>
                              <a:latin typeface="Cambria Math" panose="02040503050406030204" pitchFamily="18" charset="0"/>
                            </a:rPr>
                          </m:ctrlPr>
                        </m:dPr>
                        <m:e>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𝑤</m:t>
                              </m:r>
                            </m:e>
                            <m:sub>
                              <m:r>
                                <a:rPr lang="ar-AE" i="1">
                                  <a:solidFill>
                                    <a:srgbClr val="FF0000"/>
                                  </a:solidFill>
                                  <a:latin typeface="Cambria Math" panose="02040503050406030204" pitchFamily="18" charset="0"/>
                                </a:rPr>
                                <m:t>𝑡</m:t>
                              </m:r>
                            </m:sub>
                          </m:sSub>
                        </m:e>
                        <m:e>
                          <m:r>
                            <a:rPr lang="ar-AE" i="0">
                              <a:solidFill>
                                <a:srgbClr val="FF0000"/>
                              </a:solidFill>
                              <a:latin typeface="Cambria Math" panose="02040503050406030204" pitchFamily="18" charset="0"/>
                            </a:rPr>
                            <m:t>∣</m:t>
                          </m:r>
                        </m:e>
                        <m:e>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𝑤</m:t>
                              </m:r>
                            </m:e>
                            <m:sub>
                              <m:r>
                                <a:rPr lang="ar-AE" i="0">
                                  <a:solidFill>
                                    <a:srgbClr val="FF0000"/>
                                  </a:solidFill>
                                  <a:latin typeface="Cambria Math" panose="02040503050406030204" pitchFamily="18" charset="0"/>
                                </a:rPr>
                                <m:t>1</m:t>
                              </m:r>
                            </m:sub>
                          </m:sSub>
                          <m:r>
                            <a:rPr lang="ar-AE" i="0">
                              <a:solidFill>
                                <a:srgbClr val="FF0000"/>
                              </a:solidFill>
                              <a:latin typeface="Cambria Math" panose="02040503050406030204" pitchFamily="18" charset="0"/>
                            </a:rPr>
                            <m:t>…</m:t>
                          </m:r>
                          <m:sSub>
                            <m:sSubPr>
                              <m:ctrlPr>
                                <a:rPr lang="ar-AE" i="1">
                                  <a:solidFill>
                                    <a:srgbClr val="FF0000"/>
                                  </a:solidFill>
                                  <a:latin typeface="Cambria Math" panose="02040503050406030204" pitchFamily="18" charset="0"/>
                                </a:rPr>
                              </m:ctrlPr>
                            </m:sSubPr>
                            <m:e>
                              <m:r>
                                <a:rPr lang="ar-AE" i="1">
                                  <a:solidFill>
                                    <a:srgbClr val="FF0000"/>
                                  </a:solidFill>
                                  <a:latin typeface="Cambria Math" panose="02040503050406030204" pitchFamily="18" charset="0"/>
                                </a:rPr>
                                <m:t>𝑤</m:t>
                              </m:r>
                            </m:e>
                            <m:sub>
                              <m:r>
                                <a:rPr lang="ar-AE" i="1">
                                  <a:solidFill>
                                    <a:srgbClr val="FF0000"/>
                                  </a:solidFill>
                                  <a:latin typeface="Cambria Math" panose="02040503050406030204" pitchFamily="18" charset="0"/>
                                </a:rPr>
                                <m:t>𝑡</m:t>
                              </m:r>
                              <m:r>
                                <a:rPr lang="ar-AE" i="0">
                                  <a:solidFill>
                                    <a:srgbClr val="FF0000"/>
                                  </a:solidFill>
                                  <a:latin typeface="Cambria Math" panose="02040503050406030204" pitchFamily="18" charset="0"/>
                                </a:rPr>
                                <m:t>−1</m:t>
                              </m:r>
                            </m:sub>
                          </m:sSub>
                        </m:e>
                      </m:d>
                    </m:oMath>
                  </m:oMathPara>
                </a14:m>
                <a:endParaRPr lang="ar-AE" dirty="0">
                  <a:solidFill>
                    <a:srgbClr val="FF0000"/>
                  </a:solidFill>
                </a:endParaRPr>
              </a:p>
              <a:p>
                <a:pPr>
                  <a:buNone/>
                </a:pPr>
                <a:endParaRPr lang="ar-AE" dirty="0"/>
              </a:p>
            </p:txBody>
          </p:sp>
        </mc:Choice>
        <mc:Fallback>
          <p:sp>
            <p:nvSpPr>
              <p:cNvPr id="10" name="TextBox 9">
                <a:extLst>
                  <a:ext uri="{FF2B5EF4-FFF2-40B4-BE49-F238E27FC236}">
                    <a16:creationId xmlns:a16="http://schemas.microsoft.com/office/drawing/2014/main" id="{4BFFB69F-CE90-D90E-2A8A-A787A0E56F6A}"/>
                  </a:ext>
                </a:extLst>
              </p:cNvPr>
              <p:cNvSpPr txBox="1">
                <a:spLocks noRot="1" noChangeAspect="1" noMove="1" noResize="1" noEditPoints="1" noAdjustHandles="1" noChangeArrowheads="1" noChangeShapeType="1" noTextEdit="1"/>
              </p:cNvSpPr>
              <p:nvPr/>
            </p:nvSpPr>
            <p:spPr>
              <a:xfrm>
                <a:off x="555388" y="4920853"/>
                <a:ext cx="6122018" cy="923330"/>
              </a:xfrm>
              <a:prstGeom prst="rect">
                <a:avLst/>
              </a:prstGeom>
              <a:blipFill>
                <a:blip r:embed="rId4"/>
                <a:stretch>
                  <a:fillRect l="-828" t="-2703" b="-9459"/>
                </a:stretch>
              </a:blipFill>
            </p:spPr>
            <p:txBody>
              <a:bodyPr/>
              <a:lstStyle/>
              <a:p>
                <a:r>
                  <a:rPr 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683805" cy="1077218"/>
          </a:xfrm>
          <a:prstGeom prst="rect">
            <a:avLst/>
          </a:prstGeom>
          <a:noFill/>
        </p:spPr>
        <p:txBody>
          <a:bodyPr wrap="none">
            <a:spAutoFit/>
          </a:bodyPr>
          <a:lstStyle/>
          <a:p>
            <a:pPr>
              <a:defRPr sz="2600" b="1">
                <a:solidFill>
                  <a:srgbClr val="1E1E1E"/>
                </a:solidFill>
              </a:defRPr>
            </a:pPr>
            <a:r>
              <a:rPr sz="3200" dirty="0"/>
              <a:t>BERT Innovation #2</a:t>
            </a:r>
            <a:r>
              <a:rPr lang="en-US" sz="3200" dirty="0"/>
              <a:t>: </a:t>
            </a:r>
            <a:r>
              <a:rPr lang="en-US" sz="3200" b="1" dirty="0"/>
              <a:t>Masked Language Modeling (MLM)</a:t>
            </a:r>
          </a:p>
          <a:p>
            <a:pPr>
              <a:defRPr sz="2600" b="1">
                <a:solidFill>
                  <a:srgbClr val="1E1E1E"/>
                </a:solidFill>
              </a:defRPr>
            </a:pPr>
            <a:endParaRPr sz="3200" dirty="0"/>
          </a:p>
        </p:txBody>
      </p:sp>
      <p:sp>
        <p:nvSpPr>
          <p:cNvPr id="4" name="TextBox 3"/>
          <p:cNvSpPr txBox="1"/>
          <p:nvPr/>
        </p:nvSpPr>
        <p:spPr>
          <a:xfrm>
            <a:off x="548641" y="1081164"/>
            <a:ext cx="10768544" cy="6555641"/>
          </a:xfrm>
          <a:prstGeom prst="rect">
            <a:avLst/>
          </a:prstGeom>
          <a:noFill/>
        </p:spPr>
        <p:txBody>
          <a:bodyPr wrap="square">
            <a:spAutoFit/>
          </a:bodyPr>
          <a:lstStyle/>
          <a:p>
            <a:r>
              <a:rPr lang="en-US" sz="2800" b="1" dirty="0">
                <a:solidFill>
                  <a:srgbClr val="0070C0"/>
                </a:solidFill>
              </a:rPr>
              <a:t>Training Example:</a:t>
            </a:r>
            <a:endParaRPr lang="en-US" sz="2800" dirty="0">
              <a:solidFill>
                <a:srgbClr val="0070C0"/>
              </a:solidFill>
            </a:endParaRPr>
          </a:p>
          <a:p>
            <a:r>
              <a:rPr lang="en-US" sz="2800" dirty="0"/>
              <a:t>The movie was </a:t>
            </a:r>
            <a:r>
              <a:rPr lang="en-US" sz="2800" b="1" dirty="0"/>
              <a:t>[MASK]</a:t>
            </a:r>
            <a:r>
              <a:rPr lang="en-US" sz="2800" dirty="0"/>
              <a:t>.</a:t>
            </a:r>
          </a:p>
          <a:p>
            <a:endParaRPr lang="en-US" sz="2800" dirty="0"/>
          </a:p>
          <a:p>
            <a:r>
              <a:rPr lang="en-US" sz="2800" b="1" dirty="0">
                <a:solidFill>
                  <a:srgbClr val="0070C0"/>
                </a:solidFill>
              </a:rPr>
              <a:t>BERT learns to predict the missing word:</a:t>
            </a:r>
            <a:endParaRPr lang="en-US" sz="2800" dirty="0">
              <a:solidFill>
                <a:srgbClr val="0070C0"/>
              </a:solidFill>
            </a:endParaRPr>
          </a:p>
          <a:p>
            <a:pPr marL="342900" indent="-342900">
              <a:buFont typeface="Arial" panose="020B0604020202020204" pitchFamily="34" charset="0"/>
              <a:buChar char="•"/>
            </a:pPr>
            <a:r>
              <a:rPr lang="en-US" sz="2800" dirty="0"/>
              <a:t>excellent </a:t>
            </a:r>
          </a:p>
          <a:p>
            <a:pPr marL="342900" indent="-342900">
              <a:buFont typeface="Arial" panose="020B0604020202020204" pitchFamily="34" charset="0"/>
              <a:buChar char="•"/>
            </a:pPr>
            <a:r>
              <a:rPr lang="en-US" sz="2800" dirty="0"/>
              <a:t>terrible </a:t>
            </a:r>
          </a:p>
          <a:p>
            <a:pPr marL="342900" indent="-342900">
              <a:buFont typeface="Arial" panose="020B0604020202020204" pitchFamily="34" charset="0"/>
              <a:buChar char="•"/>
            </a:pPr>
            <a:r>
              <a:rPr lang="en-US" sz="2800" dirty="0"/>
              <a:t>boring </a:t>
            </a:r>
          </a:p>
          <a:p>
            <a:endParaRPr lang="en-US" sz="2800" dirty="0"/>
          </a:p>
          <a:p>
            <a:endParaRPr lang="en-US" sz="2000" dirty="0"/>
          </a:p>
          <a:p>
            <a:r>
              <a:rPr lang="en-US" sz="2800" b="1" dirty="0"/>
              <a:t>Why it matters:</a:t>
            </a:r>
            <a:br>
              <a:rPr lang="en-US" sz="2800" dirty="0"/>
            </a:br>
            <a:r>
              <a:rPr lang="en-US" sz="2800" dirty="0"/>
              <a:t>BERT learns language by predicting hidden words using the surrounding context. This allows it to develop a deep understanding of word meaning and sentence structure.</a:t>
            </a:r>
          </a:p>
          <a:p>
            <a:br>
              <a:rPr lang="en-US" sz="2800" dirty="0"/>
            </a:br>
            <a:endParaRPr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5E7C121-47F6-183D-39ED-4DD19C68AC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FF9E86-7D97-770A-BEF0-0EA8F66A7A78}"/>
              </a:ext>
            </a:extLst>
          </p:cNvPr>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E92F61E-C61A-152C-E425-6DC31D04E62D}"/>
              </a:ext>
            </a:extLst>
          </p:cNvPr>
          <p:cNvSpPr txBox="1"/>
          <p:nvPr/>
        </p:nvSpPr>
        <p:spPr>
          <a:xfrm>
            <a:off x="548640" y="365760"/>
            <a:ext cx="9014391" cy="584775"/>
          </a:xfrm>
          <a:prstGeom prst="rect">
            <a:avLst/>
          </a:prstGeom>
          <a:noFill/>
        </p:spPr>
        <p:txBody>
          <a:bodyPr wrap="none">
            <a:spAutoFit/>
          </a:bodyPr>
          <a:lstStyle/>
          <a:p>
            <a:pPr>
              <a:defRPr sz="2600" b="1">
                <a:solidFill>
                  <a:srgbClr val="1E1E1E"/>
                </a:solidFill>
              </a:defRPr>
            </a:pPr>
            <a:r>
              <a:rPr sz="3200" dirty="0"/>
              <a:t>BERT Innovation #3: </a:t>
            </a:r>
            <a:r>
              <a:rPr lang="en-US" sz="3200" b="1" dirty="0"/>
              <a:t>Next Sentence Prediction (NSP)</a:t>
            </a:r>
            <a:endParaRPr sz="3200" dirty="0"/>
          </a:p>
        </p:txBody>
      </p:sp>
      <p:sp>
        <p:nvSpPr>
          <p:cNvPr id="4" name="TextBox 3">
            <a:extLst>
              <a:ext uri="{FF2B5EF4-FFF2-40B4-BE49-F238E27FC236}">
                <a16:creationId xmlns:a16="http://schemas.microsoft.com/office/drawing/2014/main" id="{68B028E3-7886-9BE2-578D-1787C124B77C}"/>
              </a:ext>
            </a:extLst>
          </p:cNvPr>
          <p:cNvSpPr txBox="1"/>
          <p:nvPr/>
        </p:nvSpPr>
        <p:spPr>
          <a:xfrm>
            <a:off x="548640" y="950535"/>
            <a:ext cx="11101054" cy="6063198"/>
          </a:xfrm>
          <a:prstGeom prst="rect">
            <a:avLst/>
          </a:prstGeom>
          <a:noFill/>
        </p:spPr>
        <p:txBody>
          <a:bodyPr wrap="square">
            <a:spAutoFit/>
          </a:bodyPr>
          <a:lstStyle/>
          <a:p>
            <a:r>
              <a:rPr lang="en-US" sz="2200" b="1" dirty="0">
                <a:solidFill>
                  <a:srgbClr val="0070C0"/>
                </a:solidFill>
              </a:rPr>
              <a:t>Example 1:</a:t>
            </a:r>
            <a:endParaRPr lang="en-US" sz="2200" dirty="0"/>
          </a:p>
          <a:p>
            <a:r>
              <a:rPr lang="en-US" sz="2200" b="1" dirty="0"/>
              <a:t>Sentence A:</a:t>
            </a:r>
            <a:r>
              <a:rPr lang="en-US" sz="2200" dirty="0"/>
              <a:t> I went to the theater.</a:t>
            </a:r>
            <a:br>
              <a:rPr lang="en-US" sz="2200" dirty="0"/>
            </a:br>
            <a:r>
              <a:rPr lang="en-US" sz="2200" b="1" dirty="0"/>
              <a:t>Sentence B:</a:t>
            </a:r>
            <a:r>
              <a:rPr lang="en-US" sz="2200" dirty="0"/>
              <a:t> I bought a ticket.</a:t>
            </a:r>
          </a:p>
          <a:p>
            <a:r>
              <a:rPr lang="en-US" sz="2200" b="1" dirty="0"/>
              <a:t>Are the sentences related?</a:t>
            </a:r>
            <a:br>
              <a:rPr lang="en-US" sz="2200" dirty="0"/>
            </a:br>
            <a:r>
              <a:rPr lang="en-US" sz="2200" b="1" dirty="0"/>
              <a:t>Yes</a:t>
            </a:r>
            <a:endParaRPr lang="en-US" sz="2200" dirty="0"/>
          </a:p>
          <a:p>
            <a:endParaRPr lang="en-US" sz="2200" dirty="0"/>
          </a:p>
          <a:p>
            <a:r>
              <a:rPr lang="en-US" sz="2200" b="1" dirty="0">
                <a:solidFill>
                  <a:srgbClr val="0070C0"/>
                </a:solidFill>
              </a:rPr>
              <a:t>Example 2:</a:t>
            </a:r>
            <a:endParaRPr lang="en-US" sz="2200" dirty="0">
              <a:solidFill>
                <a:srgbClr val="0070C0"/>
              </a:solidFill>
            </a:endParaRPr>
          </a:p>
          <a:p>
            <a:r>
              <a:rPr lang="en-US" sz="2200" b="1" dirty="0"/>
              <a:t>Sentence A:</a:t>
            </a:r>
            <a:r>
              <a:rPr lang="en-US" sz="2200" dirty="0"/>
              <a:t> I went to the theater.</a:t>
            </a:r>
            <a:br>
              <a:rPr lang="en-US" sz="2200" dirty="0"/>
            </a:br>
            <a:r>
              <a:rPr lang="en-US" sz="2200" b="1" dirty="0"/>
              <a:t>Sentence B:</a:t>
            </a:r>
            <a:r>
              <a:rPr lang="en-US" sz="2200" dirty="0"/>
              <a:t> Penguins live in Antarctica.</a:t>
            </a:r>
          </a:p>
          <a:p>
            <a:r>
              <a:rPr lang="en-US" sz="2200" b="1" dirty="0"/>
              <a:t>Are the sentences related?</a:t>
            </a:r>
            <a:br>
              <a:rPr lang="en-US" sz="2200" dirty="0"/>
            </a:br>
            <a:r>
              <a:rPr lang="en-US" sz="2200" b="1" dirty="0"/>
              <a:t>No</a:t>
            </a:r>
            <a:br>
              <a:rPr lang="en-US" sz="2200" dirty="0"/>
            </a:br>
            <a:endParaRPr lang="en-US" sz="2200" dirty="0"/>
          </a:p>
          <a:p>
            <a:endParaRPr lang="en-US" sz="2200" dirty="0"/>
          </a:p>
          <a:p>
            <a:r>
              <a:rPr lang="en-US" sz="2200" b="1" dirty="0"/>
              <a:t>Why it matters:</a:t>
            </a:r>
            <a:br>
              <a:rPr lang="en-US" sz="2200" dirty="0"/>
            </a:br>
            <a:r>
              <a:rPr lang="en-US" sz="2200" dirty="0"/>
              <a:t>BERT learns relationships between sentences, helping it perform tasks such as question answering, text classification, and natural language understanding.</a:t>
            </a:r>
          </a:p>
          <a:p>
            <a:br>
              <a:rPr lang="en-US" dirty="0"/>
            </a:br>
            <a:endParaRPr dirty="0"/>
          </a:p>
        </p:txBody>
      </p:sp>
    </p:spTree>
    <p:extLst>
      <p:ext uri="{BB962C8B-B14F-4D97-AF65-F5344CB8AC3E}">
        <p14:creationId xmlns:p14="http://schemas.microsoft.com/office/powerpoint/2010/main" val="75631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7111177" cy="584775"/>
          </a:xfrm>
          <a:prstGeom prst="rect">
            <a:avLst/>
          </a:prstGeom>
          <a:noFill/>
        </p:spPr>
        <p:txBody>
          <a:bodyPr wrap="none">
            <a:spAutoFit/>
          </a:bodyPr>
          <a:lstStyle/>
          <a:p>
            <a:pPr>
              <a:defRPr sz="2600" b="1">
                <a:solidFill>
                  <a:srgbClr val="1E1E1E"/>
                </a:solidFill>
              </a:defRPr>
            </a:pPr>
            <a:r>
              <a:rPr sz="3200" dirty="0"/>
              <a:t>BERT Architecture: Built on Transformers</a:t>
            </a:r>
          </a:p>
        </p:txBody>
      </p:sp>
      <p:sp>
        <p:nvSpPr>
          <p:cNvPr id="4" name="TextBox 3"/>
          <p:cNvSpPr txBox="1"/>
          <p:nvPr/>
        </p:nvSpPr>
        <p:spPr>
          <a:xfrm>
            <a:off x="416127" y="1164969"/>
            <a:ext cx="4928465" cy="5416868"/>
          </a:xfrm>
          <a:prstGeom prst="rect">
            <a:avLst/>
          </a:prstGeom>
          <a:noFill/>
          <a:ln w="19050">
            <a:solidFill>
              <a:srgbClr val="0070C0"/>
            </a:solidFill>
          </a:ln>
        </p:spPr>
        <p:txBody>
          <a:bodyPr wrap="none">
            <a:spAutoFit/>
          </a:bodyPr>
          <a:lstStyle/>
          <a:p>
            <a:pPr algn="ctr"/>
            <a:r>
              <a:rPr lang="en-US" sz="2400" b="1" dirty="0"/>
              <a:t>How BERT Processes Text</a:t>
            </a:r>
          </a:p>
          <a:p>
            <a:pPr algn="ctr"/>
            <a:endParaRPr lang="en-US" sz="2200" b="1" dirty="0"/>
          </a:p>
          <a:p>
            <a:pPr algn="ctr"/>
            <a:r>
              <a:rPr lang="en-US" sz="2200" dirty="0"/>
              <a:t>Input Sentence</a:t>
            </a:r>
            <a:br>
              <a:rPr lang="en-US" sz="2200" dirty="0"/>
            </a:br>
            <a:r>
              <a:rPr lang="en-US" sz="2200" dirty="0"/>
              <a:t>       ↓</a:t>
            </a:r>
            <a:br>
              <a:rPr lang="en-US" sz="2200" dirty="0"/>
            </a:br>
            <a:r>
              <a:rPr lang="en-US" sz="2200" dirty="0"/>
              <a:t>Tokenization</a:t>
            </a:r>
            <a:br>
              <a:rPr lang="en-US" sz="2200" dirty="0"/>
            </a:br>
            <a:r>
              <a:rPr lang="en-US" sz="2200" dirty="0"/>
              <a:t>(Break text into words/</a:t>
            </a:r>
            <a:r>
              <a:rPr lang="en-US" sz="2200" dirty="0" err="1"/>
              <a:t>subwords</a:t>
            </a:r>
            <a:r>
              <a:rPr lang="en-US" sz="2200" dirty="0"/>
              <a:t>)</a:t>
            </a:r>
            <a:br>
              <a:rPr lang="en-US" sz="2200" dirty="0"/>
            </a:br>
            <a:r>
              <a:rPr lang="en-US" sz="2200" dirty="0"/>
              <a:t>       ↓</a:t>
            </a:r>
            <a:br>
              <a:rPr lang="en-US" sz="2200" dirty="0"/>
            </a:br>
            <a:r>
              <a:rPr lang="en-US" sz="2200" dirty="0"/>
              <a:t>Embedding Layer</a:t>
            </a:r>
            <a:br>
              <a:rPr lang="en-US" sz="2200" dirty="0"/>
            </a:br>
            <a:r>
              <a:rPr lang="en-US" sz="2200" dirty="0"/>
              <a:t>(Convert tokens into numerical vectors)</a:t>
            </a:r>
            <a:br>
              <a:rPr lang="en-US" sz="2200" dirty="0"/>
            </a:br>
            <a:r>
              <a:rPr lang="en-US" sz="2200" dirty="0"/>
              <a:t>       ↓</a:t>
            </a:r>
            <a:br>
              <a:rPr lang="en-US" sz="2200" dirty="0"/>
            </a:br>
            <a:r>
              <a:rPr lang="en-US" sz="2200" dirty="0"/>
              <a:t>Transformer Encoder Layers × 12</a:t>
            </a:r>
            <a:br>
              <a:rPr lang="en-US" sz="2200" dirty="0"/>
            </a:br>
            <a:r>
              <a:rPr lang="en-US" sz="2200" dirty="0"/>
              <a:t>(Apply bidirectional attention)</a:t>
            </a:r>
            <a:br>
              <a:rPr lang="en-US" sz="2200" dirty="0"/>
            </a:br>
            <a:r>
              <a:rPr lang="en-US" sz="2200" dirty="0"/>
              <a:t>       ↓</a:t>
            </a:r>
            <a:br>
              <a:rPr lang="en-US" sz="2200" dirty="0"/>
            </a:br>
            <a:r>
              <a:rPr lang="en-US" sz="2200" dirty="0"/>
              <a:t>Classification Output</a:t>
            </a:r>
          </a:p>
          <a:p>
            <a:br>
              <a:rPr lang="en-US" dirty="0"/>
            </a:br>
            <a:endParaRPr lang="en-US" dirty="0"/>
          </a:p>
        </p:txBody>
      </p:sp>
      <p:sp>
        <p:nvSpPr>
          <p:cNvPr id="5" name="TextBox 4">
            <a:extLst>
              <a:ext uri="{FF2B5EF4-FFF2-40B4-BE49-F238E27FC236}">
                <a16:creationId xmlns:a16="http://schemas.microsoft.com/office/drawing/2014/main" id="{7516C67E-A391-0D70-E285-CD87BA232E68}"/>
              </a:ext>
            </a:extLst>
          </p:cNvPr>
          <p:cNvSpPr txBox="1"/>
          <p:nvPr/>
        </p:nvSpPr>
        <p:spPr>
          <a:xfrm>
            <a:off x="5884000" y="1780522"/>
            <a:ext cx="5888698" cy="4185761"/>
          </a:xfrm>
          <a:prstGeom prst="rect">
            <a:avLst/>
          </a:prstGeom>
          <a:noFill/>
          <a:ln w="12700">
            <a:solidFill>
              <a:srgbClr val="0070C0"/>
            </a:solidFill>
          </a:ln>
        </p:spPr>
        <p:txBody>
          <a:bodyPr wrap="square" rtlCol="0">
            <a:spAutoFit/>
          </a:bodyPr>
          <a:lstStyle/>
          <a:p>
            <a:r>
              <a:rPr lang="en-US" sz="2400" b="1" dirty="0"/>
              <a:t>Key Architectural Features</a:t>
            </a:r>
          </a:p>
          <a:p>
            <a:endParaRPr lang="en-US" sz="2400" b="1" dirty="0"/>
          </a:p>
          <a:p>
            <a:r>
              <a:rPr lang="en-US" sz="2000" b="1" dirty="0"/>
              <a:t>Encoder-Only Architecture</a:t>
            </a:r>
            <a:r>
              <a:rPr lang="en-US" sz="2000" dirty="0"/>
              <a:t> </a:t>
            </a:r>
          </a:p>
          <a:p>
            <a:pPr lvl="1"/>
            <a:r>
              <a:rPr lang="en-US" sz="2000" dirty="0"/>
              <a:t>Uses only the Transformer encoder </a:t>
            </a:r>
          </a:p>
          <a:p>
            <a:pPr lvl="1"/>
            <a:r>
              <a:rPr lang="en-US" sz="2000" dirty="0"/>
              <a:t>Does not include a decoder </a:t>
            </a:r>
          </a:p>
          <a:p>
            <a:r>
              <a:rPr lang="en-US" sz="2000" b="1" dirty="0"/>
              <a:t>12 Stacked Transformer Layers</a:t>
            </a:r>
            <a:r>
              <a:rPr lang="en-US" sz="2000" dirty="0"/>
              <a:t> </a:t>
            </a:r>
          </a:p>
          <a:p>
            <a:pPr lvl="1"/>
            <a:r>
              <a:rPr lang="en-US" sz="2000" dirty="0"/>
              <a:t>Each layer refines the representation of the text </a:t>
            </a:r>
          </a:p>
          <a:p>
            <a:pPr lvl="1"/>
            <a:r>
              <a:rPr lang="en-US" sz="2000" dirty="0"/>
              <a:t>Enables learning of complex language patterns </a:t>
            </a:r>
          </a:p>
          <a:p>
            <a:r>
              <a:rPr lang="en-US" sz="2000" b="1" dirty="0"/>
              <a:t>Bidirectional Attention</a:t>
            </a:r>
            <a:r>
              <a:rPr lang="en-US" sz="2000" dirty="0"/>
              <a:t> </a:t>
            </a:r>
          </a:p>
          <a:p>
            <a:pPr lvl="1"/>
            <a:r>
              <a:rPr lang="en-US" sz="2000" dirty="0"/>
              <a:t>Considers both left and right context simultaneously </a:t>
            </a:r>
          </a:p>
          <a:p>
            <a:pPr lvl="1"/>
            <a:r>
              <a:rPr lang="en-US" sz="2000" dirty="0"/>
              <a:t>Creates richer contextual understanding</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6106352" cy="584775"/>
          </a:xfrm>
          <a:prstGeom prst="rect">
            <a:avLst/>
          </a:prstGeom>
          <a:noFill/>
        </p:spPr>
        <p:txBody>
          <a:bodyPr wrap="none">
            <a:spAutoFit/>
          </a:bodyPr>
          <a:lstStyle/>
          <a:p>
            <a:pPr>
              <a:defRPr sz="2600" b="1">
                <a:solidFill>
                  <a:srgbClr val="1E1E1E"/>
                </a:solidFill>
              </a:defRPr>
            </a:pPr>
            <a:r>
              <a:rPr sz="3200" dirty="0"/>
              <a:t>BERT in Action: Sentiment Analysis</a:t>
            </a:r>
          </a:p>
        </p:txBody>
      </p:sp>
      <p:sp>
        <p:nvSpPr>
          <p:cNvPr id="4" name="TextBox 3"/>
          <p:cNvSpPr txBox="1"/>
          <p:nvPr/>
        </p:nvSpPr>
        <p:spPr>
          <a:xfrm>
            <a:off x="676956" y="950535"/>
            <a:ext cx="11338260" cy="6463308"/>
          </a:xfrm>
          <a:prstGeom prst="rect">
            <a:avLst/>
          </a:prstGeom>
          <a:noFill/>
        </p:spPr>
        <p:txBody>
          <a:bodyPr wrap="square">
            <a:spAutoFit/>
          </a:bodyPr>
          <a:lstStyle/>
          <a:p>
            <a:r>
              <a:rPr lang="en-US" b="1" dirty="0"/>
              <a:t>Input Review: </a:t>
            </a:r>
            <a:r>
              <a:rPr lang="en-US" i="1" dirty="0"/>
              <a:t>"I expected this to be boring, but the plot twist made it incredible.”</a:t>
            </a:r>
          </a:p>
          <a:p>
            <a:endParaRPr lang="en-US" dirty="0"/>
          </a:p>
          <a:p>
            <a:r>
              <a:rPr lang="en-US" b="1" dirty="0"/>
              <a:t>Standard Language Model</a:t>
            </a:r>
            <a:endParaRPr lang="en-US" dirty="0"/>
          </a:p>
          <a:p>
            <a:r>
              <a:rPr lang="en-US" dirty="0"/>
              <a:t>Focuses on: </a:t>
            </a:r>
            <a:r>
              <a:rPr lang="en-US" i="1" dirty="0"/>
              <a:t>"boring"</a:t>
            </a:r>
            <a:r>
              <a:rPr lang="en-US" dirty="0"/>
              <a:t> </a:t>
            </a:r>
          </a:p>
          <a:p>
            <a:r>
              <a:rPr lang="en-US" dirty="0"/>
              <a:t>Misses the reversal introduced by </a:t>
            </a:r>
            <a:r>
              <a:rPr lang="en-US" i="1" dirty="0"/>
              <a:t>"but"</a:t>
            </a:r>
            <a:r>
              <a:rPr lang="en-US" dirty="0"/>
              <a:t> </a:t>
            </a:r>
          </a:p>
          <a:p>
            <a:r>
              <a:rPr lang="en-US" b="1" dirty="0">
                <a:solidFill>
                  <a:srgbClr val="FF0000"/>
                </a:solidFill>
              </a:rPr>
              <a:t>Prediction: Negative ✗</a:t>
            </a:r>
            <a:r>
              <a:rPr lang="en-US" dirty="0">
                <a:solidFill>
                  <a:srgbClr val="FF0000"/>
                </a:solidFill>
              </a:rPr>
              <a:t> </a:t>
            </a:r>
          </a:p>
          <a:p>
            <a:br>
              <a:rPr lang="en-US" dirty="0"/>
            </a:br>
            <a:endParaRPr lang="en-US" dirty="0"/>
          </a:p>
          <a:p>
            <a:r>
              <a:rPr lang="en-US" b="1" dirty="0"/>
              <a:t>Example 2: Subtle Sentiment</a:t>
            </a:r>
          </a:p>
          <a:p>
            <a:r>
              <a:rPr lang="en-US" b="1" dirty="0"/>
              <a:t>Input Review:</a:t>
            </a:r>
            <a:endParaRPr lang="en-US" dirty="0"/>
          </a:p>
          <a:p>
            <a:r>
              <a:rPr lang="en-US" i="1" dirty="0"/>
              <a:t>"The movie wasn't the worst I've seen; it was actually pretty good.”</a:t>
            </a:r>
          </a:p>
          <a:p>
            <a:endParaRPr lang="en-US" dirty="0"/>
          </a:p>
          <a:p>
            <a:r>
              <a:rPr lang="en-US" b="1" dirty="0"/>
              <a:t>Standard Language Model</a:t>
            </a:r>
            <a:endParaRPr lang="en-US" dirty="0"/>
          </a:p>
          <a:p>
            <a:r>
              <a:rPr lang="en-US" dirty="0"/>
              <a:t>Struggles with negation (</a:t>
            </a:r>
            <a:r>
              <a:rPr lang="en-US" i="1" dirty="0"/>
              <a:t>"wasn't"</a:t>
            </a:r>
            <a:r>
              <a:rPr lang="en-US" dirty="0"/>
              <a:t>) </a:t>
            </a:r>
          </a:p>
          <a:p>
            <a:r>
              <a:rPr lang="en-US" dirty="0"/>
              <a:t>May interpret </a:t>
            </a:r>
            <a:r>
              <a:rPr lang="en-US" i="1" dirty="0"/>
              <a:t>"worst"</a:t>
            </a:r>
            <a:r>
              <a:rPr lang="en-US" dirty="0"/>
              <a:t> as negative </a:t>
            </a:r>
          </a:p>
          <a:p>
            <a:r>
              <a:rPr lang="en-US" b="1" dirty="0">
                <a:solidFill>
                  <a:srgbClr val="FF0000"/>
                </a:solidFill>
              </a:rPr>
              <a:t>Prediction: Unclear / Incorrect ✗</a:t>
            </a:r>
            <a:r>
              <a:rPr lang="en-US" dirty="0">
                <a:solidFill>
                  <a:srgbClr val="FF0000"/>
                </a:solidFill>
              </a:rPr>
              <a:t> </a:t>
            </a:r>
          </a:p>
          <a:p>
            <a:br>
              <a:rPr lang="en-US" dirty="0"/>
            </a:br>
            <a:endParaRPr lang="en-US" dirty="0"/>
          </a:p>
          <a:p>
            <a:r>
              <a:rPr lang="en-US" b="1" dirty="0"/>
              <a:t>Why Bidirectional Context Matters:</a:t>
            </a:r>
          </a:p>
          <a:p>
            <a:r>
              <a:rPr lang="en-US" dirty="0"/>
              <a:t>BERT sees the </a:t>
            </a:r>
            <a:r>
              <a:rPr lang="en-US" b="1" dirty="0"/>
              <a:t>entire sentence</a:t>
            </a:r>
            <a:r>
              <a:rPr lang="en-US" dirty="0"/>
              <a:t> before making a prediction, detects </a:t>
            </a:r>
            <a:r>
              <a:rPr lang="en-US" b="1" dirty="0"/>
              <a:t>sentiment reversals</a:t>
            </a:r>
            <a:r>
              <a:rPr lang="en-US" dirty="0"/>
              <a:t> (</a:t>
            </a:r>
            <a:r>
              <a:rPr lang="en-US" i="1" dirty="0"/>
              <a:t>but, however, although</a:t>
            </a:r>
            <a:r>
              <a:rPr lang="en-US" dirty="0"/>
              <a:t>), captures </a:t>
            </a:r>
            <a:r>
              <a:rPr lang="en-US" b="1" dirty="0"/>
              <a:t>subtle context shifts and nuanced language </a:t>
            </a:r>
            <a:r>
              <a:rPr lang="en-US" dirty="0"/>
              <a:t>and therefore produces more accurate sentiment classifications</a:t>
            </a:r>
          </a:p>
          <a:p>
            <a:br>
              <a:rPr lang="en-US" dirty="0"/>
            </a:br>
            <a:endParaRPr lang="en-US" dirty="0"/>
          </a:p>
        </p:txBody>
      </p:sp>
      <p:sp>
        <p:nvSpPr>
          <p:cNvPr id="20" name="TextBox 19">
            <a:extLst>
              <a:ext uri="{FF2B5EF4-FFF2-40B4-BE49-F238E27FC236}">
                <a16:creationId xmlns:a16="http://schemas.microsoft.com/office/drawing/2014/main" id="{A3A7975D-9E24-E324-B779-4867EFEE4B6C}"/>
              </a:ext>
            </a:extLst>
          </p:cNvPr>
          <p:cNvSpPr txBox="1"/>
          <p:nvPr/>
        </p:nvSpPr>
        <p:spPr>
          <a:xfrm>
            <a:off x="5137265" y="1379913"/>
            <a:ext cx="4977838" cy="1477328"/>
          </a:xfrm>
          <a:prstGeom prst="rect">
            <a:avLst/>
          </a:prstGeom>
          <a:noFill/>
          <a:ln w="19050">
            <a:solidFill>
              <a:srgbClr val="0070C0"/>
            </a:solidFill>
          </a:ln>
        </p:spPr>
        <p:txBody>
          <a:bodyPr wrap="none" rtlCol="0">
            <a:spAutoFit/>
          </a:bodyPr>
          <a:lstStyle/>
          <a:p>
            <a:r>
              <a:rPr lang="en-US" b="1" dirty="0"/>
              <a:t>BERT</a:t>
            </a:r>
            <a:endParaRPr lang="en-US" dirty="0"/>
          </a:p>
          <a:p>
            <a:r>
              <a:rPr lang="en-US" dirty="0"/>
              <a:t>Considers the entire sentence </a:t>
            </a:r>
          </a:p>
          <a:p>
            <a:r>
              <a:rPr lang="en-US" dirty="0"/>
              <a:t>Recognizes </a:t>
            </a:r>
            <a:r>
              <a:rPr lang="en-US" i="1" dirty="0"/>
              <a:t>"but"</a:t>
            </a:r>
            <a:r>
              <a:rPr lang="en-US" dirty="0"/>
              <a:t> as a reversal cue </a:t>
            </a:r>
          </a:p>
          <a:p>
            <a:r>
              <a:rPr lang="en-US" dirty="0"/>
              <a:t>Understands the positive sentiment of </a:t>
            </a:r>
            <a:r>
              <a:rPr lang="en-US" i="1" dirty="0"/>
              <a:t>"incredible"</a:t>
            </a:r>
            <a:r>
              <a:rPr lang="en-US" dirty="0"/>
              <a:t> </a:t>
            </a:r>
          </a:p>
          <a:p>
            <a:r>
              <a:rPr lang="en-US" b="1" dirty="0">
                <a:solidFill>
                  <a:srgbClr val="00B050"/>
                </a:solidFill>
              </a:rPr>
              <a:t>Prediction: Positive ✓</a:t>
            </a:r>
            <a:r>
              <a:rPr lang="en-US" dirty="0">
                <a:solidFill>
                  <a:srgbClr val="00B050"/>
                </a:solidFill>
              </a:rPr>
              <a:t> </a:t>
            </a:r>
          </a:p>
        </p:txBody>
      </p:sp>
      <p:sp>
        <p:nvSpPr>
          <p:cNvPr id="22" name="TextBox 21">
            <a:extLst>
              <a:ext uri="{FF2B5EF4-FFF2-40B4-BE49-F238E27FC236}">
                <a16:creationId xmlns:a16="http://schemas.microsoft.com/office/drawing/2014/main" id="{FC90861D-1B9C-31A4-702E-11F1A5B7147B}"/>
              </a:ext>
            </a:extLst>
          </p:cNvPr>
          <p:cNvSpPr txBox="1"/>
          <p:nvPr/>
        </p:nvSpPr>
        <p:spPr>
          <a:xfrm>
            <a:off x="5669280" y="4200266"/>
            <a:ext cx="5435462" cy="1200329"/>
          </a:xfrm>
          <a:prstGeom prst="rect">
            <a:avLst/>
          </a:prstGeom>
          <a:noFill/>
          <a:ln w="19050">
            <a:solidFill>
              <a:srgbClr val="0070C0"/>
            </a:solidFill>
          </a:ln>
        </p:spPr>
        <p:txBody>
          <a:bodyPr wrap="none" rtlCol="0">
            <a:spAutoFit/>
          </a:bodyPr>
          <a:lstStyle/>
          <a:p>
            <a:r>
              <a:rPr lang="en-US" b="1" dirty="0"/>
              <a:t>BERT</a:t>
            </a:r>
            <a:endParaRPr lang="en-US" dirty="0"/>
          </a:p>
          <a:p>
            <a:r>
              <a:rPr lang="en-US" dirty="0"/>
              <a:t>Understands </a:t>
            </a:r>
            <a:r>
              <a:rPr lang="en-US" i="1" dirty="0"/>
              <a:t>"wasn't the worst"</a:t>
            </a:r>
            <a:r>
              <a:rPr lang="en-US" dirty="0"/>
              <a:t> as a positive statement </a:t>
            </a:r>
          </a:p>
          <a:p>
            <a:r>
              <a:rPr lang="en-US" dirty="0"/>
              <a:t>Combines this with </a:t>
            </a:r>
            <a:r>
              <a:rPr lang="en-US" i="1" dirty="0"/>
              <a:t>"actually pretty good"</a:t>
            </a:r>
            <a:r>
              <a:rPr lang="en-US" dirty="0"/>
              <a:t> </a:t>
            </a:r>
          </a:p>
          <a:p>
            <a:r>
              <a:rPr lang="en-US" b="1" dirty="0">
                <a:solidFill>
                  <a:srgbClr val="00B050"/>
                </a:solidFill>
              </a:rPr>
              <a:t>Prediction: Positive ✓</a:t>
            </a:r>
            <a:r>
              <a:rPr lang="en-US" dirty="0">
                <a:solidFill>
                  <a:srgbClr val="00B050"/>
                </a:solidFill>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46EB4"/>
          </a:solidFill>
          <a:ln>
            <a:solidFill>
              <a:srgbClr val="146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7168501" cy="584775"/>
          </a:xfrm>
          <a:prstGeom prst="rect">
            <a:avLst/>
          </a:prstGeom>
          <a:noFill/>
        </p:spPr>
        <p:txBody>
          <a:bodyPr wrap="none">
            <a:spAutoFit/>
          </a:bodyPr>
          <a:lstStyle/>
          <a:p>
            <a:pPr>
              <a:defRPr sz="2600" b="1">
                <a:solidFill>
                  <a:srgbClr val="1E1E1E"/>
                </a:solidFill>
              </a:defRPr>
            </a:pPr>
            <a:r>
              <a:rPr sz="3200" dirty="0"/>
              <a:t>What You Should Remember About BERT</a:t>
            </a:r>
          </a:p>
        </p:txBody>
      </p:sp>
      <p:graphicFrame>
        <p:nvGraphicFramePr>
          <p:cNvPr id="5" name="Table 4">
            <a:extLst>
              <a:ext uri="{FF2B5EF4-FFF2-40B4-BE49-F238E27FC236}">
                <a16:creationId xmlns:a16="http://schemas.microsoft.com/office/drawing/2014/main" id="{2C8190CD-E9AE-798A-FD7A-6DED5EE70AB5}"/>
              </a:ext>
            </a:extLst>
          </p:cNvPr>
          <p:cNvGraphicFramePr>
            <a:graphicFrameLocks noGrp="1"/>
          </p:cNvGraphicFramePr>
          <p:nvPr>
            <p:extLst>
              <p:ext uri="{D42A27DB-BD31-4B8C-83A1-F6EECF244321}">
                <p14:modId xmlns:p14="http://schemas.microsoft.com/office/powerpoint/2010/main" val="1976022035"/>
              </p:ext>
            </p:extLst>
          </p:nvPr>
        </p:nvGraphicFramePr>
        <p:xfrm>
          <a:off x="793122" y="1206562"/>
          <a:ext cx="10602579" cy="4799485"/>
        </p:xfrm>
        <a:graphic>
          <a:graphicData uri="http://schemas.openxmlformats.org/drawingml/2006/table">
            <a:tbl>
              <a:tblPr/>
              <a:tblGrid>
                <a:gridCol w="3534193">
                  <a:extLst>
                    <a:ext uri="{9D8B030D-6E8A-4147-A177-3AD203B41FA5}">
                      <a16:colId xmlns:a16="http://schemas.microsoft.com/office/drawing/2014/main" val="3564009683"/>
                    </a:ext>
                  </a:extLst>
                </a:gridCol>
                <a:gridCol w="3534193">
                  <a:extLst>
                    <a:ext uri="{9D8B030D-6E8A-4147-A177-3AD203B41FA5}">
                      <a16:colId xmlns:a16="http://schemas.microsoft.com/office/drawing/2014/main" val="2471704053"/>
                    </a:ext>
                  </a:extLst>
                </a:gridCol>
                <a:gridCol w="3534193">
                  <a:extLst>
                    <a:ext uri="{9D8B030D-6E8A-4147-A177-3AD203B41FA5}">
                      <a16:colId xmlns:a16="http://schemas.microsoft.com/office/drawing/2014/main" val="3218806754"/>
                    </a:ext>
                  </a:extLst>
                </a:gridCol>
              </a:tblGrid>
              <a:tr h="599936">
                <a:tc>
                  <a:txBody>
                    <a:bodyPr/>
                    <a:lstStyle/>
                    <a:p>
                      <a:pPr>
                        <a:buNone/>
                      </a:pPr>
                      <a:r>
                        <a:rPr lang="en-US" sz="2400"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b="1" dirty="0">
                          <a:solidFill>
                            <a:srgbClr val="FF0000"/>
                          </a:solidFill>
                        </a:rPr>
                        <a:t>Original Transformer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b="1" dirty="0">
                          <a:solidFill>
                            <a:srgbClr val="0070C0"/>
                          </a:solidFill>
                        </a:rPr>
                        <a:t>BERT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8344622"/>
                  </a:ext>
                </a:extLst>
              </a:tr>
              <a:tr h="599936">
                <a:tc>
                  <a:txBody>
                    <a:bodyPr/>
                    <a:lstStyle/>
                    <a:p>
                      <a:pPr>
                        <a:buNone/>
                      </a:pPr>
                      <a:r>
                        <a:rPr lang="en-US" b="1"/>
                        <a:t>Architecture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Encoder + Decoder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Encoder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9295475"/>
                  </a:ext>
                </a:extLst>
              </a:tr>
              <a:tr h="1049887">
                <a:tc>
                  <a:txBody>
                    <a:bodyPr/>
                    <a:lstStyle/>
                    <a:p>
                      <a:pPr>
                        <a:buNone/>
                      </a:pPr>
                      <a:r>
                        <a:rPr lang="en-US" b="1"/>
                        <a:t>Context Direction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Typically left-to-right during language modeling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Bidirectional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7539610"/>
                  </a:ext>
                </a:extLst>
              </a:tr>
              <a:tr h="1499839">
                <a:tc>
                  <a:txBody>
                    <a:bodyPr/>
                    <a:lstStyle/>
                    <a:p>
                      <a:pPr>
                        <a:buNone/>
                      </a:pPr>
                      <a:r>
                        <a:rPr lang="en-US" b="1"/>
                        <a:t>Training Objective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Predict next 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Masked Language Modeling (MLM) + Next Sentence Prediction (NSP)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8102967"/>
                  </a:ext>
                </a:extLst>
              </a:tr>
              <a:tr h="1049887">
                <a:tc>
                  <a:txBody>
                    <a:bodyPr/>
                    <a:lstStyle/>
                    <a:p>
                      <a:pPr>
                        <a:buNone/>
                      </a:pPr>
                      <a:r>
                        <a:rPr lang="en-US" b="1"/>
                        <a:t>Primary Use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Translation and sequence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Language understanding and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943460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1657</Words>
  <Application>Microsoft Macintosh PowerPoint</Application>
  <PresentationFormat>Custom</PresentationFormat>
  <Paragraphs>167</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Ahmed, Manal</cp:lastModifiedBy>
  <cp:revision>3</cp:revision>
  <dcterms:created xsi:type="dcterms:W3CDTF">2013-01-27T09:14:16Z</dcterms:created>
  <dcterms:modified xsi:type="dcterms:W3CDTF">2026-06-01T07:23:09Z</dcterms:modified>
  <cp:category/>
</cp:coreProperties>
</file>