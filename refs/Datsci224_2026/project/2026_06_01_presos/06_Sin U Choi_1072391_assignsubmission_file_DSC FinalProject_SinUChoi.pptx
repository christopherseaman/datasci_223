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6" r:id="rId2"/>
    <p:sldMasterId id="2147483663" r:id="rId3"/>
  </p:sldMasterIdLst>
  <p:notesMasterIdLst>
    <p:notesMasterId r:id="rId12"/>
  </p:notesMasterIdLst>
  <p:sldIdLst>
    <p:sldId id="264" r:id="rId4"/>
    <p:sldId id="257" r:id="rId5"/>
    <p:sldId id="258" r:id="rId6"/>
    <p:sldId id="259" r:id="rId7"/>
    <p:sldId id="260" r:id="rId8"/>
    <p:sldId id="261" r:id="rId9"/>
    <p:sldId id="262" r:id="rId10"/>
    <p:sldId id="263" r:id="rId11"/>
  </p:sldIdLst>
  <p:sldSz cx="9144000" cy="5143500" type="screen16x9"/>
  <p:notesSz cx="6858000" cy="9296400"/>
  <p:embeddedFontLst>
    <p:embeddedFont>
      <p:font typeface="Cambria Math" panose="02040503050406030204" pitchFamily="18" charset="0"/>
      <p:regular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73">
          <p15:clr>
            <a:srgbClr val="A4A3A4"/>
          </p15:clr>
        </p15:guide>
        <p15:guide id="2" pos="5590">
          <p15:clr>
            <a:srgbClr val="A4A3A4"/>
          </p15:clr>
        </p15:guide>
      </p15:sldGuideLst>
    </p:ext>
    <p:ext uri="{2D200454-40CA-4A62-9FC3-DE9A4176ACB9}">
      <p15:notesGuideLst xmlns:p15="http://schemas.microsoft.com/office/powerpoint/2012/main">
        <p15:guide id="1" orient="horz" pos="2592">
          <p15:clr>
            <a:srgbClr val="A4A3A4"/>
          </p15:clr>
        </p15:guide>
        <p15:guide id="2" orient="horz" pos="5542">
          <p15:clr>
            <a:srgbClr val="A4A3A4"/>
          </p15:clr>
        </p15:guide>
        <p15:guide id="3" orient="horz" pos="5777">
          <p15:clr>
            <a:srgbClr val="A4A3A4"/>
          </p15:clr>
        </p15:guide>
        <p15:guide id="4" pos="286">
          <p15:clr>
            <a:srgbClr val="A4A3A4"/>
          </p15:clr>
        </p15:guide>
        <p15:guide id="5" pos="4033">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jLww6VV7A3Cc5DmSIVR02BGMCJi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377"/>
    <p:restoredTop sz="71460"/>
  </p:normalViewPr>
  <p:slideViewPr>
    <p:cSldViewPr snapToGrid="0">
      <p:cViewPr>
        <p:scale>
          <a:sx n="73" d="100"/>
          <a:sy n="73" d="100"/>
        </p:scale>
        <p:origin x="704" y="1416"/>
      </p:cViewPr>
      <p:guideLst>
        <p:guide orient="horz" pos="2573"/>
        <p:guide pos="559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592"/>
        <p:guide orient="horz" pos="5542"/>
        <p:guide orient="horz" pos="5777"/>
        <p:guide pos="286"/>
        <p:guide pos="403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font" Target="fonts/font1.fntdata"/><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notesMaster" Target="notesMasters/notesMaster1.xml"/><Relationship Id="rId2" Type="http://schemas.openxmlformats.org/officeDocument/2006/relationships/slideMaster" Target="slideMasters/slideMaster2.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23"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12750" y="400050"/>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441268" y="4080297"/>
            <a:ext cx="5961120" cy="4480560"/>
          </a:xfrm>
          <a:prstGeom prst="rect">
            <a:avLst/>
          </a:prstGeom>
          <a:noFill/>
          <a:ln>
            <a:noFill/>
          </a:ln>
        </p:spPr>
        <p:txBody>
          <a:bodyPr spcFirstLastPara="1" wrap="square" lIns="0" tIns="0" rIns="0" bIns="0" anchor="t" anchorCtr="0">
            <a:normAutofit/>
          </a:bodyPr>
          <a:lstStyle>
            <a:lvl1pPr marL="457200" marR="0" lvl="0" indent="-304800" algn="l" rtl="0">
              <a:spcBef>
                <a:spcPts val="800"/>
              </a:spcBef>
              <a:spcAft>
                <a:spcPts val="0"/>
              </a:spcAft>
              <a:buClr>
                <a:srgbClr val="178CCB"/>
              </a:buClr>
              <a:buSzPts val="1200"/>
              <a:buFont typeface="Arial"/>
              <a:buChar char="•"/>
              <a:defRPr sz="1200" b="0" i="0" u="none" strike="noStrike" cap="none">
                <a:solidFill>
                  <a:srgbClr val="052049"/>
                </a:solidFill>
                <a:latin typeface="Arial"/>
                <a:ea typeface="Arial"/>
                <a:cs typeface="Arial"/>
                <a:sym typeface="Arial"/>
              </a:defRPr>
            </a:lvl1pPr>
            <a:lvl2pPr marL="914400" marR="0" lvl="1" indent="-298450" algn="l" rtl="0">
              <a:spcBef>
                <a:spcPts val="200"/>
              </a:spcBef>
              <a:spcAft>
                <a:spcPts val="0"/>
              </a:spcAft>
              <a:buClr>
                <a:srgbClr val="178CCB"/>
              </a:buClr>
              <a:buSzPts val="1100"/>
              <a:buFont typeface="Arial"/>
              <a:buChar char="•"/>
              <a:defRPr sz="1100" b="0" i="0" u="none" strike="noStrike" cap="none">
                <a:solidFill>
                  <a:srgbClr val="052049"/>
                </a:solidFill>
                <a:latin typeface="Arial"/>
                <a:ea typeface="Arial"/>
                <a:cs typeface="Arial"/>
                <a:sym typeface="Arial"/>
              </a:defRPr>
            </a:lvl2pPr>
            <a:lvl3pPr marL="1371600" marR="0" lvl="2" indent="-295275" algn="l" rtl="0">
              <a:spcBef>
                <a:spcPts val="200"/>
              </a:spcBef>
              <a:spcAft>
                <a:spcPts val="0"/>
              </a:spcAft>
              <a:buClr>
                <a:srgbClr val="178CCB"/>
              </a:buClr>
              <a:buSzPts val="1050"/>
              <a:buFont typeface="Arial"/>
              <a:buChar char="•"/>
              <a:defRPr sz="1050" b="0" i="0" u="none" strike="noStrike" cap="none">
                <a:solidFill>
                  <a:srgbClr val="052049"/>
                </a:solidFill>
                <a:latin typeface="Arial"/>
                <a:ea typeface="Arial"/>
                <a:cs typeface="Arial"/>
                <a:sym typeface="Arial"/>
              </a:defRPr>
            </a:lvl3pPr>
            <a:lvl4pPr marL="1828800" marR="0" lvl="3" indent="-295275" algn="l" rtl="0">
              <a:spcBef>
                <a:spcPts val="200"/>
              </a:spcBef>
              <a:spcAft>
                <a:spcPts val="0"/>
              </a:spcAft>
              <a:buClr>
                <a:srgbClr val="178CCB"/>
              </a:buClr>
              <a:buSzPts val="1050"/>
              <a:buFont typeface="Arial"/>
              <a:buChar char="•"/>
              <a:defRPr sz="1050" b="0" i="0" u="none" strike="noStrike" cap="none">
                <a:solidFill>
                  <a:srgbClr val="052049"/>
                </a:solidFill>
                <a:latin typeface="Arial"/>
                <a:ea typeface="Arial"/>
                <a:cs typeface="Arial"/>
                <a:sym typeface="Arial"/>
              </a:defRPr>
            </a:lvl4pPr>
            <a:lvl5pPr marL="2286000" marR="0" lvl="4" indent="-295275" algn="l" rtl="0">
              <a:spcBef>
                <a:spcPts val="0"/>
              </a:spcBef>
              <a:spcAft>
                <a:spcPts val="0"/>
              </a:spcAft>
              <a:buClr>
                <a:schemeClr val="dk1"/>
              </a:buClr>
              <a:buSzPts val="1050"/>
              <a:buFont typeface="Arial"/>
              <a:buChar char="•"/>
              <a:defRPr sz="1050" b="0" i="0" u="none" strike="noStrike" cap="none">
                <a:solidFill>
                  <a:schemeClr val="dk1"/>
                </a:solidFill>
                <a:latin typeface="Garamond"/>
                <a:ea typeface="Garamond"/>
                <a:cs typeface="Garamond"/>
                <a:sym typeface="Garamond"/>
              </a:defRPr>
            </a:lvl5pPr>
            <a:lvl6pPr marL="2743200" marR="0" lvl="5" indent="-228600" algn="l" rtl="0">
              <a:spcBef>
                <a:spcPts val="0"/>
              </a:spcBef>
              <a:spcAft>
                <a:spcPts val="0"/>
              </a:spcAft>
              <a:buSzPts val="1400"/>
              <a:buNone/>
              <a:defRPr sz="1200" b="0" i="0" u="none" strike="noStrike" cap="none">
                <a:solidFill>
                  <a:schemeClr val="dk1"/>
                </a:solidFill>
                <a:latin typeface="Garamond"/>
                <a:ea typeface="Garamond"/>
                <a:cs typeface="Garamond"/>
                <a:sym typeface="Garamond"/>
              </a:defRPr>
            </a:lvl6pPr>
            <a:lvl7pPr marL="3200400" marR="0" lvl="6" indent="-228600" algn="l" rtl="0">
              <a:spcBef>
                <a:spcPts val="0"/>
              </a:spcBef>
              <a:spcAft>
                <a:spcPts val="0"/>
              </a:spcAft>
              <a:buSzPts val="1400"/>
              <a:buNone/>
              <a:defRPr sz="1200" b="0" i="0" u="none" strike="noStrike" cap="none">
                <a:solidFill>
                  <a:schemeClr val="dk1"/>
                </a:solidFill>
                <a:latin typeface="Garamond"/>
                <a:ea typeface="Garamond"/>
                <a:cs typeface="Garamond"/>
                <a:sym typeface="Garamond"/>
              </a:defRPr>
            </a:lvl7pPr>
            <a:lvl8pPr marL="3657600" marR="0" lvl="7" indent="-228600" algn="l" rtl="0">
              <a:spcBef>
                <a:spcPts val="0"/>
              </a:spcBef>
              <a:spcAft>
                <a:spcPts val="0"/>
              </a:spcAft>
              <a:buSzPts val="1400"/>
              <a:buNone/>
              <a:defRPr sz="1200" b="0" i="0" u="none" strike="noStrike" cap="none">
                <a:solidFill>
                  <a:schemeClr val="dk1"/>
                </a:solidFill>
                <a:latin typeface="Garamond"/>
                <a:ea typeface="Garamond"/>
                <a:cs typeface="Garamond"/>
                <a:sym typeface="Garamond"/>
              </a:defRPr>
            </a:lvl8pPr>
            <a:lvl9pPr marL="4114800" marR="0" lvl="8" indent="-228600" algn="l" rtl="0">
              <a:spcBef>
                <a:spcPts val="0"/>
              </a:spcBef>
              <a:spcAft>
                <a:spcPts val="0"/>
              </a:spcAft>
              <a:buSzPts val="1400"/>
              <a:buNone/>
              <a:defRPr sz="1200" b="0" i="0" u="none" strike="noStrike" cap="none">
                <a:solidFill>
                  <a:schemeClr val="dk1"/>
                </a:solidFill>
                <a:latin typeface="Garamond"/>
                <a:ea typeface="Garamond"/>
                <a:cs typeface="Garamond"/>
                <a:sym typeface="Garamond"/>
              </a:defRPr>
            </a:lvl9pPr>
          </a:lstStyle>
          <a:p>
            <a:endParaRPr/>
          </a:p>
        </p:txBody>
      </p:sp>
      <p:cxnSp>
        <p:nvCxnSpPr>
          <p:cNvPr id="5" name="Google Shape;5;n"/>
          <p:cNvCxnSpPr/>
          <p:nvPr/>
        </p:nvCxnSpPr>
        <p:spPr>
          <a:xfrm>
            <a:off x="455585" y="8795705"/>
            <a:ext cx="5943600" cy="0"/>
          </a:xfrm>
          <a:prstGeom prst="straightConnector1">
            <a:avLst/>
          </a:prstGeom>
          <a:noFill/>
          <a:ln w="9525" cap="flat" cmpd="sng">
            <a:solidFill>
              <a:schemeClr val="dk1"/>
            </a:solidFill>
            <a:prstDash val="solid"/>
            <a:round/>
            <a:headEnd type="none" w="sm" len="sm"/>
            <a:tailEnd type="none" w="sm" len="sm"/>
          </a:ln>
        </p:spPr>
      </p:cxnSp>
      <p:pic>
        <p:nvPicPr>
          <p:cNvPr id="6" name="Google Shape;6;n"/>
          <p:cNvPicPr preferRelativeResize="0"/>
          <p:nvPr/>
        </p:nvPicPr>
        <p:blipFill rotWithShape="1">
          <a:blip r:embed="rId2">
            <a:alphaModFix/>
          </a:blip>
          <a:srcRect/>
          <a:stretch/>
        </p:blipFill>
        <p:spPr>
          <a:xfrm>
            <a:off x="5802407" y="8866372"/>
            <a:ext cx="599982" cy="291168"/>
          </a:xfrm>
          <a:prstGeom prst="rect">
            <a:avLst/>
          </a:prstGeom>
          <a:noFill/>
          <a:ln>
            <a:noFill/>
          </a:ln>
        </p:spPr>
      </p:pic>
      <p:sp>
        <p:nvSpPr>
          <p:cNvPr id="7" name="Google Shape;7;n"/>
          <p:cNvSpPr txBox="1">
            <a:spLocks noGrp="1"/>
          </p:cNvSpPr>
          <p:nvPr>
            <p:ph type="sldNum" idx="12"/>
          </p:nvPr>
        </p:nvSpPr>
        <p:spPr>
          <a:xfrm>
            <a:off x="403350" y="8880855"/>
            <a:ext cx="281232" cy="105317"/>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fld id="{00000000-1234-1234-1234-123412341234}" type="slidenum">
              <a:rPr lang="en-US" sz="800" b="0" i="0" u="none" strike="noStrike" cap="none">
                <a:solidFill>
                  <a:srgbClr val="052049"/>
                </a:solidFill>
                <a:latin typeface="Arial"/>
                <a:ea typeface="Arial"/>
                <a:cs typeface="Arial"/>
                <a:sym typeface="Arial"/>
              </a:rPr>
              <a:t>‹#›</a:t>
            </a:fld>
            <a:endParaRPr sz="800" b="0" i="0" u="none" strike="noStrike" cap="none">
              <a:solidFill>
                <a:srgbClr val="052049"/>
              </a:solidFill>
              <a:latin typeface="Arial"/>
              <a:ea typeface="Arial"/>
              <a:cs typeface="Arial"/>
              <a:sym typeface="Arial"/>
            </a:endParaRPr>
          </a:p>
        </p:txBody>
      </p:sp>
      <p:sp>
        <p:nvSpPr>
          <p:cNvPr id="8" name="Google Shape;8;n"/>
          <p:cNvSpPr txBox="1">
            <a:spLocks noGrp="1"/>
          </p:cNvSpPr>
          <p:nvPr>
            <p:ph type="ftr" idx="11"/>
          </p:nvPr>
        </p:nvSpPr>
        <p:spPr>
          <a:xfrm>
            <a:off x="636536" y="8821324"/>
            <a:ext cx="2971800" cy="13158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9" name="Google Shape;9;n"/>
          <p:cNvSpPr txBox="1">
            <a:spLocks noGrp="1"/>
          </p:cNvSpPr>
          <p:nvPr>
            <p:ph type="dt" idx="10"/>
          </p:nvPr>
        </p:nvSpPr>
        <p:spPr>
          <a:xfrm>
            <a:off x="3884613" y="3"/>
            <a:ext cx="2971800" cy="46672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eb783fec72_0_1402:notes"/>
          <p:cNvSpPr>
            <a:spLocks noGrp="1" noRot="1" noChangeAspect="1"/>
          </p:cNvSpPr>
          <p:nvPr>
            <p:ph type="sldImg" idx="2"/>
          </p:nvPr>
        </p:nvSpPr>
        <p:spPr>
          <a:xfrm>
            <a:off x="412750" y="400050"/>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eb783fec72_0_1402:notes"/>
          <p:cNvSpPr txBox="1">
            <a:spLocks noGrp="1"/>
          </p:cNvSpPr>
          <p:nvPr>
            <p:ph type="body" idx="1"/>
          </p:nvPr>
        </p:nvSpPr>
        <p:spPr>
          <a:xfrm>
            <a:off x="441268" y="4080297"/>
            <a:ext cx="5961000" cy="4480500"/>
          </a:xfrm>
          <a:prstGeom prst="rect">
            <a:avLst/>
          </a:prstGeom>
          <a:noFill/>
          <a:ln>
            <a:noFill/>
          </a:ln>
        </p:spPr>
        <p:txBody>
          <a:bodyPr spcFirstLastPara="1" wrap="square" lIns="0" tIns="0" rIns="0" bIns="0" anchor="t" anchorCtr="0">
            <a:normAutofit/>
          </a:bodyPr>
          <a:lstStyle/>
          <a:p>
            <a:pPr marL="0" lvl="0" indent="0" algn="l" rtl="0">
              <a:spcBef>
                <a:spcPts val="800"/>
              </a:spcBef>
              <a:spcAft>
                <a:spcPts val="0"/>
              </a:spcAft>
              <a:buNone/>
            </a:pPr>
            <a:r>
              <a:rPr lang="en-US" dirty="0"/>
              <a:t>Before explaining RSF, I need to explain why standard Random forest cannot handle survival data. Look at this timeline, Patient 1 died at year 4 that is a complete outcome. But patient 2 was still alive when the study ended. We know they survived at least 8 years, but we do not know when they will die. Censoring is an incomplete outcome we cannot </a:t>
            </a:r>
            <a:r>
              <a:rPr lang="en-US" dirty="0" err="1"/>
              <a:t>igore</a:t>
            </a:r>
            <a:r>
              <a:rPr lang="en-US" dirty="0"/>
              <a:t> or throw away. Standard Random Forest needs a complete outcome for every patient. It was built for regression and classification. It has no mechanism for handling this unknown information. RSF solves this by using log-rank test as its splitting criterion, the same test that was used to compare 2 KM curves. It was designed specifically for censored survival data. That was Ishwaran’s key insight in 2008. </a:t>
            </a:r>
            <a:endParaRPr dirty="0"/>
          </a:p>
        </p:txBody>
      </p:sp>
      <p:cxnSp>
        <p:nvCxnSpPr>
          <p:cNvPr id="171" name="Google Shape;171;g3eb783fec72_0_1402:notes"/>
          <p:cNvCxnSpPr/>
          <p:nvPr/>
        </p:nvCxnSpPr>
        <p:spPr>
          <a:xfrm>
            <a:off x="455585" y="8795705"/>
            <a:ext cx="5943600" cy="0"/>
          </a:xfrm>
          <a:prstGeom prst="straightConnector1">
            <a:avLst/>
          </a:prstGeom>
          <a:noFill/>
          <a:ln w="9525" cap="flat" cmpd="sng">
            <a:solidFill>
              <a:schemeClr val="dk1"/>
            </a:solidFill>
            <a:prstDash val="solid"/>
            <a:round/>
            <a:headEnd type="none" w="sm" len="sm"/>
            <a:tailEnd type="none" w="sm" len="sm"/>
          </a:ln>
        </p:spPr>
      </p:cxnSp>
      <p:pic>
        <p:nvPicPr>
          <p:cNvPr id="172" name="Google Shape;172;g3eb783fec72_0_1402:notes"/>
          <p:cNvPicPr preferRelativeResize="0"/>
          <p:nvPr/>
        </p:nvPicPr>
        <p:blipFill rotWithShape="1">
          <a:blip r:embed="rId3">
            <a:alphaModFix/>
          </a:blip>
          <a:srcRect/>
          <a:stretch/>
        </p:blipFill>
        <p:spPr>
          <a:xfrm>
            <a:off x="5802407" y="8866372"/>
            <a:ext cx="599981" cy="291168"/>
          </a:xfrm>
          <a:prstGeom prst="rect">
            <a:avLst/>
          </a:prstGeom>
          <a:noFill/>
          <a:ln>
            <a:noFill/>
          </a:ln>
        </p:spPr>
      </p:pic>
      <p:sp>
        <p:nvSpPr>
          <p:cNvPr id="173" name="Google Shape;173;g3eb783fec72_0_1402:notes"/>
          <p:cNvSpPr txBox="1">
            <a:spLocks noGrp="1"/>
          </p:cNvSpPr>
          <p:nvPr>
            <p:ph type="sldNum" idx="12"/>
          </p:nvPr>
        </p:nvSpPr>
        <p:spPr>
          <a:xfrm>
            <a:off x="403350" y="8880855"/>
            <a:ext cx="281100" cy="1053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endParaRPr/>
          </a:p>
        </p:txBody>
      </p:sp>
      <p:sp>
        <p:nvSpPr>
          <p:cNvPr id="174" name="Google Shape;174;g3eb783fec72_0_1402:notes"/>
          <p:cNvSpPr txBox="1">
            <a:spLocks noGrp="1"/>
          </p:cNvSpPr>
          <p:nvPr>
            <p:ph type="ftr" idx="11"/>
          </p:nvPr>
        </p:nvSpPr>
        <p:spPr>
          <a:xfrm>
            <a:off x="636536" y="8821324"/>
            <a:ext cx="2971800" cy="131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g3eb783fec72_0_1402:notes"/>
          <p:cNvSpPr txBox="1">
            <a:spLocks noGrp="1"/>
          </p:cNvSpPr>
          <p:nvPr>
            <p:ph type="dt" idx="10"/>
          </p:nvPr>
        </p:nvSpPr>
        <p:spPr>
          <a:xfrm>
            <a:off x="3884613" y="3"/>
            <a:ext cx="2971800" cy="4668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eb783fec72_93_88:notes"/>
          <p:cNvSpPr>
            <a:spLocks noGrp="1" noRot="1" noChangeAspect="1"/>
          </p:cNvSpPr>
          <p:nvPr>
            <p:ph type="sldImg" idx="2"/>
          </p:nvPr>
        </p:nvSpPr>
        <p:spPr>
          <a:xfrm>
            <a:off x="412750" y="400050"/>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eb783fec72_93_88:notes"/>
          <p:cNvSpPr txBox="1">
            <a:spLocks noGrp="1"/>
          </p:cNvSpPr>
          <p:nvPr>
            <p:ph type="body" idx="1"/>
          </p:nvPr>
        </p:nvSpPr>
        <p:spPr>
          <a:xfrm>
            <a:off x="441268" y="4080297"/>
            <a:ext cx="5961000" cy="4480500"/>
          </a:xfrm>
          <a:prstGeom prst="rect">
            <a:avLst/>
          </a:prstGeom>
          <a:noFill/>
          <a:ln>
            <a:noFill/>
          </a:ln>
        </p:spPr>
        <p:txBody>
          <a:bodyPr spcFirstLastPara="1" wrap="square" lIns="0" tIns="0" rIns="0" bIns="0" anchor="t" anchorCtr="0">
            <a:normAutofit/>
          </a:bodyPr>
          <a:lstStyle/>
          <a:p>
            <a:pPr marL="0" lvl="0" indent="0" algn="l" rtl="0">
              <a:spcBef>
                <a:spcPts val="800"/>
              </a:spcBef>
              <a:spcAft>
                <a:spcPts val="0"/>
              </a:spcAft>
              <a:buNone/>
            </a:pPr>
            <a:r>
              <a:rPr lang="en-US" dirty="0"/>
              <a:t>So how does RSF build a tree? It starts with all your patients at the top node and asks a yes/no question. For example,  is age greater than 70? This splits patients into two groups. The key challenge is deciding which split is the best. RSF answers this using the log-rank statistic. At each node, it tries every possible split on every covariate and picks the one that creates the most different survival experiences between the 2 child groups. The larger the log-rank statistic, the better the split. Once the tree is fully grown, each terminal leaf contains patients with similar survival. The Nelson-Aalen estimator then computes a cumulative hazard step function for that leaf  and this becomes the predicted survival curve for any new patient who lands in that leaf. At each node, RSF doesn't consider all features. It randomly selects only the square root of p candidates. In our analysis with 22 dummy-expanded features, that's about 5 per split. This randomization is what makes it a forest rather than just a tree and will be explained in the next slide.</a:t>
            </a:r>
            <a:endParaRPr dirty="0"/>
          </a:p>
        </p:txBody>
      </p:sp>
      <p:cxnSp>
        <p:nvCxnSpPr>
          <p:cNvPr id="216" name="Google Shape;216;g3eb783fec72_93_88:notes"/>
          <p:cNvCxnSpPr/>
          <p:nvPr/>
        </p:nvCxnSpPr>
        <p:spPr>
          <a:xfrm>
            <a:off x="455585" y="8795705"/>
            <a:ext cx="5943600" cy="0"/>
          </a:xfrm>
          <a:prstGeom prst="straightConnector1">
            <a:avLst/>
          </a:prstGeom>
          <a:noFill/>
          <a:ln w="9525" cap="flat" cmpd="sng">
            <a:solidFill>
              <a:schemeClr val="dk1"/>
            </a:solidFill>
            <a:prstDash val="solid"/>
            <a:round/>
            <a:headEnd type="none" w="sm" len="sm"/>
            <a:tailEnd type="none" w="sm" len="sm"/>
          </a:ln>
        </p:spPr>
      </p:cxnSp>
      <p:pic>
        <p:nvPicPr>
          <p:cNvPr id="217" name="Google Shape;217;g3eb783fec72_93_88:notes"/>
          <p:cNvPicPr preferRelativeResize="0"/>
          <p:nvPr/>
        </p:nvPicPr>
        <p:blipFill rotWithShape="1">
          <a:blip r:embed="rId3">
            <a:alphaModFix/>
          </a:blip>
          <a:srcRect/>
          <a:stretch/>
        </p:blipFill>
        <p:spPr>
          <a:xfrm>
            <a:off x="5802407" y="8866372"/>
            <a:ext cx="599981" cy="291168"/>
          </a:xfrm>
          <a:prstGeom prst="rect">
            <a:avLst/>
          </a:prstGeom>
          <a:noFill/>
          <a:ln>
            <a:noFill/>
          </a:ln>
        </p:spPr>
      </p:pic>
      <p:sp>
        <p:nvSpPr>
          <p:cNvPr id="218" name="Google Shape;218;g3eb783fec72_93_88:notes"/>
          <p:cNvSpPr txBox="1">
            <a:spLocks noGrp="1"/>
          </p:cNvSpPr>
          <p:nvPr>
            <p:ph type="sldNum" idx="12"/>
          </p:nvPr>
        </p:nvSpPr>
        <p:spPr>
          <a:xfrm>
            <a:off x="403350" y="8880855"/>
            <a:ext cx="281100" cy="1053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endParaRPr/>
          </a:p>
        </p:txBody>
      </p:sp>
      <p:sp>
        <p:nvSpPr>
          <p:cNvPr id="219" name="Google Shape;219;g3eb783fec72_93_88:notes"/>
          <p:cNvSpPr txBox="1">
            <a:spLocks noGrp="1"/>
          </p:cNvSpPr>
          <p:nvPr>
            <p:ph type="ftr" idx="11"/>
          </p:nvPr>
        </p:nvSpPr>
        <p:spPr>
          <a:xfrm>
            <a:off x="636536" y="8821324"/>
            <a:ext cx="2971800" cy="131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g3eb783fec72_93_88:notes"/>
          <p:cNvSpPr txBox="1">
            <a:spLocks noGrp="1"/>
          </p:cNvSpPr>
          <p:nvPr>
            <p:ph type="dt" idx="10"/>
          </p:nvPr>
        </p:nvSpPr>
        <p:spPr>
          <a:xfrm>
            <a:off x="3884613" y="3"/>
            <a:ext cx="2971800" cy="4668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eb783fec72_0_1948:notes"/>
          <p:cNvSpPr>
            <a:spLocks noGrp="1" noRot="1" noChangeAspect="1"/>
          </p:cNvSpPr>
          <p:nvPr>
            <p:ph type="sldImg" idx="2"/>
          </p:nvPr>
        </p:nvSpPr>
        <p:spPr>
          <a:xfrm>
            <a:off x="412750" y="400050"/>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g3eb783fec72_0_1948:notes"/>
          <p:cNvSpPr txBox="1">
            <a:spLocks noGrp="1"/>
          </p:cNvSpPr>
          <p:nvPr>
            <p:ph type="body" idx="1"/>
          </p:nvPr>
        </p:nvSpPr>
        <p:spPr>
          <a:xfrm>
            <a:off x="441268" y="4080297"/>
            <a:ext cx="5961000" cy="4480500"/>
          </a:xfrm>
          <a:prstGeom prst="rect">
            <a:avLst/>
          </a:prstGeom>
          <a:noFill/>
          <a:ln>
            <a:noFill/>
          </a:ln>
        </p:spPr>
        <p:txBody>
          <a:bodyPr spcFirstLastPara="1" wrap="square" lIns="0" tIns="0" rIns="0" bIns="0" anchor="t" anchorCtr="0">
            <a:normAutofit fontScale="92500"/>
          </a:bodyPr>
          <a:lstStyle/>
          <a:p>
            <a:pPr marL="0" lvl="0" indent="0" algn="l" rtl="0">
              <a:lnSpc>
                <a:spcPct val="115000"/>
              </a:lnSpc>
              <a:spcBef>
                <a:spcPts val="1200"/>
              </a:spcBef>
              <a:spcAft>
                <a:spcPts val="0"/>
              </a:spcAft>
              <a:buNone/>
            </a:pPr>
            <a:r>
              <a:rPr lang="en-US" dirty="0"/>
              <a:t>A single decision tree is unstable. Small changes in the training data can produce a completely different tree structure, and that is unreliable for prediction.</a:t>
            </a:r>
            <a:endParaRPr dirty="0"/>
          </a:p>
          <a:p>
            <a:pPr marL="0" lvl="0" indent="0" algn="l" rtl="0">
              <a:lnSpc>
                <a:spcPct val="115000"/>
              </a:lnSpc>
              <a:spcBef>
                <a:spcPts val="1200"/>
              </a:spcBef>
              <a:spcAft>
                <a:spcPts val="0"/>
              </a:spcAft>
              <a:buNone/>
            </a:pPr>
            <a:r>
              <a:rPr lang="en-US" dirty="0"/>
              <a:t>RSF addresses this through three steps.</a:t>
            </a:r>
            <a:endParaRPr dirty="0"/>
          </a:p>
          <a:p>
            <a:pPr marL="0" lvl="0" indent="0" algn="l" rtl="0">
              <a:lnSpc>
                <a:spcPct val="115000"/>
              </a:lnSpc>
              <a:spcBef>
                <a:spcPts val="1200"/>
              </a:spcBef>
              <a:spcAft>
                <a:spcPts val="0"/>
              </a:spcAft>
              <a:buNone/>
            </a:pPr>
            <a:r>
              <a:rPr lang="en-US" dirty="0"/>
              <a:t>First, bootstrap sampling. For each of the 300 trees, RSF draws a different random sample of patients with replacement. About 63% of patients are unique per tree. The 37%^ not sampled are called OOB patients, which provide free built-in validation without needing a separate test set.</a:t>
            </a:r>
            <a:endParaRPr dirty="0"/>
          </a:p>
          <a:p>
            <a:pPr marL="0" lvl="0" indent="0" algn="l" rtl="0">
              <a:lnSpc>
                <a:spcPct val="115000"/>
              </a:lnSpc>
              <a:spcBef>
                <a:spcPts val="1200"/>
              </a:spcBef>
              <a:spcAft>
                <a:spcPts val="0"/>
              </a:spcAft>
              <a:buNone/>
            </a:pPr>
            <a:r>
              <a:rPr lang="en-US" dirty="0"/>
              <a:t>Second, random feature selection. At each node, only square root of p features are considered. This ensures trees differ in 2 ways,  different patients and different features. The result is 300 decorrelated trees that learned slightly different patterns and each made slightly different errors. </a:t>
            </a:r>
          </a:p>
          <a:p>
            <a:pPr marL="0" lvl="0" indent="0" algn="l" rtl="0">
              <a:lnSpc>
                <a:spcPct val="115000"/>
              </a:lnSpc>
              <a:spcBef>
                <a:spcPts val="1200"/>
              </a:spcBef>
              <a:spcAft>
                <a:spcPts val="0"/>
              </a:spcAft>
              <a:buNone/>
            </a:pPr>
            <a:r>
              <a:rPr lang="en-US" dirty="0"/>
              <a:t>Third, ensemble prediction. A new patient is dropped down all 300 trees simultaneously. Each tree assigns them to a terminal leaf and produces a cumulative hazard curve. The 300 curves are averaged into one final ensemble prediction. This curve is then compressed into a single number called predicted mortality, that is by summing the cumulate hazard across all observed death times. Higher predicted mortality means higher risk.</a:t>
            </a:r>
            <a:endParaRPr dirty="0"/>
          </a:p>
          <a:p>
            <a:pPr marL="0" lvl="0" indent="0" algn="l" rtl="0">
              <a:lnSpc>
                <a:spcPct val="115000"/>
              </a:lnSpc>
              <a:spcBef>
                <a:spcPts val="1200"/>
              </a:spcBef>
              <a:spcAft>
                <a:spcPts val="0"/>
              </a:spcAft>
              <a:buNone/>
            </a:pPr>
            <a:r>
              <a:rPr lang="en-US" dirty="0"/>
              <a:t>when you average 300 decorrelated trees, errors cancel out and you get a stable, reliable prediction, like getting independent opinions from 300 doctors and taking the average. </a:t>
            </a:r>
            <a:endParaRPr dirty="0"/>
          </a:p>
          <a:p>
            <a:pPr marL="0" lvl="0" indent="0" algn="l" rtl="0">
              <a:lnSpc>
                <a:spcPct val="115000"/>
              </a:lnSpc>
              <a:spcBef>
                <a:spcPts val="1200"/>
              </a:spcBef>
              <a:spcAft>
                <a:spcPts val="0"/>
              </a:spcAft>
              <a:buClr>
                <a:schemeClr val="dk1"/>
              </a:buClr>
              <a:buSzPts val="1100"/>
              <a:buFont typeface="Arial"/>
              <a:buNone/>
            </a:pPr>
            <a:endParaRPr dirty="0"/>
          </a:p>
          <a:p>
            <a:pPr marL="0" lvl="0" indent="0" algn="l" rtl="0">
              <a:spcBef>
                <a:spcPts val="1200"/>
              </a:spcBef>
              <a:spcAft>
                <a:spcPts val="0"/>
              </a:spcAft>
              <a:buNone/>
            </a:pPr>
            <a:endParaRPr dirty="0"/>
          </a:p>
        </p:txBody>
      </p:sp>
      <p:cxnSp>
        <p:nvCxnSpPr>
          <p:cNvPr id="253" name="Google Shape;253;g3eb783fec72_0_1948:notes"/>
          <p:cNvCxnSpPr/>
          <p:nvPr/>
        </p:nvCxnSpPr>
        <p:spPr>
          <a:xfrm>
            <a:off x="455585" y="8795705"/>
            <a:ext cx="5943600" cy="0"/>
          </a:xfrm>
          <a:prstGeom prst="straightConnector1">
            <a:avLst/>
          </a:prstGeom>
          <a:noFill/>
          <a:ln w="9525" cap="flat" cmpd="sng">
            <a:solidFill>
              <a:schemeClr val="dk1"/>
            </a:solidFill>
            <a:prstDash val="solid"/>
            <a:round/>
            <a:headEnd type="none" w="sm" len="sm"/>
            <a:tailEnd type="none" w="sm" len="sm"/>
          </a:ln>
        </p:spPr>
      </p:cxnSp>
      <p:pic>
        <p:nvPicPr>
          <p:cNvPr id="254" name="Google Shape;254;g3eb783fec72_0_1948:notes"/>
          <p:cNvPicPr preferRelativeResize="0"/>
          <p:nvPr/>
        </p:nvPicPr>
        <p:blipFill rotWithShape="1">
          <a:blip r:embed="rId3">
            <a:alphaModFix/>
          </a:blip>
          <a:srcRect/>
          <a:stretch/>
        </p:blipFill>
        <p:spPr>
          <a:xfrm>
            <a:off x="5802407" y="8866372"/>
            <a:ext cx="599981" cy="291168"/>
          </a:xfrm>
          <a:prstGeom prst="rect">
            <a:avLst/>
          </a:prstGeom>
          <a:noFill/>
          <a:ln>
            <a:noFill/>
          </a:ln>
        </p:spPr>
      </p:pic>
      <p:sp>
        <p:nvSpPr>
          <p:cNvPr id="255" name="Google Shape;255;g3eb783fec72_0_1948:notes"/>
          <p:cNvSpPr txBox="1">
            <a:spLocks noGrp="1"/>
          </p:cNvSpPr>
          <p:nvPr>
            <p:ph type="sldNum" idx="12"/>
          </p:nvPr>
        </p:nvSpPr>
        <p:spPr>
          <a:xfrm>
            <a:off x="403350" y="8880855"/>
            <a:ext cx="281100" cy="1053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endParaRPr/>
          </a:p>
        </p:txBody>
      </p:sp>
      <p:sp>
        <p:nvSpPr>
          <p:cNvPr id="256" name="Google Shape;256;g3eb783fec72_0_1948:notes"/>
          <p:cNvSpPr txBox="1">
            <a:spLocks noGrp="1"/>
          </p:cNvSpPr>
          <p:nvPr>
            <p:ph type="ftr" idx="11"/>
          </p:nvPr>
        </p:nvSpPr>
        <p:spPr>
          <a:xfrm>
            <a:off x="636536" y="8821324"/>
            <a:ext cx="2971800" cy="131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g3eb783fec72_0_1948:notes"/>
          <p:cNvSpPr txBox="1">
            <a:spLocks noGrp="1"/>
          </p:cNvSpPr>
          <p:nvPr>
            <p:ph type="dt" idx="10"/>
          </p:nvPr>
        </p:nvSpPr>
        <p:spPr>
          <a:xfrm>
            <a:off x="3884613" y="3"/>
            <a:ext cx="2971800" cy="4668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eb783fec72_0_2663:notes"/>
          <p:cNvSpPr>
            <a:spLocks noGrp="1" noRot="1" noChangeAspect="1"/>
          </p:cNvSpPr>
          <p:nvPr>
            <p:ph type="sldImg" idx="2"/>
          </p:nvPr>
        </p:nvSpPr>
        <p:spPr>
          <a:xfrm>
            <a:off x="412750" y="400050"/>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eb783fec72_0_2663:notes"/>
          <p:cNvSpPr txBox="1">
            <a:spLocks noGrp="1"/>
          </p:cNvSpPr>
          <p:nvPr>
            <p:ph type="body" idx="1"/>
          </p:nvPr>
        </p:nvSpPr>
        <p:spPr>
          <a:xfrm>
            <a:off x="441268" y="4080297"/>
            <a:ext cx="5961000" cy="4480500"/>
          </a:xfrm>
          <a:prstGeom prst="rect">
            <a:avLst/>
          </a:prstGeom>
        </p:spPr>
        <p:txBody>
          <a:bodyPr spcFirstLastPara="1" wrap="square" lIns="0" tIns="0" rIns="0" bIns="0" anchor="t" anchorCtr="0">
            <a:noAutofit/>
          </a:bodyPr>
          <a:lstStyle/>
          <a:p>
            <a:pPr marL="0" lvl="0" indent="0" algn="l" rtl="0">
              <a:spcBef>
                <a:spcPts val="800"/>
              </a:spcBef>
              <a:spcAft>
                <a:spcPts val="0"/>
              </a:spcAft>
              <a:buNone/>
            </a:pPr>
            <a:r>
              <a:rPr lang="en-US" dirty="0"/>
              <a:t>RSF performs best under 3 conditions.</a:t>
            </a:r>
          </a:p>
          <a:p>
            <a:pPr marL="0" marR="0" lvl="0" indent="0" algn="l" defTabSz="914400" rtl="0" eaLnBrk="1" fontAlgn="auto" latinLnBrk="0" hangingPunct="1">
              <a:lnSpc>
                <a:spcPct val="100000"/>
              </a:lnSpc>
              <a:spcBef>
                <a:spcPts val="800"/>
              </a:spcBef>
              <a:spcAft>
                <a:spcPts val="0"/>
              </a:spcAft>
              <a:buClr>
                <a:srgbClr val="178CCB"/>
              </a:buClr>
              <a:buSzPts val="1200"/>
              <a:buFont typeface="Arial"/>
              <a:buNone/>
              <a:tabLst/>
              <a:defRPr/>
            </a:pPr>
            <a:r>
              <a:rPr lang="en-US" dirty="0"/>
              <a:t>First,  when the proportional hazards assumption is violated, In our CaPSURE dataset, we actually had 3 proportional hazard violations: treatment modality, age at FFQ, and years from diagnosis to FFQ all had statistically significant Schoenfeld residuals. So RSF was theoretically well-motivated. </a:t>
            </a:r>
          </a:p>
          <a:p>
            <a:pPr marL="0" lvl="0" indent="0" algn="l" rtl="0">
              <a:spcBef>
                <a:spcPts val="800"/>
              </a:spcBef>
              <a:spcAft>
                <a:spcPts val="0"/>
              </a:spcAft>
              <a:buNone/>
            </a:pPr>
            <a:r>
              <a:rPr lang="en-US" dirty="0"/>
              <a:t>Second, when relationships between covariates and survival are nonlinear or involve interactions. RSF captures these automatically without needing pre-specification, unlike cox which requires you to specify splines or  interaction terms manually.</a:t>
            </a:r>
          </a:p>
          <a:p>
            <a:pPr marL="0" lvl="0" indent="0" algn="l" rtl="0">
              <a:spcBef>
                <a:spcPts val="800"/>
              </a:spcBef>
              <a:spcAft>
                <a:spcPts val="0"/>
              </a:spcAft>
              <a:buNone/>
            </a:pPr>
            <a:r>
              <a:rPr lang="en-US" dirty="0"/>
              <a:t>Third,  when sample size is large and censoring is low. More observed events per node means better log-rank splits and more stable trees. </a:t>
            </a:r>
            <a:endParaRPr dirty="0"/>
          </a:p>
          <a:p>
            <a:pPr marL="0" lvl="0" indent="0" algn="l" rtl="0">
              <a:spcBef>
                <a:spcPts val="800"/>
              </a:spcBef>
              <a:spcAft>
                <a:spcPts val="0"/>
              </a:spcAft>
              <a:buNone/>
            </a:pPr>
            <a:endParaRPr dirty="0"/>
          </a:p>
        </p:txBody>
      </p:sp>
      <p:sp>
        <p:nvSpPr>
          <p:cNvPr id="266" name="Google Shape;266;g3eb783fec72_0_2663:notes"/>
          <p:cNvSpPr txBox="1">
            <a:spLocks noGrp="1"/>
          </p:cNvSpPr>
          <p:nvPr>
            <p:ph type="sldNum" idx="12"/>
          </p:nvPr>
        </p:nvSpPr>
        <p:spPr>
          <a:xfrm>
            <a:off x="403350" y="8880855"/>
            <a:ext cx="281100" cy="105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eb783fec72_93_282:notes"/>
          <p:cNvSpPr>
            <a:spLocks noGrp="1" noRot="1" noChangeAspect="1"/>
          </p:cNvSpPr>
          <p:nvPr>
            <p:ph type="sldImg" idx="2"/>
          </p:nvPr>
        </p:nvSpPr>
        <p:spPr>
          <a:xfrm>
            <a:off x="412750" y="400050"/>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eb783fec72_93_282:notes"/>
          <p:cNvSpPr txBox="1">
            <a:spLocks noGrp="1"/>
          </p:cNvSpPr>
          <p:nvPr>
            <p:ph type="body" idx="1"/>
          </p:nvPr>
        </p:nvSpPr>
        <p:spPr>
          <a:xfrm>
            <a:off x="441268" y="4080297"/>
            <a:ext cx="5961000" cy="4480500"/>
          </a:xfrm>
          <a:prstGeom prst="rect">
            <a:avLst/>
          </a:prstGeom>
        </p:spPr>
        <p:txBody>
          <a:bodyPr spcFirstLastPara="1" wrap="square" lIns="0" tIns="0" rIns="0" bIns="0" anchor="t" anchorCtr="0">
            <a:noAutofit/>
          </a:bodyPr>
          <a:lstStyle/>
          <a:p>
            <a:pPr marL="0" lvl="0" indent="0" algn="l" rtl="0">
              <a:spcBef>
                <a:spcPts val="800"/>
              </a:spcBef>
              <a:spcAft>
                <a:spcPts val="0"/>
              </a:spcAft>
              <a:buClr>
                <a:schemeClr val="dk1"/>
              </a:buClr>
              <a:buSzPts val="1100"/>
              <a:buFont typeface="Arial"/>
              <a:buNone/>
            </a:pPr>
            <a:r>
              <a:rPr lang="en-US" dirty="0"/>
              <a:t>However, RSF also struggles at high censoring rates. The log-rank splitting criterion depends on observed deaths to measure survival differences between groups. In our dataset, 61.8% of the patients are censored, with fewer deaths per node, the log-rank statistic has less signal to work with. Splits become nosier, trees become less stable, and the ensemble weakens. Berkowitz et al confirmed this in a 2024 simulation study, and log-rank RSF performed consistently below average at high censoring rates across many different data settings. The recommended Rotation survival forest, which applies PCA to covariate subsets before observed events. However, this will be a future direction for our analysis. </a:t>
            </a:r>
            <a:endParaRPr dirty="0"/>
          </a:p>
        </p:txBody>
      </p:sp>
      <p:sp>
        <p:nvSpPr>
          <p:cNvPr id="276" name="Google Shape;276;g3eb783fec72_93_282:notes"/>
          <p:cNvSpPr txBox="1">
            <a:spLocks noGrp="1"/>
          </p:cNvSpPr>
          <p:nvPr>
            <p:ph type="sldNum" idx="12"/>
          </p:nvPr>
        </p:nvSpPr>
        <p:spPr>
          <a:xfrm>
            <a:off x="403350" y="8880855"/>
            <a:ext cx="281100" cy="105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eb783fec72_0_2473:notes"/>
          <p:cNvSpPr>
            <a:spLocks noGrp="1" noRot="1" noChangeAspect="1"/>
          </p:cNvSpPr>
          <p:nvPr>
            <p:ph type="sldImg" idx="2"/>
          </p:nvPr>
        </p:nvSpPr>
        <p:spPr>
          <a:xfrm>
            <a:off x="412750" y="400050"/>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g3eb783fec72_0_2473:notes"/>
          <p:cNvSpPr txBox="1">
            <a:spLocks noGrp="1"/>
          </p:cNvSpPr>
          <p:nvPr>
            <p:ph type="body" idx="1"/>
          </p:nvPr>
        </p:nvSpPr>
        <p:spPr>
          <a:xfrm>
            <a:off x="441268" y="4080297"/>
            <a:ext cx="5961000" cy="4480500"/>
          </a:xfrm>
          <a:prstGeom prst="rect">
            <a:avLst/>
          </a:prstGeom>
          <a:noFill/>
          <a:ln>
            <a:noFill/>
          </a:ln>
        </p:spPr>
        <p:txBody>
          <a:bodyPr spcFirstLastPara="1" wrap="square" lIns="0" tIns="0" rIns="0" bIns="0" anchor="t" anchorCtr="0">
            <a:normAutofit/>
          </a:bodyPr>
          <a:lstStyle/>
          <a:p>
            <a:pPr marL="0" lvl="0" indent="0" algn="l" rtl="0">
              <a:spcBef>
                <a:spcPts val="800"/>
              </a:spcBef>
              <a:spcAft>
                <a:spcPts val="0"/>
              </a:spcAft>
              <a:buClr>
                <a:schemeClr val="dk1"/>
              </a:buClr>
              <a:buSzPts val="1100"/>
              <a:buFont typeface="Arial"/>
              <a:buNone/>
            </a:pPr>
            <a:r>
              <a:rPr lang="en-US" dirty="0"/>
              <a:t>I will briefly show the results from our CaPSURE analysis. We had 1813 prostate cancer survivors, 693 deaths, a 38.2% event rate, and 61.8% censoring over a median follow-up of 6 years.</a:t>
            </a:r>
            <a:endParaRPr dirty="0"/>
          </a:p>
          <a:p>
            <a:pPr marL="0" lvl="0" indent="0" algn="l" rtl="0">
              <a:spcBef>
                <a:spcPts val="800"/>
              </a:spcBef>
              <a:spcAft>
                <a:spcPts val="0"/>
              </a:spcAft>
              <a:buClr>
                <a:schemeClr val="dk1"/>
              </a:buClr>
              <a:buSzPts val="1100"/>
              <a:buFont typeface="Arial"/>
              <a:buNone/>
            </a:pPr>
            <a:r>
              <a:rPr lang="en-US" dirty="0"/>
              <a:t>We evaluated models using 2 metrics. The C-index, which is Harrell’s concordance index, it measures discrimination of the model . It is the probability that for a randomly selected pair of patients, the one who died first had the higher predicted risk score. It ranges from 0.5 which is random prediction to 1.0 which is perfect. The Integrated Brier Score measures calibration, which is how close predicted survival probabilities are to actual outcomes. Lower is better. A null model that predicts 50% survival for everyone scores 0.25 so both our models are well above that. </a:t>
            </a:r>
          </a:p>
          <a:p>
            <a:pPr marL="0" lvl="0" indent="0" algn="l" rtl="0">
              <a:spcBef>
                <a:spcPts val="800"/>
              </a:spcBef>
              <a:spcAft>
                <a:spcPts val="0"/>
              </a:spcAft>
              <a:buClr>
                <a:schemeClr val="dk1"/>
              </a:buClr>
              <a:buSzPts val="1100"/>
              <a:buFont typeface="Arial"/>
              <a:buNone/>
            </a:pPr>
            <a:r>
              <a:rPr lang="en-US" dirty="0"/>
              <a:t>Cox PH achieved a C-index of 0.705 and IBS of 0.111. RSF achieved 0.698 and 0.116. Both metrics tell the same story, that cox marginally outperformed RSF. </a:t>
            </a:r>
            <a:endParaRPr dirty="0"/>
          </a:p>
          <a:p>
            <a:pPr marL="0" lvl="0" indent="0" algn="l" rtl="0">
              <a:spcBef>
                <a:spcPts val="800"/>
              </a:spcBef>
              <a:spcAft>
                <a:spcPts val="0"/>
              </a:spcAft>
              <a:buClr>
                <a:schemeClr val="dk1"/>
              </a:buClr>
              <a:buSzPts val="1100"/>
              <a:buFont typeface="Arial"/>
              <a:buNone/>
            </a:pPr>
            <a:r>
              <a:rPr lang="en-US" dirty="0"/>
              <a:t>The explanation here is first, Martingale residual analysis showed the PDI-ACM relationship is approximately linear, so RSF’s ability to capture nonlinear effect was not very effective here. Second, the 61.8% censoring rate attenuated RSF’s performance. RSF variable importance showed age at FFQ completion dominated ACM prediction, confirming this population died primarily from age-related causes, not cancer. PDI ranked 12th and is consistent with the Cox Hazard ratio of 0.983 (10-unit increment will be 0.844). RSF and Cox are complementary tools. Cox gives interpretable hazard ratios. RSF gives you model-agnostic variable importance with no distributional assumptions. </a:t>
            </a:r>
            <a:endParaRPr dirty="0"/>
          </a:p>
        </p:txBody>
      </p:sp>
      <p:cxnSp>
        <p:nvCxnSpPr>
          <p:cNvPr id="286" name="Google Shape;286;g3eb783fec72_0_2473:notes"/>
          <p:cNvCxnSpPr/>
          <p:nvPr/>
        </p:nvCxnSpPr>
        <p:spPr>
          <a:xfrm>
            <a:off x="455585" y="8795705"/>
            <a:ext cx="5943600" cy="0"/>
          </a:xfrm>
          <a:prstGeom prst="straightConnector1">
            <a:avLst/>
          </a:prstGeom>
          <a:noFill/>
          <a:ln w="9525" cap="flat" cmpd="sng">
            <a:solidFill>
              <a:schemeClr val="dk1"/>
            </a:solidFill>
            <a:prstDash val="solid"/>
            <a:round/>
            <a:headEnd type="none" w="sm" len="sm"/>
            <a:tailEnd type="none" w="sm" len="sm"/>
          </a:ln>
        </p:spPr>
      </p:cxnSp>
      <p:pic>
        <p:nvPicPr>
          <p:cNvPr id="287" name="Google Shape;287;g3eb783fec72_0_2473:notes"/>
          <p:cNvPicPr preferRelativeResize="0"/>
          <p:nvPr/>
        </p:nvPicPr>
        <p:blipFill rotWithShape="1">
          <a:blip r:embed="rId3">
            <a:alphaModFix/>
          </a:blip>
          <a:srcRect/>
          <a:stretch/>
        </p:blipFill>
        <p:spPr>
          <a:xfrm>
            <a:off x="5802407" y="8866372"/>
            <a:ext cx="599981" cy="291168"/>
          </a:xfrm>
          <a:prstGeom prst="rect">
            <a:avLst/>
          </a:prstGeom>
          <a:noFill/>
          <a:ln>
            <a:noFill/>
          </a:ln>
        </p:spPr>
      </p:pic>
      <p:sp>
        <p:nvSpPr>
          <p:cNvPr id="288" name="Google Shape;288;g3eb783fec72_0_2473:notes"/>
          <p:cNvSpPr txBox="1">
            <a:spLocks noGrp="1"/>
          </p:cNvSpPr>
          <p:nvPr>
            <p:ph type="sldNum" idx="12"/>
          </p:nvPr>
        </p:nvSpPr>
        <p:spPr>
          <a:xfrm>
            <a:off x="403350" y="8880855"/>
            <a:ext cx="281100" cy="1053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endParaRPr/>
          </a:p>
        </p:txBody>
      </p:sp>
      <p:sp>
        <p:nvSpPr>
          <p:cNvPr id="289" name="Google Shape;289;g3eb783fec72_0_2473:notes"/>
          <p:cNvSpPr txBox="1">
            <a:spLocks noGrp="1"/>
          </p:cNvSpPr>
          <p:nvPr>
            <p:ph type="ftr" idx="11"/>
          </p:nvPr>
        </p:nvSpPr>
        <p:spPr>
          <a:xfrm>
            <a:off x="636536" y="8821324"/>
            <a:ext cx="2971800" cy="131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g3eb783fec72_0_2473:notes"/>
          <p:cNvSpPr txBox="1">
            <a:spLocks noGrp="1"/>
          </p:cNvSpPr>
          <p:nvPr>
            <p:ph type="dt" idx="10"/>
          </p:nvPr>
        </p:nvSpPr>
        <p:spPr>
          <a:xfrm>
            <a:off x="3884613" y="3"/>
            <a:ext cx="2971800" cy="4668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eb783fec72_93_388:notes"/>
          <p:cNvSpPr>
            <a:spLocks noGrp="1" noRot="1" noChangeAspect="1"/>
          </p:cNvSpPr>
          <p:nvPr>
            <p:ph type="sldImg" idx="2"/>
          </p:nvPr>
        </p:nvSpPr>
        <p:spPr>
          <a:xfrm>
            <a:off x="412750" y="400050"/>
            <a:ext cx="6197700" cy="3486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eb783fec72_93_388:notes"/>
          <p:cNvSpPr txBox="1">
            <a:spLocks noGrp="1"/>
          </p:cNvSpPr>
          <p:nvPr>
            <p:ph type="body" idx="1"/>
          </p:nvPr>
        </p:nvSpPr>
        <p:spPr>
          <a:xfrm>
            <a:off x="441268" y="4080297"/>
            <a:ext cx="5961000" cy="4480500"/>
          </a:xfrm>
          <a:prstGeom prst="rect">
            <a:avLst/>
          </a:prstGeom>
        </p:spPr>
        <p:txBody>
          <a:bodyPr spcFirstLastPara="1" wrap="square" lIns="0" tIns="0" rIns="0" bIns="0" anchor="t" anchorCtr="0">
            <a:noAutofit/>
          </a:bodyPr>
          <a:lstStyle/>
          <a:p>
            <a:pPr marL="0" lvl="0" indent="0" algn="l" rtl="0">
              <a:spcBef>
                <a:spcPts val="800"/>
              </a:spcBef>
              <a:spcAft>
                <a:spcPts val="0"/>
              </a:spcAft>
              <a:buNone/>
            </a:pPr>
            <a:endParaRPr dirty="0"/>
          </a:p>
        </p:txBody>
      </p:sp>
      <p:sp>
        <p:nvSpPr>
          <p:cNvPr id="335" name="Google Shape;335;g3eb783fec72_93_388:notes"/>
          <p:cNvSpPr txBox="1">
            <a:spLocks noGrp="1"/>
          </p:cNvSpPr>
          <p:nvPr>
            <p:ph type="sldNum" idx="12"/>
          </p:nvPr>
        </p:nvSpPr>
        <p:spPr>
          <a:xfrm>
            <a:off x="403350" y="8880855"/>
            <a:ext cx="281100" cy="105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 4 – Navy">
  <p:cSld name="Cover 4 – Navy">
    <p:bg>
      <p:bgPr>
        <a:solidFill>
          <a:schemeClr val="dk2"/>
        </a:solidFill>
        <a:effectLst/>
      </p:bgPr>
    </p:bg>
    <p:spTree>
      <p:nvGrpSpPr>
        <p:cNvPr id="1" name="Shape 18"/>
        <p:cNvGrpSpPr/>
        <p:nvPr/>
      </p:nvGrpSpPr>
      <p:grpSpPr>
        <a:xfrm>
          <a:off x="0" y="0"/>
          <a:ext cx="0" cy="0"/>
          <a:chOff x="0" y="0"/>
          <a:chExt cx="0" cy="0"/>
        </a:xfrm>
      </p:grpSpPr>
      <p:sp>
        <p:nvSpPr>
          <p:cNvPr id="19" name="Google Shape;19;p74"/>
          <p:cNvSpPr txBox="1">
            <a:spLocks noGrp="1"/>
          </p:cNvSpPr>
          <p:nvPr>
            <p:ph type="title"/>
          </p:nvPr>
        </p:nvSpPr>
        <p:spPr>
          <a:xfrm>
            <a:off x="338328" y="1646422"/>
            <a:ext cx="6437410" cy="1311963"/>
          </a:xfrm>
          <a:prstGeom prst="rect">
            <a:avLst/>
          </a:prstGeom>
          <a:noFill/>
          <a:ln>
            <a:noFill/>
          </a:ln>
        </p:spPr>
        <p:txBody>
          <a:bodyPr spcFirstLastPara="1" wrap="square" lIns="0" tIns="45700" rIns="91425" bIns="0" anchor="b" anchorCtr="0">
            <a:noAutofit/>
          </a:bodyPr>
          <a:lstStyle>
            <a:lvl1pPr lvl="0" algn="l">
              <a:lnSpc>
                <a:spcPct val="85000"/>
              </a:lnSpc>
              <a:spcBef>
                <a:spcPts val="0"/>
              </a:spcBef>
              <a:spcAft>
                <a:spcPts val="0"/>
              </a:spcAft>
              <a:buClr>
                <a:schemeClr val="lt1"/>
              </a:buClr>
              <a:buSzPts val="3600"/>
              <a:buFont typeface="Times New Roman"/>
              <a:buNone/>
              <a:defRPr sz="3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74"/>
          <p:cNvSpPr txBox="1">
            <a:spLocks noGrp="1"/>
          </p:cNvSpPr>
          <p:nvPr>
            <p:ph type="body" idx="1"/>
          </p:nvPr>
        </p:nvSpPr>
        <p:spPr>
          <a:xfrm>
            <a:off x="338328" y="3044526"/>
            <a:ext cx="6432731" cy="50822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lt1"/>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21" name="Google Shape;21;p74"/>
          <p:cNvSpPr txBox="1">
            <a:spLocks noGrp="1"/>
          </p:cNvSpPr>
          <p:nvPr>
            <p:ph type="body" idx="2"/>
          </p:nvPr>
        </p:nvSpPr>
        <p:spPr>
          <a:xfrm>
            <a:off x="338328" y="4120016"/>
            <a:ext cx="4191461" cy="426719"/>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lt1"/>
                </a:solidFil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22" name="Google Shape;22;p74"/>
          <p:cNvSpPr txBox="1">
            <a:spLocks noGrp="1"/>
          </p:cNvSpPr>
          <p:nvPr>
            <p:ph type="dt" idx="10"/>
          </p:nvPr>
        </p:nvSpPr>
        <p:spPr>
          <a:xfrm>
            <a:off x="338328" y="4634178"/>
            <a:ext cx="1925338" cy="178955"/>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23" name="Google Shape;23;p74"/>
          <p:cNvSpPr/>
          <p:nvPr/>
        </p:nvSpPr>
        <p:spPr>
          <a:xfrm rot="5400000">
            <a:off x="2622550" y="-1377949"/>
            <a:ext cx="5143500" cy="7899400"/>
          </a:xfrm>
          <a:prstGeom prst="rect">
            <a:avLst/>
          </a:prstGeom>
          <a:noFill/>
          <a:ln>
            <a:noFill/>
          </a:ln>
        </p:spPr>
      </p:sp>
      <p:pic>
        <p:nvPicPr>
          <p:cNvPr id="24" name="Google Shape;24;p74"/>
          <p:cNvPicPr preferRelativeResize="0"/>
          <p:nvPr/>
        </p:nvPicPr>
        <p:blipFill rotWithShape="1">
          <a:blip>
            <a:alphaModFix/>
          </a:blip>
          <a:srcRect/>
          <a:stretch/>
        </p:blipFill>
        <p:spPr>
          <a:xfrm>
            <a:off x="335411" y="303864"/>
            <a:ext cx="977866" cy="977866"/>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Cover 3 – Blue">
  <p:cSld name="Cover 3 – Blue">
    <p:bg>
      <p:bgPr>
        <a:solidFill>
          <a:schemeClr val="accent1"/>
        </a:solidFill>
        <a:effectLst/>
      </p:bgPr>
    </p:bg>
    <p:spTree>
      <p:nvGrpSpPr>
        <p:cNvPr id="1" name="Shape 25"/>
        <p:cNvGrpSpPr/>
        <p:nvPr/>
      </p:nvGrpSpPr>
      <p:grpSpPr>
        <a:xfrm>
          <a:off x="0" y="0"/>
          <a:ext cx="0" cy="0"/>
          <a:chOff x="0" y="0"/>
          <a:chExt cx="0" cy="0"/>
        </a:xfrm>
      </p:grpSpPr>
      <p:sp>
        <p:nvSpPr>
          <p:cNvPr id="26" name="Google Shape;26;p76"/>
          <p:cNvSpPr txBox="1">
            <a:spLocks noGrp="1"/>
          </p:cNvSpPr>
          <p:nvPr>
            <p:ph type="title"/>
          </p:nvPr>
        </p:nvSpPr>
        <p:spPr>
          <a:xfrm>
            <a:off x="337463" y="1649297"/>
            <a:ext cx="6437410" cy="1311963"/>
          </a:xfrm>
          <a:prstGeom prst="rect">
            <a:avLst/>
          </a:prstGeom>
          <a:noFill/>
          <a:ln>
            <a:noFill/>
          </a:ln>
        </p:spPr>
        <p:txBody>
          <a:bodyPr spcFirstLastPara="1" wrap="square" lIns="0" tIns="45700" rIns="91425" bIns="0" anchor="b" anchorCtr="0">
            <a:noAutofit/>
          </a:bodyPr>
          <a:lstStyle>
            <a:lvl1pPr lvl="0" algn="l">
              <a:lnSpc>
                <a:spcPct val="85000"/>
              </a:lnSpc>
              <a:spcBef>
                <a:spcPts val="0"/>
              </a:spcBef>
              <a:spcAft>
                <a:spcPts val="0"/>
              </a:spcAft>
              <a:buClr>
                <a:schemeClr val="lt1"/>
              </a:buClr>
              <a:buSzPts val="3600"/>
              <a:buFont typeface="Times New Roman"/>
              <a:buNone/>
              <a:defRPr sz="3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76"/>
          <p:cNvSpPr txBox="1">
            <a:spLocks noGrp="1"/>
          </p:cNvSpPr>
          <p:nvPr>
            <p:ph type="body" idx="1"/>
          </p:nvPr>
        </p:nvSpPr>
        <p:spPr>
          <a:xfrm>
            <a:off x="341081" y="3047401"/>
            <a:ext cx="6432731" cy="50822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lt1"/>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28" name="Google Shape;28;p76"/>
          <p:cNvSpPr txBox="1">
            <a:spLocks noGrp="1"/>
          </p:cNvSpPr>
          <p:nvPr>
            <p:ph type="body" idx="2"/>
          </p:nvPr>
        </p:nvSpPr>
        <p:spPr>
          <a:xfrm>
            <a:off x="338328" y="4120016"/>
            <a:ext cx="4191461" cy="426719"/>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lt1"/>
                </a:solidFil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29" name="Google Shape;29;p76"/>
          <p:cNvSpPr txBox="1">
            <a:spLocks noGrp="1"/>
          </p:cNvSpPr>
          <p:nvPr>
            <p:ph type="dt" idx="10"/>
          </p:nvPr>
        </p:nvSpPr>
        <p:spPr>
          <a:xfrm>
            <a:off x="338328" y="4634178"/>
            <a:ext cx="1925338" cy="178955"/>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30" name="Google Shape;30;p76"/>
          <p:cNvSpPr/>
          <p:nvPr/>
        </p:nvSpPr>
        <p:spPr>
          <a:xfrm rot="5400000">
            <a:off x="3213909" y="-786591"/>
            <a:ext cx="5143498" cy="6716684"/>
          </a:xfrm>
          <a:prstGeom prst="rect">
            <a:avLst/>
          </a:prstGeom>
          <a:noFill/>
          <a:ln>
            <a:noFill/>
          </a:ln>
        </p:spPr>
      </p:sp>
      <p:pic>
        <p:nvPicPr>
          <p:cNvPr id="31" name="Google Shape;31;p76"/>
          <p:cNvPicPr preferRelativeResize="0"/>
          <p:nvPr/>
        </p:nvPicPr>
        <p:blipFill rotWithShape="1">
          <a:blip>
            <a:alphaModFix/>
          </a:blip>
          <a:srcRect/>
          <a:stretch/>
        </p:blipFill>
        <p:spPr>
          <a:xfrm>
            <a:off x="335411" y="303864"/>
            <a:ext cx="977866" cy="977866"/>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ver 3 – Teal">
  <p:cSld name="Cover 3 – Teal">
    <p:bg>
      <p:bgPr>
        <a:solidFill>
          <a:schemeClr val="accent2"/>
        </a:solidFill>
        <a:effectLst/>
      </p:bgPr>
    </p:bg>
    <p:spTree>
      <p:nvGrpSpPr>
        <p:cNvPr id="1" name="Shape 32"/>
        <p:cNvGrpSpPr/>
        <p:nvPr/>
      </p:nvGrpSpPr>
      <p:grpSpPr>
        <a:xfrm>
          <a:off x="0" y="0"/>
          <a:ext cx="0" cy="0"/>
          <a:chOff x="0" y="0"/>
          <a:chExt cx="0" cy="0"/>
        </a:xfrm>
      </p:grpSpPr>
      <p:sp>
        <p:nvSpPr>
          <p:cNvPr id="33" name="Google Shape;33;p78"/>
          <p:cNvSpPr txBox="1">
            <a:spLocks noGrp="1"/>
          </p:cNvSpPr>
          <p:nvPr>
            <p:ph type="title"/>
          </p:nvPr>
        </p:nvSpPr>
        <p:spPr>
          <a:xfrm>
            <a:off x="338328" y="1647442"/>
            <a:ext cx="6437410" cy="1311963"/>
          </a:xfrm>
          <a:prstGeom prst="rect">
            <a:avLst/>
          </a:prstGeom>
          <a:noFill/>
          <a:ln>
            <a:noFill/>
          </a:ln>
        </p:spPr>
        <p:txBody>
          <a:bodyPr spcFirstLastPara="1" wrap="square" lIns="0" tIns="45700" rIns="91425" bIns="0" anchor="b" anchorCtr="0">
            <a:noAutofit/>
          </a:bodyPr>
          <a:lstStyle>
            <a:lvl1pPr lvl="0" algn="l">
              <a:lnSpc>
                <a:spcPct val="85000"/>
              </a:lnSpc>
              <a:spcBef>
                <a:spcPts val="0"/>
              </a:spcBef>
              <a:spcAft>
                <a:spcPts val="0"/>
              </a:spcAft>
              <a:buClr>
                <a:schemeClr val="lt1"/>
              </a:buClr>
              <a:buSzPts val="3600"/>
              <a:buFont typeface="Times New Roman"/>
              <a:buNone/>
              <a:defRPr sz="3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78"/>
          <p:cNvSpPr txBox="1">
            <a:spLocks noGrp="1"/>
          </p:cNvSpPr>
          <p:nvPr>
            <p:ph type="body" idx="1"/>
          </p:nvPr>
        </p:nvSpPr>
        <p:spPr>
          <a:xfrm>
            <a:off x="338328" y="3045546"/>
            <a:ext cx="6432731" cy="50822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lt1"/>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35" name="Google Shape;35;p78"/>
          <p:cNvSpPr txBox="1">
            <a:spLocks noGrp="1"/>
          </p:cNvSpPr>
          <p:nvPr>
            <p:ph type="body" idx="2"/>
          </p:nvPr>
        </p:nvSpPr>
        <p:spPr>
          <a:xfrm>
            <a:off x="338328" y="4120016"/>
            <a:ext cx="4191461" cy="426719"/>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lt1"/>
                </a:solidFil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36" name="Google Shape;36;p78"/>
          <p:cNvSpPr txBox="1">
            <a:spLocks noGrp="1"/>
          </p:cNvSpPr>
          <p:nvPr>
            <p:ph type="dt" idx="10"/>
          </p:nvPr>
        </p:nvSpPr>
        <p:spPr>
          <a:xfrm>
            <a:off x="338328" y="4634178"/>
            <a:ext cx="1925338" cy="178955"/>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pic>
        <p:nvPicPr>
          <p:cNvPr id="37" name="Google Shape;37;p78"/>
          <p:cNvPicPr preferRelativeResize="0"/>
          <p:nvPr/>
        </p:nvPicPr>
        <p:blipFill rotWithShape="1">
          <a:blip>
            <a:alphaModFix amt="25000"/>
          </a:blip>
          <a:srcRect b="-8148"/>
          <a:stretch/>
        </p:blipFill>
        <p:spPr>
          <a:xfrm rot="10800000">
            <a:off x="2413325" y="62568"/>
            <a:ext cx="6730677" cy="1959529"/>
          </a:xfrm>
          <a:prstGeom prst="rect">
            <a:avLst/>
          </a:prstGeom>
          <a:noFill/>
          <a:ln>
            <a:noFill/>
          </a:ln>
        </p:spPr>
      </p:pic>
      <p:pic>
        <p:nvPicPr>
          <p:cNvPr id="38" name="Google Shape;38;p78"/>
          <p:cNvPicPr preferRelativeResize="0"/>
          <p:nvPr/>
        </p:nvPicPr>
        <p:blipFill rotWithShape="1">
          <a:blip>
            <a:alphaModFix/>
          </a:blip>
          <a:srcRect/>
          <a:stretch/>
        </p:blipFill>
        <p:spPr>
          <a:xfrm>
            <a:off x="335411" y="303864"/>
            <a:ext cx="977866" cy="977866"/>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ver 3 – White">
  <p:cSld name="Cover 3 – White">
    <p:bg>
      <p:bgPr>
        <a:solidFill>
          <a:schemeClr val="lt2"/>
        </a:solidFill>
        <a:effectLst/>
      </p:bgPr>
    </p:bg>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337463" y="1642974"/>
            <a:ext cx="6437410" cy="1311963"/>
          </a:xfrm>
          <a:prstGeom prst="rect">
            <a:avLst/>
          </a:prstGeom>
          <a:noFill/>
          <a:ln>
            <a:noFill/>
          </a:ln>
        </p:spPr>
        <p:txBody>
          <a:bodyPr spcFirstLastPara="1" wrap="square" lIns="0" tIns="45700" rIns="91425" bIns="0" anchor="b" anchorCtr="0">
            <a:noAutofit/>
          </a:bodyPr>
          <a:lstStyle>
            <a:lvl1pPr lvl="0" algn="l">
              <a:lnSpc>
                <a:spcPct val="85000"/>
              </a:lnSpc>
              <a:spcBef>
                <a:spcPts val="0"/>
              </a:spcBef>
              <a:spcAft>
                <a:spcPts val="0"/>
              </a:spcAft>
              <a:buClr>
                <a:schemeClr val="dk2"/>
              </a:buClr>
              <a:buSzPts val="3600"/>
              <a:buFont typeface="Times New Roman"/>
              <a:buNone/>
              <a:defRPr sz="3600" b="0" i="0">
                <a:solidFill>
                  <a:schemeClr val="dk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341081" y="3041078"/>
            <a:ext cx="6432731" cy="50822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dk2"/>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42" name="Google Shape;42;p80"/>
          <p:cNvSpPr txBox="1">
            <a:spLocks noGrp="1"/>
          </p:cNvSpPr>
          <p:nvPr>
            <p:ph type="body" idx="2"/>
          </p:nvPr>
        </p:nvSpPr>
        <p:spPr>
          <a:xfrm>
            <a:off x="338328" y="4120016"/>
            <a:ext cx="4191461" cy="426719"/>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dk2"/>
                </a:solidFil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43" name="Google Shape;43;p80"/>
          <p:cNvSpPr txBox="1">
            <a:spLocks noGrp="1"/>
          </p:cNvSpPr>
          <p:nvPr>
            <p:ph type="dt" idx="10"/>
          </p:nvPr>
        </p:nvSpPr>
        <p:spPr>
          <a:xfrm>
            <a:off x="338328" y="4634178"/>
            <a:ext cx="1925338" cy="178955"/>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pic>
        <p:nvPicPr>
          <p:cNvPr id="44" name="Google Shape;44;p80"/>
          <p:cNvPicPr preferRelativeResize="0"/>
          <p:nvPr/>
        </p:nvPicPr>
        <p:blipFill rotWithShape="1">
          <a:blip>
            <a:alphaModFix/>
          </a:blip>
          <a:srcRect/>
          <a:stretch/>
        </p:blipFill>
        <p:spPr>
          <a:xfrm>
            <a:off x="299681" y="305870"/>
            <a:ext cx="999731" cy="999459"/>
          </a:xfrm>
          <a:prstGeom prst="rect">
            <a:avLst/>
          </a:prstGeom>
          <a:noFill/>
          <a:ln>
            <a:noFill/>
          </a:ln>
        </p:spPr>
      </p:pic>
      <p:pic>
        <p:nvPicPr>
          <p:cNvPr id="45" name="Google Shape;45;p80"/>
          <p:cNvPicPr preferRelativeResize="0"/>
          <p:nvPr/>
        </p:nvPicPr>
        <p:blipFill rotWithShape="1">
          <a:blip>
            <a:alphaModFix amt="45000"/>
          </a:blip>
          <a:srcRect r="32084"/>
          <a:stretch/>
        </p:blipFill>
        <p:spPr>
          <a:xfrm>
            <a:off x="2244538" y="183586"/>
            <a:ext cx="6899462" cy="1686849"/>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ullet Slide - Navy">
  <p:cSld name="Bullet Slide - Navy">
    <p:bg>
      <p:bgPr>
        <a:solidFill>
          <a:schemeClr val="dk2"/>
        </a:solidFill>
        <a:effectLst/>
      </p:bgPr>
    </p:bg>
    <p:spTree>
      <p:nvGrpSpPr>
        <p:cNvPr id="1" name="Shape 46"/>
        <p:cNvGrpSpPr/>
        <p:nvPr/>
      </p:nvGrpSpPr>
      <p:grpSpPr>
        <a:xfrm>
          <a:off x="0" y="0"/>
          <a:ext cx="0" cy="0"/>
          <a:chOff x="0" y="0"/>
          <a:chExt cx="0" cy="0"/>
        </a:xfrm>
      </p:grpSpPr>
      <p:sp>
        <p:nvSpPr>
          <p:cNvPr id="47" name="Google Shape;47;p82"/>
          <p:cNvSpPr txBox="1">
            <a:spLocks noGrp="1"/>
          </p:cNvSpPr>
          <p:nvPr>
            <p:ph type="title"/>
          </p:nvPr>
        </p:nvSpPr>
        <p:spPr>
          <a:xfrm>
            <a:off x="453585" y="318751"/>
            <a:ext cx="8173580" cy="458587"/>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82"/>
          <p:cNvSpPr txBox="1">
            <a:spLocks noGrp="1"/>
          </p:cNvSpPr>
          <p:nvPr>
            <p:ph type="body" idx="1"/>
          </p:nvPr>
        </p:nvSpPr>
        <p:spPr>
          <a:xfrm>
            <a:off x="457202" y="695741"/>
            <a:ext cx="8169964" cy="357809"/>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440"/>
              <a:buNone/>
              <a:defRPr sz="1800" b="0" i="0">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49" name="Google Shape;49;p82"/>
          <p:cNvSpPr txBox="1">
            <a:spLocks noGrp="1"/>
          </p:cNvSpPr>
          <p:nvPr>
            <p:ph type="sldNum" idx="12"/>
          </p:nvPr>
        </p:nvSpPr>
        <p:spPr>
          <a:xfrm>
            <a:off x="285555" y="4840129"/>
            <a:ext cx="246061" cy="116425"/>
          </a:xfrm>
          <a:prstGeom prst="rect">
            <a:avLst/>
          </a:prstGeom>
          <a:noFill/>
          <a:ln>
            <a:noFill/>
          </a:ln>
        </p:spPr>
        <p:txBody>
          <a:bodyPr spcFirstLastPara="1" wrap="square" lIns="0" tIns="0" rIns="0" bIns="0" anchor="b" anchorCtr="0">
            <a:noAutofit/>
          </a:bodyPr>
          <a:lstStyle>
            <a:lvl1pPr marL="0" lvl="0" indent="0" algn="l">
              <a:spcBef>
                <a:spcPts val="0"/>
              </a:spcBef>
              <a:buNone/>
              <a:defRPr sz="700" b="0" i="0">
                <a:solidFill>
                  <a:schemeClr val="lt1"/>
                </a:solidFill>
                <a:latin typeface="Arial"/>
                <a:ea typeface="Arial"/>
                <a:cs typeface="Arial"/>
                <a:sym typeface="Arial"/>
              </a:defRPr>
            </a:lvl1pPr>
            <a:lvl2pPr marL="0" lvl="1" indent="0" algn="l">
              <a:spcBef>
                <a:spcPts val="0"/>
              </a:spcBef>
              <a:buNone/>
              <a:defRPr sz="700" b="0" i="0">
                <a:solidFill>
                  <a:schemeClr val="lt1"/>
                </a:solidFill>
                <a:latin typeface="Arial"/>
                <a:ea typeface="Arial"/>
                <a:cs typeface="Arial"/>
                <a:sym typeface="Arial"/>
              </a:defRPr>
            </a:lvl2pPr>
            <a:lvl3pPr marL="0" lvl="2" indent="0" algn="l">
              <a:spcBef>
                <a:spcPts val="0"/>
              </a:spcBef>
              <a:buNone/>
              <a:defRPr sz="700" b="0" i="0">
                <a:solidFill>
                  <a:schemeClr val="lt1"/>
                </a:solidFill>
                <a:latin typeface="Arial"/>
                <a:ea typeface="Arial"/>
                <a:cs typeface="Arial"/>
                <a:sym typeface="Arial"/>
              </a:defRPr>
            </a:lvl3pPr>
            <a:lvl4pPr marL="0" lvl="3" indent="0" algn="l">
              <a:spcBef>
                <a:spcPts val="0"/>
              </a:spcBef>
              <a:buNone/>
              <a:defRPr sz="700" b="0" i="0">
                <a:solidFill>
                  <a:schemeClr val="lt1"/>
                </a:solidFill>
                <a:latin typeface="Arial"/>
                <a:ea typeface="Arial"/>
                <a:cs typeface="Arial"/>
                <a:sym typeface="Arial"/>
              </a:defRPr>
            </a:lvl4pPr>
            <a:lvl5pPr marL="0" lvl="4" indent="0" algn="l">
              <a:spcBef>
                <a:spcPts val="0"/>
              </a:spcBef>
              <a:buNone/>
              <a:defRPr sz="700" b="0" i="0">
                <a:solidFill>
                  <a:schemeClr val="lt1"/>
                </a:solidFill>
                <a:latin typeface="Arial"/>
                <a:ea typeface="Arial"/>
                <a:cs typeface="Arial"/>
                <a:sym typeface="Arial"/>
              </a:defRPr>
            </a:lvl5pPr>
            <a:lvl6pPr marL="0" lvl="5" indent="0" algn="l">
              <a:spcBef>
                <a:spcPts val="0"/>
              </a:spcBef>
              <a:buNone/>
              <a:defRPr sz="700" b="0" i="0">
                <a:solidFill>
                  <a:schemeClr val="lt1"/>
                </a:solidFill>
                <a:latin typeface="Arial"/>
                <a:ea typeface="Arial"/>
                <a:cs typeface="Arial"/>
                <a:sym typeface="Arial"/>
              </a:defRPr>
            </a:lvl6pPr>
            <a:lvl7pPr marL="0" lvl="6" indent="0" algn="l">
              <a:spcBef>
                <a:spcPts val="0"/>
              </a:spcBef>
              <a:buNone/>
              <a:defRPr sz="700" b="0" i="0">
                <a:solidFill>
                  <a:schemeClr val="lt1"/>
                </a:solidFill>
                <a:latin typeface="Arial"/>
                <a:ea typeface="Arial"/>
                <a:cs typeface="Arial"/>
                <a:sym typeface="Arial"/>
              </a:defRPr>
            </a:lvl7pPr>
            <a:lvl8pPr marL="0" lvl="7" indent="0" algn="l">
              <a:spcBef>
                <a:spcPts val="0"/>
              </a:spcBef>
              <a:buNone/>
              <a:defRPr sz="700" b="0" i="0">
                <a:solidFill>
                  <a:schemeClr val="lt1"/>
                </a:solidFill>
                <a:latin typeface="Arial"/>
                <a:ea typeface="Arial"/>
                <a:cs typeface="Arial"/>
                <a:sym typeface="Arial"/>
              </a:defRPr>
            </a:lvl8pPr>
            <a:lvl9pPr marL="0" lvl="8" indent="0" algn="l">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50" name="Google Shape;50;p82"/>
          <p:cNvSpPr txBox="1">
            <a:spLocks noGrp="1"/>
          </p:cNvSpPr>
          <p:nvPr>
            <p:ph type="ftr" idx="11"/>
          </p:nvPr>
        </p:nvSpPr>
        <p:spPr>
          <a:xfrm>
            <a:off x="561600" y="4852597"/>
            <a:ext cx="4310907" cy="10348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82"/>
          <p:cNvSpPr txBox="1">
            <a:spLocks noGrp="1"/>
          </p:cNvSpPr>
          <p:nvPr>
            <p:ph type="body" idx="2"/>
          </p:nvPr>
        </p:nvSpPr>
        <p:spPr>
          <a:xfrm>
            <a:off x="454024" y="1420813"/>
            <a:ext cx="8169963" cy="2932112"/>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42900" algn="l">
              <a:lnSpc>
                <a:spcPct val="100000"/>
              </a:lnSpc>
              <a:spcBef>
                <a:spcPts val="600"/>
              </a:spcBef>
              <a:spcAft>
                <a:spcPts val="0"/>
              </a:spcAft>
              <a:buSzPts val="1800"/>
              <a:buChar char="-"/>
              <a:defRPr/>
            </a:lvl2pPr>
            <a:lvl3pPr marL="1371600" lvl="2" indent="-308610" algn="l">
              <a:lnSpc>
                <a:spcPct val="100000"/>
              </a:lnSpc>
              <a:spcBef>
                <a:spcPts val="600"/>
              </a:spcBef>
              <a:spcAft>
                <a:spcPts val="0"/>
              </a:spcAft>
              <a:buSzPts val="126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800"/>
              <a:buNone/>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lumn Slide – Navy">
  <p:cSld name="Two Column Slide – Navy">
    <p:bg>
      <p:bgPr>
        <a:solidFill>
          <a:schemeClr val="dk2"/>
        </a:solidFill>
        <a:effectLst/>
      </p:bgPr>
    </p:bg>
    <p:spTree>
      <p:nvGrpSpPr>
        <p:cNvPr id="1" name="Shape 52"/>
        <p:cNvGrpSpPr/>
        <p:nvPr/>
      </p:nvGrpSpPr>
      <p:grpSpPr>
        <a:xfrm>
          <a:off x="0" y="0"/>
          <a:ext cx="0" cy="0"/>
          <a:chOff x="0" y="0"/>
          <a:chExt cx="0" cy="0"/>
        </a:xfrm>
      </p:grpSpPr>
      <p:sp>
        <p:nvSpPr>
          <p:cNvPr id="53" name="Google Shape;53;p84"/>
          <p:cNvSpPr txBox="1">
            <a:spLocks noGrp="1"/>
          </p:cNvSpPr>
          <p:nvPr>
            <p:ph type="title"/>
          </p:nvPr>
        </p:nvSpPr>
        <p:spPr>
          <a:xfrm>
            <a:off x="453585" y="318751"/>
            <a:ext cx="8173580" cy="458587"/>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84"/>
          <p:cNvSpPr txBox="1">
            <a:spLocks noGrp="1"/>
          </p:cNvSpPr>
          <p:nvPr>
            <p:ph type="body" idx="1"/>
          </p:nvPr>
        </p:nvSpPr>
        <p:spPr>
          <a:xfrm>
            <a:off x="457202" y="695741"/>
            <a:ext cx="8169964" cy="334897"/>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440"/>
              <a:buNone/>
              <a:defRPr sz="1800" b="0" i="0">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55" name="Google Shape;55;p84"/>
          <p:cNvSpPr txBox="1">
            <a:spLocks noGrp="1"/>
          </p:cNvSpPr>
          <p:nvPr>
            <p:ph type="sldNum" idx="12"/>
          </p:nvPr>
        </p:nvSpPr>
        <p:spPr>
          <a:xfrm>
            <a:off x="285555" y="4840129"/>
            <a:ext cx="246061" cy="116425"/>
          </a:xfrm>
          <a:prstGeom prst="rect">
            <a:avLst/>
          </a:prstGeom>
          <a:noFill/>
          <a:ln>
            <a:noFill/>
          </a:ln>
        </p:spPr>
        <p:txBody>
          <a:bodyPr spcFirstLastPara="1" wrap="square" lIns="0" tIns="0" rIns="0" bIns="0" anchor="b" anchorCtr="0">
            <a:noAutofit/>
          </a:bodyPr>
          <a:lstStyle>
            <a:lvl1pPr marL="0" lvl="0" indent="0" algn="l">
              <a:spcBef>
                <a:spcPts val="0"/>
              </a:spcBef>
              <a:buNone/>
              <a:defRPr sz="700" b="0" i="0">
                <a:solidFill>
                  <a:schemeClr val="lt1"/>
                </a:solidFill>
                <a:latin typeface="Arial"/>
                <a:ea typeface="Arial"/>
                <a:cs typeface="Arial"/>
                <a:sym typeface="Arial"/>
              </a:defRPr>
            </a:lvl1pPr>
            <a:lvl2pPr marL="0" lvl="1" indent="0" algn="l">
              <a:spcBef>
                <a:spcPts val="0"/>
              </a:spcBef>
              <a:buNone/>
              <a:defRPr sz="700" b="0" i="0">
                <a:solidFill>
                  <a:schemeClr val="lt1"/>
                </a:solidFill>
                <a:latin typeface="Arial"/>
                <a:ea typeface="Arial"/>
                <a:cs typeface="Arial"/>
                <a:sym typeface="Arial"/>
              </a:defRPr>
            </a:lvl2pPr>
            <a:lvl3pPr marL="0" lvl="2" indent="0" algn="l">
              <a:spcBef>
                <a:spcPts val="0"/>
              </a:spcBef>
              <a:buNone/>
              <a:defRPr sz="700" b="0" i="0">
                <a:solidFill>
                  <a:schemeClr val="lt1"/>
                </a:solidFill>
                <a:latin typeface="Arial"/>
                <a:ea typeface="Arial"/>
                <a:cs typeface="Arial"/>
                <a:sym typeface="Arial"/>
              </a:defRPr>
            </a:lvl3pPr>
            <a:lvl4pPr marL="0" lvl="3" indent="0" algn="l">
              <a:spcBef>
                <a:spcPts val="0"/>
              </a:spcBef>
              <a:buNone/>
              <a:defRPr sz="700" b="0" i="0">
                <a:solidFill>
                  <a:schemeClr val="lt1"/>
                </a:solidFill>
                <a:latin typeface="Arial"/>
                <a:ea typeface="Arial"/>
                <a:cs typeface="Arial"/>
                <a:sym typeface="Arial"/>
              </a:defRPr>
            </a:lvl4pPr>
            <a:lvl5pPr marL="0" lvl="4" indent="0" algn="l">
              <a:spcBef>
                <a:spcPts val="0"/>
              </a:spcBef>
              <a:buNone/>
              <a:defRPr sz="700" b="0" i="0">
                <a:solidFill>
                  <a:schemeClr val="lt1"/>
                </a:solidFill>
                <a:latin typeface="Arial"/>
                <a:ea typeface="Arial"/>
                <a:cs typeface="Arial"/>
                <a:sym typeface="Arial"/>
              </a:defRPr>
            </a:lvl5pPr>
            <a:lvl6pPr marL="0" lvl="5" indent="0" algn="l">
              <a:spcBef>
                <a:spcPts val="0"/>
              </a:spcBef>
              <a:buNone/>
              <a:defRPr sz="700" b="0" i="0">
                <a:solidFill>
                  <a:schemeClr val="lt1"/>
                </a:solidFill>
                <a:latin typeface="Arial"/>
                <a:ea typeface="Arial"/>
                <a:cs typeface="Arial"/>
                <a:sym typeface="Arial"/>
              </a:defRPr>
            </a:lvl6pPr>
            <a:lvl7pPr marL="0" lvl="6" indent="0" algn="l">
              <a:spcBef>
                <a:spcPts val="0"/>
              </a:spcBef>
              <a:buNone/>
              <a:defRPr sz="700" b="0" i="0">
                <a:solidFill>
                  <a:schemeClr val="lt1"/>
                </a:solidFill>
                <a:latin typeface="Arial"/>
                <a:ea typeface="Arial"/>
                <a:cs typeface="Arial"/>
                <a:sym typeface="Arial"/>
              </a:defRPr>
            </a:lvl7pPr>
            <a:lvl8pPr marL="0" lvl="7" indent="0" algn="l">
              <a:spcBef>
                <a:spcPts val="0"/>
              </a:spcBef>
              <a:buNone/>
              <a:defRPr sz="700" b="0" i="0">
                <a:solidFill>
                  <a:schemeClr val="lt1"/>
                </a:solidFill>
                <a:latin typeface="Arial"/>
                <a:ea typeface="Arial"/>
                <a:cs typeface="Arial"/>
                <a:sym typeface="Arial"/>
              </a:defRPr>
            </a:lvl8pPr>
            <a:lvl9pPr marL="0" lvl="8" indent="0" algn="l">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56" name="Google Shape;56;p84"/>
          <p:cNvSpPr txBox="1">
            <a:spLocks noGrp="1"/>
          </p:cNvSpPr>
          <p:nvPr>
            <p:ph type="ftr" idx="11"/>
          </p:nvPr>
        </p:nvSpPr>
        <p:spPr>
          <a:xfrm>
            <a:off x="561600" y="4852597"/>
            <a:ext cx="4310907" cy="10348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4"/>
          <p:cNvSpPr txBox="1">
            <a:spLocks noGrp="1"/>
          </p:cNvSpPr>
          <p:nvPr>
            <p:ph type="body" idx="2"/>
          </p:nvPr>
        </p:nvSpPr>
        <p:spPr>
          <a:xfrm>
            <a:off x="457200" y="1420813"/>
            <a:ext cx="3819525" cy="2852736"/>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42900" algn="l">
              <a:lnSpc>
                <a:spcPct val="100000"/>
              </a:lnSpc>
              <a:spcBef>
                <a:spcPts val="600"/>
              </a:spcBef>
              <a:spcAft>
                <a:spcPts val="0"/>
              </a:spcAft>
              <a:buSzPts val="1800"/>
              <a:buChar char="-"/>
              <a:defRPr/>
            </a:lvl2pPr>
            <a:lvl3pPr marL="1371600" lvl="2" indent="-308610" algn="l">
              <a:lnSpc>
                <a:spcPct val="100000"/>
              </a:lnSpc>
              <a:spcBef>
                <a:spcPts val="600"/>
              </a:spcBef>
              <a:spcAft>
                <a:spcPts val="0"/>
              </a:spcAft>
              <a:buSzPts val="126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800"/>
              <a:buNone/>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58" name="Google Shape;58;p84"/>
          <p:cNvSpPr txBox="1">
            <a:spLocks noGrp="1"/>
          </p:cNvSpPr>
          <p:nvPr>
            <p:ph type="body" idx="3"/>
          </p:nvPr>
        </p:nvSpPr>
        <p:spPr>
          <a:xfrm>
            <a:off x="4778375" y="1420813"/>
            <a:ext cx="3848100" cy="2852736"/>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42900" algn="l">
              <a:lnSpc>
                <a:spcPct val="100000"/>
              </a:lnSpc>
              <a:spcBef>
                <a:spcPts val="600"/>
              </a:spcBef>
              <a:spcAft>
                <a:spcPts val="0"/>
              </a:spcAft>
              <a:buSzPts val="1800"/>
              <a:buChar char="-"/>
              <a:defRPr/>
            </a:lvl2pPr>
            <a:lvl3pPr marL="1371600" lvl="2" indent="-308610" algn="l">
              <a:lnSpc>
                <a:spcPct val="100000"/>
              </a:lnSpc>
              <a:spcBef>
                <a:spcPts val="600"/>
              </a:spcBef>
              <a:spcAft>
                <a:spcPts val="0"/>
              </a:spcAft>
              <a:buSzPts val="126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800"/>
              <a:buNone/>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with logo - Navy">
  <p:cSld name="Closing with logo - Navy">
    <p:bg>
      <p:bgPr>
        <a:solidFill>
          <a:schemeClr val="dk2"/>
        </a:solidFill>
        <a:effectLst/>
      </p:bgPr>
    </p:bg>
    <p:spTree>
      <p:nvGrpSpPr>
        <p:cNvPr id="1" name="Shape 59"/>
        <p:cNvGrpSpPr/>
        <p:nvPr/>
      </p:nvGrpSpPr>
      <p:grpSpPr>
        <a:xfrm>
          <a:off x="0" y="0"/>
          <a:ext cx="0" cy="0"/>
          <a:chOff x="0" y="0"/>
          <a:chExt cx="0" cy="0"/>
        </a:xfrm>
      </p:grpSpPr>
      <p:pic>
        <p:nvPicPr>
          <p:cNvPr id="60" name="Google Shape;60;p104" descr="UCSF logo"/>
          <p:cNvPicPr preferRelativeResize="0"/>
          <p:nvPr/>
        </p:nvPicPr>
        <p:blipFill rotWithShape="1">
          <a:blip>
            <a:alphaModFix/>
          </a:blip>
          <a:srcRect/>
          <a:stretch/>
        </p:blipFill>
        <p:spPr>
          <a:xfrm>
            <a:off x="3865186" y="2036429"/>
            <a:ext cx="1571041" cy="1018267"/>
          </a:xfrm>
          <a:prstGeom prst="rect">
            <a:avLst/>
          </a:prstGeom>
          <a:noFill/>
          <a:ln>
            <a:noFill/>
          </a:ln>
        </p:spPr>
      </p:pic>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ver – Navy">
  <p:cSld name="Cover – Navy">
    <p:bg>
      <p:bgPr>
        <a:solidFill>
          <a:schemeClr val="dk1"/>
        </a:solidFill>
        <a:effectLst/>
      </p:bgPr>
    </p:bg>
    <p:spTree>
      <p:nvGrpSpPr>
        <p:cNvPr id="1" name="Shape 68"/>
        <p:cNvGrpSpPr/>
        <p:nvPr/>
      </p:nvGrpSpPr>
      <p:grpSpPr>
        <a:xfrm>
          <a:off x="0" y="0"/>
          <a:ext cx="0" cy="0"/>
          <a:chOff x="0" y="0"/>
          <a:chExt cx="0" cy="0"/>
        </a:xfrm>
      </p:grpSpPr>
      <p:sp>
        <p:nvSpPr>
          <p:cNvPr id="69" name="Google Shape;69;g3eb783fec72_0_80"/>
          <p:cNvSpPr txBox="1">
            <a:spLocks noGrp="1"/>
          </p:cNvSpPr>
          <p:nvPr>
            <p:ph type="title"/>
          </p:nvPr>
        </p:nvSpPr>
        <p:spPr>
          <a:xfrm>
            <a:off x="428220" y="1878497"/>
            <a:ext cx="6141300" cy="1311900"/>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g3eb783fec72_0_80"/>
          <p:cNvSpPr txBox="1">
            <a:spLocks noGrp="1"/>
          </p:cNvSpPr>
          <p:nvPr>
            <p:ph type="dt" idx="10"/>
          </p:nvPr>
        </p:nvSpPr>
        <p:spPr>
          <a:xfrm>
            <a:off x="428220" y="4616419"/>
            <a:ext cx="1925400" cy="179100"/>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71" name="Google Shape;71;g3eb783fec72_0_80"/>
          <p:cNvSpPr txBox="1">
            <a:spLocks noGrp="1"/>
          </p:cNvSpPr>
          <p:nvPr>
            <p:ph type="body" idx="1"/>
          </p:nvPr>
        </p:nvSpPr>
        <p:spPr>
          <a:xfrm>
            <a:off x="431835" y="3185161"/>
            <a:ext cx="6147600" cy="508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lt1"/>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72" name="Google Shape;72;g3eb783fec72_0_80"/>
          <p:cNvSpPr txBox="1">
            <a:spLocks noGrp="1"/>
          </p:cNvSpPr>
          <p:nvPr>
            <p:ph type="body" idx="2"/>
          </p:nvPr>
        </p:nvSpPr>
        <p:spPr>
          <a:xfrm>
            <a:off x="428220" y="4102257"/>
            <a:ext cx="6151200" cy="426600"/>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lt1"/>
                </a:solidFill>
                <a:latin typeface="Arial"/>
                <a:ea typeface="Arial"/>
                <a:cs typeface="Arial"/>
                <a:sym typeface="Aria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pic>
        <p:nvPicPr>
          <p:cNvPr id="73" name="Google Shape;73;g3eb783fec72_0_80"/>
          <p:cNvPicPr preferRelativeResize="0"/>
          <p:nvPr/>
        </p:nvPicPr>
        <p:blipFill rotWithShape="1">
          <a:blip r:embed="rId2">
            <a:alphaModFix/>
          </a:blip>
          <a:srcRect/>
          <a:stretch/>
        </p:blipFill>
        <p:spPr>
          <a:xfrm>
            <a:off x="428220" y="478425"/>
            <a:ext cx="1297452" cy="840941"/>
          </a:xfrm>
          <a:prstGeom prst="rect">
            <a:avLst/>
          </a:prstGeom>
          <a:noFill/>
          <a:ln>
            <a:noFill/>
          </a:ln>
        </p:spPr>
      </p:pic>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n Slide – Navy">
  <p:cSld name="Two Column Slide – Navy">
    <p:bg>
      <p:bgPr>
        <a:solidFill>
          <a:schemeClr val="dk2"/>
        </a:solidFill>
        <a:effectLst/>
      </p:bgPr>
    </p:bg>
    <p:spTree>
      <p:nvGrpSpPr>
        <p:cNvPr id="1" name="Shape 74"/>
        <p:cNvGrpSpPr/>
        <p:nvPr/>
      </p:nvGrpSpPr>
      <p:grpSpPr>
        <a:xfrm>
          <a:off x="0" y="0"/>
          <a:ext cx="0" cy="0"/>
          <a:chOff x="0" y="0"/>
          <a:chExt cx="0" cy="0"/>
        </a:xfrm>
      </p:grpSpPr>
      <p:sp>
        <p:nvSpPr>
          <p:cNvPr id="75" name="Google Shape;75;g3eb783fec72_0_86"/>
          <p:cNvSpPr txBox="1">
            <a:spLocks noGrp="1"/>
          </p:cNvSpPr>
          <p:nvPr>
            <p:ph type="title"/>
          </p:nvPr>
        </p:nvSpPr>
        <p:spPr>
          <a:xfrm>
            <a:off x="453585" y="318751"/>
            <a:ext cx="8173500" cy="458700"/>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g3eb783fec72_0_86"/>
          <p:cNvSpPr txBox="1">
            <a:spLocks noGrp="1"/>
          </p:cNvSpPr>
          <p:nvPr>
            <p:ph type="body" idx="1"/>
          </p:nvPr>
        </p:nvSpPr>
        <p:spPr>
          <a:xfrm>
            <a:off x="457202" y="695741"/>
            <a:ext cx="8169900" cy="3348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440"/>
              <a:buNone/>
              <a:defRPr sz="1800" b="0" i="0">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77" name="Google Shape;77;g3eb783fec72_0_86"/>
          <p:cNvSpPr txBox="1">
            <a:spLocks noGrp="1"/>
          </p:cNvSpPr>
          <p:nvPr>
            <p:ph type="body" idx="2"/>
          </p:nvPr>
        </p:nvSpPr>
        <p:spPr>
          <a:xfrm>
            <a:off x="449886" y="1420813"/>
            <a:ext cx="3826800" cy="2852700"/>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55600" algn="l">
              <a:lnSpc>
                <a:spcPct val="100000"/>
              </a:lnSpc>
              <a:spcBef>
                <a:spcPts val="600"/>
              </a:spcBef>
              <a:spcAft>
                <a:spcPts val="0"/>
              </a:spcAft>
              <a:buClr>
                <a:schemeClr val="lt1"/>
              </a:buClr>
              <a:buSzPts val="2000"/>
              <a:buChar char="-"/>
              <a:defRPr/>
            </a:lvl2pPr>
            <a:lvl3pPr marL="1371600" lvl="2" indent="-308610" algn="l">
              <a:lnSpc>
                <a:spcPct val="100000"/>
              </a:lnSpc>
              <a:spcBef>
                <a:spcPts val="600"/>
              </a:spcBef>
              <a:spcAft>
                <a:spcPts val="0"/>
              </a:spcAft>
              <a:buSzPts val="1260"/>
              <a:buChar char="▪"/>
              <a:defRPr/>
            </a:lvl3pPr>
            <a:lvl4pPr marL="1828800" lvl="3" indent="-330200" algn="l">
              <a:lnSpc>
                <a:spcPct val="100000"/>
              </a:lnSpc>
              <a:spcBef>
                <a:spcPts val="600"/>
              </a:spcBef>
              <a:spcAft>
                <a:spcPts val="0"/>
              </a:spcAft>
              <a:buClr>
                <a:schemeClr val="lt1"/>
              </a:buClr>
              <a:buSzPts val="1600"/>
              <a:buChar char="-"/>
              <a:defRPr/>
            </a:lvl4pPr>
            <a:lvl5pPr marL="2286000" lvl="4" indent="-228600" algn="l">
              <a:lnSpc>
                <a:spcPct val="100000"/>
              </a:lnSpc>
              <a:spcBef>
                <a:spcPts val="600"/>
              </a:spcBef>
              <a:spcAft>
                <a:spcPts val="0"/>
              </a:spcAft>
              <a:buSzPts val="1800"/>
              <a:buNone/>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78" name="Google Shape;78;g3eb783fec72_0_86"/>
          <p:cNvSpPr txBox="1">
            <a:spLocks noGrp="1"/>
          </p:cNvSpPr>
          <p:nvPr>
            <p:ph type="body" idx="3"/>
          </p:nvPr>
        </p:nvSpPr>
        <p:spPr>
          <a:xfrm>
            <a:off x="4778375" y="1420812"/>
            <a:ext cx="3838500" cy="2852700"/>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55600" algn="l">
              <a:lnSpc>
                <a:spcPct val="100000"/>
              </a:lnSpc>
              <a:spcBef>
                <a:spcPts val="600"/>
              </a:spcBef>
              <a:spcAft>
                <a:spcPts val="0"/>
              </a:spcAft>
              <a:buClr>
                <a:schemeClr val="lt1"/>
              </a:buClr>
              <a:buSzPts val="2000"/>
              <a:buChar char="-"/>
              <a:defRPr/>
            </a:lvl2pPr>
            <a:lvl3pPr marL="1371600" lvl="2" indent="-308610" algn="l">
              <a:lnSpc>
                <a:spcPct val="100000"/>
              </a:lnSpc>
              <a:spcBef>
                <a:spcPts val="600"/>
              </a:spcBef>
              <a:spcAft>
                <a:spcPts val="0"/>
              </a:spcAft>
              <a:buSzPts val="1260"/>
              <a:buChar char="▪"/>
              <a:defRPr/>
            </a:lvl3pPr>
            <a:lvl4pPr marL="1828800" lvl="3" indent="-330200" algn="l">
              <a:lnSpc>
                <a:spcPct val="100000"/>
              </a:lnSpc>
              <a:spcBef>
                <a:spcPts val="600"/>
              </a:spcBef>
              <a:spcAft>
                <a:spcPts val="0"/>
              </a:spcAft>
              <a:buClr>
                <a:schemeClr val="lt1"/>
              </a:buClr>
              <a:buSzPts val="1600"/>
              <a:buChar char="-"/>
              <a:defRPr/>
            </a:lvl4pPr>
            <a:lvl5pPr marL="2286000" lvl="4" indent="-228600" algn="l">
              <a:lnSpc>
                <a:spcPct val="100000"/>
              </a:lnSpc>
              <a:spcBef>
                <a:spcPts val="600"/>
              </a:spcBef>
              <a:spcAft>
                <a:spcPts val="0"/>
              </a:spcAft>
              <a:buSzPts val="1800"/>
              <a:buNone/>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79" name="Google Shape;79;g3eb783fec72_0_86"/>
          <p:cNvSpPr txBox="1">
            <a:spLocks noGrp="1"/>
          </p:cNvSpPr>
          <p:nvPr>
            <p:ph type="sldNum" idx="12"/>
          </p:nvPr>
        </p:nvSpPr>
        <p:spPr>
          <a:xfrm>
            <a:off x="297507" y="4852597"/>
            <a:ext cx="246000" cy="104100"/>
          </a:xfrm>
          <a:prstGeom prst="rect">
            <a:avLst/>
          </a:prstGeom>
          <a:noFill/>
          <a:ln>
            <a:noFill/>
          </a:ln>
        </p:spPr>
        <p:txBody>
          <a:bodyPr spcFirstLastPara="1" wrap="square" lIns="0" tIns="0" rIns="0" bIns="0" anchor="b" anchorCtr="0">
            <a:noAutofit/>
          </a:bodyPr>
          <a:lstStyle>
            <a:lvl1pPr marL="0" lvl="0" indent="0" algn="l">
              <a:spcBef>
                <a:spcPts val="0"/>
              </a:spcBef>
              <a:buNone/>
              <a:defRPr sz="700" b="0" i="0">
                <a:solidFill>
                  <a:schemeClr val="lt1"/>
                </a:solidFill>
                <a:latin typeface="Arial"/>
                <a:ea typeface="Arial"/>
                <a:cs typeface="Arial"/>
                <a:sym typeface="Arial"/>
              </a:defRPr>
            </a:lvl1pPr>
            <a:lvl2pPr marL="0" lvl="1" indent="0" algn="l">
              <a:spcBef>
                <a:spcPts val="0"/>
              </a:spcBef>
              <a:buNone/>
              <a:defRPr sz="700" b="0" i="0">
                <a:solidFill>
                  <a:schemeClr val="lt1"/>
                </a:solidFill>
                <a:latin typeface="Arial"/>
                <a:ea typeface="Arial"/>
                <a:cs typeface="Arial"/>
                <a:sym typeface="Arial"/>
              </a:defRPr>
            </a:lvl2pPr>
            <a:lvl3pPr marL="0" lvl="2" indent="0" algn="l">
              <a:spcBef>
                <a:spcPts val="0"/>
              </a:spcBef>
              <a:buNone/>
              <a:defRPr sz="700" b="0" i="0">
                <a:solidFill>
                  <a:schemeClr val="lt1"/>
                </a:solidFill>
                <a:latin typeface="Arial"/>
                <a:ea typeface="Arial"/>
                <a:cs typeface="Arial"/>
                <a:sym typeface="Arial"/>
              </a:defRPr>
            </a:lvl3pPr>
            <a:lvl4pPr marL="0" lvl="3" indent="0" algn="l">
              <a:spcBef>
                <a:spcPts val="0"/>
              </a:spcBef>
              <a:buNone/>
              <a:defRPr sz="700" b="0" i="0">
                <a:solidFill>
                  <a:schemeClr val="lt1"/>
                </a:solidFill>
                <a:latin typeface="Arial"/>
                <a:ea typeface="Arial"/>
                <a:cs typeface="Arial"/>
                <a:sym typeface="Arial"/>
              </a:defRPr>
            </a:lvl4pPr>
            <a:lvl5pPr marL="0" lvl="4" indent="0" algn="l">
              <a:spcBef>
                <a:spcPts val="0"/>
              </a:spcBef>
              <a:buNone/>
              <a:defRPr sz="700" b="0" i="0">
                <a:solidFill>
                  <a:schemeClr val="lt1"/>
                </a:solidFill>
                <a:latin typeface="Arial"/>
                <a:ea typeface="Arial"/>
                <a:cs typeface="Arial"/>
                <a:sym typeface="Arial"/>
              </a:defRPr>
            </a:lvl5pPr>
            <a:lvl6pPr marL="0" lvl="5" indent="0" algn="l">
              <a:spcBef>
                <a:spcPts val="0"/>
              </a:spcBef>
              <a:buNone/>
              <a:defRPr sz="700" b="0" i="0">
                <a:solidFill>
                  <a:schemeClr val="lt1"/>
                </a:solidFill>
                <a:latin typeface="Arial"/>
                <a:ea typeface="Arial"/>
                <a:cs typeface="Arial"/>
                <a:sym typeface="Arial"/>
              </a:defRPr>
            </a:lvl6pPr>
            <a:lvl7pPr marL="0" lvl="6" indent="0" algn="l">
              <a:spcBef>
                <a:spcPts val="0"/>
              </a:spcBef>
              <a:buNone/>
              <a:defRPr sz="700" b="0" i="0">
                <a:solidFill>
                  <a:schemeClr val="lt1"/>
                </a:solidFill>
                <a:latin typeface="Arial"/>
                <a:ea typeface="Arial"/>
                <a:cs typeface="Arial"/>
                <a:sym typeface="Arial"/>
              </a:defRPr>
            </a:lvl7pPr>
            <a:lvl8pPr marL="0" lvl="7" indent="0" algn="l">
              <a:spcBef>
                <a:spcPts val="0"/>
              </a:spcBef>
              <a:buNone/>
              <a:defRPr sz="700" b="0" i="0">
                <a:solidFill>
                  <a:schemeClr val="lt1"/>
                </a:solidFill>
                <a:latin typeface="Arial"/>
                <a:ea typeface="Arial"/>
                <a:cs typeface="Arial"/>
                <a:sym typeface="Arial"/>
              </a:defRPr>
            </a:lvl8pPr>
            <a:lvl9pPr marL="0" lvl="8" indent="0" algn="l">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80" name="Google Shape;80;g3eb783fec72_0_86"/>
          <p:cNvSpPr txBox="1">
            <a:spLocks noGrp="1"/>
          </p:cNvSpPr>
          <p:nvPr>
            <p:ph type="ftr" idx="11"/>
          </p:nvPr>
        </p:nvSpPr>
        <p:spPr>
          <a:xfrm>
            <a:off x="573552" y="4852597"/>
            <a:ext cx="4311000" cy="1035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ullet Slide-Navy">
  <p:cSld name="Bullet Slide-Navy">
    <p:bg>
      <p:bgPr>
        <a:solidFill>
          <a:schemeClr val="dk2"/>
        </a:solidFill>
        <a:effectLst/>
      </p:bgPr>
    </p:bg>
    <p:spTree>
      <p:nvGrpSpPr>
        <p:cNvPr id="1" name="Shape 81"/>
        <p:cNvGrpSpPr/>
        <p:nvPr/>
      </p:nvGrpSpPr>
      <p:grpSpPr>
        <a:xfrm>
          <a:off x="0" y="0"/>
          <a:ext cx="0" cy="0"/>
          <a:chOff x="0" y="0"/>
          <a:chExt cx="0" cy="0"/>
        </a:xfrm>
      </p:grpSpPr>
      <p:sp>
        <p:nvSpPr>
          <p:cNvPr id="82" name="Google Shape;82;g3eb783fec72_0_93"/>
          <p:cNvSpPr txBox="1">
            <a:spLocks noGrp="1"/>
          </p:cNvSpPr>
          <p:nvPr>
            <p:ph type="ftr" idx="11"/>
          </p:nvPr>
        </p:nvSpPr>
        <p:spPr>
          <a:xfrm>
            <a:off x="573552" y="4852597"/>
            <a:ext cx="4311000" cy="1035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g3eb783fec72_0_93"/>
          <p:cNvSpPr txBox="1">
            <a:spLocks noGrp="1"/>
          </p:cNvSpPr>
          <p:nvPr>
            <p:ph type="sldNum" idx="12"/>
          </p:nvPr>
        </p:nvSpPr>
        <p:spPr>
          <a:xfrm>
            <a:off x="297507" y="4852597"/>
            <a:ext cx="246000" cy="104100"/>
          </a:xfrm>
          <a:prstGeom prst="rect">
            <a:avLst/>
          </a:prstGeom>
          <a:noFill/>
          <a:ln>
            <a:noFill/>
          </a:ln>
        </p:spPr>
        <p:txBody>
          <a:bodyPr spcFirstLastPara="1" wrap="square" lIns="0" tIns="0" rIns="0" bIns="0" anchor="b" anchorCtr="0">
            <a:noAutofit/>
          </a:bodyPr>
          <a:lstStyle>
            <a:lvl1pPr marL="0" lvl="0" indent="0" algn="l">
              <a:spcBef>
                <a:spcPts val="0"/>
              </a:spcBef>
              <a:buNone/>
              <a:defRPr sz="700" b="0" i="0">
                <a:solidFill>
                  <a:schemeClr val="lt1"/>
                </a:solidFill>
                <a:latin typeface="Arial"/>
                <a:ea typeface="Arial"/>
                <a:cs typeface="Arial"/>
                <a:sym typeface="Arial"/>
              </a:defRPr>
            </a:lvl1pPr>
            <a:lvl2pPr marL="0" lvl="1" indent="0" algn="l">
              <a:spcBef>
                <a:spcPts val="0"/>
              </a:spcBef>
              <a:buNone/>
              <a:defRPr sz="700" b="0" i="0">
                <a:solidFill>
                  <a:schemeClr val="lt1"/>
                </a:solidFill>
                <a:latin typeface="Arial"/>
                <a:ea typeface="Arial"/>
                <a:cs typeface="Arial"/>
                <a:sym typeface="Arial"/>
              </a:defRPr>
            </a:lvl2pPr>
            <a:lvl3pPr marL="0" lvl="2" indent="0" algn="l">
              <a:spcBef>
                <a:spcPts val="0"/>
              </a:spcBef>
              <a:buNone/>
              <a:defRPr sz="700" b="0" i="0">
                <a:solidFill>
                  <a:schemeClr val="lt1"/>
                </a:solidFill>
                <a:latin typeface="Arial"/>
                <a:ea typeface="Arial"/>
                <a:cs typeface="Arial"/>
                <a:sym typeface="Arial"/>
              </a:defRPr>
            </a:lvl3pPr>
            <a:lvl4pPr marL="0" lvl="3" indent="0" algn="l">
              <a:spcBef>
                <a:spcPts val="0"/>
              </a:spcBef>
              <a:buNone/>
              <a:defRPr sz="700" b="0" i="0">
                <a:solidFill>
                  <a:schemeClr val="lt1"/>
                </a:solidFill>
                <a:latin typeface="Arial"/>
                <a:ea typeface="Arial"/>
                <a:cs typeface="Arial"/>
                <a:sym typeface="Arial"/>
              </a:defRPr>
            </a:lvl4pPr>
            <a:lvl5pPr marL="0" lvl="4" indent="0" algn="l">
              <a:spcBef>
                <a:spcPts val="0"/>
              </a:spcBef>
              <a:buNone/>
              <a:defRPr sz="700" b="0" i="0">
                <a:solidFill>
                  <a:schemeClr val="lt1"/>
                </a:solidFill>
                <a:latin typeface="Arial"/>
                <a:ea typeface="Arial"/>
                <a:cs typeface="Arial"/>
                <a:sym typeface="Arial"/>
              </a:defRPr>
            </a:lvl5pPr>
            <a:lvl6pPr marL="0" lvl="5" indent="0" algn="l">
              <a:spcBef>
                <a:spcPts val="0"/>
              </a:spcBef>
              <a:buNone/>
              <a:defRPr sz="700" b="0" i="0">
                <a:solidFill>
                  <a:schemeClr val="lt1"/>
                </a:solidFill>
                <a:latin typeface="Arial"/>
                <a:ea typeface="Arial"/>
                <a:cs typeface="Arial"/>
                <a:sym typeface="Arial"/>
              </a:defRPr>
            </a:lvl6pPr>
            <a:lvl7pPr marL="0" lvl="6" indent="0" algn="l">
              <a:spcBef>
                <a:spcPts val="0"/>
              </a:spcBef>
              <a:buNone/>
              <a:defRPr sz="700" b="0" i="0">
                <a:solidFill>
                  <a:schemeClr val="lt1"/>
                </a:solidFill>
                <a:latin typeface="Arial"/>
                <a:ea typeface="Arial"/>
                <a:cs typeface="Arial"/>
                <a:sym typeface="Arial"/>
              </a:defRPr>
            </a:lvl7pPr>
            <a:lvl8pPr marL="0" lvl="7" indent="0" algn="l">
              <a:spcBef>
                <a:spcPts val="0"/>
              </a:spcBef>
              <a:buNone/>
              <a:defRPr sz="700" b="0" i="0">
                <a:solidFill>
                  <a:schemeClr val="lt1"/>
                </a:solidFill>
                <a:latin typeface="Arial"/>
                <a:ea typeface="Arial"/>
                <a:cs typeface="Arial"/>
                <a:sym typeface="Arial"/>
              </a:defRPr>
            </a:lvl8pPr>
            <a:lvl9pPr marL="0" lvl="8" indent="0" algn="l">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84" name="Google Shape;84;g3eb783fec72_0_93"/>
          <p:cNvSpPr txBox="1">
            <a:spLocks noGrp="1"/>
          </p:cNvSpPr>
          <p:nvPr>
            <p:ph type="title"/>
          </p:nvPr>
        </p:nvSpPr>
        <p:spPr>
          <a:xfrm>
            <a:off x="453585" y="318751"/>
            <a:ext cx="8173500" cy="458700"/>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g3eb783fec72_0_93"/>
          <p:cNvSpPr txBox="1">
            <a:spLocks noGrp="1"/>
          </p:cNvSpPr>
          <p:nvPr>
            <p:ph type="body" idx="1"/>
          </p:nvPr>
        </p:nvSpPr>
        <p:spPr>
          <a:xfrm>
            <a:off x="457202" y="695741"/>
            <a:ext cx="8169900" cy="3579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440"/>
              <a:buNone/>
              <a:defRPr sz="1800" b="0" i="0">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86" name="Google Shape;86;g3eb783fec72_0_93"/>
          <p:cNvSpPr txBox="1">
            <a:spLocks noGrp="1"/>
          </p:cNvSpPr>
          <p:nvPr>
            <p:ph type="body" idx="2"/>
          </p:nvPr>
        </p:nvSpPr>
        <p:spPr>
          <a:xfrm>
            <a:off x="459685" y="1401417"/>
            <a:ext cx="8137800" cy="2931900"/>
          </a:xfrm>
          <a:prstGeom prst="rect">
            <a:avLst/>
          </a:prstGeom>
          <a:noFill/>
          <a:ln>
            <a:noFill/>
          </a:ln>
        </p:spPr>
        <p:txBody>
          <a:bodyPr spcFirstLastPara="1" wrap="square" lIns="0" tIns="46800" rIns="0" bIns="0" anchor="t" anchorCtr="0">
            <a:noAutofit/>
          </a:bodyPr>
          <a:lstStyle>
            <a:lvl1pPr marL="457200" lvl="0" indent="-340360" algn="l">
              <a:lnSpc>
                <a:spcPct val="100000"/>
              </a:lnSpc>
              <a:spcBef>
                <a:spcPts val="0"/>
              </a:spcBef>
              <a:spcAft>
                <a:spcPts val="0"/>
              </a:spcAft>
              <a:buClr>
                <a:schemeClr val="accent1"/>
              </a:buClr>
              <a:buSzPts val="1760"/>
              <a:buChar char="▪"/>
              <a:defRPr b="0" i="0"/>
            </a:lvl1pPr>
            <a:lvl2pPr marL="914400" lvl="1" indent="-355600" algn="l">
              <a:lnSpc>
                <a:spcPct val="100000"/>
              </a:lnSpc>
              <a:spcBef>
                <a:spcPts val="600"/>
              </a:spcBef>
              <a:spcAft>
                <a:spcPts val="0"/>
              </a:spcAft>
              <a:buClr>
                <a:schemeClr val="lt1"/>
              </a:buClr>
              <a:buSzPts val="2000"/>
              <a:buChar char="-"/>
              <a:defRPr b="0" i="0"/>
            </a:lvl2pPr>
            <a:lvl3pPr marL="1371600" lvl="2" indent="-308610" algn="l">
              <a:lnSpc>
                <a:spcPct val="100000"/>
              </a:lnSpc>
              <a:spcBef>
                <a:spcPts val="600"/>
              </a:spcBef>
              <a:spcAft>
                <a:spcPts val="0"/>
              </a:spcAft>
              <a:buClr>
                <a:schemeClr val="accent1"/>
              </a:buClr>
              <a:buSzPts val="1260"/>
              <a:buChar char="▪"/>
              <a:defRPr b="0" i="0"/>
            </a:lvl3pPr>
            <a:lvl4pPr marL="1828800" lvl="3" indent="-330200" algn="l">
              <a:lnSpc>
                <a:spcPct val="100000"/>
              </a:lnSpc>
              <a:spcBef>
                <a:spcPts val="600"/>
              </a:spcBef>
              <a:spcAft>
                <a:spcPts val="0"/>
              </a:spcAft>
              <a:buClr>
                <a:schemeClr val="lt1"/>
              </a:buClr>
              <a:buSzPts val="1600"/>
              <a:buChar char="-"/>
              <a:defRPr b="0" i="0"/>
            </a:lvl4pPr>
            <a:lvl5pPr marL="2286000" lvl="4" indent="-228600" algn="l">
              <a:lnSpc>
                <a:spcPct val="100000"/>
              </a:lnSpc>
              <a:spcBef>
                <a:spcPts val="600"/>
              </a:spcBef>
              <a:spcAft>
                <a:spcPts val="0"/>
              </a:spcAft>
              <a:buSzPts val="1800"/>
              <a:buNone/>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ullet Slide - Navy">
  <p:cSld name="Bullet Slide - Navy">
    <p:bg>
      <p:bgPr>
        <a:solidFill>
          <a:schemeClr val="dk2"/>
        </a:solidFill>
        <a:effectLst/>
      </p:bgPr>
    </p:bg>
    <p:spTree>
      <p:nvGrpSpPr>
        <p:cNvPr id="1" name="Shape 87"/>
        <p:cNvGrpSpPr/>
        <p:nvPr/>
      </p:nvGrpSpPr>
      <p:grpSpPr>
        <a:xfrm>
          <a:off x="0" y="0"/>
          <a:ext cx="0" cy="0"/>
          <a:chOff x="0" y="0"/>
          <a:chExt cx="0" cy="0"/>
        </a:xfrm>
      </p:grpSpPr>
      <p:sp>
        <p:nvSpPr>
          <p:cNvPr id="88" name="Google Shape;88;g3eb783fec72_0_99"/>
          <p:cNvSpPr txBox="1">
            <a:spLocks noGrp="1"/>
          </p:cNvSpPr>
          <p:nvPr>
            <p:ph type="title"/>
          </p:nvPr>
        </p:nvSpPr>
        <p:spPr>
          <a:xfrm>
            <a:off x="453585" y="318751"/>
            <a:ext cx="8173500" cy="458700"/>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g3eb783fec72_0_99"/>
          <p:cNvSpPr txBox="1">
            <a:spLocks noGrp="1"/>
          </p:cNvSpPr>
          <p:nvPr>
            <p:ph type="body" idx="1"/>
          </p:nvPr>
        </p:nvSpPr>
        <p:spPr>
          <a:xfrm>
            <a:off x="453585" y="695741"/>
            <a:ext cx="8169900" cy="3579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440"/>
              <a:buNone/>
              <a:defRPr sz="1800" b="0" i="0">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90" name="Google Shape;90;g3eb783fec72_0_99"/>
          <p:cNvSpPr txBox="1">
            <a:spLocks noGrp="1"/>
          </p:cNvSpPr>
          <p:nvPr>
            <p:ph type="body" idx="2"/>
          </p:nvPr>
        </p:nvSpPr>
        <p:spPr>
          <a:xfrm>
            <a:off x="453585" y="1401763"/>
            <a:ext cx="8169900" cy="2932200"/>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55600" algn="l">
              <a:lnSpc>
                <a:spcPct val="100000"/>
              </a:lnSpc>
              <a:spcBef>
                <a:spcPts val="600"/>
              </a:spcBef>
              <a:spcAft>
                <a:spcPts val="0"/>
              </a:spcAft>
              <a:buClr>
                <a:schemeClr val="lt1"/>
              </a:buClr>
              <a:buSzPts val="2000"/>
              <a:buChar char="-"/>
              <a:defRPr/>
            </a:lvl2pPr>
            <a:lvl3pPr marL="1371600" lvl="2" indent="-308610" algn="l">
              <a:lnSpc>
                <a:spcPct val="100000"/>
              </a:lnSpc>
              <a:spcBef>
                <a:spcPts val="600"/>
              </a:spcBef>
              <a:spcAft>
                <a:spcPts val="0"/>
              </a:spcAft>
              <a:buSzPts val="1260"/>
              <a:buChar char="▪"/>
              <a:defRPr/>
            </a:lvl3pPr>
            <a:lvl4pPr marL="1828800" lvl="3" indent="-330200" algn="l">
              <a:lnSpc>
                <a:spcPct val="100000"/>
              </a:lnSpc>
              <a:spcBef>
                <a:spcPts val="600"/>
              </a:spcBef>
              <a:spcAft>
                <a:spcPts val="0"/>
              </a:spcAft>
              <a:buClr>
                <a:schemeClr val="lt1"/>
              </a:buClr>
              <a:buSzPts val="1600"/>
              <a:buChar char="-"/>
              <a:defRPr/>
            </a:lvl4pPr>
            <a:lvl5pPr marL="2286000" lvl="4" indent="-228600" algn="l">
              <a:lnSpc>
                <a:spcPct val="100000"/>
              </a:lnSpc>
              <a:spcBef>
                <a:spcPts val="600"/>
              </a:spcBef>
              <a:spcAft>
                <a:spcPts val="0"/>
              </a:spcAft>
              <a:buSzPts val="1800"/>
              <a:buNone/>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91" name="Google Shape;91;g3eb783fec72_0_99"/>
          <p:cNvSpPr txBox="1">
            <a:spLocks noGrp="1"/>
          </p:cNvSpPr>
          <p:nvPr>
            <p:ph type="sldNum" idx="12"/>
          </p:nvPr>
        </p:nvSpPr>
        <p:spPr>
          <a:xfrm>
            <a:off x="297507" y="4852597"/>
            <a:ext cx="246000" cy="104100"/>
          </a:xfrm>
          <a:prstGeom prst="rect">
            <a:avLst/>
          </a:prstGeom>
          <a:noFill/>
          <a:ln>
            <a:noFill/>
          </a:ln>
        </p:spPr>
        <p:txBody>
          <a:bodyPr spcFirstLastPara="1" wrap="square" lIns="0" tIns="0" rIns="0" bIns="0" anchor="b" anchorCtr="0">
            <a:noAutofit/>
          </a:bodyPr>
          <a:lstStyle>
            <a:lvl1pPr marL="0" lvl="0" indent="0" algn="l">
              <a:spcBef>
                <a:spcPts val="0"/>
              </a:spcBef>
              <a:buNone/>
              <a:defRPr sz="700" b="0" i="0">
                <a:solidFill>
                  <a:schemeClr val="lt1"/>
                </a:solidFill>
                <a:latin typeface="Arial"/>
                <a:ea typeface="Arial"/>
                <a:cs typeface="Arial"/>
                <a:sym typeface="Arial"/>
              </a:defRPr>
            </a:lvl1pPr>
            <a:lvl2pPr marL="0" lvl="1" indent="0" algn="l">
              <a:spcBef>
                <a:spcPts val="0"/>
              </a:spcBef>
              <a:buNone/>
              <a:defRPr sz="700" b="0" i="0">
                <a:solidFill>
                  <a:schemeClr val="lt1"/>
                </a:solidFill>
                <a:latin typeface="Arial"/>
                <a:ea typeface="Arial"/>
                <a:cs typeface="Arial"/>
                <a:sym typeface="Arial"/>
              </a:defRPr>
            </a:lvl2pPr>
            <a:lvl3pPr marL="0" lvl="2" indent="0" algn="l">
              <a:spcBef>
                <a:spcPts val="0"/>
              </a:spcBef>
              <a:buNone/>
              <a:defRPr sz="700" b="0" i="0">
                <a:solidFill>
                  <a:schemeClr val="lt1"/>
                </a:solidFill>
                <a:latin typeface="Arial"/>
                <a:ea typeface="Arial"/>
                <a:cs typeface="Arial"/>
                <a:sym typeface="Arial"/>
              </a:defRPr>
            </a:lvl3pPr>
            <a:lvl4pPr marL="0" lvl="3" indent="0" algn="l">
              <a:spcBef>
                <a:spcPts val="0"/>
              </a:spcBef>
              <a:buNone/>
              <a:defRPr sz="700" b="0" i="0">
                <a:solidFill>
                  <a:schemeClr val="lt1"/>
                </a:solidFill>
                <a:latin typeface="Arial"/>
                <a:ea typeface="Arial"/>
                <a:cs typeface="Arial"/>
                <a:sym typeface="Arial"/>
              </a:defRPr>
            </a:lvl4pPr>
            <a:lvl5pPr marL="0" lvl="4" indent="0" algn="l">
              <a:spcBef>
                <a:spcPts val="0"/>
              </a:spcBef>
              <a:buNone/>
              <a:defRPr sz="700" b="0" i="0">
                <a:solidFill>
                  <a:schemeClr val="lt1"/>
                </a:solidFill>
                <a:latin typeface="Arial"/>
                <a:ea typeface="Arial"/>
                <a:cs typeface="Arial"/>
                <a:sym typeface="Arial"/>
              </a:defRPr>
            </a:lvl5pPr>
            <a:lvl6pPr marL="0" lvl="5" indent="0" algn="l">
              <a:spcBef>
                <a:spcPts val="0"/>
              </a:spcBef>
              <a:buNone/>
              <a:defRPr sz="700" b="0" i="0">
                <a:solidFill>
                  <a:schemeClr val="lt1"/>
                </a:solidFill>
                <a:latin typeface="Arial"/>
                <a:ea typeface="Arial"/>
                <a:cs typeface="Arial"/>
                <a:sym typeface="Arial"/>
              </a:defRPr>
            </a:lvl6pPr>
            <a:lvl7pPr marL="0" lvl="6" indent="0" algn="l">
              <a:spcBef>
                <a:spcPts val="0"/>
              </a:spcBef>
              <a:buNone/>
              <a:defRPr sz="700" b="0" i="0">
                <a:solidFill>
                  <a:schemeClr val="lt1"/>
                </a:solidFill>
                <a:latin typeface="Arial"/>
                <a:ea typeface="Arial"/>
                <a:cs typeface="Arial"/>
                <a:sym typeface="Arial"/>
              </a:defRPr>
            </a:lvl7pPr>
            <a:lvl8pPr marL="0" lvl="7" indent="0" algn="l">
              <a:spcBef>
                <a:spcPts val="0"/>
              </a:spcBef>
              <a:buNone/>
              <a:defRPr sz="700" b="0" i="0">
                <a:solidFill>
                  <a:schemeClr val="lt1"/>
                </a:solidFill>
                <a:latin typeface="Arial"/>
                <a:ea typeface="Arial"/>
                <a:cs typeface="Arial"/>
                <a:sym typeface="Arial"/>
              </a:defRPr>
            </a:lvl8pPr>
            <a:lvl9pPr marL="0" lvl="8" indent="0" algn="l">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92" name="Google Shape;92;g3eb783fec72_0_99"/>
          <p:cNvSpPr txBox="1">
            <a:spLocks noGrp="1"/>
          </p:cNvSpPr>
          <p:nvPr>
            <p:ph type="ftr" idx="11"/>
          </p:nvPr>
        </p:nvSpPr>
        <p:spPr>
          <a:xfrm>
            <a:off x="573552" y="4852597"/>
            <a:ext cx="4311000" cy="1035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 Teal">
  <p:cSld name="Cover – Teal">
    <p:bg>
      <p:bgPr>
        <a:solidFill>
          <a:schemeClr val="accent2"/>
        </a:solidFill>
        <a:effectLst/>
      </p:bgPr>
    </p:bg>
    <p:spTree>
      <p:nvGrpSpPr>
        <p:cNvPr id="1" name="Shape 93"/>
        <p:cNvGrpSpPr/>
        <p:nvPr/>
      </p:nvGrpSpPr>
      <p:grpSpPr>
        <a:xfrm>
          <a:off x="0" y="0"/>
          <a:ext cx="0" cy="0"/>
          <a:chOff x="0" y="0"/>
          <a:chExt cx="0" cy="0"/>
        </a:xfrm>
      </p:grpSpPr>
      <p:pic>
        <p:nvPicPr>
          <p:cNvPr id="94" name="Google Shape;94;g3eb783fec72_0_105"/>
          <p:cNvPicPr preferRelativeResize="0"/>
          <p:nvPr/>
        </p:nvPicPr>
        <p:blipFill rotWithShape="1">
          <a:blip r:embed="rId2">
            <a:alphaModFix/>
          </a:blip>
          <a:srcRect/>
          <a:stretch/>
        </p:blipFill>
        <p:spPr>
          <a:xfrm>
            <a:off x="428220" y="478425"/>
            <a:ext cx="1297452" cy="840941"/>
          </a:xfrm>
          <a:prstGeom prst="rect">
            <a:avLst/>
          </a:prstGeom>
          <a:noFill/>
          <a:ln>
            <a:noFill/>
          </a:ln>
        </p:spPr>
      </p:pic>
      <p:sp>
        <p:nvSpPr>
          <p:cNvPr id="95" name="Google Shape;95;g3eb783fec72_0_105"/>
          <p:cNvSpPr txBox="1">
            <a:spLocks noGrp="1"/>
          </p:cNvSpPr>
          <p:nvPr>
            <p:ph type="dt" idx="10"/>
          </p:nvPr>
        </p:nvSpPr>
        <p:spPr>
          <a:xfrm>
            <a:off x="428220" y="4616419"/>
            <a:ext cx="1925400" cy="179100"/>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96" name="Google Shape;96;g3eb783fec72_0_105"/>
          <p:cNvSpPr txBox="1">
            <a:spLocks noGrp="1"/>
          </p:cNvSpPr>
          <p:nvPr>
            <p:ph type="body" idx="1"/>
          </p:nvPr>
        </p:nvSpPr>
        <p:spPr>
          <a:xfrm>
            <a:off x="429766" y="3185161"/>
            <a:ext cx="6147600" cy="508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lt1"/>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97" name="Google Shape;97;g3eb783fec72_0_105"/>
          <p:cNvSpPr txBox="1">
            <a:spLocks noGrp="1"/>
          </p:cNvSpPr>
          <p:nvPr>
            <p:ph type="body" idx="2"/>
          </p:nvPr>
        </p:nvSpPr>
        <p:spPr>
          <a:xfrm>
            <a:off x="422901" y="4102257"/>
            <a:ext cx="6154500" cy="426600"/>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lt1"/>
                </a:solidFill>
                <a:latin typeface="Arial"/>
                <a:ea typeface="Arial"/>
                <a:cs typeface="Arial"/>
                <a:sym typeface="Aria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228600" algn="l">
              <a:spcBef>
                <a:spcPts val="600"/>
              </a:spcBef>
              <a:spcAft>
                <a:spcPts val="0"/>
              </a:spcAft>
              <a:buClr>
                <a:schemeClr val="lt1"/>
              </a:buClr>
              <a:buSzPts val="1800"/>
              <a:buNone/>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98" name="Google Shape;98;g3eb783fec72_0_105"/>
          <p:cNvSpPr txBox="1">
            <a:spLocks noGrp="1"/>
          </p:cNvSpPr>
          <p:nvPr>
            <p:ph type="title"/>
          </p:nvPr>
        </p:nvSpPr>
        <p:spPr>
          <a:xfrm>
            <a:off x="426151" y="1878497"/>
            <a:ext cx="6141300" cy="1311900"/>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Generated (g3eb783fec72_10_0)">
  <p:cSld name="Generated (g3eb783fec72_10_0)">
    <p:spTree>
      <p:nvGrpSpPr>
        <p:cNvPr id="1" name="Shape 9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ver 4 – Navy">
  <p:cSld name="Cover 4 – Navy">
    <p:bg>
      <p:bgPr>
        <a:solidFill>
          <a:schemeClr val="dk2"/>
        </a:solidFill>
        <a:effectLst/>
      </p:bgPr>
    </p:bg>
    <p:spTree>
      <p:nvGrpSpPr>
        <p:cNvPr id="1" name="Shape 108"/>
        <p:cNvGrpSpPr/>
        <p:nvPr/>
      </p:nvGrpSpPr>
      <p:grpSpPr>
        <a:xfrm>
          <a:off x="0" y="0"/>
          <a:ext cx="0" cy="0"/>
          <a:chOff x="0" y="0"/>
          <a:chExt cx="0" cy="0"/>
        </a:xfrm>
      </p:grpSpPr>
      <p:sp>
        <p:nvSpPr>
          <p:cNvPr id="109" name="Google Shape;109;g3eb783fec72_93_222"/>
          <p:cNvSpPr txBox="1">
            <a:spLocks noGrp="1"/>
          </p:cNvSpPr>
          <p:nvPr>
            <p:ph type="title"/>
          </p:nvPr>
        </p:nvSpPr>
        <p:spPr>
          <a:xfrm>
            <a:off x="338328" y="1646422"/>
            <a:ext cx="6437400" cy="1311900"/>
          </a:xfrm>
          <a:prstGeom prst="rect">
            <a:avLst/>
          </a:prstGeom>
          <a:noFill/>
          <a:ln>
            <a:noFill/>
          </a:ln>
        </p:spPr>
        <p:txBody>
          <a:bodyPr spcFirstLastPara="1" wrap="square" lIns="0" tIns="45700" rIns="91425" bIns="0" anchor="b" anchorCtr="0">
            <a:noAutofit/>
          </a:bodyPr>
          <a:lstStyle>
            <a:lvl1pPr lvl="0" algn="l">
              <a:lnSpc>
                <a:spcPct val="85000"/>
              </a:lnSpc>
              <a:spcBef>
                <a:spcPts val="0"/>
              </a:spcBef>
              <a:spcAft>
                <a:spcPts val="0"/>
              </a:spcAft>
              <a:buClr>
                <a:schemeClr val="lt1"/>
              </a:buClr>
              <a:buSzPts val="3600"/>
              <a:buFont typeface="Times New Roman"/>
              <a:buNone/>
              <a:defRPr sz="3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g3eb783fec72_93_222"/>
          <p:cNvSpPr txBox="1">
            <a:spLocks noGrp="1"/>
          </p:cNvSpPr>
          <p:nvPr>
            <p:ph type="body" idx="1"/>
          </p:nvPr>
        </p:nvSpPr>
        <p:spPr>
          <a:xfrm>
            <a:off x="338328" y="3044526"/>
            <a:ext cx="6432600" cy="508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lt1"/>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11" name="Google Shape;111;g3eb783fec72_93_222"/>
          <p:cNvSpPr txBox="1">
            <a:spLocks noGrp="1"/>
          </p:cNvSpPr>
          <p:nvPr>
            <p:ph type="body" idx="2"/>
          </p:nvPr>
        </p:nvSpPr>
        <p:spPr>
          <a:xfrm>
            <a:off x="338328" y="4120016"/>
            <a:ext cx="4191600" cy="426600"/>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lt1"/>
                </a:solidFil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12" name="Google Shape;112;g3eb783fec72_93_222"/>
          <p:cNvSpPr txBox="1">
            <a:spLocks noGrp="1"/>
          </p:cNvSpPr>
          <p:nvPr>
            <p:ph type="dt" idx="10"/>
          </p:nvPr>
        </p:nvSpPr>
        <p:spPr>
          <a:xfrm>
            <a:off x="338328" y="4634178"/>
            <a:ext cx="1925400" cy="179100"/>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13" name="Google Shape;113;g3eb783fec72_93_222"/>
          <p:cNvSpPr/>
          <p:nvPr/>
        </p:nvSpPr>
        <p:spPr>
          <a:xfrm rot="5400000">
            <a:off x="2622600" y="-1377899"/>
            <a:ext cx="5143500" cy="7899300"/>
          </a:xfrm>
          <a:prstGeom prst="rect">
            <a:avLst/>
          </a:prstGeom>
          <a:noFill/>
          <a:ln>
            <a:noFill/>
          </a:ln>
        </p:spPr>
      </p:sp>
      <p:pic>
        <p:nvPicPr>
          <p:cNvPr id="114" name="Google Shape;114;g3eb783fec72_93_222"/>
          <p:cNvPicPr preferRelativeResize="0"/>
          <p:nvPr/>
        </p:nvPicPr>
        <p:blipFill rotWithShape="1">
          <a:blip>
            <a:alphaModFix/>
          </a:blip>
          <a:srcRect/>
          <a:stretch/>
        </p:blipFill>
        <p:spPr>
          <a:xfrm>
            <a:off x="335411" y="303864"/>
            <a:ext cx="977866" cy="977866"/>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Cover 3 – Blue">
  <p:cSld name="Cover 3 – Blue">
    <p:bg>
      <p:bgPr>
        <a:solidFill>
          <a:schemeClr val="accent1"/>
        </a:solidFill>
        <a:effectLst/>
      </p:bgPr>
    </p:bg>
    <p:spTree>
      <p:nvGrpSpPr>
        <p:cNvPr id="1" name="Shape 115"/>
        <p:cNvGrpSpPr/>
        <p:nvPr/>
      </p:nvGrpSpPr>
      <p:grpSpPr>
        <a:xfrm>
          <a:off x="0" y="0"/>
          <a:ext cx="0" cy="0"/>
          <a:chOff x="0" y="0"/>
          <a:chExt cx="0" cy="0"/>
        </a:xfrm>
      </p:grpSpPr>
      <p:sp>
        <p:nvSpPr>
          <p:cNvPr id="116" name="Google Shape;116;g3eb783fec72_93_229"/>
          <p:cNvSpPr txBox="1">
            <a:spLocks noGrp="1"/>
          </p:cNvSpPr>
          <p:nvPr>
            <p:ph type="title"/>
          </p:nvPr>
        </p:nvSpPr>
        <p:spPr>
          <a:xfrm>
            <a:off x="337463" y="1649297"/>
            <a:ext cx="6437400" cy="1311900"/>
          </a:xfrm>
          <a:prstGeom prst="rect">
            <a:avLst/>
          </a:prstGeom>
          <a:noFill/>
          <a:ln>
            <a:noFill/>
          </a:ln>
        </p:spPr>
        <p:txBody>
          <a:bodyPr spcFirstLastPara="1" wrap="square" lIns="0" tIns="45700" rIns="91425" bIns="0" anchor="b" anchorCtr="0">
            <a:noAutofit/>
          </a:bodyPr>
          <a:lstStyle>
            <a:lvl1pPr lvl="0" algn="l">
              <a:lnSpc>
                <a:spcPct val="85000"/>
              </a:lnSpc>
              <a:spcBef>
                <a:spcPts val="0"/>
              </a:spcBef>
              <a:spcAft>
                <a:spcPts val="0"/>
              </a:spcAft>
              <a:buClr>
                <a:schemeClr val="lt1"/>
              </a:buClr>
              <a:buSzPts val="3600"/>
              <a:buFont typeface="Times New Roman"/>
              <a:buNone/>
              <a:defRPr sz="3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g3eb783fec72_93_229"/>
          <p:cNvSpPr txBox="1">
            <a:spLocks noGrp="1"/>
          </p:cNvSpPr>
          <p:nvPr>
            <p:ph type="body" idx="1"/>
          </p:nvPr>
        </p:nvSpPr>
        <p:spPr>
          <a:xfrm>
            <a:off x="341081" y="3047401"/>
            <a:ext cx="6432600" cy="508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lt1"/>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18" name="Google Shape;118;g3eb783fec72_93_229"/>
          <p:cNvSpPr txBox="1">
            <a:spLocks noGrp="1"/>
          </p:cNvSpPr>
          <p:nvPr>
            <p:ph type="body" idx="2"/>
          </p:nvPr>
        </p:nvSpPr>
        <p:spPr>
          <a:xfrm>
            <a:off x="338328" y="4120016"/>
            <a:ext cx="4191600" cy="426600"/>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lt1"/>
                </a:solidFil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19" name="Google Shape;119;g3eb783fec72_93_229"/>
          <p:cNvSpPr txBox="1">
            <a:spLocks noGrp="1"/>
          </p:cNvSpPr>
          <p:nvPr>
            <p:ph type="dt" idx="10"/>
          </p:nvPr>
        </p:nvSpPr>
        <p:spPr>
          <a:xfrm>
            <a:off x="338328" y="4634178"/>
            <a:ext cx="1925400" cy="179100"/>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20" name="Google Shape;120;g3eb783fec72_93_229"/>
          <p:cNvSpPr/>
          <p:nvPr/>
        </p:nvSpPr>
        <p:spPr>
          <a:xfrm rot="5400000">
            <a:off x="3213900" y="-786598"/>
            <a:ext cx="5143500" cy="6716700"/>
          </a:xfrm>
          <a:prstGeom prst="rect">
            <a:avLst/>
          </a:prstGeom>
          <a:noFill/>
          <a:ln>
            <a:noFill/>
          </a:ln>
        </p:spPr>
      </p:sp>
      <p:pic>
        <p:nvPicPr>
          <p:cNvPr id="121" name="Google Shape;121;g3eb783fec72_93_229"/>
          <p:cNvPicPr preferRelativeResize="0"/>
          <p:nvPr/>
        </p:nvPicPr>
        <p:blipFill rotWithShape="1">
          <a:blip>
            <a:alphaModFix/>
          </a:blip>
          <a:srcRect/>
          <a:stretch/>
        </p:blipFill>
        <p:spPr>
          <a:xfrm>
            <a:off x="335411" y="303864"/>
            <a:ext cx="977866" cy="977866"/>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over 3 – Teal">
  <p:cSld name="Cover 3 – Teal">
    <p:bg>
      <p:bgPr>
        <a:solidFill>
          <a:schemeClr val="accent2"/>
        </a:solidFill>
        <a:effectLst/>
      </p:bgPr>
    </p:bg>
    <p:spTree>
      <p:nvGrpSpPr>
        <p:cNvPr id="1" name="Shape 122"/>
        <p:cNvGrpSpPr/>
        <p:nvPr/>
      </p:nvGrpSpPr>
      <p:grpSpPr>
        <a:xfrm>
          <a:off x="0" y="0"/>
          <a:ext cx="0" cy="0"/>
          <a:chOff x="0" y="0"/>
          <a:chExt cx="0" cy="0"/>
        </a:xfrm>
      </p:grpSpPr>
      <p:sp>
        <p:nvSpPr>
          <p:cNvPr id="123" name="Google Shape;123;g3eb783fec72_93_236"/>
          <p:cNvSpPr txBox="1">
            <a:spLocks noGrp="1"/>
          </p:cNvSpPr>
          <p:nvPr>
            <p:ph type="title"/>
          </p:nvPr>
        </p:nvSpPr>
        <p:spPr>
          <a:xfrm>
            <a:off x="338328" y="1647442"/>
            <a:ext cx="6437400" cy="1311900"/>
          </a:xfrm>
          <a:prstGeom prst="rect">
            <a:avLst/>
          </a:prstGeom>
          <a:noFill/>
          <a:ln>
            <a:noFill/>
          </a:ln>
        </p:spPr>
        <p:txBody>
          <a:bodyPr spcFirstLastPara="1" wrap="square" lIns="0" tIns="45700" rIns="91425" bIns="0" anchor="b" anchorCtr="0">
            <a:noAutofit/>
          </a:bodyPr>
          <a:lstStyle>
            <a:lvl1pPr lvl="0" algn="l">
              <a:lnSpc>
                <a:spcPct val="85000"/>
              </a:lnSpc>
              <a:spcBef>
                <a:spcPts val="0"/>
              </a:spcBef>
              <a:spcAft>
                <a:spcPts val="0"/>
              </a:spcAft>
              <a:buClr>
                <a:schemeClr val="lt1"/>
              </a:buClr>
              <a:buSzPts val="3600"/>
              <a:buFont typeface="Times New Roman"/>
              <a:buNone/>
              <a:defRPr sz="3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g3eb783fec72_93_236"/>
          <p:cNvSpPr txBox="1">
            <a:spLocks noGrp="1"/>
          </p:cNvSpPr>
          <p:nvPr>
            <p:ph type="body" idx="1"/>
          </p:nvPr>
        </p:nvSpPr>
        <p:spPr>
          <a:xfrm>
            <a:off x="338328" y="3045546"/>
            <a:ext cx="6432600" cy="508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lt1"/>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25" name="Google Shape;125;g3eb783fec72_93_236"/>
          <p:cNvSpPr txBox="1">
            <a:spLocks noGrp="1"/>
          </p:cNvSpPr>
          <p:nvPr>
            <p:ph type="body" idx="2"/>
          </p:nvPr>
        </p:nvSpPr>
        <p:spPr>
          <a:xfrm>
            <a:off x="338328" y="4120016"/>
            <a:ext cx="4191600" cy="426600"/>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lt1"/>
                </a:solidFil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26" name="Google Shape;126;g3eb783fec72_93_236"/>
          <p:cNvSpPr txBox="1">
            <a:spLocks noGrp="1"/>
          </p:cNvSpPr>
          <p:nvPr>
            <p:ph type="dt" idx="10"/>
          </p:nvPr>
        </p:nvSpPr>
        <p:spPr>
          <a:xfrm>
            <a:off x="338328" y="4634178"/>
            <a:ext cx="1925400" cy="179100"/>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pic>
        <p:nvPicPr>
          <p:cNvPr id="127" name="Google Shape;127;g3eb783fec72_93_236"/>
          <p:cNvPicPr preferRelativeResize="0"/>
          <p:nvPr/>
        </p:nvPicPr>
        <p:blipFill rotWithShape="1">
          <a:blip>
            <a:alphaModFix amt="25000"/>
          </a:blip>
          <a:srcRect b="-8148"/>
          <a:stretch/>
        </p:blipFill>
        <p:spPr>
          <a:xfrm rot="10800000">
            <a:off x="2413326" y="62568"/>
            <a:ext cx="6730676" cy="1959529"/>
          </a:xfrm>
          <a:prstGeom prst="rect">
            <a:avLst/>
          </a:prstGeom>
          <a:noFill/>
          <a:ln>
            <a:noFill/>
          </a:ln>
        </p:spPr>
      </p:pic>
      <p:pic>
        <p:nvPicPr>
          <p:cNvPr id="128" name="Google Shape;128;g3eb783fec72_93_236"/>
          <p:cNvPicPr preferRelativeResize="0"/>
          <p:nvPr/>
        </p:nvPicPr>
        <p:blipFill rotWithShape="1">
          <a:blip>
            <a:alphaModFix/>
          </a:blip>
          <a:srcRect/>
          <a:stretch/>
        </p:blipFill>
        <p:spPr>
          <a:xfrm>
            <a:off x="335411" y="303864"/>
            <a:ext cx="977866" cy="977866"/>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Cover 3 – White">
  <p:cSld name="Cover 3 – White">
    <p:bg>
      <p:bgPr>
        <a:solidFill>
          <a:schemeClr val="lt2"/>
        </a:solidFill>
        <a:effectLst/>
      </p:bgPr>
    </p:bg>
    <p:spTree>
      <p:nvGrpSpPr>
        <p:cNvPr id="1" name="Shape 129"/>
        <p:cNvGrpSpPr/>
        <p:nvPr/>
      </p:nvGrpSpPr>
      <p:grpSpPr>
        <a:xfrm>
          <a:off x="0" y="0"/>
          <a:ext cx="0" cy="0"/>
          <a:chOff x="0" y="0"/>
          <a:chExt cx="0" cy="0"/>
        </a:xfrm>
      </p:grpSpPr>
      <p:sp>
        <p:nvSpPr>
          <p:cNvPr id="130" name="Google Shape;130;g3eb783fec72_93_243"/>
          <p:cNvSpPr txBox="1">
            <a:spLocks noGrp="1"/>
          </p:cNvSpPr>
          <p:nvPr>
            <p:ph type="title"/>
          </p:nvPr>
        </p:nvSpPr>
        <p:spPr>
          <a:xfrm>
            <a:off x="337463" y="1642974"/>
            <a:ext cx="6437400" cy="1311900"/>
          </a:xfrm>
          <a:prstGeom prst="rect">
            <a:avLst/>
          </a:prstGeom>
          <a:noFill/>
          <a:ln>
            <a:noFill/>
          </a:ln>
        </p:spPr>
        <p:txBody>
          <a:bodyPr spcFirstLastPara="1" wrap="square" lIns="0" tIns="45700" rIns="91425" bIns="0" anchor="b" anchorCtr="0">
            <a:noAutofit/>
          </a:bodyPr>
          <a:lstStyle>
            <a:lvl1pPr lvl="0" algn="l">
              <a:lnSpc>
                <a:spcPct val="85000"/>
              </a:lnSpc>
              <a:spcBef>
                <a:spcPts val="0"/>
              </a:spcBef>
              <a:spcAft>
                <a:spcPts val="0"/>
              </a:spcAft>
              <a:buClr>
                <a:schemeClr val="dk2"/>
              </a:buClr>
              <a:buSzPts val="3600"/>
              <a:buFont typeface="Times New Roman"/>
              <a:buNone/>
              <a:defRPr sz="3600" b="0" i="0">
                <a:solidFill>
                  <a:schemeClr val="dk2"/>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g3eb783fec72_93_243"/>
          <p:cNvSpPr txBox="1">
            <a:spLocks noGrp="1"/>
          </p:cNvSpPr>
          <p:nvPr>
            <p:ph type="body" idx="1"/>
          </p:nvPr>
        </p:nvSpPr>
        <p:spPr>
          <a:xfrm>
            <a:off x="341081" y="3041078"/>
            <a:ext cx="6432600" cy="508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0"/>
              </a:spcBef>
              <a:spcAft>
                <a:spcPts val="0"/>
              </a:spcAft>
              <a:buSzPts val="1440"/>
              <a:buNone/>
              <a:defRPr sz="1800" b="0" i="0">
                <a:solidFill>
                  <a:schemeClr val="dk2"/>
                </a:solidFill>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32" name="Google Shape;132;g3eb783fec72_93_243"/>
          <p:cNvSpPr txBox="1">
            <a:spLocks noGrp="1"/>
          </p:cNvSpPr>
          <p:nvPr>
            <p:ph type="body" idx="2"/>
          </p:nvPr>
        </p:nvSpPr>
        <p:spPr>
          <a:xfrm>
            <a:off x="338328" y="4120016"/>
            <a:ext cx="4191600" cy="426600"/>
          </a:xfrm>
          <a:prstGeom prst="rect">
            <a:avLst/>
          </a:prstGeom>
          <a:noFill/>
          <a:ln>
            <a:noFill/>
          </a:ln>
        </p:spPr>
        <p:txBody>
          <a:bodyPr spcFirstLastPara="1" wrap="square" lIns="0" tIns="0" rIns="91425" bIns="0" anchor="b" anchorCtr="0">
            <a:noAutofit/>
          </a:bodyPr>
          <a:lstStyle>
            <a:lvl1pPr marL="457200" lvl="0" indent="-228600" algn="l">
              <a:lnSpc>
                <a:spcPct val="100000"/>
              </a:lnSpc>
              <a:spcBef>
                <a:spcPts val="0"/>
              </a:spcBef>
              <a:spcAft>
                <a:spcPts val="0"/>
              </a:spcAft>
              <a:buSzPts val="1280"/>
              <a:buNone/>
              <a:defRPr sz="1600" b="1" i="0">
                <a:solidFill>
                  <a:schemeClr val="dk2"/>
                </a:solidFill>
              </a:defRPr>
            </a:lvl1pPr>
            <a:lvl2pPr marL="914400" lvl="1" indent="-342900" algn="l">
              <a:lnSpc>
                <a:spcPct val="100000"/>
              </a:lnSpc>
              <a:spcBef>
                <a:spcPts val="0"/>
              </a:spcBef>
              <a:spcAft>
                <a:spcPts val="0"/>
              </a:spcAft>
              <a:buSzPts val="1800"/>
              <a:buChar char="-"/>
              <a:defRPr sz="1800">
                <a:latin typeface="Arial"/>
                <a:ea typeface="Arial"/>
                <a:cs typeface="Arial"/>
                <a:sym typeface="Arial"/>
              </a:defRPr>
            </a:lvl2pPr>
            <a:lvl3pPr marL="1371600" lvl="2" indent="-308610" algn="l">
              <a:lnSpc>
                <a:spcPct val="100000"/>
              </a:lnSpc>
              <a:spcBef>
                <a:spcPts val="600"/>
              </a:spcBef>
              <a:spcAft>
                <a:spcPts val="0"/>
              </a:spcAft>
              <a:buSzPts val="1260"/>
              <a:buChar char="▪"/>
              <a:defRPr sz="1800">
                <a:latin typeface="Arial"/>
                <a:ea typeface="Arial"/>
                <a:cs typeface="Arial"/>
                <a:sym typeface="Arial"/>
              </a:defRPr>
            </a:lvl3pPr>
            <a:lvl4pPr marL="1828800" lvl="3" indent="-342900" algn="l">
              <a:lnSpc>
                <a:spcPct val="100000"/>
              </a:lnSpc>
              <a:spcBef>
                <a:spcPts val="600"/>
              </a:spcBef>
              <a:spcAft>
                <a:spcPts val="0"/>
              </a:spcAft>
              <a:buSzPts val="1800"/>
              <a:buChar char="-"/>
              <a:defRPr sz="1800">
                <a:latin typeface="Arial"/>
                <a:ea typeface="Arial"/>
                <a:cs typeface="Arial"/>
                <a:sym typeface="Arial"/>
              </a:defRPr>
            </a:lvl4pPr>
            <a:lvl5pPr marL="2286000" lvl="4" indent="-228600" algn="l">
              <a:lnSpc>
                <a:spcPct val="100000"/>
              </a:lnSpc>
              <a:spcBef>
                <a:spcPts val="600"/>
              </a:spcBef>
              <a:spcAft>
                <a:spcPts val="0"/>
              </a:spcAft>
              <a:buSzPts val="1800"/>
              <a:buNone/>
              <a:defRPr sz="1800">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33" name="Google Shape;133;g3eb783fec72_93_243"/>
          <p:cNvSpPr txBox="1">
            <a:spLocks noGrp="1"/>
          </p:cNvSpPr>
          <p:nvPr>
            <p:ph type="dt" idx="10"/>
          </p:nvPr>
        </p:nvSpPr>
        <p:spPr>
          <a:xfrm>
            <a:off x="338328" y="4634178"/>
            <a:ext cx="1925400" cy="179100"/>
          </a:xfrm>
          <a:prstGeom prst="rect">
            <a:avLst/>
          </a:prstGeom>
          <a:noFill/>
          <a:ln>
            <a:noFill/>
          </a:ln>
        </p:spPr>
        <p:txBody>
          <a:bodyPr spcFirstLastPara="1" wrap="square" lIns="0" tIns="0" rIns="91425" bIns="0" anchor="b" anchorCtr="0">
            <a:noAutofit/>
          </a:bodyPr>
          <a:lstStyle>
            <a:lvl1pPr marR="0" lvl="0" algn="l" rtl="0">
              <a:spcBef>
                <a:spcPts val="0"/>
              </a:spcBef>
              <a:spcAft>
                <a:spcPts val="0"/>
              </a:spcAft>
              <a:buSzPts val="1400"/>
              <a:buNone/>
              <a:defRPr sz="1400" b="1" i="0">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pic>
        <p:nvPicPr>
          <p:cNvPr id="134" name="Google Shape;134;g3eb783fec72_93_243"/>
          <p:cNvPicPr preferRelativeResize="0"/>
          <p:nvPr/>
        </p:nvPicPr>
        <p:blipFill rotWithShape="1">
          <a:blip>
            <a:alphaModFix/>
          </a:blip>
          <a:srcRect/>
          <a:stretch/>
        </p:blipFill>
        <p:spPr>
          <a:xfrm>
            <a:off x="299681" y="305870"/>
            <a:ext cx="999731" cy="999459"/>
          </a:xfrm>
          <a:prstGeom prst="rect">
            <a:avLst/>
          </a:prstGeom>
          <a:noFill/>
          <a:ln>
            <a:noFill/>
          </a:ln>
        </p:spPr>
      </p:pic>
      <p:pic>
        <p:nvPicPr>
          <p:cNvPr id="135" name="Google Shape;135;g3eb783fec72_93_243"/>
          <p:cNvPicPr preferRelativeResize="0"/>
          <p:nvPr/>
        </p:nvPicPr>
        <p:blipFill rotWithShape="1">
          <a:blip>
            <a:alphaModFix amt="45000"/>
          </a:blip>
          <a:srcRect r="32084"/>
          <a:stretch/>
        </p:blipFill>
        <p:spPr>
          <a:xfrm>
            <a:off x="2244538" y="183586"/>
            <a:ext cx="6899462" cy="1686849"/>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ullet Slide - Navy">
  <p:cSld name="Bullet Slide - Navy">
    <p:bg>
      <p:bgPr>
        <a:solidFill>
          <a:schemeClr val="dk2"/>
        </a:solidFill>
        <a:effectLst/>
      </p:bgPr>
    </p:bg>
    <p:spTree>
      <p:nvGrpSpPr>
        <p:cNvPr id="1" name="Shape 136"/>
        <p:cNvGrpSpPr/>
        <p:nvPr/>
      </p:nvGrpSpPr>
      <p:grpSpPr>
        <a:xfrm>
          <a:off x="0" y="0"/>
          <a:ext cx="0" cy="0"/>
          <a:chOff x="0" y="0"/>
          <a:chExt cx="0" cy="0"/>
        </a:xfrm>
      </p:grpSpPr>
      <p:sp>
        <p:nvSpPr>
          <p:cNvPr id="137" name="Google Shape;137;g3eb783fec72_93_250"/>
          <p:cNvSpPr txBox="1">
            <a:spLocks noGrp="1"/>
          </p:cNvSpPr>
          <p:nvPr>
            <p:ph type="title"/>
          </p:nvPr>
        </p:nvSpPr>
        <p:spPr>
          <a:xfrm>
            <a:off x="453585" y="318751"/>
            <a:ext cx="8173500" cy="458700"/>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g3eb783fec72_93_250"/>
          <p:cNvSpPr txBox="1">
            <a:spLocks noGrp="1"/>
          </p:cNvSpPr>
          <p:nvPr>
            <p:ph type="body" idx="1"/>
          </p:nvPr>
        </p:nvSpPr>
        <p:spPr>
          <a:xfrm>
            <a:off x="457202" y="695741"/>
            <a:ext cx="8169900" cy="3579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440"/>
              <a:buNone/>
              <a:defRPr sz="1800" b="0" i="0">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39" name="Google Shape;139;g3eb783fec72_93_250"/>
          <p:cNvSpPr txBox="1">
            <a:spLocks noGrp="1"/>
          </p:cNvSpPr>
          <p:nvPr>
            <p:ph type="sldNum" idx="12"/>
          </p:nvPr>
        </p:nvSpPr>
        <p:spPr>
          <a:xfrm>
            <a:off x="285555" y="4840129"/>
            <a:ext cx="246000" cy="116400"/>
          </a:xfrm>
          <a:prstGeom prst="rect">
            <a:avLst/>
          </a:prstGeom>
          <a:noFill/>
          <a:ln>
            <a:noFill/>
          </a:ln>
        </p:spPr>
        <p:txBody>
          <a:bodyPr spcFirstLastPara="1" wrap="square" lIns="0" tIns="0" rIns="0" bIns="0" anchor="b" anchorCtr="0">
            <a:noAutofit/>
          </a:bodyPr>
          <a:lstStyle>
            <a:lvl1pPr marL="0" lvl="0" indent="0" algn="l">
              <a:spcBef>
                <a:spcPts val="0"/>
              </a:spcBef>
              <a:buNone/>
              <a:defRPr sz="700" b="0" i="0">
                <a:solidFill>
                  <a:schemeClr val="lt1"/>
                </a:solidFill>
                <a:latin typeface="Arial"/>
                <a:ea typeface="Arial"/>
                <a:cs typeface="Arial"/>
                <a:sym typeface="Arial"/>
              </a:defRPr>
            </a:lvl1pPr>
            <a:lvl2pPr marL="0" lvl="1" indent="0" algn="l">
              <a:spcBef>
                <a:spcPts val="0"/>
              </a:spcBef>
              <a:buNone/>
              <a:defRPr sz="700" b="0" i="0">
                <a:solidFill>
                  <a:schemeClr val="lt1"/>
                </a:solidFill>
                <a:latin typeface="Arial"/>
                <a:ea typeface="Arial"/>
                <a:cs typeface="Arial"/>
                <a:sym typeface="Arial"/>
              </a:defRPr>
            </a:lvl2pPr>
            <a:lvl3pPr marL="0" lvl="2" indent="0" algn="l">
              <a:spcBef>
                <a:spcPts val="0"/>
              </a:spcBef>
              <a:buNone/>
              <a:defRPr sz="700" b="0" i="0">
                <a:solidFill>
                  <a:schemeClr val="lt1"/>
                </a:solidFill>
                <a:latin typeface="Arial"/>
                <a:ea typeface="Arial"/>
                <a:cs typeface="Arial"/>
                <a:sym typeface="Arial"/>
              </a:defRPr>
            </a:lvl3pPr>
            <a:lvl4pPr marL="0" lvl="3" indent="0" algn="l">
              <a:spcBef>
                <a:spcPts val="0"/>
              </a:spcBef>
              <a:buNone/>
              <a:defRPr sz="700" b="0" i="0">
                <a:solidFill>
                  <a:schemeClr val="lt1"/>
                </a:solidFill>
                <a:latin typeface="Arial"/>
                <a:ea typeface="Arial"/>
                <a:cs typeface="Arial"/>
                <a:sym typeface="Arial"/>
              </a:defRPr>
            </a:lvl4pPr>
            <a:lvl5pPr marL="0" lvl="4" indent="0" algn="l">
              <a:spcBef>
                <a:spcPts val="0"/>
              </a:spcBef>
              <a:buNone/>
              <a:defRPr sz="700" b="0" i="0">
                <a:solidFill>
                  <a:schemeClr val="lt1"/>
                </a:solidFill>
                <a:latin typeface="Arial"/>
                <a:ea typeface="Arial"/>
                <a:cs typeface="Arial"/>
                <a:sym typeface="Arial"/>
              </a:defRPr>
            </a:lvl5pPr>
            <a:lvl6pPr marL="0" lvl="5" indent="0" algn="l">
              <a:spcBef>
                <a:spcPts val="0"/>
              </a:spcBef>
              <a:buNone/>
              <a:defRPr sz="700" b="0" i="0">
                <a:solidFill>
                  <a:schemeClr val="lt1"/>
                </a:solidFill>
                <a:latin typeface="Arial"/>
                <a:ea typeface="Arial"/>
                <a:cs typeface="Arial"/>
                <a:sym typeface="Arial"/>
              </a:defRPr>
            </a:lvl6pPr>
            <a:lvl7pPr marL="0" lvl="6" indent="0" algn="l">
              <a:spcBef>
                <a:spcPts val="0"/>
              </a:spcBef>
              <a:buNone/>
              <a:defRPr sz="700" b="0" i="0">
                <a:solidFill>
                  <a:schemeClr val="lt1"/>
                </a:solidFill>
                <a:latin typeface="Arial"/>
                <a:ea typeface="Arial"/>
                <a:cs typeface="Arial"/>
                <a:sym typeface="Arial"/>
              </a:defRPr>
            </a:lvl7pPr>
            <a:lvl8pPr marL="0" lvl="7" indent="0" algn="l">
              <a:spcBef>
                <a:spcPts val="0"/>
              </a:spcBef>
              <a:buNone/>
              <a:defRPr sz="700" b="0" i="0">
                <a:solidFill>
                  <a:schemeClr val="lt1"/>
                </a:solidFill>
                <a:latin typeface="Arial"/>
                <a:ea typeface="Arial"/>
                <a:cs typeface="Arial"/>
                <a:sym typeface="Arial"/>
              </a:defRPr>
            </a:lvl8pPr>
            <a:lvl9pPr marL="0" lvl="8" indent="0" algn="l">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40" name="Google Shape;140;g3eb783fec72_93_250"/>
          <p:cNvSpPr txBox="1">
            <a:spLocks noGrp="1"/>
          </p:cNvSpPr>
          <p:nvPr>
            <p:ph type="ftr" idx="11"/>
          </p:nvPr>
        </p:nvSpPr>
        <p:spPr>
          <a:xfrm>
            <a:off x="561600" y="4852597"/>
            <a:ext cx="4311000" cy="1035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g3eb783fec72_93_250"/>
          <p:cNvSpPr txBox="1">
            <a:spLocks noGrp="1"/>
          </p:cNvSpPr>
          <p:nvPr>
            <p:ph type="body" idx="2"/>
          </p:nvPr>
        </p:nvSpPr>
        <p:spPr>
          <a:xfrm>
            <a:off x="454024" y="1420813"/>
            <a:ext cx="8169900" cy="2932200"/>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42900" algn="l">
              <a:lnSpc>
                <a:spcPct val="100000"/>
              </a:lnSpc>
              <a:spcBef>
                <a:spcPts val="600"/>
              </a:spcBef>
              <a:spcAft>
                <a:spcPts val="0"/>
              </a:spcAft>
              <a:buSzPts val="1800"/>
              <a:buChar char="-"/>
              <a:defRPr/>
            </a:lvl2pPr>
            <a:lvl3pPr marL="1371600" lvl="2" indent="-308610" algn="l">
              <a:lnSpc>
                <a:spcPct val="100000"/>
              </a:lnSpc>
              <a:spcBef>
                <a:spcPts val="600"/>
              </a:spcBef>
              <a:spcAft>
                <a:spcPts val="0"/>
              </a:spcAft>
              <a:buSzPts val="126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800"/>
              <a:buNone/>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lumn Slide – Navy">
  <p:cSld name="Two Column Slide – Navy">
    <p:bg>
      <p:bgPr>
        <a:solidFill>
          <a:schemeClr val="dk2"/>
        </a:solidFill>
        <a:effectLst/>
      </p:bgPr>
    </p:bg>
    <p:spTree>
      <p:nvGrpSpPr>
        <p:cNvPr id="1" name="Shape 142"/>
        <p:cNvGrpSpPr/>
        <p:nvPr/>
      </p:nvGrpSpPr>
      <p:grpSpPr>
        <a:xfrm>
          <a:off x="0" y="0"/>
          <a:ext cx="0" cy="0"/>
          <a:chOff x="0" y="0"/>
          <a:chExt cx="0" cy="0"/>
        </a:xfrm>
      </p:grpSpPr>
      <p:sp>
        <p:nvSpPr>
          <p:cNvPr id="143" name="Google Shape;143;g3eb783fec72_93_256"/>
          <p:cNvSpPr txBox="1">
            <a:spLocks noGrp="1"/>
          </p:cNvSpPr>
          <p:nvPr>
            <p:ph type="title"/>
          </p:nvPr>
        </p:nvSpPr>
        <p:spPr>
          <a:xfrm>
            <a:off x="453585" y="318751"/>
            <a:ext cx="8173500" cy="458700"/>
          </a:xfrm>
          <a:prstGeom prst="rect">
            <a:avLst/>
          </a:prstGeom>
          <a:noFill/>
          <a:ln>
            <a:noFill/>
          </a:ln>
        </p:spPr>
        <p:txBody>
          <a:bodyPr spcFirstLastPara="1" wrap="square" lIns="0" tIns="45700" rIns="91425" bIns="45700" anchor="b" anchorCtr="0">
            <a:noAutofit/>
          </a:bodyPr>
          <a:lstStyle>
            <a:lvl1pPr lvl="0" algn="l">
              <a:lnSpc>
                <a:spcPct val="85000"/>
              </a:lnSpc>
              <a:spcBef>
                <a:spcPts val="0"/>
              </a:spcBef>
              <a:spcAft>
                <a:spcPts val="0"/>
              </a:spcAft>
              <a:buClr>
                <a:schemeClr val="lt1"/>
              </a:buClr>
              <a:buSzPts val="3600"/>
              <a:buFont typeface="Times New Roman"/>
              <a:buNone/>
              <a:defRPr sz="3600" b="0" i="0">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g3eb783fec72_93_256"/>
          <p:cNvSpPr txBox="1">
            <a:spLocks noGrp="1"/>
          </p:cNvSpPr>
          <p:nvPr>
            <p:ph type="body" idx="1"/>
          </p:nvPr>
        </p:nvSpPr>
        <p:spPr>
          <a:xfrm>
            <a:off x="457202" y="695741"/>
            <a:ext cx="8169900" cy="3348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440"/>
              <a:buNone/>
              <a:defRPr sz="1800" b="0" i="0">
                <a:latin typeface="Arial"/>
                <a:ea typeface="Arial"/>
                <a:cs typeface="Arial"/>
                <a:sym typeface="Arial"/>
              </a:defRPr>
            </a:lvl1pPr>
            <a:lvl2pPr marL="914400" lvl="1" indent="-228600" algn="l">
              <a:lnSpc>
                <a:spcPct val="100000"/>
              </a:lnSpc>
              <a:spcBef>
                <a:spcPts val="600"/>
              </a:spcBef>
              <a:spcAft>
                <a:spcPts val="0"/>
              </a:spcAft>
              <a:buSzPts val="2000"/>
              <a:buNone/>
              <a:defRPr i="1">
                <a:latin typeface="Arial"/>
                <a:ea typeface="Arial"/>
                <a:cs typeface="Arial"/>
                <a:sym typeface="Arial"/>
              </a:defRPr>
            </a:lvl2pPr>
            <a:lvl3pPr marL="1371600" lvl="2" indent="-228600" algn="l">
              <a:lnSpc>
                <a:spcPct val="100000"/>
              </a:lnSpc>
              <a:spcBef>
                <a:spcPts val="600"/>
              </a:spcBef>
              <a:spcAft>
                <a:spcPts val="0"/>
              </a:spcAft>
              <a:buSzPts val="1260"/>
              <a:buNone/>
              <a:defRPr i="1">
                <a:latin typeface="Arial"/>
                <a:ea typeface="Arial"/>
                <a:cs typeface="Arial"/>
                <a:sym typeface="Arial"/>
              </a:defRPr>
            </a:lvl3pPr>
            <a:lvl4pPr marL="1828800" lvl="3" indent="-228600" algn="l">
              <a:lnSpc>
                <a:spcPct val="100000"/>
              </a:lnSpc>
              <a:spcBef>
                <a:spcPts val="600"/>
              </a:spcBef>
              <a:spcAft>
                <a:spcPts val="0"/>
              </a:spcAft>
              <a:buSzPts val="1600"/>
              <a:buNone/>
              <a:defRPr i="1">
                <a:latin typeface="Arial"/>
                <a:ea typeface="Arial"/>
                <a:cs typeface="Arial"/>
                <a:sym typeface="Arial"/>
              </a:defRPr>
            </a:lvl4pPr>
            <a:lvl5pPr marL="2286000" lvl="4" indent="-228600" algn="l">
              <a:lnSpc>
                <a:spcPct val="100000"/>
              </a:lnSpc>
              <a:spcBef>
                <a:spcPts val="600"/>
              </a:spcBef>
              <a:spcAft>
                <a:spcPts val="0"/>
              </a:spcAft>
              <a:buSzPts val="1600"/>
              <a:buNone/>
              <a:defRPr i="1">
                <a:latin typeface="Arial"/>
                <a:ea typeface="Arial"/>
                <a:cs typeface="Arial"/>
                <a:sym typeface="Arial"/>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45" name="Google Shape;145;g3eb783fec72_93_256"/>
          <p:cNvSpPr txBox="1">
            <a:spLocks noGrp="1"/>
          </p:cNvSpPr>
          <p:nvPr>
            <p:ph type="sldNum" idx="12"/>
          </p:nvPr>
        </p:nvSpPr>
        <p:spPr>
          <a:xfrm>
            <a:off x="285555" y="4840129"/>
            <a:ext cx="246000" cy="116400"/>
          </a:xfrm>
          <a:prstGeom prst="rect">
            <a:avLst/>
          </a:prstGeom>
          <a:noFill/>
          <a:ln>
            <a:noFill/>
          </a:ln>
        </p:spPr>
        <p:txBody>
          <a:bodyPr spcFirstLastPara="1" wrap="square" lIns="0" tIns="0" rIns="0" bIns="0" anchor="b" anchorCtr="0">
            <a:noAutofit/>
          </a:bodyPr>
          <a:lstStyle>
            <a:lvl1pPr marL="0" lvl="0" indent="0" algn="l">
              <a:spcBef>
                <a:spcPts val="0"/>
              </a:spcBef>
              <a:buNone/>
              <a:defRPr sz="700" b="0" i="0">
                <a:solidFill>
                  <a:schemeClr val="lt1"/>
                </a:solidFill>
                <a:latin typeface="Arial"/>
                <a:ea typeface="Arial"/>
                <a:cs typeface="Arial"/>
                <a:sym typeface="Arial"/>
              </a:defRPr>
            </a:lvl1pPr>
            <a:lvl2pPr marL="0" lvl="1" indent="0" algn="l">
              <a:spcBef>
                <a:spcPts val="0"/>
              </a:spcBef>
              <a:buNone/>
              <a:defRPr sz="700" b="0" i="0">
                <a:solidFill>
                  <a:schemeClr val="lt1"/>
                </a:solidFill>
                <a:latin typeface="Arial"/>
                <a:ea typeface="Arial"/>
                <a:cs typeface="Arial"/>
                <a:sym typeface="Arial"/>
              </a:defRPr>
            </a:lvl2pPr>
            <a:lvl3pPr marL="0" lvl="2" indent="0" algn="l">
              <a:spcBef>
                <a:spcPts val="0"/>
              </a:spcBef>
              <a:buNone/>
              <a:defRPr sz="700" b="0" i="0">
                <a:solidFill>
                  <a:schemeClr val="lt1"/>
                </a:solidFill>
                <a:latin typeface="Arial"/>
                <a:ea typeface="Arial"/>
                <a:cs typeface="Arial"/>
                <a:sym typeface="Arial"/>
              </a:defRPr>
            </a:lvl3pPr>
            <a:lvl4pPr marL="0" lvl="3" indent="0" algn="l">
              <a:spcBef>
                <a:spcPts val="0"/>
              </a:spcBef>
              <a:buNone/>
              <a:defRPr sz="700" b="0" i="0">
                <a:solidFill>
                  <a:schemeClr val="lt1"/>
                </a:solidFill>
                <a:latin typeface="Arial"/>
                <a:ea typeface="Arial"/>
                <a:cs typeface="Arial"/>
                <a:sym typeface="Arial"/>
              </a:defRPr>
            </a:lvl4pPr>
            <a:lvl5pPr marL="0" lvl="4" indent="0" algn="l">
              <a:spcBef>
                <a:spcPts val="0"/>
              </a:spcBef>
              <a:buNone/>
              <a:defRPr sz="700" b="0" i="0">
                <a:solidFill>
                  <a:schemeClr val="lt1"/>
                </a:solidFill>
                <a:latin typeface="Arial"/>
                <a:ea typeface="Arial"/>
                <a:cs typeface="Arial"/>
                <a:sym typeface="Arial"/>
              </a:defRPr>
            </a:lvl5pPr>
            <a:lvl6pPr marL="0" lvl="5" indent="0" algn="l">
              <a:spcBef>
                <a:spcPts val="0"/>
              </a:spcBef>
              <a:buNone/>
              <a:defRPr sz="700" b="0" i="0">
                <a:solidFill>
                  <a:schemeClr val="lt1"/>
                </a:solidFill>
                <a:latin typeface="Arial"/>
                <a:ea typeface="Arial"/>
                <a:cs typeface="Arial"/>
                <a:sym typeface="Arial"/>
              </a:defRPr>
            </a:lvl6pPr>
            <a:lvl7pPr marL="0" lvl="6" indent="0" algn="l">
              <a:spcBef>
                <a:spcPts val="0"/>
              </a:spcBef>
              <a:buNone/>
              <a:defRPr sz="700" b="0" i="0">
                <a:solidFill>
                  <a:schemeClr val="lt1"/>
                </a:solidFill>
                <a:latin typeface="Arial"/>
                <a:ea typeface="Arial"/>
                <a:cs typeface="Arial"/>
                <a:sym typeface="Arial"/>
              </a:defRPr>
            </a:lvl7pPr>
            <a:lvl8pPr marL="0" lvl="7" indent="0" algn="l">
              <a:spcBef>
                <a:spcPts val="0"/>
              </a:spcBef>
              <a:buNone/>
              <a:defRPr sz="700" b="0" i="0">
                <a:solidFill>
                  <a:schemeClr val="lt1"/>
                </a:solidFill>
                <a:latin typeface="Arial"/>
                <a:ea typeface="Arial"/>
                <a:cs typeface="Arial"/>
                <a:sym typeface="Arial"/>
              </a:defRPr>
            </a:lvl8pPr>
            <a:lvl9pPr marL="0" lvl="8" indent="0" algn="l">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46" name="Google Shape;146;g3eb783fec72_93_256"/>
          <p:cNvSpPr txBox="1">
            <a:spLocks noGrp="1"/>
          </p:cNvSpPr>
          <p:nvPr>
            <p:ph type="ftr" idx="11"/>
          </p:nvPr>
        </p:nvSpPr>
        <p:spPr>
          <a:xfrm>
            <a:off x="561600" y="4852597"/>
            <a:ext cx="4311000" cy="1035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b="0" i="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g3eb783fec72_93_256"/>
          <p:cNvSpPr txBox="1">
            <a:spLocks noGrp="1"/>
          </p:cNvSpPr>
          <p:nvPr>
            <p:ph type="body" idx="2"/>
          </p:nvPr>
        </p:nvSpPr>
        <p:spPr>
          <a:xfrm>
            <a:off x="457200" y="1420813"/>
            <a:ext cx="3819600" cy="2852700"/>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42900" algn="l">
              <a:lnSpc>
                <a:spcPct val="100000"/>
              </a:lnSpc>
              <a:spcBef>
                <a:spcPts val="600"/>
              </a:spcBef>
              <a:spcAft>
                <a:spcPts val="0"/>
              </a:spcAft>
              <a:buSzPts val="1800"/>
              <a:buChar char="-"/>
              <a:defRPr/>
            </a:lvl2pPr>
            <a:lvl3pPr marL="1371600" lvl="2" indent="-308610" algn="l">
              <a:lnSpc>
                <a:spcPct val="100000"/>
              </a:lnSpc>
              <a:spcBef>
                <a:spcPts val="600"/>
              </a:spcBef>
              <a:spcAft>
                <a:spcPts val="0"/>
              </a:spcAft>
              <a:buSzPts val="126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800"/>
              <a:buNone/>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
        <p:nvSpPr>
          <p:cNvPr id="148" name="Google Shape;148;g3eb783fec72_93_256"/>
          <p:cNvSpPr txBox="1">
            <a:spLocks noGrp="1"/>
          </p:cNvSpPr>
          <p:nvPr>
            <p:ph type="body" idx="3"/>
          </p:nvPr>
        </p:nvSpPr>
        <p:spPr>
          <a:xfrm>
            <a:off x="4778375" y="1420813"/>
            <a:ext cx="3848100" cy="2852700"/>
          </a:xfrm>
          <a:prstGeom prst="rect">
            <a:avLst/>
          </a:prstGeom>
          <a:noFill/>
          <a:ln>
            <a:noFill/>
          </a:ln>
        </p:spPr>
        <p:txBody>
          <a:bodyPr spcFirstLastPara="1" wrap="square" lIns="0" tIns="45700"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42900" algn="l">
              <a:lnSpc>
                <a:spcPct val="100000"/>
              </a:lnSpc>
              <a:spcBef>
                <a:spcPts val="600"/>
              </a:spcBef>
              <a:spcAft>
                <a:spcPts val="0"/>
              </a:spcAft>
              <a:buSzPts val="1800"/>
              <a:buChar char="-"/>
              <a:defRPr/>
            </a:lvl2pPr>
            <a:lvl3pPr marL="1371600" lvl="2" indent="-308610" algn="l">
              <a:lnSpc>
                <a:spcPct val="100000"/>
              </a:lnSpc>
              <a:spcBef>
                <a:spcPts val="600"/>
              </a:spcBef>
              <a:spcAft>
                <a:spcPts val="0"/>
              </a:spcAft>
              <a:buSzPts val="126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800"/>
              <a:buNone/>
              <a:defRPr/>
            </a:lvl5pPr>
            <a:lvl6pPr marL="2743200" lvl="5" indent="-342900" algn="l">
              <a:spcBef>
                <a:spcPts val="600"/>
              </a:spcBef>
              <a:spcAft>
                <a:spcPts val="0"/>
              </a:spcAft>
              <a:buClr>
                <a:schemeClr val="lt1"/>
              </a:buClr>
              <a:buSzPts val="1800"/>
              <a:buChar char="•"/>
              <a:defRPr/>
            </a:lvl6pPr>
            <a:lvl7pPr marL="3200400" lvl="6" indent="-228600" algn="l">
              <a:spcBef>
                <a:spcPts val="200"/>
              </a:spcBef>
              <a:spcAft>
                <a:spcPts val="0"/>
              </a:spcAft>
              <a:buClr>
                <a:schemeClr val="lt1"/>
              </a:buClr>
              <a:buSzPts val="1800"/>
              <a:buNone/>
              <a:defRPr/>
            </a:lvl7pPr>
            <a:lvl8pPr marL="3657600" lvl="7" indent="-228600" algn="l">
              <a:spcBef>
                <a:spcPts val="400"/>
              </a:spcBef>
              <a:spcAft>
                <a:spcPts val="0"/>
              </a:spcAft>
              <a:buClr>
                <a:schemeClr val="lt1"/>
              </a:buClr>
              <a:buSzPts val="1800"/>
              <a:buNone/>
              <a:defRPr/>
            </a:lvl8pPr>
            <a:lvl9pPr marL="4114800" lvl="8" indent="-228600" algn="l">
              <a:spcBef>
                <a:spcPts val="400"/>
              </a:spcBef>
              <a:spcAft>
                <a:spcPts val="0"/>
              </a:spcAft>
              <a:buClr>
                <a:schemeClr val="lt1"/>
              </a:buClr>
              <a:buSzPts val="1800"/>
              <a:buNone/>
              <a:defRPr/>
            </a:lvl9pPr>
          </a:lstStyle>
          <a:p>
            <a:endParaRP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Closing with logo - Navy">
  <p:cSld name="Closing with logo - Navy">
    <p:bg>
      <p:bgPr>
        <a:solidFill>
          <a:schemeClr val="dk2"/>
        </a:solidFill>
        <a:effectLst/>
      </p:bgPr>
    </p:bg>
    <p:spTree>
      <p:nvGrpSpPr>
        <p:cNvPr id="1" name="Shape 149"/>
        <p:cNvGrpSpPr/>
        <p:nvPr/>
      </p:nvGrpSpPr>
      <p:grpSpPr>
        <a:xfrm>
          <a:off x="0" y="0"/>
          <a:ext cx="0" cy="0"/>
          <a:chOff x="0" y="0"/>
          <a:chExt cx="0" cy="0"/>
        </a:xfrm>
      </p:grpSpPr>
      <p:pic>
        <p:nvPicPr>
          <p:cNvPr id="150" name="Google Shape;150;g3eb783fec72_93_263" descr="UCSF logo"/>
          <p:cNvPicPr preferRelativeResize="0"/>
          <p:nvPr/>
        </p:nvPicPr>
        <p:blipFill rotWithShape="1">
          <a:blip>
            <a:alphaModFix/>
          </a:blip>
          <a:srcRect/>
          <a:stretch/>
        </p:blipFill>
        <p:spPr>
          <a:xfrm>
            <a:off x="3865186" y="2036429"/>
            <a:ext cx="1571041" cy="1018267"/>
          </a:xfrm>
          <a:prstGeom prst="rect">
            <a:avLst/>
          </a:prstGeom>
          <a:noFill/>
          <a:ln>
            <a:noFill/>
          </a:ln>
        </p:spPr>
      </p:pic>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Generated (g3eb783fec72_17_0)">
  <p:cSld name="Generated (g3eb783fec72_17_0)">
    <p:spTree>
      <p:nvGrpSpPr>
        <p:cNvPr id="1" name="Shape 1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
        <p:cNvGrpSpPr/>
        <p:nvPr/>
      </p:nvGrpSpPr>
      <p:grpSpPr>
        <a:xfrm>
          <a:off x="0" y="0"/>
          <a:ext cx="0" cy="0"/>
          <a:chOff x="0" y="0"/>
          <a:chExt cx="0" cy="0"/>
        </a:xfrm>
      </p:grpSpPr>
      <p:sp>
        <p:nvSpPr>
          <p:cNvPr id="11" name="Google Shape;11;p72"/>
          <p:cNvSpPr txBox="1">
            <a:spLocks noGrp="1"/>
          </p:cNvSpPr>
          <p:nvPr>
            <p:ph type="ftr" idx="11"/>
          </p:nvPr>
        </p:nvSpPr>
        <p:spPr>
          <a:xfrm>
            <a:off x="561600" y="4852597"/>
            <a:ext cx="4310907" cy="10348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700" b="0"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2" name="Google Shape;12;p72"/>
          <p:cNvSpPr txBox="1">
            <a:spLocks noGrp="1"/>
          </p:cNvSpPr>
          <p:nvPr>
            <p:ph type="sldNum" idx="12"/>
          </p:nvPr>
        </p:nvSpPr>
        <p:spPr>
          <a:xfrm>
            <a:off x="285555" y="4840129"/>
            <a:ext cx="246061" cy="116425"/>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700" b="0" i="0">
                <a:solidFill>
                  <a:schemeClr val="lt1"/>
                </a:solidFill>
                <a:latin typeface="Arial"/>
                <a:ea typeface="Arial"/>
                <a:cs typeface="Arial"/>
                <a:sym typeface="Arial"/>
              </a:defRPr>
            </a:lvl1pPr>
            <a:lvl2pPr marL="0" marR="0" lvl="1" indent="0" algn="l" rtl="0">
              <a:spcBef>
                <a:spcPts val="0"/>
              </a:spcBef>
              <a:buNone/>
              <a:defRPr sz="700" b="0" i="0">
                <a:solidFill>
                  <a:schemeClr val="lt1"/>
                </a:solidFill>
                <a:latin typeface="Arial"/>
                <a:ea typeface="Arial"/>
                <a:cs typeface="Arial"/>
                <a:sym typeface="Arial"/>
              </a:defRPr>
            </a:lvl2pPr>
            <a:lvl3pPr marL="0" marR="0" lvl="2" indent="0" algn="l" rtl="0">
              <a:spcBef>
                <a:spcPts val="0"/>
              </a:spcBef>
              <a:buNone/>
              <a:defRPr sz="700" b="0" i="0">
                <a:solidFill>
                  <a:schemeClr val="lt1"/>
                </a:solidFill>
                <a:latin typeface="Arial"/>
                <a:ea typeface="Arial"/>
                <a:cs typeface="Arial"/>
                <a:sym typeface="Arial"/>
              </a:defRPr>
            </a:lvl3pPr>
            <a:lvl4pPr marL="0" marR="0" lvl="3" indent="0" algn="l" rtl="0">
              <a:spcBef>
                <a:spcPts val="0"/>
              </a:spcBef>
              <a:buNone/>
              <a:defRPr sz="700" b="0" i="0">
                <a:solidFill>
                  <a:schemeClr val="lt1"/>
                </a:solidFill>
                <a:latin typeface="Arial"/>
                <a:ea typeface="Arial"/>
                <a:cs typeface="Arial"/>
                <a:sym typeface="Arial"/>
              </a:defRPr>
            </a:lvl4pPr>
            <a:lvl5pPr marL="0" marR="0" lvl="4" indent="0" algn="l" rtl="0">
              <a:spcBef>
                <a:spcPts val="0"/>
              </a:spcBef>
              <a:buNone/>
              <a:defRPr sz="700" b="0" i="0">
                <a:solidFill>
                  <a:schemeClr val="lt1"/>
                </a:solidFill>
                <a:latin typeface="Arial"/>
                <a:ea typeface="Arial"/>
                <a:cs typeface="Arial"/>
                <a:sym typeface="Arial"/>
              </a:defRPr>
            </a:lvl5pPr>
            <a:lvl6pPr marL="0" marR="0" lvl="5" indent="0" algn="l" rtl="0">
              <a:spcBef>
                <a:spcPts val="0"/>
              </a:spcBef>
              <a:buNone/>
              <a:defRPr sz="700" b="0" i="0">
                <a:solidFill>
                  <a:schemeClr val="lt1"/>
                </a:solidFill>
                <a:latin typeface="Arial"/>
                <a:ea typeface="Arial"/>
                <a:cs typeface="Arial"/>
                <a:sym typeface="Arial"/>
              </a:defRPr>
            </a:lvl6pPr>
            <a:lvl7pPr marL="0" marR="0" lvl="6" indent="0" algn="l" rtl="0">
              <a:spcBef>
                <a:spcPts val="0"/>
              </a:spcBef>
              <a:buNone/>
              <a:defRPr sz="700" b="0" i="0">
                <a:solidFill>
                  <a:schemeClr val="lt1"/>
                </a:solidFill>
                <a:latin typeface="Arial"/>
                <a:ea typeface="Arial"/>
                <a:cs typeface="Arial"/>
                <a:sym typeface="Arial"/>
              </a:defRPr>
            </a:lvl7pPr>
            <a:lvl8pPr marL="0" marR="0" lvl="7" indent="0" algn="l" rtl="0">
              <a:spcBef>
                <a:spcPts val="0"/>
              </a:spcBef>
              <a:buNone/>
              <a:defRPr sz="700" b="0" i="0">
                <a:solidFill>
                  <a:schemeClr val="lt1"/>
                </a:solidFill>
                <a:latin typeface="Arial"/>
                <a:ea typeface="Arial"/>
                <a:cs typeface="Arial"/>
                <a:sym typeface="Arial"/>
              </a:defRPr>
            </a:lvl8pPr>
            <a:lvl9pPr marL="0" marR="0" lvl="8" indent="0" algn="l" rtl="0">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cxnSp>
        <p:nvCxnSpPr>
          <p:cNvPr id="13" name="Google Shape;13;p72"/>
          <p:cNvCxnSpPr/>
          <p:nvPr/>
        </p:nvCxnSpPr>
        <p:spPr>
          <a:xfrm>
            <a:off x="365125" y="4687560"/>
            <a:ext cx="8413750" cy="0"/>
          </a:xfrm>
          <a:prstGeom prst="straightConnector1">
            <a:avLst/>
          </a:prstGeom>
          <a:noFill/>
          <a:ln w="9525" cap="flat" cmpd="sng">
            <a:solidFill>
              <a:srgbClr val="052049"/>
            </a:solidFill>
            <a:prstDash val="solid"/>
            <a:miter lim="8000"/>
            <a:headEnd type="none" w="med" len="med"/>
            <a:tailEnd type="none" w="med" len="med"/>
          </a:ln>
        </p:spPr>
      </p:cxnSp>
      <p:cxnSp>
        <p:nvCxnSpPr>
          <p:cNvPr id="14" name="Google Shape;14;p72"/>
          <p:cNvCxnSpPr/>
          <p:nvPr/>
        </p:nvCxnSpPr>
        <p:spPr>
          <a:xfrm>
            <a:off x="277813" y="4687560"/>
            <a:ext cx="8595360" cy="0"/>
          </a:xfrm>
          <a:prstGeom prst="straightConnector1">
            <a:avLst/>
          </a:prstGeom>
          <a:noFill/>
          <a:ln w="9525" cap="flat" cmpd="sng">
            <a:solidFill>
              <a:schemeClr val="lt1"/>
            </a:solidFill>
            <a:prstDash val="solid"/>
            <a:miter lim="8000"/>
            <a:headEnd type="none" w="med" len="med"/>
            <a:tailEnd type="none" w="med" len="med"/>
          </a:ln>
        </p:spPr>
      </p:cxnSp>
      <p:sp>
        <p:nvSpPr>
          <p:cNvPr id="15" name="Google Shape;15;p72"/>
          <p:cNvSpPr/>
          <p:nvPr/>
        </p:nvSpPr>
        <p:spPr>
          <a:xfrm>
            <a:off x="8393113" y="4800601"/>
            <a:ext cx="481012" cy="231074"/>
          </a:xfrm>
          <a:custGeom>
            <a:avLst/>
            <a:gdLst/>
            <a:ahLst/>
            <a:cxnLst/>
            <a:rect l="l" t="t" r="r" b="b"/>
            <a:pathLst>
              <a:path w="350" h="168" extrusionOk="0">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lt1"/>
              </a:solidFill>
              <a:latin typeface="Arial"/>
              <a:ea typeface="Arial"/>
              <a:cs typeface="Arial"/>
              <a:sym typeface="Arial"/>
            </a:endParaRPr>
          </a:p>
        </p:txBody>
      </p:sp>
      <p:sp>
        <p:nvSpPr>
          <p:cNvPr id="16" name="Google Shape;16;p72"/>
          <p:cNvSpPr txBox="1">
            <a:spLocks noGrp="1"/>
          </p:cNvSpPr>
          <p:nvPr>
            <p:ph type="body" idx="1"/>
          </p:nvPr>
        </p:nvSpPr>
        <p:spPr>
          <a:xfrm>
            <a:off x="439420" y="1138691"/>
            <a:ext cx="8137665" cy="3194772"/>
          </a:xfrm>
          <a:prstGeom prst="rect">
            <a:avLst/>
          </a:prstGeom>
          <a:noFill/>
          <a:ln>
            <a:noFill/>
          </a:ln>
        </p:spPr>
        <p:txBody>
          <a:bodyPr spcFirstLastPara="1" wrap="square" lIns="0" tIns="45700" rIns="91425" bIns="45700" anchor="t" anchorCtr="0">
            <a:noAutofit/>
          </a:bodyPr>
          <a:lstStyle>
            <a:lvl1pPr marL="457200" marR="0" lvl="0" indent="-340360" algn="l" rtl="0">
              <a:lnSpc>
                <a:spcPct val="100000"/>
              </a:lnSpc>
              <a:spcBef>
                <a:spcPts val="0"/>
              </a:spcBef>
              <a:spcAft>
                <a:spcPts val="0"/>
              </a:spcAft>
              <a:buClr>
                <a:schemeClr val="accent1"/>
              </a:buClr>
              <a:buSzPts val="1760"/>
              <a:buFont typeface="Noto Sans Symbols"/>
              <a:buChar char="▪"/>
              <a:defRPr sz="2200" b="0" i="0" u="none" strike="noStrike" cap="none">
                <a:solidFill>
                  <a:schemeClr val="lt1"/>
                </a:solidFill>
                <a:latin typeface="Arial"/>
                <a:ea typeface="Arial"/>
                <a:cs typeface="Arial"/>
                <a:sym typeface="Arial"/>
              </a:defRPr>
            </a:lvl1pPr>
            <a:lvl2pPr marL="914400" marR="0" lvl="1" indent="-355600" algn="l" rtl="0">
              <a:lnSpc>
                <a:spcPct val="100000"/>
              </a:lnSpc>
              <a:spcBef>
                <a:spcPts val="600"/>
              </a:spcBef>
              <a:spcAft>
                <a:spcPts val="0"/>
              </a:spcAft>
              <a:buClr>
                <a:schemeClr val="lt2"/>
              </a:buClr>
              <a:buSzPts val="2000"/>
              <a:buFont typeface="NTR"/>
              <a:buChar char="-"/>
              <a:defRPr sz="2000" b="0" i="0" u="none" strike="noStrike" cap="none">
                <a:solidFill>
                  <a:schemeClr val="lt1"/>
                </a:solidFill>
                <a:latin typeface="Arial"/>
                <a:ea typeface="Arial"/>
                <a:cs typeface="Arial"/>
                <a:sym typeface="Arial"/>
              </a:defRPr>
            </a:lvl2pPr>
            <a:lvl3pPr marL="1371600" marR="0" lvl="2" indent="-308610" algn="l" rtl="0">
              <a:lnSpc>
                <a:spcPct val="100000"/>
              </a:lnSpc>
              <a:spcBef>
                <a:spcPts val="600"/>
              </a:spcBef>
              <a:spcAft>
                <a:spcPts val="0"/>
              </a:spcAft>
              <a:buClr>
                <a:schemeClr val="accent1"/>
              </a:buClr>
              <a:buSzPts val="1260"/>
              <a:buFont typeface="Noto Sans Symbols"/>
              <a:buChar char="▪"/>
              <a:defRPr sz="1800" b="0" i="0" u="none" strike="noStrike" cap="none">
                <a:solidFill>
                  <a:schemeClr val="lt1"/>
                </a:solidFill>
                <a:latin typeface="Arial"/>
                <a:ea typeface="Arial"/>
                <a:cs typeface="Arial"/>
                <a:sym typeface="Arial"/>
              </a:defRPr>
            </a:lvl3pPr>
            <a:lvl4pPr marL="1828800" marR="0" lvl="3" indent="-330200" algn="l" rtl="0">
              <a:lnSpc>
                <a:spcPct val="100000"/>
              </a:lnSpc>
              <a:spcBef>
                <a:spcPts val="600"/>
              </a:spcBef>
              <a:spcAft>
                <a:spcPts val="0"/>
              </a:spcAft>
              <a:buClr>
                <a:schemeClr val="lt2"/>
              </a:buClr>
              <a:buSzPts val="1600"/>
              <a:buFont typeface="NTR"/>
              <a:buChar char="-"/>
              <a:defRPr sz="16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chemeClr val="lt1"/>
              </a:buClr>
              <a:buSzPts val="1600"/>
              <a:buFont typeface="NTR"/>
              <a:buNone/>
              <a:defRPr sz="1600" b="0" i="0" u="none" strike="noStrike" cap="none">
                <a:solidFill>
                  <a:schemeClr val="lt1"/>
                </a:solidFill>
                <a:latin typeface="Arial"/>
                <a:ea typeface="Arial"/>
                <a:cs typeface="Arial"/>
                <a:sym typeface="Arial"/>
              </a:defRPr>
            </a:lvl5pPr>
            <a:lvl6pPr marL="2743200" marR="0" lvl="5" indent="-355600" algn="l" rtl="0">
              <a:spcBef>
                <a:spcPts val="6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6pPr>
            <a:lvl7pPr marL="3200400" marR="0" lvl="6" indent="-228600" algn="l" rtl="0">
              <a:spcBef>
                <a:spcPts val="2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7pPr>
            <a:lvl8pPr marL="3657600" marR="0" lvl="7" indent="-228600" algn="l" rtl="0">
              <a:spcBef>
                <a:spcPts val="4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rtl="0">
              <a:spcBef>
                <a:spcPts val="400"/>
              </a:spcBef>
              <a:spcAft>
                <a:spcPts val="0"/>
              </a:spcAft>
              <a:buClr>
                <a:schemeClr val="lt1"/>
              </a:buClr>
              <a:buSzPts val="2800"/>
              <a:buFont typeface="Arial"/>
              <a:buNone/>
              <a:defRPr sz="2800" b="0" i="0" u="none" strike="noStrike" cap="none">
                <a:solidFill>
                  <a:schemeClr val="lt1"/>
                </a:solidFill>
                <a:latin typeface="Arial"/>
                <a:ea typeface="Arial"/>
                <a:cs typeface="Arial"/>
                <a:sym typeface="Arial"/>
              </a:defRPr>
            </a:lvl9pPr>
          </a:lstStyle>
          <a:p>
            <a:endParaRPr/>
          </a:p>
        </p:txBody>
      </p:sp>
      <p:sp>
        <p:nvSpPr>
          <p:cNvPr id="17" name="Google Shape;17;p72"/>
          <p:cNvSpPr txBox="1">
            <a:spLocks noGrp="1"/>
          </p:cNvSpPr>
          <p:nvPr>
            <p:ph type="title"/>
          </p:nvPr>
        </p:nvSpPr>
        <p:spPr>
          <a:xfrm>
            <a:off x="439420" y="318751"/>
            <a:ext cx="8173580" cy="458587"/>
          </a:xfrm>
          <a:prstGeom prst="rect">
            <a:avLst/>
          </a:prstGeom>
          <a:noFill/>
          <a:ln>
            <a:noFill/>
          </a:ln>
        </p:spPr>
        <p:txBody>
          <a:bodyPr spcFirstLastPara="1" wrap="square" lIns="0" tIns="45700" rIns="91425" bIns="45700" anchor="t" anchorCtr="0">
            <a:noAutofit/>
          </a:bodyPr>
          <a:lstStyle>
            <a:lvl1pPr marR="0" lvl="0" algn="l" rtl="0">
              <a:lnSpc>
                <a:spcPct val="85000"/>
              </a:lnSpc>
              <a:spcBef>
                <a:spcPts val="0"/>
              </a:spcBef>
              <a:spcAft>
                <a:spcPts val="0"/>
              </a:spcAft>
              <a:buClr>
                <a:schemeClr val="lt1"/>
              </a:buClr>
              <a:buSzPts val="3600"/>
              <a:buFont typeface="Times New Roman"/>
              <a:buNone/>
              <a:defRPr sz="3600" b="0" i="0" u="none" strike="noStrike"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1"/>
        <p:cNvGrpSpPr/>
        <p:nvPr/>
      </p:nvGrpSpPr>
      <p:grpSpPr>
        <a:xfrm>
          <a:off x="0" y="0"/>
          <a:ext cx="0" cy="0"/>
          <a:chOff x="0" y="0"/>
          <a:chExt cx="0" cy="0"/>
        </a:xfrm>
      </p:grpSpPr>
      <p:sp>
        <p:nvSpPr>
          <p:cNvPr id="62" name="Google Shape;62;g3eb783fec72_0_73"/>
          <p:cNvSpPr txBox="1">
            <a:spLocks noGrp="1"/>
          </p:cNvSpPr>
          <p:nvPr>
            <p:ph type="body" idx="1"/>
          </p:nvPr>
        </p:nvSpPr>
        <p:spPr>
          <a:xfrm>
            <a:off x="439420" y="1138691"/>
            <a:ext cx="8137800" cy="3194700"/>
          </a:xfrm>
          <a:prstGeom prst="rect">
            <a:avLst/>
          </a:prstGeom>
          <a:noFill/>
          <a:ln>
            <a:noFill/>
          </a:ln>
        </p:spPr>
        <p:txBody>
          <a:bodyPr spcFirstLastPara="1" wrap="square" lIns="0" tIns="45700" rIns="91425" bIns="45700" anchor="t" anchorCtr="0">
            <a:noAutofit/>
          </a:bodyPr>
          <a:lstStyle>
            <a:lvl1pPr marL="457200" marR="0" lvl="0" indent="-340360" algn="l" rtl="0">
              <a:lnSpc>
                <a:spcPct val="100000"/>
              </a:lnSpc>
              <a:spcBef>
                <a:spcPts val="0"/>
              </a:spcBef>
              <a:spcAft>
                <a:spcPts val="0"/>
              </a:spcAft>
              <a:buClr>
                <a:schemeClr val="accent1"/>
              </a:buClr>
              <a:buSzPts val="1760"/>
              <a:buFont typeface="Noto Sans Symbols"/>
              <a:buChar char="▪"/>
              <a:defRPr sz="2200" b="0" i="0" u="none" strike="noStrike" cap="none">
                <a:solidFill>
                  <a:schemeClr val="lt1"/>
                </a:solidFill>
                <a:latin typeface="Arial"/>
                <a:ea typeface="Arial"/>
                <a:cs typeface="Arial"/>
                <a:sym typeface="Arial"/>
              </a:defRPr>
            </a:lvl1pPr>
            <a:lvl2pPr marL="914400" marR="0" lvl="1" indent="-355600" algn="l" rtl="0">
              <a:lnSpc>
                <a:spcPct val="100000"/>
              </a:lnSpc>
              <a:spcBef>
                <a:spcPts val="600"/>
              </a:spcBef>
              <a:spcAft>
                <a:spcPts val="0"/>
              </a:spcAft>
              <a:buClr>
                <a:schemeClr val="lt2"/>
              </a:buClr>
              <a:buSzPts val="2000"/>
              <a:buFont typeface="NTR"/>
              <a:buChar char="-"/>
              <a:defRPr sz="2000" b="0" i="0" u="none" strike="noStrike" cap="none">
                <a:solidFill>
                  <a:schemeClr val="lt1"/>
                </a:solidFill>
                <a:latin typeface="Arial"/>
                <a:ea typeface="Arial"/>
                <a:cs typeface="Arial"/>
                <a:sym typeface="Arial"/>
              </a:defRPr>
            </a:lvl2pPr>
            <a:lvl3pPr marL="1371600" marR="0" lvl="2" indent="-308610" algn="l" rtl="0">
              <a:lnSpc>
                <a:spcPct val="100000"/>
              </a:lnSpc>
              <a:spcBef>
                <a:spcPts val="600"/>
              </a:spcBef>
              <a:spcAft>
                <a:spcPts val="0"/>
              </a:spcAft>
              <a:buClr>
                <a:schemeClr val="accent1"/>
              </a:buClr>
              <a:buSzPts val="1260"/>
              <a:buFont typeface="Noto Sans Symbols"/>
              <a:buChar char="▪"/>
              <a:defRPr sz="1800" b="0" i="0" u="none" strike="noStrike" cap="none">
                <a:solidFill>
                  <a:schemeClr val="lt1"/>
                </a:solidFill>
                <a:latin typeface="Arial"/>
                <a:ea typeface="Arial"/>
                <a:cs typeface="Arial"/>
                <a:sym typeface="Arial"/>
              </a:defRPr>
            </a:lvl3pPr>
            <a:lvl4pPr marL="1828800" marR="0" lvl="3" indent="-330200" algn="l" rtl="0">
              <a:lnSpc>
                <a:spcPct val="100000"/>
              </a:lnSpc>
              <a:spcBef>
                <a:spcPts val="600"/>
              </a:spcBef>
              <a:spcAft>
                <a:spcPts val="0"/>
              </a:spcAft>
              <a:buClr>
                <a:schemeClr val="lt1"/>
              </a:buClr>
              <a:buSzPts val="1600"/>
              <a:buFont typeface="NTR"/>
              <a:buChar char="-"/>
              <a:defRPr sz="16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chemeClr val="lt1"/>
              </a:buClr>
              <a:buSzPts val="1600"/>
              <a:buFont typeface="NTR"/>
              <a:buNone/>
              <a:defRPr sz="1600" b="0" i="0" u="none" strike="noStrike" cap="none">
                <a:solidFill>
                  <a:schemeClr val="lt1"/>
                </a:solidFill>
                <a:latin typeface="Arial"/>
                <a:ea typeface="Arial"/>
                <a:cs typeface="Arial"/>
                <a:sym typeface="Arial"/>
              </a:defRPr>
            </a:lvl5pPr>
            <a:lvl6pPr marL="2743200" marR="0" lvl="5" indent="-228600" algn="l" rtl="0">
              <a:spcBef>
                <a:spcPts val="600"/>
              </a:spcBef>
              <a:spcAft>
                <a:spcPts val="0"/>
              </a:spcAft>
              <a:buClr>
                <a:schemeClr val="lt1"/>
              </a:buClr>
              <a:buSzPts val="2200"/>
              <a:buFont typeface="Arial"/>
              <a:buNone/>
              <a:defRPr sz="2200" b="0" i="0" u="none" strike="noStrike" cap="none">
                <a:solidFill>
                  <a:schemeClr val="lt1"/>
                </a:solidFill>
                <a:latin typeface="Arial"/>
                <a:ea typeface="Arial"/>
                <a:cs typeface="Arial"/>
                <a:sym typeface="Arial"/>
              </a:defRPr>
            </a:lvl6pPr>
            <a:lvl7pPr marL="3200400" marR="0" lvl="6" indent="-228600" algn="l" rtl="0">
              <a:spcBef>
                <a:spcPts val="2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7pPr>
            <a:lvl8pPr marL="3657600" marR="0" lvl="7" indent="-228600" algn="l" rtl="0">
              <a:spcBef>
                <a:spcPts val="4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rtl="0">
              <a:spcBef>
                <a:spcPts val="400"/>
              </a:spcBef>
              <a:spcAft>
                <a:spcPts val="0"/>
              </a:spcAft>
              <a:buClr>
                <a:schemeClr val="lt1"/>
              </a:buClr>
              <a:buSzPts val="2800"/>
              <a:buFont typeface="Arial"/>
              <a:buNone/>
              <a:defRPr sz="2800" b="0" i="0" u="none" strike="noStrike" cap="none">
                <a:solidFill>
                  <a:schemeClr val="lt1"/>
                </a:solidFill>
                <a:latin typeface="Arial"/>
                <a:ea typeface="Arial"/>
                <a:cs typeface="Arial"/>
                <a:sym typeface="Arial"/>
              </a:defRPr>
            </a:lvl9pPr>
          </a:lstStyle>
          <a:p>
            <a:endParaRPr/>
          </a:p>
        </p:txBody>
      </p:sp>
      <p:sp>
        <p:nvSpPr>
          <p:cNvPr id="63" name="Google Shape;63;g3eb783fec72_0_73"/>
          <p:cNvSpPr txBox="1">
            <a:spLocks noGrp="1"/>
          </p:cNvSpPr>
          <p:nvPr>
            <p:ph type="title"/>
          </p:nvPr>
        </p:nvSpPr>
        <p:spPr>
          <a:xfrm>
            <a:off x="439420" y="318751"/>
            <a:ext cx="8173500" cy="458700"/>
          </a:xfrm>
          <a:prstGeom prst="rect">
            <a:avLst/>
          </a:prstGeom>
          <a:noFill/>
          <a:ln>
            <a:noFill/>
          </a:ln>
        </p:spPr>
        <p:txBody>
          <a:bodyPr spcFirstLastPara="1" wrap="square" lIns="0" tIns="45700" rIns="91425" bIns="45700" anchor="t" anchorCtr="0">
            <a:noAutofit/>
          </a:bodyPr>
          <a:lstStyle>
            <a:lvl1pPr marR="0" lvl="0" algn="l" rtl="0">
              <a:lnSpc>
                <a:spcPct val="85000"/>
              </a:lnSpc>
              <a:spcBef>
                <a:spcPts val="0"/>
              </a:spcBef>
              <a:spcAft>
                <a:spcPts val="0"/>
              </a:spcAft>
              <a:buClr>
                <a:schemeClr val="lt1"/>
              </a:buClr>
              <a:buSzPts val="3600"/>
              <a:buFont typeface="Times New Roman"/>
              <a:buNone/>
              <a:defRPr sz="3600" b="0" i="0" u="none" strike="noStrike"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 name="Google Shape;64;g3eb783fec72_0_73"/>
          <p:cNvSpPr txBox="1">
            <a:spLocks noGrp="1"/>
          </p:cNvSpPr>
          <p:nvPr>
            <p:ph type="ftr" idx="11"/>
          </p:nvPr>
        </p:nvSpPr>
        <p:spPr>
          <a:xfrm>
            <a:off x="573552" y="4852597"/>
            <a:ext cx="4311000" cy="10350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65" name="Google Shape;65;g3eb783fec72_0_73"/>
          <p:cNvSpPr txBox="1">
            <a:spLocks noGrp="1"/>
          </p:cNvSpPr>
          <p:nvPr>
            <p:ph type="sldNum" idx="12"/>
          </p:nvPr>
        </p:nvSpPr>
        <p:spPr>
          <a:xfrm>
            <a:off x="297507" y="4852597"/>
            <a:ext cx="246000" cy="104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700" b="0" i="0" u="none" strike="noStrike" cap="none">
                <a:solidFill>
                  <a:schemeClr val="lt1"/>
                </a:solidFill>
                <a:latin typeface="Arial"/>
                <a:ea typeface="Arial"/>
                <a:cs typeface="Arial"/>
                <a:sym typeface="Arial"/>
              </a:defRPr>
            </a:lvl1pPr>
            <a:lvl2pPr marL="0" marR="0" lvl="1" indent="0" algn="l" rtl="0">
              <a:spcBef>
                <a:spcPts val="0"/>
              </a:spcBef>
              <a:buNone/>
              <a:defRPr sz="700" b="0" i="0" u="none" strike="noStrike" cap="none">
                <a:solidFill>
                  <a:schemeClr val="lt1"/>
                </a:solidFill>
                <a:latin typeface="Arial"/>
                <a:ea typeface="Arial"/>
                <a:cs typeface="Arial"/>
                <a:sym typeface="Arial"/>
              </a:defRPr>
            </a:lvl2pPr>
            <a:lvl3pPr marL="0" marR="0" lvl="2" indent="0" algn="l" rtl="0">
              <a:spcBef>
                <a:spcPts val="0"/>
              </a:spcBef>
              <a:buNone/>
              <a:defRPr sz="700" b="0" i="0" u="none" strike="noStrike" cap="none">
                <a:solidFill>
                  <a:schemeClr val="lt1"/>
                </a:solidFill>
                <a:latin typeface="Arial"/>
                <a:ea typeface="Arial"/>
                <a:cs typeface="Arial"/>
                <a:sym typeface="Arial"/>
              </a:defRPr>
            </a:lvl3pPr>
            <a:lvl4pPr marL="0" marR="0" lvl="3" indent="0" algn="l" rtl="0">
              <a:spcBef>
                <a:spcPts val="0"/>
              </a:spcBef>
              <a:buNone/>
              <a:defRPr sz="700" b="0" i="0" u="none" strike="noStrike" cap="none">
                <a:solidFill>
                  <a:schemeClr val="lt1"/>
                </a:solidFill>
                <a:latin typeface="Arial"/>
                <a:ea typeface="Arial"/>
                <a:cs typeface="Arial"/>
                <a:sym typeface="Arial"/>
              </a:defRPr>
            </a:lvl4pPr>
            <a:lvl5pPr marL="0" marR="0" lvl="4" indent="0" algn="l" rtl="0">
              <a:spcBef>
                <a:spcPts val="0"/>
              </a:spcBef>
              <a:buNone/>
              <a:defRPr sz="700" b="0" i="0" u="none" strike="noStrike" cap="none">
                <a:solidFill>
                  <a:schemeClr val="lt1"/>
                </a:solidFill>
                <a:latin typeface="Arial"/>
                <a:ea typeface="Arial"/>
                <a:cs typeface="Arial"/>
                <a:sym typeface="Arial"/>
              </a:defRPr>
            </a:lvl5pPr>
            <a:lvl6pPr marL="0" marR="0" lvl="5" indent="0" algn="l" rtl="0">
              <a:spcBef>
                <a:spcPts val="0"/>
              </a:spcBef>
              <a:buNone/>
              <a:defRPr sz="700" b="0" i="0" u="none" strike="noStrike" cap="none">
                <a:solidFill>
                  <a:schemeClr val="lt1"/>
                </a:solidFill>
                <a:latin typeface="Arial"/>
                <a:ea typeface="Arial"/>
                <a:cs typeface="Arial"/>
                <a:sym typeface="Arial"/>
              </a:defRPr>
            </a:lvl6pPr>
            <a:lvl7pPr marL="0" marR="0" lvl="6" indent="0" algn="l" rtl="0">
              <a:spcBef>
                <a:spcPts val="0"/>
              </a:spcBef>
              <a:buNone/>
              <a:defRPr sz="700" b="0" i="0" u="none" strike="noStrike" cap="none">
                <a:solidFill>
                  <a:schemeClr val="lt1"/>
                </a:solidFill>
                <a:latin typeface="Arial"/>
                <a:ea typeface="Arial"/>
                <a:cs typeface="Arial"/>
                <a:sym typeface="Arial"/>
              </a:defRPr>
            </a:lvl7pPr>
            <a:lvl8pPr marL="0" marR="0" lvl="7" indent="0" algn="l" rtl="0">
              <a:spcBef>
                <a:spcPts val="0"/>
              </a:spcBef>
              <a:buNone/>
              <a:defRPr sz="700" b="0" i="0" u="none" strike="noStrike" cap="none">
                <a:solidFill>
                  <a:schemeClr val="lt1"/>
                </a:solidFill>
                <a:latin typeface="Arial"/>
                <a:ea typeface="Arial"/>
                <a:cs typeface="Arial"/>
                <a:sym typeface="Arial"/>
              </a:defRPr>
            </a:lvl8pPr>
            <a:lvl9pPr marL="0" marR="0" lvl="8" indent="0" algn="l" rtl="0">
              <a:spcBef>
                <a:spcPts val="0"/>
              </a:spcBef>
              <a:buNone/>
              <a:defRPr sz="7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cxnSp>
        <p:nvCxnSpPr>
          <p:cNvPr id="66" name="Google Shape;66;g3eb783fec72_0_73"/>
          <p:cNvCxnSpPr/>
          <p:nvPr/>
        </p:nvCxnSpPr>
        <p:spPr>
          <a:xfrm>
            <a:off x="287982" y="4695546"/>
            <a:ext cx="8585100" cy="0"/>
          </a:xfrm>
          <a:prstGeom prst="straightConnector1">
            <a:avLst/>
          </a:prstGeom>
          <a:noFill/>
          <a:ln w="9525" cap="flat" cmpd="sng">
            <a:solidFill>
              <a:srgbClr val="052049"/>
            </a:solidFill>
            <a:prstDash val="solid"/>
            <a:miter lim="8000"/>
            <a:headEnd type="none" w="med" len="med"/>
            <a:tailEnd type="none" w="med" len="med"/>
          </a:ln>
        </p:spPr>
      </p:cxnSp>
      <p:sp>
        <p:nvSpPr>
          <p:cNvPr id="67" name="Google Shape;67;g3eb783fec72_0_73"/>
          <p:cNvSpPr/>
          <p:nvPr/>
        </p:nvSpPr>
        <p:spPr>
          <a:xfrm>
            <a:off x="8392161" y="4791076"/>
            <a:ext cx="481012" cy="231074"/>
          </a:xfrm>
          <a:custGeom>
            <a:avLst/>
            <a:gdLst/>
            <a:ahLst/>
            <a:cxnLst/>
            <a:rect l="l" t="t" r="r" b="b"/>
            <a:pathLst>
              <a:path w="350" h="168" extrusionOk="0">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79">
          <p15:clr>
            <a:srgbClr val="F26B43"/>
          </p15:clr>
        </p15:guide>
        <p15:guide id="2" pos="272">
          <p15:clr>
            <a:srgbClr val="F26B43"/>
          </p15:clr>
        </p15:guide>
        <p15:guide id="3" pos="181">
          <p15:clr>
            <a:srgbClr val="F26B43"/>
          </p15:clr>
        </p15:guide>
        <p15:guide id="4" orient="horz" pos="3117">
          <p15:clr>
            <a:srgbClr val="F26B43"/>
          </p15:clr>
        </p15:guide>
        <p15:guide id="5" orient="horz" pos="295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0"/>
        <p:cNvGrpSpPr/>
        <p:nvPr/>
      </p:nvGrpSpPr>
      <p:grpSpPr>
        <a:xfrm>
          <a:off x="0" y="0"/>
          <a:ext cx="0" cy="0"/>
          <a:chOff x="0" y="0"/>
          <a:chExt cx="0" cy="0"/>
        </a:xfrm>
      </p:grpSpPr>
      <p:sp>
        <p:nvSpPr>
          <p:cNvPr id="101" name="Google Shape;101;g3eb783fec72_93_214"/>
          <p:cNvSpPr txBox="1">
            <a:spLocks noGrp="1"/>
          </p:cNvSpPr>
          <p:nvPr>
            <p:ph type="ftr" idx="11"/>
          </p:nvPr>
        </p:nvSpPr>
        <p:spPr>
          <a:xfrm>
            <a:off x="561600" y="4852597"/>
            <a:ext cx="4311000" cy="10350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700" b="0" i="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02" name="Google Shape;102;g3eb783fec72_93_214"/>
          <p:cNvSpPr txBox="1">
            <a:spLocks noGrp="1"/>
          </p:cNvSpPr>
          <p:nvPr>
            <p:ph type="sldNum" idx="12"/>
          </p:nvPr>
        </p:nvSpPr>
        <p:spPr>
          <a:xfrm>
            <a:off x="285555" y="4840129"/>
            <a:ext cx="246000" cy="1164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700" b="0" i="0">
                <a:solidFill>
                  <a:schemeClr val="lt1"/>
                </a:solidFill>
                <a:latin typeface="Arial"/>
                <a:ea typeface="Arial"/>
                <a:cs typeface="Arial"/>
                <a:sym typeface="Arial"/>
              </a:defRPr>
            </a:lvl1pPr>
            <a:lvl2pPr marL="0" marR="0" lvl="1" indent="0" algn="l" rtl="0">
              <a:spcBef>
                <a:spcPts val="0"/>
              </a:spcBef>
              <a:buNone/>
              <a:defRPr sz="700" b="0" i="0">
                <a:solidFill>
                  <a:schemeClr val="lt1"/>
                </a:solidFill>
                <a:latin typeface="Arial"/>
                <a:ea typeface="Arial"/>
                <a:cs typeface="Arial"/>
                <a:sym typeface="Arial"/>
              </a:defRPr>
            </a:lvl2pPr>
            <a:lvl3pPr marL="0" marR="0" lvl="2" indent="0" algn="l" rtl="0">
              <a:spcBef>
                <a:spcPts val="0"/>
              </a:spcBef>
              <a:buNone/>
              <a:defRPr sz="700" b="0" i="0">
                <a:solidFill>
                  <a:schemeClr val="lt1"/>
                </a:solidFill>
                <a:latin typeface="Arial"/>
                <a:ea typeface="Arial"/>
                <a:cs typeface="Arial"/>
                <a:sym typeface="Arial"/>
              </a:defRPr>
            </a:lvl3pPr>
            <a:lvl4pPr marL="0" marR="0" lvl="3" indent="0" algn="l" rtl="0">
              <a:spcBef>
                <a:spcPts val="0"/>
              </a:spcBef>
              <a:buNone/>
              <a:defRPr sz="700" b="0" i="0">
                <a:solidFill>
                  <a:schemeClr val="lt1"/>
                </a:solidFill>
                <a:latin typeface="Arial"/>
                <a:ea typeface="Arial"/>
                <a:cs typeface="Arial"/>
                <a:sym typeface="Arial"/>
              </a:defRPr>
            </a:lvl4pPr>
            <a:lvl5pPr marL="0" marR="0" lvl="4" indent="0" algn="l" rtl="0">
              <a:spcBef>
                <a:spcPts val="0"/>
              </a:spcBef>
              <a:buNone/>
              <a:defRPr sz="700" b="0" i="0">
                <a:solidFill>
                  <a:schemeClr val="lt1"/>
                </a:solidFill>
                <a:latin typeface="Arial"/>
                <a:ea typeface="Arial"/>
                <a:cs typeface="Arial"/>
                <a:sym typeface="Arial"/>
              </a:defRPr>
            </a:lvl5pPr>
            <a:lvl6pPr marL="0" marR="0" lvl="5" indent="0" algn="l" rtl="0">
              <a:spcBef>
                <a:spcPts val="0"/>
              </a:spcBef>
              <a:buNone/>
              <a:defRPr sz="700" b="0" i="0">
                <a:solidFill>
                  <a:schemeClr val="lt1"/>
                </a:solidFill>
                <a:latin typeface="Arial"/>
                <a:ea typeface="Arial"/>
                <a:cs typeface="Arial"/>
                <a:sym typeface="Arial"/>
              </a:defRPr>
            </a:lvl6pPr>
            <a:lvl7pPr marL="0" marR="0" lvl="6" indent="0" algn="l" rtl="0">
              <a:spcBef>
                <a:spcPts val="0"/>
              </a:spcBef>
              <a:buNone/>
              <a:defRPr sz="700" b="0" i="0">
                <a:solidFill>
                  <a:schemeClr val="lt1"/>
                </a:solidFill>
                <a:latin typeface="Arial"/>
                <a:ea typeface="Arial"/>
                <a:cs typeface="Arial"/>
                <a:sym typeface="Arial"/>
              </a:defRPr>
            </a:lvl7pPr>
            <a:lvl8pPr marL="0" marR="0" lvl="7" indent="0" algn="l" rtl="0">
              <a:spcBef>
                <a:spcPts val="0"/>
              </a:spcBef>
              <a:buNone/>
              <a:defRPr sz="700" b="0" i="0">
                <a:solidFill>
                  <a:schemeClr val="lt1"/>
                </a:solidFill>
                <a:latin typeface="Arial"/>
                <a:ea typeface="Arial"/>
                <a:cs typeface="Arial"/>
                <a:sym typeface="Arial"/>
              </a:defRPr>
            </a:lvl8pPr>
            <a:lvl9pPr marL="0" marR="0" lvl="8" indent="0" algn="l" rtl="0">
              <a:spcBef>
                <a:spcPts val="0"/>
              </a:spcBef>
              <a:buNone/>
              <a:defRPr sz="700" b="0" i="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cxnSp>
        <p:nvCxnSpPr>
          <p:cNvPr id="103" name="Google Shape;103;g3eb783fec72_93_214"/>
          <p:cNvCxnSpPr/>
          <p:nvPr/>
        </p:nvCxnSpPr>
        <p:spPr>
          <a:xfrm>
            <a:off x="365125" y="4687560"/>
            <a:ext cx="8413800" cy="0"/>
          </a:xfrm>
          <a:prstGeom prst="straightConnector1">
            <a:avLst/>
          </a:prstGeom>
          <a:noFill/>
          <a:ln w="9525" cap="flat" cmpd="sng">
            <a:solidFill>
              <a:srgbClr val="052049"/>
            </a:solidFill>
            <a:prstDash val="solid"/>
            <a:miter lim="8000"/>
            <a:headEnd type="none" w="med" len="med"/>
            <a:tailEnd type="none" w="med" len="med"/>
          </a:ln>
        </p:spPr>
      </p:cxnSp>
      <p:cxnSp>
        <p:nvCxnSpPr>
          <p:cNvPr id="104" name="Google Shape;104;g3eb783fec72_93_214"/>
          <p:cNvCxnSpPr/>
          <p:nvPr/>
        </p:nvCxnSpPr>
        <p:spPr>
          <a:xfrm>
            <a:off x="277813" y="4687560"/>
            <a:ext cx="8595300" cy="0"/>
          </a:xfrm>
          <a:prstGeom prst="straightConnector1">
            <a:avLst/>
          </a:prstGeom>
          <a:noFill/>
          <a:ln w="9525" cap="flat" cmpd="sng">
            <a:solidFill>
              <a:schemeClr val="lt1"/>
            </a:solidFill>
            <a:prstDash val="solid"/>
            <a:miter lim="8000"/>
            <a:headEnd type="none" w="med" len="med"/>
            <a:tailEnd type="none" w="med" len="med"/>
          </a:ln>
        </p:spPr>
      </p:cxnSp>
      <p:sp>
        <p:nvSpPr>
          <p:cNvPr id="105" name="Google Shape;105;g3eb783fec72_93_214"/>
          <p:cNvSpPr/>
          <p:nvPr/>
        </p:nvSpPr>
        <p:spPr>
          <a:xfrm>
            <a:off x="8393113" y="4800601"/>
            <a:ext cx="481012" cy="231074"/>
          </a:xfrm>
          <a:custGeom>
            <a:avLst/>
            <a:gdLst/>
            <a:ahLst/>
            <a:cxnLst/>
            <a:rect l="l" t="t" r="r" b="b"/>
            <a:pathLst>
              <a:path w="350" h="168" extrusionOk="0">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lt1"/>
              </a:solidFill>
              <a:latin typeface="Arial"/>
              <a:ea typeface="Arial"/>
              <a:cs typeface="Arial"/>
              <a:sym typeface="Arial"/>
            </a:endParaRPr>
          </a:p>
        </p:txBody>
      </p:sp>
      <p:sp>
        <p:nvSpPr>
          <p:cNvPr id="106" name="Google Shape;106;g3eb783fec72_93_214"/>
          <p:cNvSpPr txBox="1">
            <a:spLocks noGrp="1"/>
          </p:cNvSpPr>
          <p:nvPr>
            <p:ph type="body" idx="1"/>
          </p:nvPr>
        </p:nvSpPr>
        <p:spPr>
          <a:xfrm>
            <a:off x="439420" y="1138691"/>
            <a:ext cx="8137800" cy="3194700"/>
          </a:xfrm>
          <a:prstGeom prst="rect">
            <a:avLst/>
          </a:prstGeom>
          <a:noFill/>
          <a:ln>
            <a:noFill/>
          </a:ln>
        </p:spPr>
        <p:txBody>
          <a:bodyPr spcFirstLastPara="1" wrap="square" lIns="0" tIns="45700" rIns="91425" bIns="45700" anchor="t" anchorCtr="0">
            <a:noAutofit/>
          </a:bodyPr>
          <a:lstStyle>
            <a:lvl1pPr marL="457200" marR="0" lvl="0" indent="-340360" algn="l" rtl="0">
              <a:lnSpc>
                <a:spcPct val="100000"/>
              </a:lnSpc>
              <a:spcBef>
                <a:spcPts val="0"/>
              </a:spcBef>
              <a:spcAft>
                <a:spcPts val="0"/>
              </a:spcAft>
              <a:buClr>
                <a:schemeClr val="accent1"/>
              </a:buClr>
              <a:buSzPts val="1760"/>
              <a:buFont typeface="Noto Sans Symbols"/>
              <a:buChar char="▪"/>
              <a:defRPr sz="2200" b="0" i="0" u="none" strike="noStrike" cap="none">
                <a:solidFill>
                  <a:schemeClr val="lt1"/>
                </a:solidFill>
                <a:latin typeface="Arial"/>
                <a:ea typeface="Arial"/>
                <a:cs typeface="Arial"/>
                <a:sym typeface="Arial"/>
              </a:defRPr>
            </a:lvl1pPr>
            <a:lvl2pPr marL="914400" marR="0" lvl="1" indent="-355600" algn="l" rtl="0">
              <a:lnSpc>
                <a:spcPct val="100000"/>
              </a:lnSpc>
              <a:spcBef>
                <a:spcPts val="600"/>
              </a:spcBef>
              <a:spcAft>
                <a:spcPts val="0"/>
              </a:spcAft>
              <a:buClr>
                <a:schemeClr val="lt2"/>
              </a:buClr>
              <a:buSzPts val="2000"/>
              <a:buFont typeface="NTR"/>
              <a:buChar char="-"/>
              <a:defRPr sz="2000" b="0" i="0" u="none" strike="noStrike" cap="none">
                <a:solidFill>
                  <a:schemeClr val="lt1"/>
                </a:solidFill>
                <a:latin typeface="Arial"/>
                <a:ea typeface="Arial"/>
                <a:cs typeface="Arial"/>
                <a:sym typeface="Arial"/>
              </a:defRPr>
            </a:lvl2pPr>
            <a:lvl3pPr marL="1371600" marR="0" lvl="2" indent="-308610" algn="l" rtl="0">
              <a:lnSpc>
                <a:spcPct val="100000"/>
              </a:lnSpc>
              <a:spcBef>
                <a:spcPts val="600"/>
              </a:spcBef>
              <a:spcAft>
                <a:spcPts val="0"/>
              </a:spcAft>
              <a:buClr>
                <a:schemeClr val="accent1"/>
              </a:buClr>
              <a:buSzPts val="1260"/>
              <a:buFont typeface="Noto Sans Symbols"/>
              <a:buChar char="▪"/>
              <a:defRPr sz="1800" b="0" i="0" u="none" strike="noStrike" cap="none">
                <a:solidFill>
                  <a:schemeClr val="lt1"/>
                </a:solidFill>
                <a:latin typeface="Arial"/>
                <a:ea typeface="Arial"/>
                <a:cs typeface="Arial"/>
                <a:sym typeface="Arial"/>
              </a:defRPr>
            </a:lvl3pPr>
            <a:lvl4pPr marL="1828800" marR="0" lvl="3" indent="-330200" algn="l" rtl="0">
              <a:lnSpc>
                <a:spcPct val="100000"/>
              </a:lnSpc>
              <a:spcBef>
                <a:spcPts val="600"/>
              </a:spcBef>
              <a:spcAft>
                <a:spcPts val="0"/>
              </a:spcAft>
              <a:buClr>
                <a:schemeClr val="lt2"/>
              </a:buClr>
              <a:buSzPts val="1600"/>
              <a:buFont typeface="NTR"/>
              <a:buChar char="-"/>
              <a:defRPr sz="16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chemeClr val="lt1"/>
              </a:buClr>
              <a:buSzPts val="1600"/>
              <a:buFont typeface="NTR"/>
              <a:buNone/>
              <a:defRPr sz="1600" b="0" i="0" u="none" strike="noStrike" cap="none">
                <a:solidFill>
                  <a:schemeClr val="lt1"/>
                </a:solidFill>
                <a:latin typeface="Arial"/>
                <a:ea typeface="Arial"/>
                <a:cs typeface="Arial"/>
                <a:sym typeface="Arial"/>
              </a:defRPr>
            </a:lvl5pPr>
            <a:lvl6pPr marL="2743200" marR="0" lvl="5" indent="-355600" algn="l" rtl="0">
              <a:spcBef>
                <a:spcPts val="6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6pPr>
            <a:lvl7pPr marL="3200400" marR="0" lvl="6" indent="-228600" algn="l" rtl="0">
              <a:spcBef>
                <a:spcPts val="2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7pPr>
            <a:lvl8pPr marL="3657600" marR="0" lvl="7" indent="-228600" algn="l" rtl="0">
              <a:spcBef>
                <a:spcPts val="4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rtl="0">
              <a:spcBef>
                <a:spcPts val="400"/>
              </a:spcBef>
              <a:spcAft>
                <a:spcPts val="0"/>
              </a:spcAft>
              <a:buClr>
                <a:schemeClr val="lt1"/>
              </a:buClr>
              <a:buSzPts val="2800"/>
              <a:buFont typeface="Arial"/>
              <a:buNone/>
              <a:defRPr sz="2800" b="0" i="0" u="none" strike="noStrike" cap="none">
                <a:solidFill>
                  <a:schemeClr val="lt1"/>
                </a:solidFill>
                <a:latin typeface="Arial"/>
                <a:ea typeface="Arial"/>
                <a:cs typeface="Arial"/>
                <a:sym typeface="Arial"/>
              </a:defRPr>
            </a:lvl9pPr>
          </a:lstStyle>
          <a:p>
            <a:endParaRPr/>
          </a:p>
        </p:txBody>
      </p:sp>
      <p:sp>
        <p:nvSpPr>
          <p:cNvPr id="107" name="Google Shape;107;g3eb783fec72_93_214"/>
          <p:cNvSpPr txBox="1">
            <a:spLocks noGrp="1"/>
          </p:cNvSpPr>
          <p:nvPr>
            <p:ph type="title"/>
          </p:nvPr>
        </p:nvSpPr>
        <p:spPr>
          <a:xfrm>
            <a:off x="439420" y="318751"/>
            <a:ext cx="8173500" cy="458700"/>
          </a:xfrm>
          <a:prstGeom prst="rect">
            <a:avLst/>
          </a:prstGeom>
          <a:noFill/>
          <a:ln>
            <a:noFill/>
          </a:ln>
        </p:spPr>
        <p:txBody>
          <a:bodyPr spcFirstLastPara="1" wrap="square" lIns="0" tIns="45700" rIns="91425" bIns="45700" anchor="t" anchorCtr="0">
            <a:noAutofit/>
          </a:bodyPr>
          <a:lstStyle>
            <a:lvl1pPr marR="0" lvl="0" algn="l" rtl="0">
              <a:lnSpc>
                <a:spcPct val="85000"/>
              </a:lnSpc>
              <a:spcBef>
                <a:spcPts val="0"/>
              </a:spcBef>
              <a:spcAft>
                <a:spcPts val="0"/>
              </a:spcAft>
              <a:buClr>
                <a:schemeClr val="lt1"/>
              </a:buClr>
              <a:buSzPts val="3600"/>
              <a:buFont typeface="Times New Roman"/>
              <a:buNone/>
              <a:defRPr sz="3600" b="0" i="0" u="none" strike="noStrike"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21.xml"/><Relationship Id="rId7" Type="http://schemas.openxmlformats.org/officeDocument/2006/relationships/image" Target="../media/image6.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notesSlide" Target="../notesSlides/notesSlide3.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82361D-9960-350A-E46C-B5E300B6A3F3}"/>
              </a:ext>
            </a:extLst>
          </p:cNvPr>
          <p:cNvSpPr txBox="1"/>
          <p:nvPr/>
        </p:nvSpPr>
        <p:spPr>
          <a:xfrm>
            <a:off x="618979" y="1925419"/>
            <a:ext cx="4974439" cy="1292662"/>
          </a:xfrm>
          <a:prstGeom prst="rect">
            <a:avLst/>
          </a:prstGeom>
          <a:noFill/>
        </p:spPr>
        <p:txBody>
          <a:bodyPr wrap="none" rtlCol="0">
            <a:spAutoFit/>
          </a:bodyPr>
          <a:lstStyle/>
          <a:p>
            <a:r>
              <a:rPr lang="en-US" sz="3200" dirty="0">
                <a:solidFill>
                  <a:schemeClr val="bg1"/>
                </a:solidFill>
                <a:latin typeface="Times New Roman" panose="02020603050405020304" pitchFamily="18" charset="0"/>
                <a:cs typeface="Times New Roman" panose="02020603050405020304" pitchFamily="18" charset="0"/>
              </a:rPr>
              <a:t>Random Survival Forest</a:t>
            </a:r>
          </a:p>
          <a:p>
            <a:r>
              <a:rPr lang="en-US" sz="1800" dirty="0">
                <a:solidFill>
                  <a:schemeClr val="bg1"/>
                </a:solidFill>
                <a:latin typeface="Times New Roman" panose="02020603050405020304" pitchFamily="18" charset="0"/>
                <a:cs typeface="Times New Roman" panose="02020603050405020304" pitchFamily="18" charset="0"/>
              </a:rPr>
              <a:t>A  Machine Learning Method for Survival Analysis</a:t>
            </a:r>
          </a:p>
          <a:p>
            <a:endParaRPr lang="en-US"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7D14863-B155-21D2-AF96-2D92C99F3A5C}"/>
              </a:ext>
            </a:extLst>
          </p:cNvPr>
          <p:cNvSpPr txBox="1"/>
          <p:nvPr/>
        </p:nvSpPr>
        <p:spPr>
          <a:xfrm>
            <a:off x="618979" y="4164036"/>
            <a:ext cx="1969477" cy="738664"/>
          </a:xfrm>
          <a:prstGeom prst="rect">
            <a:avLst/>
          </a:prstGeom>
          <a:noFill/>
        </p:spPr>
        <p:txBody>
          <a:bodyPr wrap="square" rtlCol="0">
            <a:spAutoFit/>
          </a:bodyPr>
          <a:lstStyle/>
          <a:p>
            <a:r>
              <a:rPr lang="en-US" dirty="0">
                <a:solidFill>
                  <a:schemeClr val="bg1"/>
                </a:solidFill>
              </a:rPr>
              <a:t>Sin U Choi</a:t>
            </a:r>
          </a:p>
          <a:p>
            <a:r>
              <a:rPr lang="en-US" dirty="0">
                <a:solidFill>
                  <a:schemeClr val="bg1"/>
                </a:solidFill>
              </a:rPr>
              <a:t>DATASCI 224 </a:t>
            </a:r>
          </a:p>
          <a:p>
            <a:r>
              <a:rPr lang="en-US" dirty="0">
                <a:solidFill>
                  <a:schemeClr val="bg1"/>
                </a:solidFill>
              </a:rPr>
              <a:t>06/01/2026</a:t>
            </a:r>
          </a:p>
        </p:txBody>
      </p:sp>
    </p:spTree>
    <p:extLst>
      <p:ext uri="{BB962C8B-B14F-4D97-AF65-F5344CB8AC3E}">
        <p14:creationId xmlns:p14="http://schemas.microsoft.com/office/powerpoint/2010/main" val="10313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eb783fec72_0_1402"/>
          <p:cNvSpPr/>
          <p:nvPr/>
        </p:nvSpPr>
        <p:spPr>
          <a:xfrm>
            <a:off x="-47550" y="33345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178" name="Google Shape;178;g3eb783fec72_0_1402"/>
          <p:cNvSpPr/>
          <p:nvPr/>
        </p:nvSpPr>
        <p:spPr>
          <a:xfrm>
            <a:off x="0" y="0"/>
            <a:ext cx="9144000" cy="762000"/>
          </a:xfrm>
          <a:prstGeom prst="rect">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g3eb783fec72_0_1402"/>
          <p:cNvSpPr txBox="1"/>
          <p:nvPr/>
        </p:nvSpPr>
        <p:spPr>
          <a:xfrm>
            <a:off x="381000" y="0"/>
            <a:ext cx="83820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000" b="0">
                <a:solidFill>
                  <a:srgbClr val="FFFFFF"/>
                </a:solidFill>
                <a:latin typeface="Times New Roman"/>
                <a:ea typeface="Times New Roman"/>
                <a:cs typeface="Times New Roman"/>
                <a:sym typeface="Times New Roman"/>
              </a:rPr>
              <a:t>Why Do We Need RSF? The Censoring Problem</a:t>
            </a:r>
            <a:endParaRPr sz="3000" b="0">
              <a:solidFill>
                <a:srgbClr val="FFFFFF"/>
              </a:solidFill>
              <a:latin typeface="Times New Roman"/>
              <a:ea typeface="Times New Roman"/>
              <a:cs typeface="Times New Roman"/>
              <a:sym typeface="Times New Roman"/>
            </a:endParaRPr>
          </a:p>
        </p:txBody>
      </p:sp>
      <p:grpSp>
        <p:nvGrpSpPr>
          <p:cNvPr id="180" name="Google Shape;180;g3eb783fec72_0_1402"/>
          <p:cNvGrpSpPr/>
          <p:nvPr/>
        </p:nvGrpSpPr>
        <p:grpSpPr>
          <a:xfrm>
            <a:off x="167507" y="1047750"/>
            <a:ext cx="7928893" cy="2524125"/>
            <a:chOff x="167507" y="1047750"/>
            <a:chExt cx="7928893" cy="2524125"/>
          </a:xfrm>
        </p:grpSpPr>
        <p:pic>
          <p:nvPicPr>
            <p:cNvPr id="181" name="Google Shape;181;g3eb783fec72_0_1402"/>
            <p:cNvPicPr preferRelativeResize="0"/>
            <p:nvPr/>
          </p:nvPicPr>
          <p:blipFill rotWithShape="1">
            <a:blip>
              <a:alphaModFix/>
            </a:blip>
            <a:srcRect/>
            <a:stretch/>
          </p:blipFill>
          <p:spPr>
            <a:xfrm>
              <a:off x="952500" y="3324225"/>
              <a:ext cx="6667500" cy="19200"/>
            </a:xfrm>
            <a:prstGeom prst="rect">
              <a:avLst/>
            </a:prstGeom>
            <a:noFill/>
            <a:ln>
              <a:noFill/>
            </a:ln>
          </p:spPr>
        </p:pic>
        <p:sp>
          <p:nvSpPr>
            <p:cNvPr id="182" name="Google Shape;182;g3eb783fec72_0_1402"/>
            <p:cNvSpPr txBox="1"/>
            <p:nvPr/>
          </p:nvSpPr>
          <p:spPr>
            <a:xfrm>
              <a:off x="952500" y="3381375"/>
              <a:ext cx="4764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0" i="1">
                  <a:solidFill>
                    <a:srgbClr val="052049"/>
                  </a:solidFill>
                  <a:latin typeface="Arial"/>
                  <a:ea typeface="Arial"/>
                  <a:cs typeface="Arial"/>
                  <a:sym typeface="Arial"/>
                </a:rPr>
                <a:t>Year 0</a:t>
              </a:r>
              <a:endParaRPr sz="1000" b="0" i="1">
                <a:solidFill>
                  <a:srgbClr val="052049"/>
                </a:solidFill>
                <a:latin typeface="Arial"/>
                <a:ea typeface="Arial"/>
                <a:cs typeface="Arial"/>
                <a:sym typeface="Arial"/>
              </a:endParaRPr>
            </a:p>
          </p:txBody>
        </p:sp>
        <p:sp>
          <p:nvSpPr>
            <p:cNvPr id="183" name="Google Shape;183;g3eb783fec72_0_1402"/>
            <p:cNvSpPr txBox="1"/>
            <p:nvPr/>
          </p:nvSpPr>
          <p:spPr>
            <a:xfrm>
              <a:off x="4286250" y="3381375"/>
              <a:ext cx="4764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0" i="1">
                  <a:solidFill>
                    <a:srgbClr val="052049"/>
                  </a:solidFill>
                  <a:latin typeface="Arial"/>
                  <a:ea typeface="Arial"/>
                  <a:cs typeface="Arial"/>
                  <a:sym typeface="Arial"/>
                </a:rPr>
                <a:t>Year 4</a:t>
              </a:r>
              <a:endParaRPr sz="1000" b="0" i="1">
                <a:solidFill>
                  <a:srgbClr val="052049"/>
                </a:solidFill>
                <a:latin typeface="Arial"/>
                <a:ea typeface="Arial"/>
                <a:cs typeface="Arial"/>
                <a:sym typeface="Arial"/>
              </a:endParaRPr>
            </a:p>
          </p:txBody>
        </p:sp>
        <p:sp>
          <p:nvSpPr>
            <p:cNvPr id="184" name="Google Shape;184;g3eb783fec72_0_1402"/>
            <p:cNvSpPr txBox="1"/>
            <p:nvPr/>
          </p:nvSpPr>
          <p:spPr>
            <a:xfrm>
              <a:off x="7620000" y="3381375"/>
              <a:ext cx="4764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0" i="1">
                  <a:solidFill>
                    <a:srgbClr val="052049"/>
                  </a:solidFill>
                  <a:latin typeface="Arial"/>
                  <a:ea typeface="Arial"/>
                  <a:cs typeface="Arial"/>
                  <a:sym typeface="Arial"/>
                </a:rPr>
                <a:t>Year 8</a:t>
              </a:r>
              <a:endParaRPr sz="1000" b="0" i="1">
                <a:solidFill>
                  <a:srgbClr val="052049"/>
                </a:solidFill>
                <a:latin typeface="Arial"/>
                <a:ea typeface="Arial"/>
                <a:cs typeface="Arial"/>
                <a:sym typeface="Arial"/>
              </a:endParaRPr>
            </a:p>
          </p:txBody>
        </p:sp>
        <p:grpSp>
          <p:nvGrpSpPr>
            <p:cNvPr id="185" name="Google Shape;185;g3eb783fec72_0_1402"/>
            <p:cNvGrpSpPr/>
            <p:nvPr/>
          </p:nvGrpSpPr>
          <p:grpSpPr>
            <a:xfrm>
              <a:off x="178425" y="1047750"/>
              <a:ext cx="4584075" cy="190500"/>
              <a:chOff x="178425" y="1047750"/>
              <a:chExt cx="4584075" cy="190500"/>
            </a:xfrm>
          </p:grpSpPr>
          <p:cxnSp>
            <p:nvCxnSpPr>
              <p:cNvPr id="186" name="Google Shape;186;g3eb783fec72_0_1402"/>
              <p:cNvCxnSpPr/>
              <p:nvPr/>
            </p:nvCxnSpPr>
            <p:spPr>
              <a:xfrm>
                <a:off x="952500" y="1143000"/>
                <a:ext cx="3810000" cy="0"/>
              </a:xfrm>
              <a:prstGeom prst="straightConnector1">
                <a:avLst/>
              </a:prstGeom>
              <a:solidFill>
                <a:srgbClr val="FFFFFF"/>
              </a:solidFill>
              <a:ln w="28575" cap="flat" cmpd="sng">
                <a:solidFill>
                  <a:srgbClr val="052049"/>
                </a:solidFill>
                <a:prstDash val="solid"/>
                <a:round/>
                <a:headEnd type="none" w="sm" len="sm"/>
                <a:tailEnd type="none" w="sm" len="sm"/>
              </a:ln>
            </p:spPr>
          </p:cxnSp>
          <p:sp>
            <p:nvSpPr>
              <p:cNvPr id="188" name="Google Shape;188;g3eb783fec72_0_1402"/>
              <p:cNvSpPr txBox="1"/>
              <p:nvPr/>
            </p:nvSpPr>
            <p:spPr>
              <a:xfrm>
                <a:off x="178425" y="1047750"/>
                <a:ext cx="6843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3" b="0">
                    <a:solidFill>
                      <a:srgbClr val="052049"/>
                    </a:solidFill>
                    <a:latin typeface="Arial"/>
                    <a:ea typeface="Arial"/>
                    <a:cs typeface="Arial"/>
                    <a:sym typeface="Arial"/>
                  </a:rPr>
                  <a:t>Patient 1</a:t>
                </a:r>
                <a:endParaRPr sz="1203" b="0">
                  <a:solidFill>
                    <a:srgbClr val="052049"/>
                  </a:solidFill>
                  <a:latin typeface="Arial"/>
                  <a:ea typeface="Arial"/>
                  <a:cs typeface="Arial"/>
                  <a:sym typeface="Arial"/>
                </a:endParaRPr>
              </a:p>
            </p:txBody>
          </p:sp>
        </p:grpSp>
        <p:grpSp>
          <p:nvGrpSpPr>
            <p:cNvPr id="189" name="Google Shape;189;g3eb783fec72_0_1402"/>
            <p:cNvGrpSpPr/>
            <p:nvPr/>
          </p:nvGrpSpPr>
          <p:grpSpPr>
            <a:xfrm>
              <a:off x="178425" y="1372700"/>
              <a:ext cx="7441575" cy="318900"/>
              <a:chOff x="178425" y="1372700"/>
              <a:chExt cx="7441575" cy="318900"/>
            </a:xfrm>
          </p:grpSpPr>
          <p:cxnSp>
            <p:nvCxnSpPr>
              <p:cNvPr id="190" name="Google Shape;190;g3eb783fec72_0_1402"/>
              <p:cNvCxnSpPr/>
              <p:nvPr/>
            </p:nvCxnSpPr>
            <p:spPr>
              <a:xfrm>
                <a:off x="952500" y="1524000"/>
                <a:ext cx="6667500" cy="0"/>
              </a:xfrm>
              <a:prstGeom prst="straightConnector1">
                <a:avLst/>
              </a:prstGeom>
              <a:solidFill>
                <a:srgbClr val="FFFFFF"/>
              </a:solidFill>
              <a:ln w="28575" cap="flat" cmpd="sng">
                <a:solidFill>
                  <a:srgbClr val="058488"/>
                </a:solidFill>
                <a:prstDash val="solid"/>
                <a:round/>
                <a:headEnd type="none" w="sm" len="sm"/>
                <a:tailEnd type="none" w="sm" len="sm"/>
              </a:ln>
            </p:spPr>
          </p:cxnSp>
          <p:sp>
            <p:nvSpPr>
              <p:cNvPr id="192" name="Google Shape;192;g3eb783fec72_0_1402"/>
              <p:cNvSpPr txBox="1"/>
              <p:nvPr/>
            </p:nvSpPr>
            <p:spPr>
              <a:xfrm>
                <a:off x="178425" y="1372700"/>
                <a:ext cx="684300" cy="318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3">
                    <a:solidFill>
                      <a:schemeClr val="dk1"/>
                    </a:solidFill>
                  </a:rPr>
                  <a:t>Patient </a:t>
                </a:r>
                <a:r>
                  <a:rPr lang="en-US" sz="1203" b="0">
                    <a:solidFill>
                      <a:srgbClr val="052049"/>
                    </a:solidFill>
                    <a:latin typeface="Arial"/>
                    <a:ea typeface="Arial"/>
                    <a:cs typeface="Arial"/>
                    <a:sym typeface="Arial"/>
                  </a:rPr>
                  <a:t>2</a:t>
                </a:r>
                <a:endParaRPr sz="1203" b="0">
                  <a:solidFill>
                    <a:srgbClr val="052049"/>
                  </a:solidFill>
                  <a:latin typeface="Arial"/>
                  <a:ea typeface="Arial"/>
                  <a:cs typeface="Arial"/>
                  <a:sym typeface="Arial"/>
                </a:endParaRPr>
              </a:p>
            </p:txBody>
          </p:sp>
        </p:grpSp>
        <p:grpSp>
          <p:nvGrpSpPr>
            <p:cNvPr id="193" name="Google Shape;193;g3eb783fec72_0_1402"/>
            <p:cNvGrpSpPr/>
            <p:nvPr/>
          </p:nvGrpSpPr>
          <p:grpSpPr>
            <a:xfrm>
              <a:off x="178425" y="1798275"/>
              <a:ext cx="6012975" cy="238200"/>
              <a:chOff x="178425" y="1798275"/>
              <a:chExt cx="6012975" cy="238200"/>
            </a:xfrm>
          </p:grpSpPr>
          <p:cxnSp>
            <p:nvCxnSpPr>
              <p:cNvPr id="194" name="Google Shape;194;g3eb783fec72_0_1402"/>
              <p:cNvCxnSpPr/>
              <p:nvPr/>
            </p:nvCxnSpPr>
            <p:spPr>
              <a:xfrm>
                <a:off x="952500" y="1905000"/>
                <a:ext cx="5238900" cy="0"/>
              </a:xfrm>
              <a:prstGeom prst="straightConnector1">
                <a:avLst/>
              </a:prstGeom>
              <a:solidFill>
                <a:srgbClr val="FFFFFF"/>
              </a:solidFill>
              <a:ln w="28575" cap="flat" cmpd="sng">
                <a:solidFill>
                  <a:srgbClr val="052049"/>
                </a:solidFill>
                <a:prstDash val="solid"/>
                <a:round/>
                <a:headEnd type="none" w="sm" len="sm"/>
                <a:tailEnd type="none" w="sm" len="sm"/>
              </a:ln>
            </p:spPr>
          </p:cxnSp>
          <p:sp>
            <p:nvSpPr>
              <p:cNvPr id="196" name="Google Shape;196;g3eb783fec72_0_1402"/>
              <p:cNvSpPr txBox="1"/>
              <p:nvPr/>
            </p:nvSpPr>
            <p:spPr>
              <a:xfrm>
                <a:off x="178425" y="1798275"/>
                <a:ext cx="6843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3">
                    <a:solidFill>
                      <a:schemeClr val="dk1"/>
                    </a:solidFill>
                  </a:rPr>
                  <a:t>Patient </a:t>
                </a:r>
                <a:r>
                  <a:rPr lang="en-US" sz="1203" b="0">
                    <a:solidFill>
                      <a:srgbClr val="052049"/>
                    </a:solidFill>
                    <a:latin typeface="Arial"/>
                    <a:ea typeface="Arial"/>
                    <a:cs typeface="Arial"/>
                    <a:sym typeface="Arial"/>
                  </a:rPr>
                  <a:t>3</a:t>
                </a:r>
                <a:endParaRPr sz="1203" b="0">
                  <a:solidFill>
                    <a:srgbClr val="052049"/>
                  </a:solidFill>
                  <a:latin typeface="Arial"/>
                  <a:ea typeface="Arial"/>
                  <a:cs typeface="Arial"/>
                  <a:sym typeface="Arial"/>
                </a:endParaRPr>
              </a:p>
            </p:txBody>
          </p:sp>
        </p:grpSp>
        <p:grpSp>
          <p:nvGrpSpPr>
            <p:cNvPr id="197" name="Google Shape;197;g3eb783fec72_0_1402"/>
            <p:cNvGrpSpPr/>
            <p:nvPr/>
          </p:nvGrpSpPr>
          <p:grpSpPr>
            <a:xfrm>
              <a:off x="167507" y="2143125"/>
              <a:ext cx="3166393" cy="190500"/>
              <a:chOff x="167507" y="2143125"/>
              <a:chExt cx="3166393" cy="190500"/>
            </a:xfrm>
          </p:grpSpPr>
          <p:cxnSp>
            <p:nvCxnSpPr>
              <p:cNvPr id="198" name="Google Shape;198;g3eb783fec72_0_1402"/>
              <p:cNvCxnSpPr/>
              <p:nvPr/>
            </p:nvCxnSpPr>
            <p:spPr>
              <a:xfrm>
                <a:off x="952500" y="2286000"/>
                <a:ext cx="2381400" cy="0"/>
              </a:xfrm>
              <a:prstGeom prst="straightConnector1">
                <a:avLst/>
              </a:prstGeom>
              <a:solidFill>
                <a:srgbClr val="FFFFFF"/>
              </a:solidFill>
              <a:ln w="28575" cap="flat" cmpd="sng">
                <a:solidFill>
                  <a:srgbClr val="058488"/>
                </a:solidFill>
                <a:prstDash val="solid"/>
                <a:round/>
                <a:headEnd type="none" w="sm" len="sm"/>
                <a:tailEnd type="none" w="sm" len="sm"/>
              </a:ln>
            </p:spPr>
          </p:cxnSp>
          <p:sp>
            <p:nvSpPr>
              <p:cNvPr id="200" name="Google Shape;200;g3eb783fec72_0_1402"/>
              <p:cNvSpPr txBox="1"/>
              <p:nvPr/>
            </p:nvSpPr>
            <p:spPr>
              <a:xfrm>
                <a:off x="167507" y="2143125"/>
                <a:ext cx="6843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3">
                    <a:solidFill>
                      <a:schemeClr val="dk1"/>
                    </a:solidFill>
                  </a:rPr>
                  <a:t>Patient </a:t>
                </a:r>
                <a:r>
                  <a:rPr lang="en-US" sz="1203" b="0">
                    <a:solidFill>
                      <a:srgbClr val="052049"/>
                    </a:solidFill>
                    <a:latin typeface="Arial"/>
                    <a:ea typeface="Arial"/>
                    <a:cs typeface="Arial"/>
                    <a:sym typeface="Arial"/>
                  </a:rPr>
                  <a:t>4</a:t>
                </a:r>
                <a:endParaRPr sz="1203" b="0">
                  <a:solidFill>
                    <a:srgbClr val="052049"/>
                  </a:solidFill>
                  <a:latin typeface="Arial"/>
                  <a:ea typeface="Arial"/>
                  <a:cs typeface="Arial"/>
                  <a:sym typeface="Arial"/>
                </a:endParaRPr>
              </a:p>
            </p:txBody>
          </p:sp>
        </p:grpSp>
        <p:sp>
          <p:nvSpPr>
            <p:cNvPr id="205" name="Google Shape;205;g3eb783fec72_0_1402"/>
            <p:cNvSpPr txBox="1"/>
            <p:nvPr/>
          </p:nvSpPr>
          <p:spPr>
            <a:xfrm>
              <a:off x="4867425" y="2420800"/>
              <a:ext cx="1428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53" b="1">
                  <a:solidFill>
                    <a:srgbClr val="052049"/>
                  </a:solidFill>
                  <a:latin typeface="Arial"/>
                  <a:ea typeface="Arial"/>
                  <a:cs typeface="Arial"/>
                  <a:sym typeface="Arial"/>
                </a:rPr>
                <a:t>✗ Event observed</a:t>
              </a:r>
              <a:endParaRPr sz="853" b="1">
                <a:solidFill>
                  <a:srgbClr val="052049"/>
                </a:solidFill>
                <a:latin typeface="Arial"/>
                <a:ea typeface="Arial"/>
                <a:cs typeface="Arial"/>
                <a:sym typeface="Arial"/>
              </a:endParaRPr>
            </a:p>
          </p:txBody>
        </p:sp>
        <p:sp>
          <p:nvSpPr>
            <p:cNvPr id="206" name="Google Shape;206;g3eb783fec72_0_1402"/>
            <p:cNvSpPr txBox="1"/>
            <p:nvPr/>
          </p:nvSpPr>
          <p:spPr>
            <a:xfrm>
              <a:off x="3619500" y="2667000"/>
              <a:ext cx="1905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53" b="1">
                  <a:solidFill>
                    <a:srgbClr val="058488"/>
                  </a:solidFill>
                  <a:latin typeface="Arial"/>
                  <a:ea typeface="Arial"/>
                  <a:cs typeface="Arial"/>
                  <a:sym typeface="Arial"/>
                </a:rPr>
                <a:t>→ Censored — outcome unknown</a:t>
              </a:r>
              <a:endParaRPr sz="853" b="1">
                <a:solidFill>
                  <a:srgbClr val="058488"/>
                </a:solidFill>
                <a:latin typeface="Arial"/>
                <a:ea typeface="Arial"/>
                <a:cs typeface="Arial"/>
                <a:sym typeface="Arial"/>
              </a:endParaRPr>
            </a:p>
          </p:txBody>
        </p:sp>
      </p:grpSp>
      <p:sp>
        <p:nvSpPr>
          <p:cNvPr id="207" name="Google Shape;207;g3eb783fec72_0_1402"/>
          <p:cNvSpPr/>
          <p:nvPr/>
        </p:nvSpPr>
        <p:spPr>
          <a:xfrm>
            <a:off x="381000" y="3619500"/>
            <a:ext cx="4095900" cy="1238400"/>
          </a:xfrm>
          <a:prstGeom prst="roundRect">
            <a:avLst>
              <a:gd name="adj" fmla="val 6153"/>
            </a:avLst>
          </a:prstGeom>
          <a:solidFill>
            <a:srgbClr val="E6E9E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8" name="Google Shape;208;g3eb783fec72_0_1402"/>
          <p:cNvSpPr txBox="1"/>
          <p:nvPr/>
        </p:nvSpPr>
        <p:spPr>
          <a:xfrm>
            <a:off x="571500" y="3714750"/>
            <a:ext cx="37149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052049"/>
                </a:solidFill>
                <a:latin typeface="Arial"/>
                <a:ea typeface="Arial"/>
                <a:cs typeface="Arial"/>
                <a:sym typeface="Arial"/>
              </a:rPr>
              <a:t>Standard Random Forest</a:t>
            </a:r>
            <a:endParaRPr sz="1800" b="1">
              <a:solidFill>
                <a:srgbClr val="052049"/>
              </a:solidFill>
              <a:latin typeface="Arial"/>
              <a:ea typeface="Arial"/>
              <a:cs typeface="Arial"/>
              <a:sym typeface="Arial"/>
            </a:endParaRPr>
          </a:p>
          <a:p>
            <a:pPr marL="0" lvl="0" indent="0" algn="l" rtl="0">
              <a:spcBef>
                <a:spcPts val="600"/>
              </a:spcBef>
              <a:spcAft>
                <a:spcPts val="0"/>
              </a:spcAft>
              <a:buNone/>
            </a:pPr>
            <a:r>
              <a:rPr lang="en-US" sz="1203" b="0">
                <a:solidFill>
                  <a:srgbClr val="052049"/>
                </a:solidFill>
                <a:latin typeface="Arial"/>
                <a:ea typeface="Arial"/>
                <a:cs typeface="Arial"/>
                <a:sym typeface="Arial"/>
              </a:rPr>
              <a:t>✗ Needs complete outcome for every patient</a:t>
            </a:r>
            <a:endParaRPr sz="1203" b="0">
              <a:solidFill>
                <a:srgbClr val="052049"/>
              </a:solidFill>
              <a:latin typeface="Arial"/>
              <a:ea typeface="Arial"/>
              <a:cs typeface="Arial"/>
              <a:sym typeface="Arial"/>
            </a:endParaRPr>
          </a:p>
          <a:p>
            <a:pPr marL="0" lvl="0" indent="0" algn="l" rtl="0">
              <a:spcBef>
                <a:spcPts val="0"/>
              </a:spcBef>
              <a:spcAft>
                <a:spcPts val="0"/>
              </a:spcAft>
              <a:buNone/>
            </a:pPr>
            <a:r>
              <a:rPr lang="en-US" sz="1203" b="0">
                <a:solidFill>
                  <a:srgbClr val="052049"/>
                </a:solidFill>
                <a:latin typeface="Arial"/>
                <a:ea typeface="Arial"/>
                <a:cs typeface="Arial"/>
                <a:sym typeface="Arial"/>
              </a:rPr>
              <a:t>✗ Cannot handle censored data</a:t>
            </a:r>
            <a:endParaRPr sz="1203" b="0">
              <a:solidFill>
                <a:srgbClr val="052049"/>
              </a:solidFill>
              <a:latin typeface="Arial"/>
              <a:ea typeface="Arial"/>
              <a:cs typeface="Arial"/>
              <a:sym typeface="Arial"/>
            </a:endParaRPr>
          </a:p>
          <a:p>
            <a:pPr marL="0" lvl="0" indent="0" algn="l" rtl="0">
              <a:spcBef>
                <a:spcPts val="0"/>
              </a:spcBef>
              <a:spcAft>
                <a:spcPts val="0"/>
              </a:spcAft>
              <a:buNone/>
            </a:pPr>
            <a:r>
              <a:rPr lang="en-US" sz="1203" b="0">
                <a:solidFill>
                  <a:srgbClr val="052049"/>
                </a:solidFill>
                <a:latin typeface="Arial"/>
                <a:ea typeface="Arial"/>
                <a:cs typeface="Arial"/>
                <a:sym typeface="Arial"/>
              </a:rPr>
              <a:t>✗ Built for regression and classification</a:t>
            </a:r>
            <a:endParaRPr sz="1203" b="0">
              <a:solidFill>
                <a:srgbClr val="052049"/>
              </a:solidFill>
              <a:latin typeface="Arial"/>
              <a:ea typeface="Arial"/>
              <a:cs typeface="Arial"/>
              <a:sym typeface="Arial"/>
            </a:endParaRPr>
          </a:p>
        </p:txBody>
      </p:sp>
      <p:sp>
        <p:nvSpPr>
          <p:cNvPr id="209" name="Google Shape;209;g3eb783fec72_0_1402"/>
          <p:cNvSpPr/>
          <p:nvPr/>
        </p:nvSpPr>
        <p:spPr>
          <a:xfrm>
            <a:off x="4667250" y="3619500"/>
            <a:ext cx="4095900" cy="1238400"/>
          </a:xfrm>
          <a:prstGeom prst="roundRect">
            <a:avLst>
              <a:gd name="adj" fmla="val 6153"/>
            </a:avLst>
          </a:prstGeom>
          <a:solidFill>
            <a:srgbClr val="058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0" name="Google Shape;210;g3eb783fec72_0_1402"/>
          <p:cNvSpPr txBox="1"/>
          <p:nvPr/>
        </p:nvSpPr>
        <p:spPr>
          <a:xfrm>
            <a:off x="4857750" y="3714750"/>
            <a:ext cx="37149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FFFFFF"/>
                </a:solidFill>
                <a:latin typeface="Arial"/>
                <a:ea typeface="Arial"/>
                <a:cs typeface="Arial"/>
                <a:sym typeface="Arial"/>
              </a:rPr>
              <a:t>Random Survival Forest</a:t>
            </a:r>
            <a:endParaRPr sz="1600" b="1">
              <a:solidFill>
                <a:srgbClr val="FFFFFF"/>
              </a:solidFill>
              <a:latin typeface="Arial"/>
              <a:ea typeface="Arial"/>
              <a:cs typeface="Arial"/>
              <a:sym typeface="Arial"/>
            </a:endParaRPr>
          </a:p>
          <a:p>
            <a:pPr marL="0" lvl="0" indent="0" algn="l" rtl="0">
              <a:spcBef>
                <a:spcPts val="600"/>
              </a:spcBef>
              <a:spcAft>
                <a:spcPts val="0"/>
              </a:spcAft>
              <a:buNone/>
            </a:pPr>
            <a:r>
              <a:rPr lang="en-US" sz="1203" b="0">
                <a:solidFill>
                  <a:srgbClr val="FFFFFF"/>
                </a:solidFill>
                <a:latin typeface="Arial"/>
                <a:ea typeface="Arial"/>
                <a:cs typeface="Arial"/>
                <a:sym typeface="Arial"/>
              </a:rPr>
              <a:t>✓ Designed for censored survival data</a:t>
            </a:r>
            <a:endParaRPr sz="1203" b="0">
              <a:solidFill>
                <a:srgbClr val="FFFFFF"/>
              </a:solidFill>
              <a:latin typeface="Arial"/>
              <a:ea typeface="Arial"/>
              <a:cs typeface="Arial"/>
              <a:sym typeface="Arial"/>
            </a:endParaRPr>
          </a:p>
          <a:p>
            <a:pPr marL="0" lvl="0" indent="0" algn="l" rtl="0">
              <a:spcBef>
                <a:spcPts val="0"/>
              </a:spcBef>
              <a:spcAft>
                <a:spcPts val="0"/>
              </a:spcAft>
              <a:buNone/>
            </a:pPr>
            <a:r>
              <a:rPr lang="en-US" sz="1203" b="0">
                <a:solidFill>
                  <a:srgbClr val="FFFFFF"/>
                </a:solidFill>
                <a:latin typeface="Arial"/>
                <a:ea typeface="Arial"/>
                <a:cs typeface="Arial"/>
                <a:sym typeface="Arial"/>
              </a:rPr>
              <a:t>✓ Uses log-rank test — familiar from KM curves</a:t>
            </a:r>
            <a:endParaRPr sz="1203" b="0">
              <a:solidFill>
                <a:srgbClr val="FFFFFF"/>
              </a:solidFill>
              <a:latin typeface="Arial"/>
              <a:ea typeface="Arial"/>
              <a:cs typeface="Arial"/>
              <a:sym typeface="Arial"/>
            </a:endParaRPr>
          </a:p>
          <a:p>
            <a:pPr marL="0" lvl="0" indent="0" algn="l" rtl="0">
              <a:spcBef>
                <a:spcPts val="0"/>
              </a:spcBef>
              <a:spcAft>
                <a:spcPts val="0"/>
              </a:spcAft>
              <a:buNone/>
            </a:pPr>
            <a:r>
              <a:rPr lang="en-US" sz="1203" b="0">
                <a:solidFill>
                  <a:srgbClr val="FFFFFF"/>
                </a:solidFill>
                <a:latin typeface="Arial"/>
                <a:ea typeface="Arial"/>
                <a:cs typeface="Arial"/>
                <a:sym typeface="Arial"/>
              </a:rPr>
              <a:t>✓ No proportional hazards assumption needed</a:t>
            </a:r>
            <a:endParaRPr sz="1203" b="0">
              <a:solidFill>
                <a:srgbClr val="FFFFFF"/>
              </a:solidFill>
              <a:latin typeface="Arial"/>
              <a:ea typeface="Arial"/>
              <a:cs typeface="Arial"/>
              <a:sym typeface="Arial"/>
            </a:endParaRPr>
          </a:p>
        </p:txBody>
      </p:sp>
      <p:sp>
        <p:nvSpPr>
          <p:cNvPr id="211" name="Google Shape;211;g3eb783fec72_0_1402"/>
          <p:cNvSpPr txBox="1"/>
          <p:nvPr/>
        </p:nvSpPr>
        <p:spPr>
          <a:xfrm>
            <a:off x="381000" y="4905375"/>
            <a:ext cx="83820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0" i="1">
                <a:solidFill>
                  <a:srgbClr val="052049"/>
                </a:solidFill>
                <a:latin typeface="Arial"/>
                <a:ea typeface="Arial"/>
                <a:cs typeface="Arial"/>
                <a:sym typeface="Arial"/>
              </a:rPr>
              <a:t>Ishwaran et al. invented RSF in 2008 to solve exactly this problem.</a:t>
            </a:r>
            <a:endParaRPr sz="1000" b="0" i="1">
              <a:solidFill>
                <a:srgbClr val="052049"/>
              </a:solidFill>
              <a:latin typeface="Arial"/>
              <a:ea typeface="Arial"/>
              <a:cs typeface="Arial"/>
              <a:sym typeface="Arial"/>
            </a:endParaRPr>
          </a:p>
        </p:txBody>
      </p:sp>
      <p:sp>
        <p:nvSpPr>
          <p:cNvPr id="212" name="Google Shape;212;g3eb783fec72_0_1402"/>
          <p:cNvSpPr txBox="1"/>
          <p:nvPr/>
        </p:nvSpPr>
        <p:spPr>
          <a:xfrm>
            <a:off x="7139550" y="1849250"/>
            <a:ext cx="1905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53" b="1">
                <a:solidFill>
                  <a:srgbClr val="058488"/>
                </a:solidFill>
                <a:latin typeface="Arial"/>
                <a:ea typeface="Arial"/>
                <a:cs typeface="Arial"/>
                <a:sym typeface="Arial"/>
              </a:rPr>
              <a:t>→ Censored — outcome unknown</a:t>
            </a:r>
            <a:endParaRPr sz="853" b="1">
              <a:solidFill>
                <a:srgbClr val="058488"/>
              </a:solidFill>
              <a:latin typeface="Arial"/>
              <a:ea typeface="Arial"/>
              <a:cs typeface="Arial"/>
              <a:sym typeface="Arial"/>
            </a:endParaRPr>
          </a:p>
        </p:txBody>
      </p:sp>
      <p:sp>
        <p:nvSpPr>
          <p:cNvPr id="2" name="TextBox 1">
            <a:extLst>
              <a:ext uri="{FF2B5EF4-FFF2-40B4-BE49-F238E27FC236}">
                <a16:creationId xmlns:a16="http://schemas.microsoft.com/office/drawing/2014/main" id="{C3D7847B-49B3-3DFF-6A87-D4D854928545}"/>
              </a:ext>
            </a:extLst>
          </p:cNvPr>
          <p:cNvSpPr txBox="1"/>
          <p:nvPr/>
        </p:nvSpPr>
        <p:spPr>
          <a:xfrm>
            <a:off x="7440930" y="1419286"/>
            <a:ext cx="358140" cy="307777"/>
          </a:xfrm>
          <a:prstGeom prst="rect">
            <a:avLst/>
          </a:prstGeom>
          <a:noFill/>
        </p:spPr>
        <p:txBody>
          <a:bodyPr wrap="square" rtlCol="0">
            <a:spAutoFit/>
          </a:bodyPr>
          <a:lstStyle/>
          <a:p>
            <a:r>
              <a:rPr lang="en-US" dirty="0"/>
              <a:t>❌</a:t>
            </a:r>
          </a:p>
        </p:txBody>
      </p:sp>
      <p:sp>
        <p:nvSpPr>
          <p:cNvPr id="3" name="TextBox 2">
            <a:extLst>
              <a:ext uri="{FF2B5EF4-FFF2-40B4-BE49-F238E27FC236}">
                <a16:creationId xmlns:a16="http://schemas.microsoft.com/office/drawing/2014/main" id="{F42146FB-5625-D9EC-EEDD-7B2E934C3EE4}"/>
              </a:ext>
            </a:extLst>
          </p:cNvPr>
          <p:cNvSpPr txBox="1"/>
          <p:nvPr/>
        </p:nvSpPr>
        <p:spPr>
          <a:xfrm>
            <a:off x="3188858" y="2191136"/>
            <a:ext cx="358140" cy="307777"/>
          </a:xfrm>
          <a:prstGeom prst="rect">
            <a:avLst/>
          </a:prstGeom>
          <a:noFill/>
        </p:spPr>
        <p:txBody>
          <a:bodyPr wrap="square" rtlCol="0">
            <a:spAutoFit/>
          </a:bodyPr>
          <a:lstStyle/>
          <a:p>
            <a:r>
              <a:rPr lang="en-US" dirty="0"/>
              <a:t>❌</a:t>
            </a:r>
          </a:p>
        </p:txBody>
      </p:sp>
      <p:sp>
        <p:nvSpPr>
          <p:cNvPr id="4" name="TextBox 3">
            <a:extLst>
              <a:ext uri="{FF2B5EF4-FFF2-40B4-BE49-F238E27FC236}">
                <a16:creationId xmlns:a16="http://schemas.microsoft.com/office/drawing/2014/main" id="{6DE5BFB5-760A-8D2D-0172-643B10510E19}"/>
              </a:ext>
            </a:extLst>
          </p:cNvPr>
          <p:cNvSpPr txBox="1"/>
          <p:nvPr/>
        </p:nvSpPr>
        <p:spPr>
          <a:xfrm>
            <a:off x="4643475" y="1003368"/>
            <a:ext cx="285601" cy="461665"/>
          </a:xfrm>
          <a:prstGeom prst="rect">
            <a:avLst/>
          </a:prstGeom>
          <a:noFill/>
        </p:spPr>
        <p:txBody>
          <a:bodyPr wrap="square" rtlCol="0">
            <a:spAutoFit/>
          </a:bodyPr>
          <a:lstStyle/>
          <a:p>
            <a:r>
              <a:rPr lang="en-US" sz="2400" dirty="0"/>
              <a:t>💀</a:t>
            </a:r>
          </a:p>
        </p:txBody>
      </p:sp>
      <p:sp>
        <p:nvSpPr>
          <p:cNvPr id="5" name="TextBox 4">
            <a:extLst>
              <a:ext uri="{FF2B5EF4-FFF2-40B4-BE49-F238E27FC236}">
                <a16:creationId xmlns:a16="http://schemas.microsoft.com/office/drawing/2014/main" id="{26F8FF13-0062-0B98-86D6-817E0EFDD6D9}"/>
              </a:ext>
            </a:extLst>
          </p:cNvPr>
          <p:cNvSpPr txBox="1"/>
          <p:nvPr/>
        </p:nvSpPr>
        <p:spPr>
          <a:xfrm>
            <a:off x="6048599" y="1744094"/>
            <a:ext cx="285601" cy="461665"/>
          </a:xfrm>
          <a:prstGeom prst="rect">
            <a:avLst/>
          </a:prstGeom>
          <a:noFill/>
        </p:spPr>
        <p:txBody>
          <a:bodyPr wrap="square" rtlCol="0">
            <a:spAutoFit/>
          </a:bodyPr>
          <a:lstStyle/>
          <a:p>
            <a:r>
              <a:rPr lang="en-US" sz="2400" dirty="0"/>
              <a:t>💀</a:t>
            </a:r>
          </a:p>
        </p:txBody>
      </p:sp>
      <p:cxnSp>
        <p:nvCxnSpPr>
          <p:cNvPr id="7" name="Straight Arrow Connector 6">
            <a:extLst>
              <a:ext uri="{FF2B5EF4-FFF2-40B4-BE49-F238E27FC236}">
                <a16:creationId xmlns:a16="http://schemas.microsoft.com/office/drawing/2014/main" id="{4068DD60-0FC7-E418-8C88-FF1BD1CA0469}"/>
              </a:ext>
            </a:extLst>
          </p:cNvPr>
          <p:cNvCxnSpPr/>
          <p:nvPr/>
        </p:nvCxnSpPr>
        <p:spPr>
          <a:xfrm>
            <a:off x="4867425" y="1372700"/>
            <a:ext cx="188669" cy="972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3B125931-9C55-1535-F6E0-4214498E2555}"/>
              </a:ext>
            </a:extLst>
          </p:cNvPr>
          <p:cNvCxnSpPr/>
          <p:nvPr/>
        </p:nvCxnSpPr>
        <p:spPr>
          <a:xfrm flipH="1">
            <a:off x="5712311" y="2036475"/>
            <a:ext cx="479088" cy="3843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DD74AC4-32F4-C4CC-17D0-EEC10DC6F521}"/>
              </a:ext>
            </a:extLst>
          </p:cNvPr>
          <p:cNvCxnSpPr>
            <a:stCxn id="3" idx="3"/>
          </p:cNvCxnSpPr>
          <p:nvPr/>
        </p:nvCxnSpPr>
        <p:spPr>
          <a:xfrm>
            <a:off x="3546998" y="2345025"/>
            <a:ext cx="637727" cy="32197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E227E6E7-CFB5-DCD7-D7FA-1E58A4AAD3C7}"/>
              </a:ext>
            </a:extLst>
          </p:cNvPr>
          <p:cNvCxnSpPr>
            <a:cxnSpLocks/>
            <a:stCxn id="2" idx="3"/>
            <a:endCxn id="212" idx="0"/>
          </p:cNvCxnSpPr>
          <p:nvPr/>
        </p:nvCxnSpPr>
        <p:spPr>
          <a:xfrm>
            <a:off x="7799070" y="1573175"/>
            <a:ext cx="292980" cy="276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a:alphaModFix/>
          </a:blip>
          <a:stretch>
            <a:fillRect/>
          </a:stretch>
        </a:blipFill>
        <a:effectLst/>
      </p:bgPr>
    </p:bg>
    <p:spTree>
      <p:nvGrpSpPr>
        <p:cNvPr id="1" name="Shape 221"/>
        <p:cNvGrpSpPr/>
        <p:nvPr/>
      </p:nvGrpSpPr>
      <p:grpSpPr>
        <a:xfrm>
          <a:off x="0" y="0"/>
          <a:ext cx="0" cy="0"/>
          <a:chOff x="0" y="0"/>
          <a:chExt cx="0" cy="0"/>
        </a:xfrm>
      </p:grpSpPr>
      <p:sp>
        <p:nvSpPr>
          <p:cNvPr id="222" name="Google Shape;222;g3eb783fec72_93_88"/>
          <p:cNvSpPr/>
          <p:nvPr/>
        </p:nvSpPr>
        <p:spPr>
          <a:xfrm>
            <a:off x="0" y="0"/>
            <a:ext cx="9144000" cy="762000"/>
          </a:xfrm>
          <a:prstGeom prst="rect">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3" name="Google Shape;223;g3eb783fec72_93_88"/>
          <p:cNvSpPr txBox="1"/>
          <p:nvPr/>
        </p:nvSpPr>
        <p:spPr>
          <a:xfrm>
            <a:off x="381000" y="0"/>
            <a:ext cx="83820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3000">
                <a:solidFill>
                  <a:srgbClr val="FFFFFF"/>
                </a:solidFill>
                <a:latin typeface="Times New Roman"/>
                <a:ea typeface="Times New Roman"/>
                <a:cs typeface="Times New Roman"/>
                <a:sym typeface="Times New Roman"/>
              </a:rPr>
              <a:t>How RSF Splits Patients: The Survival Tree</a:t>
            </a:r>
            <a:endParaRPr sz="3000">
              <a:solidFill>
                <a:srgbClr val="FFFFFF"/>
              </a:solidFill>
              <a:latin typeface="Times New Roman"/>
              <a:ea typeface="Times New Roman"/>
              <a:cs typeface="Times New Roman"/>
              <a:sym typeface="Times New Roman"/>
            </a:endParaRPr>
          </a:p>
        </p:txBody>
      </p:sp>
      <p:sp>
        <p:nvSpPr>
          <p:cNvPr id="224" name="Google Shape;224;g3eb783fec72_93_88"/>
          <p:cNvSpPr/>
          <p:nvPr/>
        </p:nvSpPr>
        <p:spPr>
          <a:xfrm>
            <a:off x="285750" y="857250"/>
            <a:ext cx="5334000" cy="3429000"/>
          </a:xfrm>
          <a:prstGeom prst="roundRect">
            <a:avLst>
              <a:gd name="adj" fmla="val 3333"/>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25" name="Google Shape;225;g3eb783fec72_93_88"/>
          <p:cNvGrpSpPr/>
          <p:nvPr/>
        </p:nvGrpSpPr>
        <p:grpSpPr>
          <a:xfrm>
            <a:off x="476250" y="858124"/>
            <a:ext cx="4953000" cy="1762200"/>
            <a:chOff x="476250" y="1143000"/>
            <a:chExt cx="4953000" cy="1762200"/>
          </a:xfrm>
        </p:grpSpPr>
        <p:sp>
          <p:nvSpPr>
            <p:cNvPr id="226" name="Google Shape;226;g3eb783fec72_93_88"/>
            <p:cNvSpPr/>
            <p:nvPr/>
          </p:nvSpPr>
          <p:spPr>
            <a:xfrm>
              <a:off x="2190750" y="1143000"/>
              <a:ext cx="1524000" cy="571500"/>
            </a:xfrm>
            <a:prstGeom prst="roundRect">
              <a:avLst>
                <a:gd name="adj" fmla="val 13333"/>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7" name="Google Shape;227;g3eb783fec72_93_88"/>
            <p:cNvSpPr txBox="1"/>
            <p:nvPr/>
          </p:nvSpPr>
          <p:spPr>
            <a:xfrm>
              <a:off x="2190750" y="1143000"/>
              <a:ext cx="1524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dirty="0">
                  <a:solidFill>
                    <a:srgbClr val="FFFFFF"/>
                  </a:solidFill>
                  <a:latin typeface="Arial"/>
                  <a:ea typeface="Arial"/>
                  <a:cs typeface="Arial"/>
                  <a:sym typeface="Arial"/>
                </a:rPr>
                <a:t>All 1,813 patients</a:t>
              </a:r>
              <a:endParaRPr sz="1200" b="1" dirty="0">
                <a:solidFill>
                  <a:srgbClr val="FFFFFF"/>
                </a:solidFill>
                <a:latin typeface="Arial"/>
                <a:ea typeface="Arial"/>
                <a:cs typeface="Arial"/>
                <a:sym typeface="Arial"/>
              </a:endParaRPr>
            </a:p>
            <a:p>
              <a:pPr marL="0" lvl="0" indent="0" algn="ctr" rtl="0">
                <a:spcBef>
                  <a:spcPts val="0"/>
                </a:spcBef>
                <a:spcAft>
                  <a:spcPts val="0"/>
                </a:spcAft>
                <a:buNone/>
              </a:pPr>
              <a:r>
                <a:rPr lang="en-US" sz="1000" b="0" dirty="0">
                  <a:solidFill>
                    <a:srgbClr val="FFFFFF"/>
                  </a:solidFill>
                  <a:latin typeface="Arial"/>
                  <a:ea typeface="Arial"/>
                  <a:cs typeface="Arial"/>
                  <a:sym typeface="Arial"/>
                </a:rPr>
                <a:t>Ask: Is age &gt; 70?</a:t>
              </a:r>
              <a:endParaRPr sz="1000" b="0" dirty="0">
                <a:solidFill>
                  <a:srgbClr val="FFFFFF"/>
                </a:solidFill>
                <a:latin typeface="Arial"/>
                <a:ea typeface="Arial"/>
                <a:cs typeface="Arial"/>
                <a:sym typeface="Arial"/>
              </a:endParaRPr>
            </a:p>
          </p:txBody>
        </p:sp>
        <p:sp>
          <p:nvSpPr>
            <p:cNvPr id="229" name="Google Shape;229;g3eb783fec72_93_88"/>
            <p:cNvSpPr txBox="1"/>
            <p:nvPr/>
          </p:nvSpPr>
          <p:spPr>
            <a:xfrm>
              <a:off x="1333500" y="1619250"/>
              <a:ext cx="3810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52049"/>
                  </a:solidFill>
                  <a:latin typeface="Arial"/>
                  <a:ea typeface="Arial"/>
                  <a:cs typeface="Arial"/>
                  <a:sym typeface="Arial"/>
                </a:rPr>
                <a:t>Yes</a:t>
              </a:r>
              <a:endParaRPr sz="1100" b="1">
                <a:solidFill>
                  <a:srgbClr val="052049"/>
                </a:solidFill>
                <a:latin typeface="Arial"/>
                <a:ea typeface="Arial"/>
                <a:cs typeface="Arial"/>
                <a:sym typeface="Arial"/>
              </a:endParaRPr>
            </a:p>
          </p:txBody>
        </p:sp>
        <p:sp>
          <p:nvSpPr>
            <p:cNvPr id="231" name="Google Shape;231;g3eb783fec72_93_88"/>
            <p:cNvSpPr txBox="1"/>
            <p:nvPr/>
          </p:nvSpPr>
          <p:spPr>
            <a:xfrm>
              <a:off x="4191000" y="1619250"/>
              <a:ext cx="3810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52049"/>
                  </a:solidFill>
                  <a:latin typeface="Arial"/>
                  <a:ea typeface="Arial"/>
                  <a:cs typeface="Arial"/>
                  <a:sym typeface="Arial"/>
                </a:rPr>
                <a:t>No</a:t>
              </a:r>
              <a:endParaRPr sz="1100" b="1">
                <a:solidFill>
                  <a:srgbClr val="052049"/>
                </a:solidFill>
                <a:latin typeface="Arial"/>
                <a:ea typeface="Arial"/>
                <a:cs typeface="Arial"/>
                <a:sym typeface="Arial"/>
              </a:endParaRPr>
            </a:p>
          </p:txBody>
        </p:sp>
        <p:sp>
          <p:nvSpPr>
            <p:cNvPr id="232" name="Google Shape;232;g3eb783fec72_93_88"/>
            <p:cNvSpPr/>
            <p:nvPr/>
          </p:nvSpPr>
          <p:spPr>
            <a:xfrm>
              <a:off x="476250" y="2095500"/>
              <a:ext cx="1714500" cy="809700"/>
            </a:xfrm>
            <a:prstGeom prst="roundRect">
              <a:avLst>
                <a:gd name="adj" fmla="val 9411"/>
              </a:avLst>
            </a:prstGeom>
            <a:solidFill>
              <a:srgbClr val="058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3" name="Google Shape;233;g3eb783fec72_93_88"/>
            <p:cNvSpPr txBox="1"/>
            <p:nvPr/>
          </p:nvSpPr>
          <p:spPr>
            <a:xfrm>
              <a:off x="476250" y="2095500"/>
              <a:ext cx="1714500" cy="809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dirty="0">
                  <a:solidFill>
                    <a:srgbClr val="FFFFFF"/>
                  </a:solidFill>
                  <a:latin typeface="Arial"/>
                  <a:ea typeface="Arial"/>
                  <a:cs typeface="Arial"/>
                  <a:sym typeface="Arial"/>
                </a:rPr>
                <a:t>Older patients</a:t>
              </a:r>
              <a:endParaRPr sz="1100" b="1" dirty="0">
                <a:solidFill>
                  <a:srgbClr val="FFFFFF"/>
                </a:solidFill>
                <a:latin typeface="Arial"/>
                <a:ea typeface="Arial"/>
                <a:cs typeface="Arial"/>
                <a:sym typeface="Arial"/>
              </a:endParaRPr>
            </a:p>
            <a:p>
              <a:pPr marL="0" lvl="0" indent="0" algn="ctr" rtl="0">
                <a:spcBef>
                  <a:spcPts val="0"/>
                </a:spcBef>
                <a:spcAft>
                  <a:spcPts val="0"/>
                </a:spcAft>
                <a:buNone/>
              </a:pPr>
              <a:r>
                <a:rPr lang="en-US" sz="1100" b="0" dirty="0">
                  <a:solidFill>
                    <a:srgbClr val="E0F2F1"/>
                  </a:solidFill>
                  <a:latin typeface="Arial"/>
                  <a:ea typeface="Arial"/>
                  <a:cs typeface="Arial"/>
                  <a:sym typeface="Arial"/>
                </a:rPr>
                <a:t>Higher risk group</a:t>
              </a:r>
              <a:endParaRPr sz="1100" b="0" dirty="0">
                <a:solidFill>
                  <a:srgbClr val="E0F2F1"/>
                </a:solidFill>
                <a:latin typeface="Arial"/>
                <a:ea typeface="Arial"/>
                <a:cs typeface="Arial"/>
                <a:sym typeface="Arial"/>
              </a:endParaRPr>
            </a:p>
            <a:p>
              <a:pPr marL="0" lvl="0" indent="0" algn="ctr" rtl="0">
                <a:spcBef>
                  <a:spcPts val="0"/>
                </a:spcBef>
                <a:spcAft>
                  <a:spcPts val="0"/>
                </a:spcAft>
                <a:buNone/>
              </a:pPr>
              <a:r>
                <a:rPr lang="en-US" sz="1100" b="0" dirty="0">
                  <a:solidFill>
                    <a:srgbClr val="E0F2F1"/>
                  </a:solidFill>
                  <a:latin typeface="Arial"/>
                  <a:ea typeface="Arial"/>
                  <a:cs typeface="Arial"/>
                  <a:sym typeface="Arial"/>
                </a:rPr>
                <a:t>Survival drops faster</a:t>
              </a:r>
              <a:endParaRPr sz="1100" b="0" dirty="0">
                <a:solidFill>
                  <a:srgbClr val="E0F2F1"/>
                </a:solidFill>
                <a:latin typeface="Arial"/>
                <a:ea typeface="Arial"/>
                <a:cs typeface="Arial"/>
                <a:sym typeface="Arial"/>
              </a:endParaRPr>
            </a:p>
          </p:txBody>
        </p:sp>
        <p:sp>
          <p:nvSpPr>
            <p:cNvPr id="234" name="Google Shape;234;g3eb783fec72_93_88"/>
            <p:cNvSpPr/>
            <p:nvPr/>
          </p:nvSpPr>
          <p:spPr>
            <a:xfrm>
              <a:off x="3714750" y="2095500"/>
              <a:ext cx="1714500" cy="809700"/>
            </a:xfrm>
            <a:prstGeom prst="roundRect">
              <a:avLst>
                <a:gd name="adj" fmla="val 9411"/>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5" name="Google Shape;235;g3eb783fec72_93_88"/>
            <p:cNvSpPr txBox="1"/>
            <p:nvPr/>
          </p:nvSpPr>
          <p:spPr>
            <a:xfrm>
              <a:off x="3714750" y="2095500"/>
              <a:ext cx="1714500" cy="809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dirty="0">
                  <a:solidFill>
                    <a:srgbClr val="FFFFFF"/>
                  </a:solidFill>
                  <a:latin typeface="Arial"/>
                  <a:ea typeface="Arial"/>
                  <a:cs typeface="Arial"/>
                  <a:sym typeface="Arial"/>
                </a:rPr>
                <a:t>Younger patients</a:t>
              </a:r>
              <a:endParaRPr sz="1100" b="1" dirty="0">
                <a:solidFill>
                  <a:srgbClr val="FFFFFF"/>
                </a:solidFill>
                <a:latin typeface="Arial"/>
                <a:ea typeface="Arial"/>
                <a:cs typeface="Arial"/>
                <a:sym typeface="Arial"/>
              </a:endParaRPr>
            </a:p>
            <a:p>
              <a:pPr marL="0" lvl="0" indent="0" algn="ctr" rtl="0">
                <a:spcBef>
                  <a:spcPts val="0"/>
                </a:spcBef>
                <a:spcAft>
                  <a:spcPts val="0"/>
                </a:spcAft>
                <a:buNone/>
              </a:pPr>
              <a:r>
                <a:rPr lang="en-US" sz="1100" b="0" dirty="0">
                  <a:solidFill>
                    <a:srgbClr val="CBD5E1"/>
                  </a:solidFill>
                  <a:latin typeface="Arial"/>
                  <a:ea typeface="Arial"/>
                  <a:cs typeface="Arial"/>
                  <a:sym typeface="Arial"/>
                </a:rPr>
                <a:t>Lower risk group</a:t>
              </a:r>
              <a:endParaRPr sz="1100" b="0" dirty="0">
                <a:solidFill>
                  <a:srgbClr val="CBD5E1"/>
                </a:solidFill>
                <a:latin typeface="Arial"/>
                <a:ea typeface="Arial"/>
                <a:cs typeface="Arial"/>
                <a:sym typeface="Arial"/>
              </a:endParaRPr>
            </a:p>
            <a:p>
              <a:pPr marL="0" lvl="0" indent="0" algn="ctr" rtl="0">
                <a:spcBef>
                  <a:spcPts val="0"/>
                </a:spcBef>
                <a:spcAft>
                  <a:spcPts val="0"/>
                </a:spcAft>
                <a:buNone/>
              </a:pPr>
              <a:r>
                <a:rPr lang="en-US" sz="1100" b="0" dirty="0">
                  <a:solidFill>
                    <a:srgbClr val="CBD5E1"/>
                  </a:solidFill>
                  <a:latin typeface="Arial"/>
                  <a:ea typeface="Arial"/>
                  <a:cs typeface="Arial"/>
                  <a:sym typeface="Arial"/>
                </a:rPr>
                <a:t>Survival stays higher</a:t>
              </a:r>
              <a:endParaRPr sz="1100" b="0" dirty="0">
                <a:solidFill>
                  <a:srgbClr val="CBD5E1"/>
                </a:solidFill>
                <a:latin typeface="Arial"/>
                <a:ea typeface="Arial"/>
                <a:cs typeface="Arial"/>
                <a:sym typeface="Arial"/>
              </a:endParaRPr>
            </a:p>
          </p:txBody>
        </p:sp>
      </p:grpSp>
      <p:sp>
        <p:nvSpPr>
          <p:cNvPr id="245" name="Google Shape;245;g3eb783fec72_93_88"/>
          <p:cNvSpPr/>
          <p:nvPr/>
        </p:nvSpPr>
        <p:spPr>
          <a:xfrm>
            <a:off x="5810250" y="952500"/>
            <a:ext cx="3048000" cy="476400"/>
          </a:xfrm>
          <a:prstGeom prst="roundRect">
            <a:avLst>
              <a:gd name="adj" fmla="val 24000"/>
            </a:avLst>
          </a:prstGeom>
          <a:solidFill>
            <a:srgbClr val="058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6" name="Google Shape;246;g3eb783fec72_93_88"/>
          <p:cNvSpPr/>
          <p:nvPr/>
        </p:nvSpPr>
        <p:spPr>
          <a:xfrm>
            <a:off x="5810250" y="1190625"/>
            <a:ext cx="3048000" cy="238200"/>
          </a:xfrm>
          <a:prstGeom prst="rect">
            <a:avLst/>
          </a:prstGeom>
          <a:solidFill>
            <a:srgbClr val="058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7" name="Google Shape;247;g3eb783fec72_93_88"/>
          <p:cNvSpPr txBox="1"/>
          <p:nvPr/>
        </p:nvSpPr>
        <p:spPr>
          <a:xfrm>
            <a:off x="6000750" y="1104022"/>
            <a:ext cx="2667000" cy="3238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1400" b="1" dirty="0">
                <a:solidFill>
                  <a:srgbClr val="FFFFFF"/>
                </a:solidFill>
                <a:latin typeface="Arial"/>
                <a:ea typeface="Arial"/>
                <a:cs typeface="Arial"/>
                <a:sym typeface="Arial"/>
              </a:rPr>
              <a:t>How RSF Splitting Works</a:t>
            </a:r>
            <a:endParaRPr sz="1400" b="1" dirty="0">
              <a:solidFill>
                <a:srgbClr val="FFFFFF"/>
              </a:solidFill>
              <a:latin typeface="Arial"/>
              <a:ea typeface="Arial"/>
              <a:cs typeface="Arial"/>
              <a:sym typeface="Arial"/>
            </a:endParaRPr>
          </a:p>
          <a:p>
            <a:pPr marL="0" lvl="0" indent="0" algn="l" rtl="0">
              <a:spcBef>
                <a:spcPts val="1500"/>
              </a:spcBef>
              <a:spcAft>
                <a:spcPts val="0"/>
              </a:spcAft>
              <a:buNone/>
            </a:pPr>
            <a:r>
              <a:rPr lang="en-US" sz="1100" b="1" dirty="0">
                <a:solidFill>
                  <a:srgbClr val="058488"/>
                </a:solidFill>
                <a:latin typeface="Arial"/>
                <a:ea typeface="Arial"/>
                <a:cs typeface="Arial"/>
                <a:sym typeface="Arial"/>
              </a:rPr>
              <a:t>Log-rank test:</a:t>
            </a:r>
            <a:r>
              <a:rPr lang="en-US" sz="1100" dirty="0">
                <a:solidFill>
                  <a:srgbClr val="1E293B"/>
                </a:solidFill>
                <a:latin typeface="Arial"/>
                <a:ea typeface="Arial"/>
                <a:cs typeface="Arial"/>
                <a:sym typeface="Arial"/>
              </a:rPr>
              <a:t> used to compare two Kaplan-Meier curves</a:t>
            </a:r>
            <a:endParaRPr sz="1100" dirty="0">
              <a:solidFill>
                <a:srgbClr val="1E293B"/>
              </a:solidFill>
              <a:latin typeface="Arial"/>
              <a:ea typeface="Arial"/>
              <a:cs typeface="Arial"/>
              <a:sym typeface="Arial"/>
            </a:endParaRPr>
          </a:p>
          <a:p>
            <a:pPr marL="0" lvl="0" indent="0" algn="l" rtl="0">
              <a:spcBef>
                <a:spcPts val="900"/>
              </a:spcBef>
              <a:spcAft>
                <a:spcPts val="0"/>
              </a:spcAft>
              <a:buNone/>
            </a:pPr>
            <a:endParaRPr lang="en-US" sz="1100" b="1" dirty="0">
              <a:solidFill>
                <a:srgbClr val="058488"/>
              </a:solidFill>
              <a:latin typeface="Arial"/>
              <a:ea typeface="Arial"/>
              <a:cs typeface="Arial"/>
              <a:sym typeface="Arial"/>
            </a:endParaRPr>
          </a:p>
          <a:p>
            <a:pPr marL="0" lvl="0" indent="0" algn="l" rtl="0">
              <a:spcBef>
                <a:spcPts val="900"/>
              </a:spcBef>
              <a:spcAft>
                <a:spcPts val="0"/>
              </a:spcAft>
              <a:buNone/>
            </a:pPr>
            <a:endParaRPr lang="en-US" sz="1100" b="1" dirty="0">
              <a:solidFill>
                <a:srgbClr val="058488"/>
              </a:solidFill>
            </a:endParaRPr>
          </a:p>
          <a:p>
            <a:pPr marL="0" lvl="0" indent="0" algn="l" rtl="0">
              <a:spcBef>
                <a:spcPts val="900"/>
              </a:spcBef>
              <a:spcAft>
                <a:spcPts val="0"/>
              </a:spcAft>
              <a:buNone/>
            </a:pPr>
            <a:endParaRPr lang="en-US" sz="1100" b="1" dirty="0">
              <a:solidFill>
                <a:srgbClr val="058488"/>
              </a:solidFill>
              <a:latin typeface="Arial"/>
              <a:ea typeface="Arial"/>
              <a:cs typeface="Arial"/>
              <a:sym typeface="Arial"/>
            </a:endParaRPr>
          </a:p>
          <a:p>
            <a:pPr marL="0" lvl="0" indent="0" algn="l" rtl="0">
              <a:spcBef>
                <a:spcPts val="900"/>
              </a:spcBef>
              <a:spcAft>
                <a:spcPts val="0"/>
              </a:spcAft>
              <a:buNone/>
            </a:pPr>
            <a:endParaRPr lang="en-US" sz="1100" b="1" dirty="0">
              <a:solidFill>
                <a:srgbClr val="058488"/>
              </a:solidFill>
            </a:endParaRPr>
          </a:p>
        </p:txBody>
      </p:sp>
      <p:cxnSp>
        <p:nvCxnSpPr>
          <p:cNvPr id="7" name="Straight Arrow Connector 6">
            <a:extLst>
              <a:ext uri="{FF2B5EF4-FFF2-40B4-BE49-F238E27FC236}">
                <a16:creationId xmlns:a16="http://schemas.microsoft.com/office/drawing/2014/main" id="{C9F32470-6C53-7ED7-A807-09041FD35261}"/>
              </a:ext>
            </a:extLst>
          </p:cNvPr>
          <p:cNvCxnSpPr>
            <a:cxnSpLocks/>
          </p:cNvCxnSpPr>
          <p:nvPr/>
        </p:nvCxnSpPr>
        <p:spPr>
          <a:xfrm flipH="1">
            <a:off x="1543041" y="1309725"/>
            <a:ext cx="647709" cy="4056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5E6E3C6B-765C-77F0-7B83-E2EC5C705957}"/>
              </a:ext>
            </a:extLst>
          </p:cNvPr>
          <p:cNvCxnSpPr>
            <a:cxnSpLocks/>
          </p:cNvCxnSpPr>
          <p:nvPr/>
        </p:nvCxnSpPr>
        <p:spPr>
          <a:xfrm>
            <a:off x="3714750" y="1309725"/>
            <a:ext cx="533418" cy="443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id="{51D3C3AE-831C-8A74-19C4-26DD1DA3B120}"/>
              </a:ext>
            </a:extLst>
          </p:cNvPr>
          <p:cNvPicPr>
            <a:picLocks/>
          </p:cNvPicPr>
          <p:nvPr>
            <p:custDataLst>
              <p:tags r:id="rId1"/>
            </p:custDataLst>
          </p:nvPr>
        </p:nvPicPr>
        <p:blipFill>
          <a:blip r:embed="rId4"/>
          <a:stretch>
            <a:fillRect/>
          </a:stretch>
        </p:blipFill>
        <p:spPr>
          <a:xfrm>
            <a:off x="6070219" y="1962442"/>
            <a:ext cx="1575562" cy="805671"/>
          </a:xfrm>
          <a:prstGeom prst="rect">
            <a:avLst/>
          </a:prstGeom>
        </p:spPr>
      </p:pic>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7F018123-8942-9E19-9748-AC1A65600D9C}"/>
                  </a:ext>
                </a:extLst>
              </p:cNvPr>
              <p:cNvSpPr txBox="1"/>
              <p:nvPr/>
            </p:nvSpPr>
            <p:spPr>
              <a:xfrm>
                <a:off x="5810250" y="2786952"/>
                <a:ext cx="3048000" cy="1761123"/>
              </a:xfrm>
              <a:prstGeom prst="rect">
                <a:avLst/>
              </a:prstGeom>
              <a:noFill/>
            </p:spPr>
            <p:txBody>
              <a:bodyPr wrap="square" rtlCol="0">
                <a:spAutoFit/>
              </a:bodyPr>
              <a:lstStyle/>
              <a:p>
                <a14:m>
                  <m:oMath xmlns:m="http://schemas.openxmlformats.org/officeDocument/2006/math">
                    <m:sSub>
                      <m:sSubPr>
                        <m:ctrlPr>
                          <a:rPr lang="en-US" sz="1200" i="1" smtClean="0"/>
                        </m:ctrlPr>
                      </m:sSubPr>
                      <m:e>
                        <m:r>
                          <a:rPr lang="en-US" sz="1200" i="1"/>
                          <m:t>𝑑</m:t>
                        </m:r>
                      </m:e>
                      <m:sub>
                        <m:r>
                          <a:rPr lang="en-US" sz="1200" i="1"/>
                          <m:t>1</m:t>
                        </m:r>
                        <m:r>
                          <a:rPr lang="en-US" sz="1200" i="1"/>
                          <m:t>𝑗</m:t>
                        </m:r>
                      </m:sub>
                    </m:sSub>
                    <m:r>
                      <a:rPr lang="en-US" sz="1200" b="0" i="0" smtClean="0">
                        <a:latin typeface="Cambria Math" panose="02040503050406030204" pitchFamily="18" charset="0"/>
                      </a:rPr>
                      <m:t>=</m:t>
                    </m:r>
                  </m:oMath>
                </a14:m>
                <a:r>
                  <a:rPr lang="en-US" sz="1200" dirty="0"/>
                  <a:t> the observed number of deaths in child node 1 at time t</a:t>
                </a:r>
              </a:p>
              <a:p>
                <a14:m>
                  <m:oMath xmlns:m="http://schemas.openxmlformats.org/officeDocument/2006/math">
                    <m:sSub>
                      <m:sSubPr>
                        <m:ctrlPr>
                          <a:rPr lang="en-US" sz="1200" i="1"/>
                        </m:ctrlPr>
                      </m:sSubPr>
                      <m:e>
                        <m:r>
                          <a:rPr lang="en-US" sz="1200" i="1"/>
                          <m:t>𝑒</m:t>
                        </m:r>
                      </m:e>
                      <m:sub>
                        <m:r>
                          <a:rPr lang="en-US" sz="1200" i="1"/>
                          <m:t>1</m:t>
                        </m:r>
                        <m:r>
                          <a:rPr lang="en-US" sz="1200" i="1"/>
                          <m:t>𝑗</m:t>
                        </m:r>
                      </m:sub>
                    </m:sSub>
                    <m:r>
                      <a:rPr lang="en-US" sz="1200" i="1"/>
                      <m:t>=</m:t>
                    </m:r>
                    <m:sSub>
                      <m:sSubPr>
                        <m:ctrlPr>
                          <a:rPr lang="en-US" sz="1200" i="1"/>
                        </m:ctrlPr>
                      </m:sSubPr>
                      <m:e>
                        <m:r>
                          <a:rPr lang="en-US" sz="1200" i="1"/>
                          <m:t>𝑛</m:t>
                        </m:r>
                      </m:e>
                      <m:sub>
                        <m:r>
                          <a:rPr lang="en-US" sz="1200" i="1"/>
                          <m:t>1</m:t>
                        </m:r>
                        <m:r>
                          <a:rPr lang="en-US" sz="1200" i="1"/>
                          <m:t>𝑗</m:t>
                        </m:r>
                      </m:sub>
                    </m:sSub>
                    <m:r>
                      <a:rPr lang="en-US" sz="1200" i="1"/>
                      <m:t>∙</m:t>
                    </m:r>
                    <m:f>
                      <m:fPr>
                        <m:ctrlPr>
                          <a:rPr lang="en-US" sz="1200" i="1"/>
                        </m:ctrlPr>
                      </m:fPr>
                      <m:num>
                        <m:sSub>
                          <m:sSubPr>
                            <m:ctrlPr>
                              <a:rPr lang="en-US" sz="1200" i="1"/>
                            </m:ctrlPr>
                          </m:sSubPr>
                          <m:e>
                            <m:r>
                              <a:rPr lang="en-US" sz="1200" i="1"/>
                              <m:t>𝑑</m:t>
                            </m:r>
                          </m:e>
                          <m:sub>
                            <m:r>
                              <a:rPr lang="en-US" sz="1200" i="1"/>
                              <m:t>𝑗</m:t>
                            </m:r>
                          </m:sub>
                        </m:sSub>
                      </m:num>
                      <m:den>
                        <m:sSub>
                          <m:sSubPr>
                            <m:ctrlPr>
                              <a:rPr lang="en-US" sz="1200" i="1"/>
                            </m:ctrlPr>
                          </m:sSubPr>
                          <m:e>
                            <m:r>
                              <a:rPr lang="en-US" sz="1200" i="1"/>
                              <m:t>𝑛</m:t>
                            </m:r>
                          </m:e>
                          <m:sub>
                            <m:r>
                              <a:rPr lang="en-US" sz="1200" i="1"/>
                              <m:t>𝑗</m:t>
                            </m:r>
                          </m:sub>
                        </m:sSub>
                      </m:den>
                    </m:f>
                  </m:oMath>
                </a14:m>
                <a:r>
                  <a:rPr lang="en-US" sz="1200" dirty="0"/>
                  <a:t>  =  the expected number under the null hypothesis of equal survival between child nodes</a:t>
                </a:r>
              </a:p>
              <a:p>
                <a14:m>
                  <m:oMath xmlns:m="http://schemas.openxmlformats.org/officeDocument/2006/math">
                    <m:sSub>
                      <m:sSubPr>
                        <m:ctrlPr>
                          <a:rPr lang="en-US" sz="1200" i="1"/>
                        </m:ctrlPr>
                      </m:sSubPr>
                      <m:e>
                        <m:r>
                          <a:rPr lang="en-US" sz="1200" i="1"/>
                          <m:t>𝑉</m:t>
                        </m:r>
                      </m:e>
                      <m:sub>
                        <m:r>
                          <a:rPr lang="en-US" sz="1200" i="1"/>
                          <m:t>𝑗</m:t>
                        </m:r>
                      </m:sub>
                    </m:sSub>
                    <m:r>
                      <a:rPr lang="en-US" sz="1200" b="0" i="0" smtClean="0">
                        <a:latin typeface="Cambria Math" panose="02040503050406030204" pitchFamily="18" charset="0"/>
                      </a:rPr>
                      <m:t>= </m:t>
                    </m:r>
                  </m:oMath>
                </a14:m>
                <a:r>
                  <a:rPr lang="en-US" sz="1200" dirty="0"/>
                  <a:t> the hypergeometric variance at time </a:t>
                </a:r>
                <a14:m>
                  <m:oMath xmlns:m="http://schemas.openxmlformats.org/officeDocument/2006/math">
                    <m:sSub>
                      <m:sSubPr>
                        <m:ctrlPr>
                          <a:rPr lang="en-US" sz="1200" i="1"/>
                        </m:ctrlPr>
                      </m:sSubPr>
                      <m:e>
                        <m:r>
                          <a:rPr lang="en-US" sz="1200" i="1"/>
                          <m:t>𝑡</m:t>
                        </m:r>
                      </m:e>
                      <m:sub>
                        <m:r>
                          <a:rPr lang="en-US" sz="1200" i="1"/>
                          <m:t>𝑗</m:t>
                        </m:r>
                      </m:sub>
                    </m:sSub>
                  </m:oMath>
                </a14:m>
                <a:endParaRPr lang="en-US" sz="1200" dirty="0"/>
              </a:p>
              <a:p>
                <a14:m>
                  <m:oMath xmlns:m="http://schemas.openxmlformats.org/officeDocument/2006/math">
                    <m:r>
                      <a:rPr lang="en-US" sz="1200" i="1"/>
                      <m:t>𝐷</m:t>
                    </m:r>
                    <m:r>
                      <a:rPr lang="en-US" sz="1200" b="0" i="0" smtClean="0">
                        <a:latin typeface="Cambria Math" panose="02040503050406030204" pitchFamily="18" charset="0"/>
                      </a:rPr>
                      <m:t>= </m:t>
                    </m:r>
                  </m:oMath>
                </a14:m>
                <a:r>
                  <a:rPr lang="en-US" sz="1200" dirty="0"/>
                  <a:t>the set of all unique death times. </a:t>
                </a:r>
              </a:p>
            </p:txBody>
          </p:sp>
        </mc:Choice>
        <mc:Fallback>
          <p:sp>
            <p:nvSpPr>
              <p:cNvPr id="16" name="TextBox 15">
                <a:extLst>
                  <a:ext uri="{FF2B5EF4-FFF2-40B4-BE49-F238E27FC236}">
                    <a16:creationId xmlns:a16="http://schemas.microsoft.com/office/drawing/2014/main" id="{7F018123-8942-9E19-9748-AC1A65600D9C}"/>
                  </a:ext>
                </a:extLst>
              </p:cNvPr>
              <p:cNvSpPr txBox="1">
                <a:spLocks noRot="1" noChangeAspect="1" noMove="1" noResize="1" noEditPoints="1" noAdjustHandles="1" noChangeArrowheads="1" noChangeShapeType="1" noTextEdit="1"/>
              </p:cNvSpPr>
              <p:nvPr/>
            </p:nvSpPr>
            <p:spPr>
              <a:xfrm>
                <a:off x="5810250" y="2786952"/>
                <a:ext cx="3048000" cy="1761123"/>
              </a:xfrm>
              <a:prstGeom prst="rect">
                <a:avLst/>
              </a:prstGeom>
              <a:blipFill>
                <a:blip r:embed="rId5"/>
                <a:stretch>
                  <a:fillRect t="-714" b="-1429"/>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A79237C2-EEB5-084C-D945-A84D1F222B22}"/>
              </a:ext>
            </a:extLst>
          </p:cNvPr>
          <p:cNvPicPr>
            <a:picLocks noChangeAspect="1"/>
          </p:cNvPicPr>
          <p:nvPr/>
        </p:nvPicPr>
        <p:blipFill>
          <a:blip r:embed="rId6"/>
          <a:stretch>
            <a:fillRect/>
          </a:stretch>
        </p:blipFill>
        <p:spPr>
          <a:xfrm>
            <a:off x="476250" y="2715574"/>
            <a:ext cx="4991170" cy="23381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eb783fec72_0_1948"/>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 name="Google Shape;260;g3eb783fec72_0_1948"/>
          <p:cNvSpPr/>
          <p:nvPr/>
        </p:nvSpPr>
        <p:spPr>
          <a:xfrm>
            <a:off x="0" y="0"/>
            <a:ext cx="9144000" cy="762000"/>
          </a:xfrm>
          <a:prstGeom prst="rect">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1" name="Google Shape;261;g3eb783fec72_0_1948"/>
          <p:cNvSpPr txBox="1"/>
          <p:nvPr/>
        </p:nvSpPr>
        <p:spPr>
          <a:xfrm>
            <a:off x="381000" y="0"/>
            <a:ext cx="83820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000">
                <a:solidFill>
                  <a:srgbClr val="FFFFFF"/>
                </a:solidFill>
                <a:latin typeface="Times New Roman"/>
                <a:ea typeface="Times New Roman"/>
                <a:cs typeface="Times New Roman"/>
                <a:sym typeface="Times New Roman"/>
              </a:rPr>
              <a:t>From One Tree to a Forest of 300</a:t>
            </a:r>
            <a:endParaRPr sz="3000">
              <a:solidFill>
                <a:srgbClr val="FFFFFF"/>
              </a:solidFill>
              <a:latin typeface="Times New Roman"/>
              <a:ea typeface="Times New Roman"/>
              <a:cs typeface="Times New Roman"/>
              <a:sym typeface="Times New Roman"/>
            </a:endParaRPr>
          </a:p>
        </p:txBody>
      </p:sp>
      <p:pic>
        <p:nvPicPr>
          <p:cNvPr id="1026" name="Picture 2" descr="A single decision tree has a well-known weakness — it is unstable. Small changes in the training data can produce a completely different tree structure, leading to unreliable predictions.&#10;RSF addresses this through three key steps.&#10;The first is bootstrap sampling. Rather than building one tree on the full dataset, RSF builds 300 trees — each on a different random sample of patients drawn with replacement. Because each tree trains on slightly different data, each tree learns slightly different patterns.&#10;The second is random feature selection. At each node, only a random subset of features — specifically the square root of p — is considered as splitting candidates. This ensures trees differ not only in the patients they see, but also in the features they consider. The result is 300 decorrelated trees.&#10;Why does this matter? Because when you average predictions from 300 trees that each made slightly different errors, those errors cancel out — producing a much more stable and reliable ensemble.&#10;For a new patient, the process works as follows. The patient is dropped down all 300 trees. Each tree assigns that patient to a terminal leaf and produces a cumulative hazard curve using the Nelson-Aalen estimator. The 300 curves are then averaged to produce the final ensemble prediction. This curve is then compressed into a single risk score — predicted mortality — which is used to rank patients by risk and compute the C-index.&#10;&#10;&#10;">
            <a:extLst>
              <a:ext uri="{FF2B5EF4-FFF2-40B4-BE49-F238E27FC236}">
                <a16:creationId xmlns:a16="http://schemas.microsoft.com/office/drawing/2014/main" id="{F014B251-40A2-A4D1-01E4-6E7964C696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6385" r="1718" b="9000"/>
          <a:stretch>
            <a:fillRect/>
          </a:stretch>
        </p:blipFill>
        <p:spPr bwMode="auto">
          <a:xfrm>
            <a:off x="122345" y="854938"/>
            <a:ext cx="6026607" cy="254944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0080147-01F9-20DD-0E26-119CDB37A883}"/>
                  </a:ext>
                </a:extLst>
              </p:cNvPr>
              <p:cNvSpPr txBox="1"/>
              <p:nvPr/>
            </p:nvSpPr>
            <p:spPr>
              <a:xfrm>
                <a:off x="6288259" y="914399"/>
                <a:ext cx="2786088" cy="2004908"/>
              </a:xfrm>
              <a:prstGeom prst="rect">
                <a:avLst/>
              </a:prstGeom>
              <a:noFill/>
            </p:spPr>
            <p:txBody>
              <a:bodyPr wrap="square" rtlCol="0">
                <a:spAutoFit/>
              </a:bodyPr>
              <a:lstStyle/>
              <a:p>
                <a:r>
                  <a:rPr lang="en-US" b="1" dirty="0">
                    <a:solidFill>
                      <a:schemeClr val="accent2"/>
                    </a:solidFill>
                  </a:rPr>
                  <a:t>Nelson-Aalen (Terminal Node Prediction:</a:t>
                </a:r>
              </a:p>
              <a:p>
                <a:endParaRPr lang="en-US" b="1" dirty="0">
                  <a:solidFill>
                    <a:schemeClr val="accent2"/>
                  </a:solidFill>
                </a:endParaRPr>
              </a:p>
              <a:p>
                <a:endParaRPr lang="en-US" b="1" dirty="0">
                  <a:solidFill>
                    <a:schemeClr val="accent2"/>
                  </a:solidFill>
                </a:endParaRPr>
              </a:p>
              <a:p>
                <a:endParaRPr lang="en-US" b="1" dirty="0">
                  <a:solidFill>
                    <a:schemeClr val="accent2"/>
                  </a:solidFill>
                </a:endParaRPr>
              </a:p>
              <a:p>
                <a14:m>
                  <m:oMath xmlns:m="http://schemas.openxmlformats.org/officeDocument/2006/math">
                    <m:sSub>
                      <m:sSubPr>
                        <m:ctrlPr>
                          <a:rPr lang="en-US" sz="1200" i="1"/>
                        </m:ctrlPr>
                      </m:sSubPr>
                      <m:e>
                        <m:r>
                          <a:rPr lang="en-US" sz="1200" i="1"/>
                          <m:t>𝑑</m:t>
                        </m:r>
                      </m:e>
                      <m:sub>
                        <m:r>
                          <a:rPr lang="en-US" sz="1200" i="1"/>
                          <m:t>𝑗</m:t>
                        </m:r>
                      </m:sub>
                    </m:sSub>
                    <m:r>
                      <a:rPr lang="en-US" sz="1200" b="0" i="1" smtClean="0">
                        <a:latin typeface="Cambria Math" panose="02040503050406030204" pitchFamily="18" charset="0"/>
                      </a:rPr>
                      <m:t>=</m:t>
                    </m:r>
                  </m:oMath>
                </a14:m>
                <a:r>
                  <a:rPr lang="en-US" sz="1200" dirty="0"/>
                  <a:t> the number of deaths </a:t>
                </a:r>
              </a:p>
              <a:p>
                <a14:m>
                  <m:oMath xmlns:m="http://schemas.openxmlformats.org/officeDocument/2006/math">
                    <m:sSub>
                      <m:sSubPr>
                        <m:ctrlPr>
                          <a:rPr lang="en-US" sz="1200" i="1"/>
                        </m:ctrlPr>
                      </m:sSubPr>
                      <m:e>
                        <m:r>
                          <a:rPr lang="en-US" sz="1200" i="1"/>
                          <m:t>𝑛</m:t>
                        </m:r>
                      </m:e>
                      <m:sub>
                        <m:r>
                          <a:rPr lang="en-US" sz="1200" i="1"/>
                          <m:t>𝑗</m:t>
                        </m:r>
                      </m:sub>
                    </m:sSub>
                    <m:r>
                      <a:rPr lang="en-US" sz="1200" b="0" i="1" smtClean="0">
                        <a:latin typeface="Cambria Math" panose="02040503050406030204" pitchFamily="18" charset="0"/>
                      </a:rPr>
                      <m:t>=</m:t>
                    </m:r>
                  </m:oMath>
                </a14:m>
                <a:r>
                  <a:rPr lang="en-US" sz="1200" dirty="0"/>
                  <a:t> the number at risk at time </a:t>
                </a:r>
                <a14:m>
                  <m:oMath xmlns:m="http://schemas.openxmlformats.org/officeDocument/2006/math">
                    <m:sSub>
                      <m:sSubPr>
                        <m:ctrlPr>
                          <a:rPr lang="en-US" sz="1200" i="1"/>
                        </m:ctrlPr>
                      </m:sSubPr>
                      <m:e>
                        <m:r>
                          <a:rPr lang="en-US" sz="1200" i="1"/>
                          <m:t>𝑡</m:t>
                        </m:r>
                      </m:e>
                      <m:sub>
                        <m:r>
                          <a:rPr lang="en-US" sz="1200" i="1"/>
                          <m:t>𝑗</m:t>
                        </m:r>
                      </m:sub>
                    </m:sSub>
                  </m:oMath>
                </a14:m>
                <a:r>
                  <a:rPr lang="en-US" sz="1200" dirty="0"/>
                  <a:t>.</a:t>
                </a:r>
              </a:p>
              <a:p>
                <a:endParaRPr lang="en-US" b="1" dirty="0">
                  <a:solidFill>
                    <a:schemeClr val="accent2"/>
                  </a:solidFill>
                </a:endParaRPr>
              </a:p>
              <a:p>
                <a:endParaRPr lang="en-US" dirty="0"/>
              </a:p>
            </p:txBody>
          </p:sp>
        </mc:Choice>
        <mc:Fallback>
          <p:sp>
            <p:nvSpPr>
              <p:cNvPr id="2" name="TextBox 1">
                <a:extLst>
                  <a:ext uri="{FF2B5EF4-FFF2-40B4-BE49-F238E27FC236}">
                    <a16:creationId xmlns:a16="http://schemas.microsoft.com/office/drawing/2014/main" id="{E0080147-01F9-20DD-0E26-119CDB37A883}"/>
                  </a:ext>
                </a:extLst>
              </p:cNvPr>
              <p:cNvSpPr txBox="1">
                <a:spLocks noRot="1" noChangeAspect="1" noMove="1" noResize="1" noEditPoints="1" noAdjustHandles="1" noChangeArrowheads="1" noChangeShapeType="1" noTextEdit="1"/>
              </p:cNvSpPr>
              <p:nvPr/>
            </p:nvSpPr>
            <p:spPr>
              <a:xfrm>
                <a:off x="6288259" y="914399"/>
                <a:ext cx="2786088" cy="2004908"/>
              </a:xfrm>
              <a:prstGeom prst="rect">
                <a:avLst/>
              </a:prstGeom>
              <a:blipFill>
                <a:blip r:embed="rId6"/>
                <a:stretch>
                  <a:fillRect l="-909" t="-633"/>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F3C978C8-EA59-51AD-4EB8-6A71207B7507}"/>
              </a:ext>
            </a:extLst>
          </p:cNvPr>
          <p:cNvPicPr>
            <a:picLocks/>
          </p:cNvPicPr>
          <p:nvPr>
            <p:custDataLst>
              <p:tags r:id="rId1"/>
            </p:custDataLst>
          </p:nvPr>
        </p:nvPicPr>
        <p:blipFill>
          <a:blip r:embed="rId7"/>
          <a:stretch>
            <a:fillRect/>
          </a:stretch>
        </p:blipFill>
        <p:spPr>
          <a:xfrm>
            <a:off x="6475574" y="1325911"/>
            <a:ext cx="1304544" cy="654304"/>
          </a:xfrm>
          <a:prstGeom prst="rect">
            <a:avLst/>
          </a:prstGeom>
        </p:spPr>
      </p:pic>
      <p:sp>
        <p:nvSpPr>
          <p:cNvPr id="4" name="TextBox 3">
            <a:extLst>
              <a:ext uri="{FF2B5EF4-FFF2-40B4-BE49-F238E27FC236}">
                <a16:creationId xmlns:a16="http://schemas.microsoft.com/office/drawing/2014/main" id="{2E49A34A-AFEA-2672-DD82-90F030A3C3B6}"/>
              </a:ext>
            </a:extLst>
          </p:cNvPr>
          <p:cNvSpPr txBox="1"/>
          <p:nvPr/>
        </p:nvSpPr>
        <p:spPr>
          <a:xfrm>
            <a:off x="122345" y="3497320"/>
            <a:ext cx="3474296" cy="1508105"/>
          </a:xfrm>
          <a:prstGeom prst="rect">
            <a:avLst/>
          </a:prstGeom>
          <a:noFill/>
        </p:spPr>
        <p:txBody>
          <a:bodyPr wrap="square" rtlCol="0">
            <a:spAutoFit/>
          </a:bodyPr>
          <a:lstStyle/>
          <a:p>
            <a:r>
              <a:rPr lang="en-US" b="1" dirty="0">
                <a:solidFill>
                  <a:schemeClr val="accent2"/>
                </a:solidFill>
              </a:rPr>
              <a:t>Ensemble Prediction:</a:t>
            </a:r>
          </a:p>
          <a:p>
            <a:endParaRPr lang="en-US" b="1" dirty="0">
              <a:solidFill>
                <a:schemeClr val="accent2"/>
              </a:solidFill>
            </a:endParaRPr>
          </a:p>
          <a:p>
            <a:endParaRPr lang="en-US" b="1" dirty="0">
              <a:solidFill>
                <a:schemeClr val="accent2"/>
              </a:solidFill>
            </a:endParaRPr>
          </a:p>
          <a:p>
            <a:r>
              <a:rPr lang="en-US" sz="1200" i="1" dirty="0">
                <a:latin typeface="Times New Roman" panose="02020603050405020304" pitchFamily="18" charset="0"/>
                <a:cs typeface="Times New Roman" panose="02020603050405020304" pitchFamily="18" charset="0"/>
              </a:rPr>
              <a:t>B</a:t>
            </a:r>
            <a:r>
              <a:rPr lang="en-US" sz="1200" dirty="0"/>
              <a:t> = total # of trees</a:t>
            </a:r>
          </a:p>
          <a:p>
            <a:r>
              <a:rPr lang="en-US" sz="1200" i="1" dirty="0">
                <a:latin typeface="Times New Roman" panose="02020603050405020304" pitchFamily="18" charset="0"/>
                <a:cs typeface="Times New Roman" panose="02020603050405020304" pitchFamily="18" charset="0"/>
              </a:rPr>
              <a:t>t</a:t>
            </a:r>
            <a:r>
              <a:rPr lang="en-US" sz="1200" dirty="0">
                <a:latin typeface="Times New Roman" panose="02020603050405020304" pitchFamily="18" charset="0"/>
                <a:cs typeface="Times New Roman" panose="02020603050405020304" pitchFamily="18" charset="0"/>
              </a:rPr>
              <a:t> </a:t>
            </a:r>
            <a:r>
              <a:rPr lang="en-US" sz="1200" dirty="0"/>
              <a:t>= time point of interest</a:t>
            </a:r>
          </a:p>
          <a:p>
            <a:r>
              <a:rPr lang="en-US" sz="1200" i="1" dirty="0">
                <a:latin typeface="Times New Roman" panose="02020603050405020304" pitchFamily="18" charset="0"/>
                <a:cs typeface="Times New Roman" panose="02020603050405020304" pitchFamily="18" charset="0"/>
              </a:rPr>
              <a:t>x</a:t>
            </a:r>
            <a:r>
              <a:rPr lang="en-US" sz="1200" dirty="0"/>
              <a:t> = patient’s covariate values</a:t>
            </a:r>
          </a:p>
          <a:p>
            <a:endParaRPr lang="en-US" dirty="0"/>
          </a:p>
        </p:txBody>
      </p:sp>
      <p:pic>
        <p:nvPicPr>
          <p:cNvPr id="5" name="Picture 4">
            <a:extLst>
              <a:ext uri="{FF2B5EF4-FFF2-40B4-BE49-F238E27FC236}">
                <a16:creationId xmlns:a16="http://schemas.microsoft.com/office/drawing/2014/main" id="{8B731B92-D70B-9728-8623-1B1F8ED101CB}"/>
              </a:ext>
            </a:extLst>
          </p:cNvPr>
          <p:cNvPicPr>
            <a:picLocks/>
          </p:cNvPicPr>
          <p:nvPr>
            <p:custDataLst>
              <p:tags r:id="rId2"/>
            </p:custDataLst>
          </p:nvPr>
        </p:nvPicPr>
        <p:blipFill>
          <a:blip r:embed="rId8"/>
          <a:stretch>
            <a:fillRect/>
          </a:stretch>
        </p:blipFill>
        <p:spPr>
          <a:xfrm>
            <a:off x="238515" y="3726118"/>
            <a:ext cx="2786088" cy="400657"/>
          </a:xfrm>
          <a:prstGeom prst="rect">
            <a:avLst/>
          </a:prstGeom>
        </p:spPr>
      </p:pic>
      <p:pic>
        <p:nvPicPr>
          <p:cNvPr id="8" name="Picture 7">
            <a:extLst>
              <a:ext uri="{FF2B5EF4-FFF2-40B4-BE49-F238E27FC236}">
                <a16:creationId xmlns:a16="http://schemas.microsoft.com/office/drawing/2014/main" id="{FEC06B7D-4CED-E216-9C2B-CE8D9550CFF5}"/>
              </a:ext>
            </a:extLst>
          </p:cNvPr>
          <p:cNvPicPr>
            <a:picLocks noChangeAspect="1"/>
          </p:cNvPicPr>
          <p:nvPr/>
        </p:nvPicPr>
        <p:blipFill>
          <a:blip r:embed="rId9"/>
          <a:stretch>
            <a:fillRect/>
          </a:stretch>
        </p:blipFill>
        <p:spPr>
          <a:xfrm>
            <a:off x="3712811" y="3317604"/>
            <a:ext cx="4948228" cy="1825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eb783fec72_0_2663"/>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9" name="Google Shape;269;g3eb783fec72_0_2663"/>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0" name="Google Shape;270;g3eb783fec72_0_2663"/>
          <p:cNvSpPr/>
          <p:nvPr/>
        </p:nvSpPr>
        <p:spPr>
          <a:xfrm>
            <a:off x="0" y="0"/>
            <a:ext cx="9144000" cy="762000"/>
          </a:xfrm>
          <a:prstGeom prst="rect">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g3eb783fec72_0_2663"/>
          <p:cNvSpPr txBox="1"/>
          <p:nvPr/>
        </p:nvSpPr>
        <p:spPr>
          <a:xfrm>
            <a:off x="381000" y="0"/>
            <a:ext cx="83820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000" dirty="0">
                <a:solidFill>
                  <a:srgbClr val="FFFFFF"/>
                </a:solidFill>
                <a:latin typeface="Times New Roman"/>
                <a:ea typeface="Times New Roman"/>
                <a:cs typeface="Times New Roman"/>
                <a:sym typeface="Times New Roman"/>
              </a:rPr>
              <a:t>When does RSF Performs Best?</a:t>
            </a:r>
            <a:endParaRPr sz="3000" dirty="0">
              <a:solidFill>
                <a:srgbClr val="FFFFFF"/>
              </a:solidFill>
              <a:latin typeface="Times New Roman"/>
              <a:ea typeface="Times New Roman"/>
              <a:cs typeface="Times New Roman"/>
              <a:sym typeface="Times New Roman"/>
            </a:endParaRPr>
          </a:p>
        </p:txBody>
      </p:sp>
      <p:pic>
        <p:nvPicPr>
          <p:cNvPr id="2050" name="Picture 2" descr="RSF performs best when the proportional hazards assumption is violated, when there are nonlinear relationships, and when you have a large sample with low censoring. ">
            <a:extLst>
              <a:ext uri="{FF2B5EF4-FFF2-40B4-BE49-F238E27FC236}">
                <a16:creationId xmlns:a16="http://schemas.microsoft.com/office/drawing/2014/main" id="{7043C2E6-F2D5-8DC7-00E9-B778D00C65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883" t="16278" r="8333" b="4681"/>
          <a:stretch>
            <a:fillRect/>
          </a:stretch>
        </p:blipFill>
        <p:spPr bwMode="auto">
          <a:xfrm>
            <a:off x="903642" y="849855"/>
            <a:ext cx="7478358" cy="40341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3eb783fec72_93_282"/>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9" name="Google Shape;279;g3eb783fec72_93_282"/>
          <p:cNvSpPr/>
          <p:nvPr/>
        </p:nvSpPr>
        <p:spPr>
          <a:xfrm>
            <a:off x="10160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1" name="Google Shape;281;g3eb783fec72_93_282"/>
          <p:cNvSpPr/>
          <p:nvPr/>
        </p:nvSpPr>
        <p:spPr>
          <a:xfrm>
            <a:off x="0" y="0"/>
            <a:ext cx="9245600" cy="762000"/>
          </a:xfrm>
          <a:prstGeom prst="rect">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2" name="Google Shape;282;g3eb783fec72_93_282"/>
          <p:cNvSpPr txBox="1"/>
          <p:nvPr/>
        </p:nvSpPr>
        <p:spPr>
          <a:xfrm>
            <a:off x="368300" y="34080"/>
            <a:ext cx="8407400" cy="54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000" dirty="0">
                <a:solidFill>
                  <a:srgbClr val="FFFFFF"/>
                </a:solidFill>
                <a:latin typeface="Times New Roman"/>
                <a:ea typeface="Times New Roman"/>
                <a:cs typeface="Times New Roman"/>
                <a:sym typeface="Times New Roman"/>
              </a:rPr>
              <a:t>Why High Censoring Weakens RSF?</a:t>
            </a:r>
            <a:endParaRPr sz="3000" dirty="0">
              <a:solidFill>
                <a:srgbClr val="FFFFFF"/>
              </a:solidFill>
              <a:latin typeface="Times New Roman"/>
              <a:ea typeface="Times New Roman"/>
              <a:cs typeface="Times New Roman"/>
              <a:sym typeface="Times New Roman"/>
            </a:endParaRPr>
          </a:p>
        </p:txBody>
      </p:sp>
      <p:pic>
        <p:nvPicPr>
          <p:cNvPr id="3074" name="Picture 2" descr="However, RSF also struggles at high censoring rates. The log-rank splitting criterion depends on observed deaths to compute survival differences between groups. When 62% of your patients are censored, you have fewer observed events per node. Less signal means noisier splits, less stable trees, and weaker ensemble performance. ">
            <a:extLst>
              <a:ext uri="{FF2B5EF4-FFF2-40B4-BE49-F238E27FC236}">
                <a16:creationId xmlns:a16="http://schemas.microsoft.com/office/drawing/2014/main" id="{774DF1AC-DE38-3CAA-70FF-02D241D322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7" t="26818" r="5530" b="9528"/>
          <a:stretch>
            <a:fillRect/>
          </a:stretch>
        </p:blipFill>
        <p:spPr bwMode="auto">
          <a:xfrm>
            <a:off x="2683607" y="3594362"/>
            <a:ext cx="4068885" cy="13970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A9D5179-7642-8E7C-8553-4E4C7BB4F039}"/>
              </a:ext>
            </a:extLst>
          </p:cNvPr>
          <p:cNvPicPr>
            <a:picLocks noChangeAspect="1"/>
          </p:cNvPicPr>
          <p:nvPr/>
        </p:nvPicPr>
        <p:blipFill>
          <a:blip r:embed="rId4"/>
          <a:stretch>
            <a:fillRect/>
          </a:stretch>
        </p:blipFill>
        <p:spPr>
          <a:xfrm>
            <a:off x="1587743" y="850608"/>
            <a:ext cx="6070113" cy="27437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eb783fec72_0_2473"/>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3" name="Google Shape;293;g3eb783fec72_0_2473"/>
          <p:cNvSpPr/>
          <p:nvPr/>
        </p:nvSpPr>
        <p:spPr>
          <a:xfrm>
            <a:off x="0" y="0"/>
            <a:ext cx="9144000" cy="762000"/>
          </a:xfrm>
          <a:prstGeom prst="rect">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4" name="Google Shape;294;g3eb783fec72_0_2473"/>
          <p:cNvSpPr txBox="1"/>
          <p:nvPr/>
        </p:nvSpPr>
        <p:spPr>
          <a:xfrm>
            <a:off x="381000" y="0"/>
            <a:ext cx="83820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a:solidFill>
                  <a:srgbClr val="FFFFFF"/>
                </a:solidFill>
                <a:latin typeface="Times New Roman"/>
                <a:ea typeface="Times New Roman"/>
                <a:cs typeface="Times New Roman"/>
                <a:sym typeface="Times New Roman"/>
              </a:rPr>
              <a:t>Application: PDI and All-Cause Mortality in CaPSURE Prostate Cancer Survivors</a:t>
            </a:r>
            <a:endParaRPr sz="2400">
              <a:solidFill>
                <a:srgbClr val="FFFFFF"/>
              </a:solidFill>
              <a:latin typeface="Times New Roman"/>
              <a:ea typeface="Times New Roman"/>
              <a:cs typeface="Times New Roman"/>
              <a:sym typeface="Times New Roman"/>
            </a:endParaRPr>
          </a:p>
        </p:txBody>
      </p:sp>
      <p:grpSp>
        <p:nvGrpSpPr>
          <p:cNvPr id="295" name="Google Shape;295;g3eb783fec72_0_2473"/>
          <p:cNvGrpSpPr/>
          <p:nvPr/>
        </p:nvGrpSpPr>
        <p:grpSpPr>
          <a:xfrm>
            <a:off x="381000" y="952500"/>
            <a:ext cx="2000100" cy="476400"/>
            <a:chOff x="0" y="0"/>
            <a:chExt cx="2000100" cy="476400"/>
          </a:xfrm>
        </p:grpSpPr>
        <p:sp>
          <p:nvSpPr>
            <p:cNvPr id="296" name="Google Shape;296;g3eb783fec72_0_2473"/>
            <p:cNvSpPr/>
            <p:nvPr/>
          </p:nvSpPr>
          <p:spPr>
            <a:xfrm>
              <a:off x="0" y="0"/>
              <a:ext cx="2000100" cy="476400"/>
            </a:xfrm>
            <a:prstGeom prst="roundRect">
              <a:avLst>
                <a:gd name="adj" fmla="val 8000"/>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7" name="Google Shape;297;g3eb783fec72_0_2473"/>
            <p:cNvSpPr txBox="1"/>
            <p:nvPr/>
          </p:nvSpPr>
          <p:spPr>
            <a:xfrm>
              <a:off x="0" y="0"/>
              <a:ext cx="20001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Arial"/>
                  <a:ea typeface="Arial"/>
                  <a:cs typeface="Arial"/>
                  <a:sym typeface="Arial"/>
                </a:rPr>
                <a:t>N = 1,813</a:t>
              </a:r>
              <a:endParaRPr sz="1400" b="1">
                <a:solidFill>
                  <a:srgbClr val="FFFFFF"/>
                </a:solidFill>
                <a:latin typeface="Arial"/>
                <a:ea typeface="Arial"/>
                <a:cs typeface="Arial"/>
                <a:sym typeface="Arial"/>
              </a:endParaRPr>
            </a:p>
          </p:txBody>
        </p:sp>
      </p:grpSp>
      <p:grpSp>
        <p:nvGrpSpPr>
          <p:cNvPr id="298" name="Google Shape;298;g3eb783fec72_0_2473"/>
          <p:cNvGrpSpPr/>
          <p:nvPr/>
        </p:nvGrpSpPr>
        <p:grpSpPr>
          <a:xfrm>
            <a:off x="2476500" y="952500"/>
            <a:ext cx="2000100" cy="476400"/>
            <a:chOff x="0" y="0"/>
            <a:chExt cx="2000100" cy="476400"/>
          </a:xfrm>
        </p:grpSpPr>
        <p:sp>
          <p:nvSpPr>
            <p:cNvPr id="299" name="Google Shape;299;g3eb783fec72_0_2473"/>
            <p:cNvSpPr/>
            <p:nvPr/>
          </p:nvSpPr>
          <p:spPr>
            <a:xfrm>
              <a:off x="0" y="0"/>
              <a:ext cx="2000100" cy="476400"/>
            </a:xfrm>
            <a:prstGeom prst="roundRect">
              <a:avLst>
                <a:gd name="adj" fmla="val 8000"/>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0" name="Google Shape;300;g3eb783fec72_0_2473"/>
            <p:cNvSpPr txBox="1"/>
            <p:nvPr/>
          </p:nvSpPr>
          <p:spPr>
            <a:xfrm>
              <a:off x="0" y="0"/>
              <a:ext cx="20001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Arial"/>
                  <a:ea typeface="Arial"/>
                  <a:cs typeface="Arial"/>
                  <a:sym typeface="Arial"/>
                </a:rPr>
                <a:t>693 Deaths (38.2%)</a:t>
              </a:r>
              <a:endParaRPr sz="1400" b="1">
                <a:solidFill>
                  <a:srgbClr val="FFFFFF"/>
                </a:solidFill>
                <a:latin typeface="Arial"/>
                <a:ea typeface="Arial"/>
                <a:cs typeface="Arial"/>
                <a:sym typeface="Arial"/>
              </a:endParaRPr>
            </a:p>
          </p:txBody>
        </p:sp>
      </p:grpSp>
      <p:grpSp>
        <p:nvGrpSpPr>
          <p:cNvPr id="301" name="Google Shape;301;g3eb783fec72_0_2473"/>
          <p:cNvGrpSpPr/>
          <p:nvPr/>
        </p:nvGrpSpPr>
        <p:grpSpPr>
          <a:xfrm>
            <a:off x="4619625" y="952500"/>
            <a:ext cx="2000100" cy="476400"/>
            <a:chOff x="0" y="0"/>
            <a:chExt cx="2000100" cy="476400"/>
          </a:xfrm>
        </p:grpSpPr>
        <p:sp>
          <p:nvSpPr>
            <p:cNvPr id="302" name="Google Shape;302;g3eb783fec72_0_2473"/>
            <p:cNvSpPr/>
            <p:nvPr/>
          </p:nvSpPr>
          <p:spPr>
            <a:xfrm>
              <a:off x="0" y="0"/>
              <a:ext cx="2000100" cy="476400"/>
            </a:xfrm>
            <a:prstGeom prst="roundRect">
              <a:avLst>
                <a:gd name="adj" fmla="val 8000"/>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3" name="Google Shape;303;g3eb783fec72_0_2473"/>
            <p:cNvSpPr txBox="1"/>
            <p:nvPr/>
          </p:nvSpPr>
          <p:spPr>
            <a:xfrm>
              <a:off x="0" y="0"/>
              <a:ext cx="20001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a:solidFill>
                    <a:srgbClr val="FFFFFF"/>
                  </a:solidFill>
                  <a:latin typeface="Arial"/>
                  <a:ea typeface="Arial"/>
                  <a:cs typeface="Arial"/>
                  <a:sym typeface="Arial"/>
                </a:rPr>
                <a:t>61.8% Censoring</a:t>
              </a:r>
              <a:endParaRPr sz="1400" b="1">
                <a:solidFill>
                  <a:srgbClr val="FFFFFF"/>
                </a:solidFill>
                <a:latin typeface="Arial"/>
                <a:ea typeface="Arial"/>
                <a:cs typeface="Arial"/>
                <a:sym typeface="Arial"/>
              </a:endParaRPr>
            </a:p>
          </p:txBody>
        </p:sp>
      </p:grpSp>
      <p:grpSp>
        <p:nvGrpSpPr>
          <p:cNvPr id="304" name="Google Shape;304;g3eb783fec72_0_2473"/>
          <p:cNvGrpSpPr/>
          <p:nvPr/>
        </p:nvGrpSpPr>
        <p:grpSpPr>
          <a:xfrm>
            <a:off x="6762750" y="952500"/>
            <a:ext cx="2000100" cy="476400"/>
            <a:chOff x="0" y="0"/>
            <a:chExt cx="2000100" cy="476400"/>
          </a:xfrm>
        </p:grpSpPr>
        <p:sp>
          <p:nvSpPr>
            <p:cNvPr id="305" name="Google Shape;305;g3eb783fec72_0_2473"/>
            <p:cNvSpPr/>
            <p:nvPr/>
          </p:nvSpPr>
          <p:spPr>
            <a:xfrm>
              <a:off x="0" y="0"/>
              <a:ext cx="2000100" cy="476400"/>
            </a:xfrm>
            <a:prstGeom prst="roundRect">
              <a:avLst>
                <a:gd name="adj" fmla="val 8000"/>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6" name="Google Shape;306;g3eb783fec72_0_2473"/>
            <p:cNvSpPr txBox="1"/>
            <p:nvPr/>
          </p:nvSpPr>
          <p:spPr>
            <a:xfrm>
              <a:off x="0" y="0"/>
              <a:ext cx="20001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b="1" dirty="0">
                  <a:solidFill>
                    <a:srgbClr val="FFFFFF"/>
                  </a:solidFill>
                  <a:latin typeface="Arial"/>
                  <a:ea typeface="Arial"/>
                  <a:cs typeface="Arial"/>
                  <a:sym typeface="Arial"/>
                </a:rPr>
                <a:t>Median Follow-up 6.0 yrs</a:t>
              </a:r>
              <a:endParaRPr sz="1400" b="1" dirty="0">
                <a:solidFill>
                  <a:srgbClr val="FFFFFF"/>
                </a:solidFill>
                <a:latin typeface="Arial"/>
                <a:ea typeface="Arial"/>
                <a:cs typeface="Arial"/>
                <a:sym typeface="Arial"/>
              </a:endParaRPr>
            </a:p>
          </p:txBody>
        </p:sp>
      </p:grpSp>
      <p:grpSp>
        <p:nvGrpSpPr>
          <p:cNvPr id="307" name="Google Shape;307;g3eb783fec72_0_2473"/>
          <p:cNvGrpSpPr/>
          <p:nvPr/>
        </p:nvGrpSpPr>
        <p:grpSpPr>
          <a:xfrm>
            <a:off x="390084" y="1666875"/>
            <a:ext cx="4762575" cy="1143000"/>
            <a:chOff x="0" y="0"/>
            <a:chExt cx="4762575" cy="1143000"/>
          </a:xfrm>
        </p:grpSpPr>
        <p:sp>
          <p:nvSpPr>
            <p:cNvPr id="308" name="Google Shape;308;g3eb783fec72_0_2473"/>
            <p:cNvSpPr/>
            <p:nvPr/>
          </p:nvSpPr>
          <p:spPr>
            <a:xfrm>
              <a:off x="0" y="0"/>
              <a:ext cx="4762500" cy="381000"/>
            </a:xfrm>
            <a:prstGeom prst="rect">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9" name="Google Shape;309;g3eb783fec72_0_2473"/>
            <p:cNvSpPr txBox="1"/>
            <p:nvPr/>
          </p:nvSpPr>
          <p:spPr>
            <a:xfrm>
              <a:off x="0" y="0"/>
              <a:ext cx="2381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300" b="1">
                  <a:solidFill>
                    <a:srgbClr val="FFFFFF"/>
                  </a:solidFill>
                  <a:latin typeface="Arial"/>
                  <a:ea typeface="Arial"/>
                  <a:cs typeface="Arial"/>
                  <a:sym typeface="Arial"/>
                </a:rPr>
                <a:t>Model</a:t>
              </a:r>
              <a:endParaRPr sz="1300" b="1">
                <a:solidFill>
                  <a:srgbClr val="FFFFFF"/>
                </a:solidFill>
                <a:latin typeface="Arial"/>
                <a:ea typeface="Arial"/>
                <a:cs typeface="Arial"/>
                <a:sym typeface="Arial"/>
              </a:endParaRPr>
            </a:p>
          </p:txBody>
        </p:sp>
        <p:sp>
          <p:nvSpPr>
            <p:cNvPr id="310" name="Google Shape;310;g3eb783fec72_0_2473"/>
            <p:cNvSpPr txBox="1"/>
            <p:nvPr/>
          </p:nvSpPr>
          <p:spPr>
            <a:xfrm>
              <a:off x="2381250" y="0"/>
              <a:ext cx="11907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300" b="1">
                  <a:solidFill>
                    <a:srgbClr val="FFFFFF"/>
                  </a:solidFill>
                  <a:latin typeface="Arial"/>
                  <a:ea typeface="Arial"/>
                  <a:cs typeface="Arial"/>
                  <a:sym typeface="Arial"/>
                </a:rPr>
                <a:t>C-index</a:t>
              </a:r>
              <a:endParaRPr sz="1300" b="1">
                <a:solidFill>
                  <a:srgbClr val="FFFFFF"/>
                </a:solidFill>
                <a:latin typeface="Arial"/>
                <a:ea typeface="Arial"/>
                <a:cs typeface="Arial"/>
                <a:sym typeface="Arial"/>
              </a:endParaRPr>
            </a:p>
          </p:txBody>
        </p:sp>
        <p:sp>
          <p:nvSpPr>
            <p:cNvPr id="311" name="Google Shape;311;g3eb783fec72_0_2473"/>
            <p:cNvSpPr txBox="1"/>
            <p:nvPr/>
          </p:nvSpPr>
          <p:spPr>
            <a:xfrm>
              <a:off x="3571875" y="0"/>
              <a:ext cx="11907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300" b="1">
                  <a:solidFill>
                    <a:srgbClr val="FFFFFF"/>
                  </a:solidFill>
                  <a:latin typeface="Arial"/>
                  <a:ea typeface="Arial"/>
                  <a:cs typeface="Arial"/>
                  <a:sym typeface="Arial"/>
                </a:rPr>
                <a:t>IBS</a:t>
              </a:r>
              <a:endParaRPr sz="1300" b="1">
                <a:solidFill>
                  <a:srgbClr val="FFFFFF"/>
                </a:solidFill>
                <a:latin typeface="Arial"/>
                <a:ea typeface="Arial"/>
                <a:cs typeface="Arial"/>
                <a:sym typeface="Arial"/>
              </a:endParaRPr>
            </a:p>
          </p:txBody>
        </p:sp>
        <p:sp>
          <p:nvSpPr>
            <p:cNvPr id="312" name="Google Shape;312;g3eb783fec72_0_2473"/>
            <p:cNvSpPr/>
            <p:nvPr/>
          </p:nvSpPr>
          <p:spPr>
            <a:xfrm>
              <a:off x="0" y="381000"/>
              <a:ext cx="4762500" cy="381000"/>
            </a:xfrm>
            <a:prstGeom prst="rect">
              <a:avLst/>
            </a:prstGeom>
            <a:solidFill>
              <a:srgbClr val="F4F4F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3" name="Google Shape;313;g3eb783fec72_0_2473"/>
            <p:cNvSpPr txBox="1"/>
            <p:nvPr/>
          </p:nvSpPr>
          <p:spPr>
            <a:xfrm>
              <a:off x="0" y="381000"/>
              <a:ext cx="23814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1300">
                  <a:solidFill>
                    <a:srgbClr val="333333"/>
                  </a:solidFill>
                  <a:latin typeface="Arial"/>
                  <a:ea typeface="Arial"/>
                  <a:cs typeface="Arial"/>
                  <a:sym typeface="Arial"/>
                </a:rPr>
                <a:t>Cox PH</a:t>
              </a:r>
              <a:endParaRPr sz="1300">
                <a:solidFill>
                  <a:srgbClr val="333333"/>
                </a:solidFill>
                <a:latin typeface="Arial"/>
                <a:ea typeface="Arial"/>
                <a:cs typeface="Arial"/>
                <a:sym typeface="Arial"/>
              </a:endParaRPr>
            </a:p>
          </p:txBody>
        </p:sp>
        <p:sp>
          <p:nvSpPr>
            <p:cNvPr id="314" name="Google Shape;314;g3eb783fec72_0_2473"/>
            <p:cNvSpPr txBox="1"/>
            <p:nvPr/>
          </p:nvSpPr>
          <p:spPr>
            <a:xfrm>
              <a:off x="2381250" y="381000"/>
              <a:ext cx="11907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300">
                  <a:solidFill>
                    <a:srgbClr val="333333"/>
                  </a:solidFill>
                  <a:latin typeface="Arial"/>
                  <a:ea typeface="Arial"/>
                  <a:cs typeface="Arial"/>
                  <a:sym typeface="Arial"/>
                </a:rPr>
                <a:t>0.705</a:t>
              </a:r>
              <a:endParaRPr sz="1300">
                <a:solidFill>
                  <a:srgbClr val="333333"/>
                </a:solidFill>
                <a:latin typeface="Arial"/>
                <a:ea typeface="Arial"/>
                <a:cs typeface="Arial"/>
                <a:sym typeface="Arial"/>
              </a:endParaRPr>
            </a:p>
          </p:txBody>
        </p:sp>
        <p:sp>
          <p:nvSpPr>
            <p:cNvPr id="315" name="Google Shape;315;g3eb783fec72_0_2473"/>
            <p:cNvSpPr txBox="1"/>
            <p:nvPr/>
          </p:nvSpPr>
          <p:spPr>
            <a:xfrm>
              <a:off x="3571875" y="381000"/>
              <a:ext cx="11907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300">
                  <a:solidFill>
                    <a:srgbClr val="333333"/>
                  </a:solidFill>
                  <a:latin typeface="Arial"/>
                  <a:ea typeface="Arial"/>
                  <a:cs typeface="Arial"/>
                  <a:sym typeface="Arial"/>
                </a:rPr>
                <a:t>0.111</a:t>
              </a:r>
              <a:endParaRPr sz="1300">
                <a:solidFill>
                  <a:srgbClr val="333333"/>
                </a:solidFill>
                <a:latin typeface="Arial"/>
                <a:ea typeface="Arial"/>
                <a:cs typeface="Arial"/>
                <a:sym typeface="Arial"/>
              </a:endParaRPr>
            </a:p>
          </p:txBody>
        </p:sp>
        <p:sp>
          <p:nvSpPr>
            <p:cNvPr id="316" name="Google Shape;316;g3eb783fec72_0_2473"/>
            <p:cNvSpPr/>
            <p:nvPr/>
          </p:nvSpPr>
          <p:spPr>
            <a:xfrm>
              <a:off x="0" y="762000"/>
              <a:ext cx="4762500" cy="381000"/>
            </a:xfrm>
            <a:prstGeom prst="rect">
              <a:avLst/>
            </a:prstGeom>
            <a:solidFill>
              <a:srgbClr val="FFFFFF"/>
            </a:solidFill>
            <a:ln w="9525" cap="flat" cmpd="sng">
              <a:solidFill>
                <a:srgbClr val="EEEEE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7" name="Google Shape;317;g3eb783fec72_0_2473"/>
            <p:cNvSpPr txBox="1"/>
            <p:nvPr/>
          </p:nvSpPr>
          <p:spPr>
            <a:xfrm>
              <a:off x="0" y="762000"/>
              <a:ext cx="23814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1300">
                  <a:solidFill>
                    <a:srgbClr val="333333"/>
                  </a:solidFill>
                  <a:latin typeface="Arial"/>
                  <a:ea typeface="Arial"/>
                  <a:cs typeface="Arial"/>
                  <a:sym typeface="Arial"/>
                </a:rPr>
                <a:t>RSF (log-rank)</a:t>
              </a:r>
              <a:endParaRPr sz="1300">
                <a:solidFill>
                  <a:srgbClr val="333333"/>
                </a:solidFill>
                <a:latin typeface="Arial"/>
                <a:ea typeface="Arial"/>
                <a:cs typeface="Arial"/>
                <a:sym typeface="Arial"/>
              </a:endParaRPr>
            </a:p>
          </p:txBody>
        </p:sp>
        <p:sp>
          <p:nvSpPr>
            <p:cNvPr id="318" name="Google Shape;318;g3eb783fec72_0_2473"/>
            <p:cNvSpPr txBox="1"/>
            <p:nvPr/>
          </p:nvSpPr>
          <p:spPr>
            <a:xfrm>
              <a:off x="2381250" y="762000"/>
              <a:ext cx="11907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300">
                  <a:solidFill>
                    <a:srgbClr val="333333"/>
                  </a:solidFill>
                  <a:latin typeface="Arial"/>
                  <a:ea typeface="Arial"/>
                  <a:cs typeface="Arial"/>
                  <a:sym typeface="Arial"/>
                </a:rPr>
                <a:t>0.698</a:t>
              </a:r>
              <a:endParaRPr sz="1300">
                <a:solidFill>
                  <a:srgbClr val="333333"/>
                </a:solidFill>
                <a:latin typeface="Arial"/>
                <a:ea typeface="Arial"/>
                <a:cs typeface="Arial"/>
                <a:sym typeface="Arial"/>
              </a:endParaRPr>
            </a:p>
          </p:txBody>
        </p:sp>
        <p:sp>
          <p:nvSpPr>
            <p:cNvPr id="319" name="Google Shape;319;g3eb783fec72_0_2473"/>
            <p:cNvSpPr txBox="1"/>
            <p:nvPr/>
          </p:nvSpPr>
          <p:spPr>
            <a:xfrm>
              <a:off x="3571875" y="762000"/>
              <a:ext cx="11907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300">
                  <a:solidFill>
                    <a:srgbClr val="333333"/>
                  </a:solidFill>
                  <a:latin typeface="Arial"/>
                  <a:ea typeface="Arial"/>
                  <a:cs typeface="Arial"/>
                  <a:sym typeface="Arial"/>
                </a:rPr>
                <a:t>0.116</a:t>
              </a:r>
              <a:endParaRPr sz="1300">
                <a:solidFill>
                  <a:srgbClr val="333333"/>
                </a:solidFill>
                <a:latin typeface="Arial"/>
                <a:ea typeface="Arial"/>
                <a:cs typeface="Arial"/>
                <a:sym typeface="Arial"/>
              </a:endParaRPr>
            </a:p>
          </p:txBody>
        </p:sp>
      </p:grpSp>
      <p:sp>
        <p:nvSpPr>
          <p:cNvPr id="320" name="Google Shape;320;g3eb783fec72_0_2473"/>
          <p:cNvSpPr txBox="1"/>
          <p:nvPr/>
        </p:nvSpPr>
        <p:spPr>
          <a:xfrm>
            <a:off x="263476" y="2857500"/>
            <a:ext cx="4762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dirty="0">
                <a:solidFill>
                  <a:srgbClr val="777777"/>
                </a:solidFill>
                <a:latin typeface="Arial"/>
                <a:ea typeface="Arial"/>
                <a:cs typeface="Arial"/>
                <a:sym typeface="Arial"/>
              </a:rPr>
              <a:t>C-index: higher = better discrimination | IBS: lower = better calibration</a:t>
            </a:r>
            <a:endParaRPr sz="900" dirty="0">
              <a:solidFill>
                <a:srgbClr val="777777"/>
              </a:solidFill>
              <a:latin typeface="Arial"/>
              <a:ea typeface="Arial"/>
              <a:cs typeface="Arial"/>
              <a:sym typeface="Arial"/>
            </a:endParaRPr>
          </a:p>
        </p:txBody>
      </p:sp>
      <p:grpSp>
        <p:nvGrpSpPr>
          <p:cNvPr id="321" name="Google Shape;321;g3eb783fec72_0_2473"/>
          <p:cNvGrpSpPr/>
          <p:nvPr/>
        </p:nvGrpSpPr>
        <p:grpSpPr>
          <a:xfrm>
            <a:off x="381000" y="3286125"/>
            <a:ext cx="2619300" cy="1143000"/>
            <a:chOff x="0" y="0"/>
            <a:chExt cx="2619300" cy="1143000"/>
          </a:xfrm>
        </p:grpSpPr>
        <p:sp>
          <p:nvSpPr>
            <p:cNvPr id="322" name="Google Shape;322;g3eb783fec72_0_2473"/>
            <p:cNvSpPr/>
            <p:nvPr/>
          </p:nvSpPr>
          <p:spPr>
            <a:xfrm>
              <a:off x="0" y="0"/>
              <a:ext cx="2619300" cy="1143000"/>
            </a:xfrm>
            <a:prstGeom prst="roundRect">
              <a:avLst>
                <a:gd name="adj" fmla="val 6666"/>
              </a:avLst>
            </a:prstGeom>
            <a:solidFill>
              <a:srgbClr val="058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3" name="Google Shape;323;g3eb783fec72_0_2473"/>
            <p:cNvSpPr txBox="1"/>
            <p:nvPr/>
          </p:nvSpPr>
          <p:spPr>
            <a:xfrm>
              <a:off x="142875" y="95250"/>
              <a:ext cx="23337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dirty="0">
                  <a:solidFill>
                    <a:srgbClr val="FFFFFF"/>
                  </a:solidFill>
                  <a:latin typeface="Arial"/>
                  <a:ea typeface="Arial"/>
                  <a:cs typeface="Arial"/>
                  <a:sym typeface="Arial"/>
                </a:rPr>
                <a:t>Cox marginally outperformed RSF;</a:t>
              </a:r>
            </a:p>
            <a:p>
              <a:pPr marL="0" lvl="0" indent="0" algn="l" rtl="0">
                <a:spcBef>
                  <a:spcPts val="0"/>
                </a:spcBef>
                <a:spcAft>
                  <a:spcPts val="0"/>
                </a:spcAft>
                <a:buNone/>
              </a:pPr>
              <a:r>
                <a:rPr lang="en-US" sz="1200" b="1" dirty="0">
                  <a:solidFill>
                    <a:srgbClr val="FFFFFF"/>
                  </a:solidFill>
                  <a:latin typeface="Arial"/>
                  <a:ea typeface="Arial"/>
                  <a:cs typeface="Arial"/>
                  <a:sym typeface="Arial"/>
                </a:rPr>
                <a:t>PDI-ACM relationship is approximately linear (confirmed by Martingale residuals)</a:t>
              </a:r>
              <a:endParaRPr sz="1200" b="1" dirty="0">
                <a:solidFill>
                  <a:srgbClr val="FFFFFF"/>
                </a:solidFill>
                <a:latin typeface="Arial"/>
                <a:ea typeface="Arial"/>
                <a:cs typeface="Arial"/>
                <a:sym typeface="Arial"/>
              </a:endParaRPr>
            </a:p>
          </p:txBody>
        </p:sp>
      </p:grpSp>
      <p:grpSp>
        <p:nvGrpSpPr>
          <p:cNvPr id="324" name="Google Shape;324;g3eb783fec72_0_2473"/>
          <p:cNvGrpSpPr/>
          <p:nvPr/>
        </p:nvGrpSpPr>
        <p:grpSpPr>
          <a:xfrm>
            <a:off x="3262313" y="3286125"/>
            <a:ext cx="2619300" cy="1143000"/>
            <a:chOff x="0" y="0"/>
            <a:chExt cx="2619300" cy="1143000"/>
          </a:xfrm>
        </p:grpSpPr>
        <p:sp>
          <p:nvSpPr>
            <p:cNvPr id="325" name="Google Shape;325;g3eb783fec72_0_2473"/>
            <p:cNvSpPr/>
            <p:nvPr/>
          </p:nvSpPr>
          <p:spPr>
            <a:xfrm>
              <a:off x="0" y="0"/>
              <a:ext cx="2619300" cy="1143000"/>
            </a:xfrm>
            <a:prstGeom prst="roundRect">
              <a:avLst>
                <a:gd name="adj" fmla="val 6666"/>
              </a:avLst>
            </a:prstGeom>
            <a:solidFill>
              <a:srgbClr val="05204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6" name="Google Shape;326;g3eb783fec72_0_2473"/>
            <p:cNvSpPr txBox="1"/>
            <p:nvPr/>
          </p:nvSpPr>
          <p:spPr>
            <a:xfrm>
              <a:off x="142875" y="95250"/>
              <a:ext cx="23337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dirty="0">
                  <a:solidFill>
                    <a:srgbClr val="FFFFFF"/>
                  </a:solidFill>
                  <a:latin typeface="Arial"/>
                  <a:ea typeface="Arial"/>
                  <a:cs typeface="Arial"/>
                  <a:sym typeface="Arial"/>
                </a:rPr>
                <a:t>RSF variable importance: </a:t>
              </a:r>
              <a:r>
                <a:rPr lang="en-US" sz="1200" b="1" dirty="0" err="1">
                  <a:solidFill>
                    <a:srgbClr val="FFFFFF"/>
                  </a:solidFill>
                  <a:latin typeface="Arial"/>
                  <a:ea typeface="Arial"/>
                  <a:cs typeface="Arial"/>
                  <a:sym typeface="Arial"/>
                </a:rPr>
                <a:t>age_ffq</a:t>
              </a:r>
              <a:r>
                <a:rPr lang="en-US" sz="1200" b="1" dirty="0">
                  <a:solidFill>
                    <a:srgbClr val="FFFFFF"/>
                  </a:solidFill>
                  <a:latin typeface="Arial"/>
                  <a:ea typeface="Arial"/>
                  <a:cs typeface="Arial"/>
                  <a:sym typeface="Arial"/>
                </a:rPr>
                <a:t> dominates (0.103) | PDI ranks 12th (0.001) ;</a:t>
              </a:r>
            </a:p>
            <a:p>
              <a:pPr marL="0" lvl="0" indent="0" algn="l" rtl="0">
                <a:spcBef>
                  <a:spcPts val="0"/>
                </a:spcBef>
                <a:spcAft>
                  <a:spcPts val="0"/>
                </a:spcAft>
                <a:buNone/>
              </a:pPr>
              <a:r>
                <a:rPr lang="en-US" sz="1200" b="1" dirty="0">
                  <a:solidFill>
                    <a:srgbClr val="FFFFFF"/>
                  </a:solidFill>
                  <a:latin typeface="Arial"/>
                  <a:ea typeface="Arial"/>
                  <a:cs typeface="Arial"/>
                  <a:sym typeface="Arial"/>
                </a:rPr>
                <a:t>Consistent with Cox finding</a:t>
              </a:r>
              <a:endParaRPr sz="1200" b="1" dirty="0">
                <a:solidFill>
                  <a:srgbClr val="FFFFFF"/>
                </a:solidFill>
                <a:latin typeface="Arial"/>
                <a:ea typeface="Arial"/>
                <a:cs typeface="Arial"/>
                <a:sym typeface="Arial"/>
              </a:endParaRPr>
            </a:p>
          </p:txBody>
        </p:sp>
      </p:grpSp>
      <p:grpSp>
        <p:nvGrpSpPr>
          <p:cNvPr id="327" name="Google Shape;327;g3eb783fec72_0_2473"/>
          <p:cNvGrpSpPr/>
          <p:nvPr/>
        </p:nvGrpSpPr>
        <p:grpSpPr>
          <a:xfrm>
            <a:off x="6143625" y="3286125"/>
            <a:ext cx="2619300" cy="1143000"/>
            <a:chOff x="0" y="0"/>
            <a:chExt cx="2619300" cy="1143000"/>
          </a:xfrm>
        </p:grpSpPr>
        <p:sp>
          <p:nvSpPr>
            <p:cNvPr id="328" name="Google Shape;328;g3eb783fec72_0_2473"/>
            <p:cNvSpPr/>
            <p:nvPr/>
          </p:nvSpPr>
          <p:spPr>
            <a:xfrm>
              <a:off x="0" y="0"/>
              <a:ext cx="2619300" cy="1143000"/>
            </a:xfrm>
            <a:prstGeom prst="roundRect">
              <a:avLst>
                <a:gd name="adj" fmla="val 6666"/>
              </a:avLst>
            </a:prstGeom>
            <a:solidFill>
              <a:srgbClr val="F4F4F4"/>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9" name="Google Shape;329;g3eb783fec72_0_2473"/>
            <p:cNvSpPr txBox="1"/>
            <p:nvPr/>
          </p:nvSpPr>
          <p:spPr>
            <a:xfrm>
              <a:off x="142875" y="95250"/>
              <a:ext cx="23337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dirty="0">
                  <a:solidFill>
                    <a:srgbClr val="333333"/>
                  </a:solidFill>
                  <a:latin typeface="Arial"/>
                  <a:ea typeface="Arial"/>
                  <a:cs typeface="Arial"/>
                  <a:sym typeface="Arial"/>
                </a:rPr>
                <a:t>High censoring (61.8%) attenuated RSF performance; </a:t>
              </a:r>
              <a:r>
                <a:rPr lang="en-US" sz="1200" b="1" dirty="0" err="1">
                  <a:solidFill>
                    <a:srgbClr val="333333"/>
                  </a:solidFill>
                  <a:latin typeface="Arial"/>
                  <a:ea typeface="Arial"/>
                  <a:cs typeface="Arial"/>
                  <a:sym typeface="Arial"/>
                </a:rPr>
                <a:t>RotSF</a:t>
              </a:r>
              <a:r>
                <a:rPr lang="en-US" sz="1200" b="1" dirty="0">
                  <a:solidFill>
                    <a:srgbClr val="333333"/>
                  </a:solidFill>
                  <a:latin typeface="Arial"/>
                  <a:ea typeface="Arial"/>
                  <a:cs typeface="Arial"/>
                  <a:sym typeface="Arial"/>
                </a:rPr>
                <a:t> recommended for future work</a:t>
              </a:r>
              <a:endParaRPr sz="1200" b="1" dirty="0">
                <a:solidFill>
                  <a:srgbClr val="333333"/>
                </a:solidFill>
                <a:latin typeface="Arial"/>
                <a:ea typeface="Arial"/>
                <a:cs typeface="Arial"/>
                <a:sym typeface="Arial"/>
              </a:endParaRPr>
            </a:p>
          </p:txBody>
        </p:sp>
      </p:grpSp>
      <p:sp>
        <p:nvSpPr>
          <p:cNvPr id="330" name="Google Shape;330;g3eb783fec72_0_2473"/>
          <p:cNvSpPr txBox="1"/>
          <p:nvPr/>
        </p:nvSpPr>
        <p:spPr>
          <a:xfrm>
            <a:off x="381000" y="4714875"/>
            <a:ext cx="8382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00">
                <a:solidFill>
                  <a:srgbClr val="777777"/>
                </a:solidFill>
                <a:latin typeface="Arial"/>
                <a:ea typeface="Arial"/>
                <a:cs typeface="Arial"/>
                <a:sym typeface="Arial"/>
              </a:rPr>
              <a:t>Ishwaran et al., Ann Appl Stat, 2008 | Berkowitz et al., Int J Biostat, 2024</a:t>
            </a:r>
            <a:endParaRPr sz="900">
              <a:solidFill>
                <a:srgbClr val="777777"/>
              </a:solidFill>
              <a:latin typeface="Arial"/>
              <a:ea typeface="Arial"/>
              <a:cs typeface="Arial"/>
              <a:sym typeface="Arial"/>
            </a:endParaRPr>
          </a:p>
        </p:txBody>
      </p:sp>
      <p:sp>
        <p:nvSpPr>
          <p:cNvPr id="2" name="TextBox 1">
            <a:extLst>
              <a:ext uri="{FF2B5EF4-FFF2-40B4-BE49-F238E27FC236}">
                <a16:creationId xmlns:a16="http://schemas.microsoft.com/office/drawing/2014/main" id="{7EC6E43C-38F1-35E8-B816-9E9D67DB03E0}"/>
              </a:ext>
            </a:extLst>
          </p:cNvPr>
          <p:cNvSpPr txBox="1"/>
          <p:nvPr/>
        </p:nvSpPr>
        <p:spPr>
          <a:xfrm>
            <a:off x="5181969" y="1561514"/>
            <a:ext cx="3698556" cy="1600438"/>
          </a:xfrm>
          <a:prstGeom prst="rect">
            <a:avLst/>
          </a:prstGeom>
          <a:noFill/>
        </p:spPr>
        <p:txBody>
          <a:bodyPr wrap="square" rtlCol="0">
            <a:spAutoFit/>
          </a:bodyPr>
          <a:lstStyle/>
          <a:p>
            <a:r>
              <a:rPr lang="en-US" b="1" dirty="0">
                <a:solidFill>
                  <a:schemeClr val="accent2"/>
                </a:solidFill>
              </a:rPr>
              <a:t>C-Index:</a:t>
            </a:r>
            <a:r>
              <a:rPr lang="en-US" dirty="0"/>
              <a:t> P(patient who died first had higher predicted risk)</a:t>
            </a:r>
          </a:p>
          <a:p>
            <a:r>
              <a:rPr lang="en-US" dirty="0"/>
              <a:t>Range: 0.5 = random, 1.0 = perfect</a:t>
            </a:r>
          </a:p>
          <a:p>
            <a:endParaRPr lang="en-US" dirty="0"/>
          </a:p>
          <a:p>
            <a:r>
              <a:rPr lang="en-US" b="1" dirty="0">
                <a:solidFill>
                  <a:schemeClr val="accent2"/>
                </a:solidFill>
              </a:rPr>
              <a:t>IBS:</a:t>
            </a:r>
            <a:r>
              <a:rPr lang="en-US" dirty="0"/>
              <a:t> mean squared error between predicted S(t) and observed outcome</a:t>
            </a:r>
          </a:p>
          <a:p>
            <a:r>
              <a:rPr lang="en-US" dirty="0"/>
              <a:t>Range: 0 = perfect, 0.25 = null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3eb783fec72_93_388"/>
          <p:cNvSpPr txBox="1"/>
          <p:nvPr/>
        </p:nvSpPr>
        <p:spPr>
          <a:xfrm>
            <a:off x="285725" y="100850"/>
            <a:ext cx="82533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solidFill>
                  <a:schemeClr val="lt1"/>
                </a:solidFill>
              </a:rPr>
              <a:t>References:</a:t>
            </a:r>
            <a:endParaRPr sz="2200">
              <a:solidFill>
                <a:schemeClr val="lt1"/>
              </a:solidFill>
            </a:endParaRPr>
          </a:p>
        </p:txBody>
      </p:sp>
      <p:sp>
        <p:nvSpPr>
          <p:cNvPr id="338" name="Google Shape;338;g3eb783fec72_93_388"/>
          <p:cNvSpPr txBox="1"/>
          <p:nvPr/>
        </p:nvSpPr>
        <p:spPr>
          <a:xfrm>
            <a:off x="588300" y="722775"/>
            <a:ext cx="7833000" cy="36810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lt1"/>
              </a:buClr>
              <a:buSzPts val="1400"/>
              <a:buAutoNum type="arabicPeriod"/>
            </a:pPr>
            <a:r>
              <a:rPr lang="en-US">
                <a:solidFill>
                  <a:schemeClr val="lt1"/>
                </a:solidFill>
              </a:rPr>
              <a:t>Ishwaran H, Kogalur UB, Blackstone EH, Lauer MS. Random survival forests. </a:t>
            </a:r>
            <a:r>
              <a:rPr lang="en-US" i="1">
                <a:solidFill>
                  <a:schemeClr val="lt1"/>
                </a:solidFill>
              </a:rPr>
              <a:t>Ann Appl Stat.</a:t>
            </a:r>
            <a:r>
              <a:rPr lang="en-US">
                <a:solidFill>
                  <a:schemeClr val="lt1"/>
                </a:solidFill>
              </a:rPr>
              <a:t> 2008;2(3):841–860. doi:10.1214/08-AOAS169</a:t>
            </a:r>
            <a:endParaRPr>
              <a:solidFill>
                <a:schemeClr val="lt1"/>
              </a:solidFill>
            </a:endParaRPr>
          </a:p>
          <a:p>
            <a:pPr marL="457200" lvl="0" indent="-317500" algn="l" rtl="0">
              <a:spcBef>
                <a:spcPts val="0"/>
              </a:spcBef>
              <a:spcAft>
                <a:spcPts val="0"/>
              </a:spcAft>
              <a:buClr>
                <a:schemeClr val="lt1"/>
              </a:buClr>
              <a:buSzPts val="1400"/>
              <a:buAutoNum type="arabicPeriod"/>
            </a:pPr>
            <a:r>
              <a:rPr lang="en-US">
                <a:solidFill>
                  <a:schemeClr val="lt1"/>
                </a:solidFill>
              </a:rPr>
              <a:t>Berkowitz M, MacKay Altman R, Loughin TM. Random forests for survival data: which methods work best and under what conditions? </a:t>
            </a:r>
            <a:r>
              <a:rPr lang="en-US" i="1">
                <a:solidFill>
                  <a:schemeClr val="lt1"/>
                </a:solidFill>
              </a:rPr>
              <a:t>Int J Biostat.</a:t>
            </a:r>
            <a:r>
              <a:rPr lang="en-US">
                <a:solidFill>
                  <a:schemeClr val="lt1"/>
                </a:solidFill>
              </a:rPr>
              <a:t> 2024;20(2):315–345. doi:10.1515/ijb-2023-0056</a:t>
            </a:r>
            <a:endParaRPr>
              <a:solidFill>
                <a:schemeClr val="lt1"/>
              </a:solidFill>
            </a:endParaRPr>
          </a:p>
          <a:p>
            <a:pPr marL="457200" lvl="0" indent="-317500" algn="l" rtl="0">
              <a:spcBef>
                <a:spcPts val="0"/>
              </a:spcBef>
              <a:spcAft>
                <a:spcPts val="0"/>
              </a:spcAft>
              <a:buClr>
                <a:schemeClr val="lt1"/>
              </a:buClr>
              <a:buSzPts val="1400"/>
              <a:buAutoNum type="arabicPeriod"/>
            </a:pPr>
            <a:r>
              <a:rPr lang="en-US">
                <a:solidFill>
                  <a:schemeClr val="lt1"/>
                </a:solidFill>
              </a:rPr>
              <a:t>Zhou L, Xu Q, Wang H. Rotation survival forest for right censored data. </a:t>
            </a:r>
            <a:r>
              <a:rPr lang="en-US" i="1">
                <a:solidFill>
                  <a:schemeClr val="lt1"/>
                </a:solidFill>
              </a:rPr>
              <a:t>PeerJ.</a:t>
            </a:r>
            <a:r>
              <a:rPr lang="en-US">
                <a:solidFill>
                  <a:schemeClr val="lt1"/>
                </a:solidFill>
              </a:rPr>
              <a:t> 2015;3:e1009. doi:10.7717/peerj.1009</a:t>
            </a:r>
            <a:endParaRPr>
              <a:solidFill>
                <a:schemeClr val="lt1"/>
              </a:solidFill>
            </a:endParaRPr>
          </a:p>
          <a:p>
            <a:pPr marL="457200" lvl="0" indent="-317500" algn="l" rtl="0">
              <a:spcBef>
                <a:spcPts val="0"/>
              </a:spcBef>
              <a:spcAft>
                <a:spcPts val="0"/>
              </a:spcAft>
              <a:buClr>
                <a:schemeClr val="lt1"/>
              </a:buClr>
              <a:buSzPts val="1400"/>
              <a:buAutoNum type="arabicPeriod"/>
            </a:pPr>
            <a:r>
              <a:rPr lang="en-US">
                <a:solidFill>
                  <a:schemeClr val="lt1"/>
                </a:solidFill>
              </a:rPr>
              <a:t>Harrell FE, Lee KL, Mark DB. Multivariable prognostic models: issues in developing models, evaluating assumptions and adequacy, and measuring and reducing errors. </a:t>
            </a:r>
            <a:r>
              <a:rPr lang="en-US" i="1">
                <a:solidFill>
                  <a:schemeClr val="lt1"/>
                </a:solidFill>
              </a:rPr>
              <a:t>Stat Med.</a:t>
            </a:r>
            <a:r>
              <a:rPr lang="en-US">
                <a:solidFill>
                  <a:schemeClr val="lt1"/>
                </a:solidFill>
              </a:rPr>
              <a:t> 1996;15(4):361–387.</a:t>
            </a:r>
            <a:endParaRPr>
              <a:solidFill>
                <a:schemeClr val="lt1"/>
              </a:solidFill>
            </a:endParaRPr>
          </a:p>
          <a:p>
            <a:pPr marL="457200" lvl="0" indent="-317500" algn="l" rtl="0">
              <a:spcBef>
                <a:spcPts val="0"/>
              </a:spcBef>
              <a:spcAft>
                <a:spcPts val="0"/>
              </a:spcAft>
              <a:buClr>
                <a:schemeClr val="lt1"/>
              </a:buClr>
              <a:buSzPts val="1400"/>
              <a:buAutoNum type="arabicPeriod"/>
            </a:pPr>
            <a:r>
              <a:rPr lang="en-US">
                <a:solidFill>
                  <a:schemeClr val="lt1"/>
                </a:solidFill>
              </a:rPr>
              <a:t>Graf E, Schmoor C, Sauerbrei W, Schumacher M. Assessment and comparison of prognostic classification schemes for survival data. </a:t>
            </a:r>
            <a:r>
              <a:rPr lang="en-US" i="1">
                <a:solidFill>
                  <a:schemeClr val="lt1"/>
                </a:solidFill>
              </a:rPr>
              <a:t>Stat Med.</a:t>
            </a:r>
            <a:r>
              <a:rPr lang="en-US">
                <a:solidFill>
                  <a:schemeClr val="lt1"/>
                </a:solidFill>
              </a:rPr>
              <a:t> 1999;18(17–18):2529–2545.</a:t>
            </a:r>
            <a:endParaRPr>
              <a:solidFill>
                <a:schemeClr val="lt1"/>
              </a:solidFill>
            </a:endParaRPr>
          </a:p>
          <a:p>
            <a:pPr marL="457200" lvl="0" indent="-317500" algn="l" rtl="0">
              <a:spcBef>
                <a:spcPts val="0"/>
              </a:spcBef>
              <a:spcAft>
                <a:spcPts val="0"/>
              </a:spcAft>
              <a:buClr>
                <a:schemeClr val="lt1"/>
              </a:buClr>
              <a:buSzPts val="1400"/>
              <a:buAutoNum type="arabicPeriod"/>
            </a:pPr>
            <a:r>
              <a:rPr lang="en-US">
                <a:solidFill>
                  <a:schemeClr val="lt1"/>
                </a:solidFill>
              </a:rPr>
              <a:t>Pölsterl S. scikit-survival: a library for time-to-event analysis built on top of scikit-learn. </a:t>
            </a:r>
            <a:r>
              <a:rPr lang="en-US" i="1">
                <a:solidFill>
                  <a:schemeClr val="lt1"/>
                </a:solidFill>
              </a:rPr>
              <a:t>J Mach Learn Res.</a:t>
            </a:r>
            <a:r>
              <a:rPr lang="en-US">
                <a:solidFill>
                  <a:schemeClr val="lt1"/>
                </a:solidFill>
              </a:rPr>
              <a:t> 2020;21(212):1–6.</a:t>
            </a:r>
            <a:endParaRPr>
              <a:solidFill>
                <a:schemeClr val="lt1"/>
              </a:solidFill>
            </a:endParaRPr>
          </a:p>
          <a:p>
            <a:pPr marL="457200" lvl="0" indent="-317500" algn="l" rtl="0">
              <a:spcBef>
                <a:spcPts val="0"/>
              </a:spcBef>
              <a:spcAft>
                <a:spcPts val="0"/>
              </a:spcAft>
              <a:buClr>
                <a:schemeClr val="lt1"/>
              </a:buClr>
              <a:buSzPts val="1400"/>
              <a:buAutoNum type="arabicPeriod"/>
            </a:pPr>
            <a:r>
              <a:rPr lang="en-US">
                <a:solidFill>
                  <a:schemeClr val="lt1"/>
                </a:solidFill>
              </a:rPr>
              <a:t>Therneau TM, Grambsch PM. </a:t>
            </a:r>
            <a:r>
              <a:rPr lang="en-US" i="1">
                <a:solidFill>
                  <a:schemeClr val="lt1"/>
                </a:solidFill>
              </a:rPr>
              <a:t>Modeling Survival Data: Extending the Cox Model.</a:t>
            </a:r>
            <a:r>
              <a:rPr lang="en-US">
                <a:solidFill>
                  <a:schemeClr val="lt1"/>
                </a:solidFill>
              </a:rPr>
              <a:t> New York: Springer; 2000.</a:t>
            </a:r>
            <a:endParaRPr>
              <a:solidFill>
                <a:schemeClr val="lt1"/>
              </a:solidFill>
            </a:endParaRPr>
          </a:p>
          <a:p>
            <a:pPr marL="457200" lvl="0" indent="-317500" algn="l" rtl="0">
              <a:spcBef>
                <a:spcPts val="0"/>
              </a:spcBef>
              <a:spcAft>
                <a:spcPts val="0"/>
              </a:spcAft>
              <a:buClr>
                <a:schemeClr val="lt1"/>
              </a:buClr>
              <a:buSzPts val="1400"/>
              <a:buAutoNum type="arabicPeriod"/>
            </a:pPr>
            <a:r>
              <a:rPr lang="en-US">
                <a:solidFill>
                  <a:schemeClr val="lt1"/>
                </a:solidFill>
              </a:rPr>
              <a:t>Breiman L. Random forests. </a:t>
            </a:r>
            <a:r>
              <a:rPr lang="en-US" i="1">
                <a:solidFill>
                  <a:schemeClr val="lt1"/>
                </a:solidFill>
              </a:rPr>
              <a:t>Mach Learn.</a:t>
            </a:r>
            <a:r>
              <a:rPr lang="en-US">
                <a:solidFill>
                  <a:schemeClr val="lt1"/>
                </a:solidFill>
              </a:rPr>
              <a:t> 2001;45(1):5–32. doi:10.1023/A:1010933404324</a:t>
            </a:r>
            <a:endParaRPr sz="2500">
              <a:solidFill>
                <a:schemeClr val="lt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THTYPE_EQUATION_MATHML" val="{&quot;mathml&quot;:&quot;&lt;math style=\&quot;font-family:stix;font-size:16px;\&quot; xmlns=\&quot;http://www.w3.org/1998/Math/MathML\&quot;&gt;&lt;mi&gt;L&lt;/mi&gt;&lt;mo&gt;&amp;#xA0;&lt;/mo&gt;&lt;mo&gt;=&lt;/mo&gt;&lt;mo&gt;&amp;#xA0;&lt;/mo&gt;&lt;mfrac&gt;&lt;mrow&gt;&lt;munder&gt;&lt;mo&gt;&amp;#x2211;&lt;/mo&gt;&lt;mrow&gt;&lt;msub&gt;&lt;mi&gt;t&lt;/mi&gt;&lt;mi&gt;j&lt;/mi&gt;&lt;/msub&gt;&lt;mo&gt;&amp;#x2208;&lt;/mo&gt;&lt;mi&gt;D&lt;/mi&gt;&lt;/mrow&gt;&lt;/munder&gt;&lt;mfenced&gt;&lt;mrow&gt;&lt;msub&gt;&lt;mi&gt;d&lt;/mi&gt;&lt;mrow&gt;&lt;mn&gt;1&lt;/mn&gt;&lt;mi&gt;j&lt;/mi&gt;&lt;/mrow&gt;&lt;/msub&gt;&lt;mo&gt;-&lt;/mo&gt;&lt;msub&gt;&lt;mi&gt;e&lt;/mi&gt;&lt;mrow&gt;&lt;mn&gt;1&lt;/mn&gt;&lt;mi&gt;j&lt;/mi&gt;&lt;/mrow&gt;&lt;/msub&gt;&lt;/mrow&gt;&lt;/mfenced&gt;&lt;/mrow&gt;&lt;msqrt&gt;&lt;munder&gt;&lt;mo&gt;&amp;#x2211;&lt;/mo&gt;&lt;mrow&gt;&lt;msub&gt;&lt;mi&gt;t&lt;/mi&gt;&lt;mi&gt;j&lt;/mi&gt;&lt;/msub&gt;&lt;mo&gt;&amp;#x2208;&lt;/mo&gt;&lt;mi&gt;D&lt;/mi&gt;&lt;/mrow&gt;&lt;/munder&gt;&lt;msub&gt;&lt;mo largeop=\&quot;true\&quot;&gt;v&lt;/mo&gt;&lt;mi&gt;j&lt;/mi&gt;&lt;/msub&gt;&lt;/msqrt&gt;&lt;/mfrac&gt;&lt;/math&gt;&quot;,&quot;origin&quot;:&quot;MathType Legacy&quot;,&quot;version&quot;:&quot;v3.23.0&quot;}"/>
</p:tagLst>
</file>

<file path=ppt/tags/tag2.xml><?xml version="1.0" encoding="utf-8"?>
<p:tagLst xmlns:a="http://schemas.openxmlformats.org/drawingml/2006/main" xmlns:r="http://schemas.openxmlformats.org/officeDocument/2006/relationships" xmlns:p="http://schemas.openxmlformats.org/presentationml/2006/main">
  <p:tag name="MATHTYPE_EQUATION_MATHML" val="{&quot;mathml&quot;:&quot;&lt;math style=\&quot;font-family:stix;font-size:16px;\&quot; xmlns=\&quot;http://www.w3.org/1998/Math/MathML\&quot;&gt;&lt;mover&gt;&lt;mi&gt;H&lt;/mi&gt;&lt;mo&gt;&amp;#x23DE;&lt;/mo&gt;&lt;/mover&gt;&lt;mfenced&gt;&lt;mi&gt;t&lt;/mi&gt;&lt;/mfenced&gt;&lt;mo&gt;=&lt;/mo&gt;&lt;munder&gt;&lt;mo&gt;&amp;#x2211;&lt;/mo&gt;&lt;mrow&gt;&lt;msub&gt;&lt;mi&gt;t&lt;/mi&gt;&lt;mi&gt;j&lt;/mi&gt;&lt;/msub&gt;&lt;mo&gt;&amp;#x2264;&lt;/mo&gt;&lt;mi&gt;t&lt;/mi&gt;&lt;/mrow&gt;&lt;/munder&gt;&lt;mfrac&gt;&lt;msub&gt;&lt;mi&gt;d&lt;/mi&gt;&lt;mi&gt;j&lt;/mi&gt;&lt;/msub&gt;&lt;msub&gt;&lt;mi&gt;n&lt;/mi&gt;&lt;mi&gt;j&lt;/mi&gt;&lt;/msub&gt;&lt;/mfrac&gt;&lt;/math&gt;&quot;,&quot;origin&quot;:&quot;MathType Legacy&quot;,&quot;version&quot;:&quot;v3.23.0&quot;}"/>
</p:tagLst>
</file>

<file path=ppt/tags/tag3.xml><?xml version="1.0" encoding="utf-8"?>
<p:tagLst xmlns:a="http://schemas.openxmlformats.org/drawingml/2006/main" xmlns:r="http://schemas.openxmlformats.org/officeDocument/2006/relationships" xmlns:p="http://schemas.openxmlformats.org/presentationml/2006/main">
  <p:tag name="MATHTYPE_EQUATION_MATHML" val="{&quot;mathml&quot;:&quot;&lt;math style=\&quot;font-family:stix;font-size:16px;\&quot; xmlns=\&quot;http://www.w3.org/1998/Math/MathML\&quot;&gt;&lt;msub&gt;&lt;mover&gt;&lt;mi&gt;H&lt;/mi&gt;&lt;mo&gt;&amp;#x23DE;&lt;/mo&gt;&lt;/mover&gt;&lt;mrow&gt;&lt;mi&gt;e&lt;/mi&gt;&lt;mi&gt;n&lt;/mi&gt;&lt;mi&gt;s&lt;/mi&gt;&lt;mi&gt;e&lt;/mi&gt;&lt;mi&gt;m&lt;/mi&gt;&lt;mi&gt;b&lt;/mi&gt;&lt;mi&gt;l&lt;/mi&gt;&lt;mi&gt;e&lt;/mi&gt;&lt;/mrow&gt;&lt;/msub&gt;&lt;mfenced&gt;&lt;mrow&gt;&lt;mi&gt;t&lt;/mi&gt;&lt;mo&gt;|&lt;/mo&gt;&lt;mi&gt;x&lt;/mi&gt;&lt;/mrow&gt;&lt;/mfenced&gt;&lt;mo&gt;=&lt;/mo&gt;&lt;mfrac&gt;&lt;mn&gt;1&lt;/mn&gt;&lt;mi&gt;B&lt;/mi&gt;&lt;/mfrac&gt;&lt;mstyle displaystyle=\&quot;false\&quot;&gt;&lt;munderover&gt;&lt;mo&gt;&amp;#x2211;&lt;/mo&gt;&lt;mrow&gt;&lt;mi&gt;b&lt;/mi&gt;&lt;mo&gt;=&lt;/mo&gt;&lt;mn&gt;1&lt;/mn&gt;&lt;/mrow&gt;&lt;mi&gt;B&lt;/mi&gt;&lt;/munderover&gt;&lt;/mstyle&gt;&lt;msub&gt;&lt;mover&gt;&lt;mi&gt;H&lt;/mi&gt;&lt;mo&gt;&amp;#x23DE;&lt;/mo&gt;&lt;/mover&gt;&lt;mi&gt;b&lt;/mi&gt;&lt;/msub&gt;&lt;mfenced&gt;&lt;mrow&gt;&lt;mi&gt;t&lt;/mi&gt;&lt;mo&gt;|&lt;/mo&gt;&lt;mi&gt;x&lt;/mi&gt;&lt;/mrow&gt;&lt;/mfenced&gt;&lt;/math&gt;&quot;,&quot;origin&quot;:&quot;MathType Legacy&quot;,&quot;version&quot;:&quot;v3.23.0&quot;}"/>
</p:tagLst>
</file>

<file path=ppt/theme/theme1.xml><?xml version="1.0" encoding="utf-8"?>
<a:theme xmlns:a="http://schemas.openxmlformats.org/drawingml/2006/main" name="UCSF Contemporary Pattern 1">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CSF Classic">
  <a:themeElements>
    <a:clrScheme name="UCSF Theme Colors">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CSF Contemporary Pattern 1">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Coalesse Palette">
      <a:dk1>
        <a:srgbClr val="000000"/>
      </a:dk1>
      <a:lt1>
        <a:srgbClr val="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2D6B6AB-0546-2A46-B5E4-4C52556B2B49}">
  <we:reference id="4b785c87-866c-4bad-85d8-5d1ae467ac9a" version="3.23.0.0" store="EXCatalog" storeType="EXCatalog"/>
  <we:alternateReferences>
    <we:reference id="WA104381909" version="3.23.0.0" store="en-US" storeType="OMEX"/>
  </we:alternateReferences>
  <we:properties>
    <we:property name="EQUATION_HISTORY" value="&quot;[{\&quot;mathml\&quot;:\&quot;&lt;math style=\\\&quot;font-family:stix;font-size:16px;\\\&quot; xmlns=\\\&quot;http://www.w3.org/1998/Math/MathML\\\&quot;&gt;&lt;mi&gt;L&lt;/mi&gt;&lt;mo&gt;&amp;#xA0;&lt;/mo&gt;&lt;mo&gt;=&lt;/mo&gt;&lt;mo&gt;&amp;#xA0;&lt;/mo&gt;&lt;mi&gt;&amp;#x3A3;&lt;/mi&gt;&lt;mo&gt;(&lt;/mo&gt;&lt;mi&gt;d&lt;/mi&gt;&lt;mo&gt;&amp;#x2081;&lt;/mo&gt;&lt;mo&gt;&amp;#x2C7C;&lt;/mo&gt;&lt;mo&gt;&amp;#xA0;&lt;/mo&gt;&lt;mo&gt;&amp;#x2212;&lt;/mo&gt;&lt;mo&gt;&amp;#xA0;&lt;/mo&gt;&lt;mi&gt;e&lt;/mi&gt;&lt;mo&gt;&amp;#x2081;&lt;/mo&gt;&lt;mo&gt;&amp;#x2C7C;&lt;/mo&gt;&lt;mo&gt;)&lt;/mo&gt;&lt;mo&gt;&amp;#xA0;&lt;/mo&gt;&lt;mo&gt;/&lt;/mo&gt;&lt;mo&gt;&amp;#xA0;&lt;/mo&gt;&lt;mo&gt;&amp;#x221A;&lt;/mo&gt;&lt;mi&gt;&amp;#x3A3;&lt;/mi&gt;&lt;mi&gt;V&lt;/mi&gt;&lt;mo&gt;&amp;#x2C7C;&lt;/mo&gt;&lt;/math&gt;\&quot;,\&quot;base64Image\&quot;:\&quot;iVBORw0KGgoAAAANSUhEUgAABOIAAAB7CAYAAADZoC/eAAAACXBIWXMAAA7EAAAOxAGVKw4bAAAABGJhU0UAAABh+pHDUAAAI6BJREFUeNrt3Q+kVUv7wPFHciSJJEeuRJIkiVxJkkiSHIkkSRJJciWRV5IkritJEkmSJJIkuSJJkkSSJIkkSRJJkiTedz/tfd52a8+aNWvvWX9m1vfD8vN7b2fvtZ+ZNbPmvwgAAAAAAEC5lrWu/yauH61rmNAAAAAAAAAA/lyQ3o6464QFAAAAAAAA8Gdy6/ouvR1xqwgNAAAAAAAA4M8u6e2Ee9u6xhAaAAAAAAAAwJ8n0tsRd5iwAAAAAAAAAP4slN5OOL1mEhoAAAAAAADAn1PS2wl3m7AAAAAAAAAA/gy1ri/S2xG3hdAAAAAAAAAA/myV3k64z9LuoAMAAAAAAADgyT3p7Yg7TlgAAAAAAAAAf2aL+ZCG+YQGAAAAAAAA8OeI9HbCPSIsAAAAAAAAgD9jWtd76e2I20FoAAAAAAAAAH/WSW8n3PfWNZHQAAAAAAAAAP7ckN6OuPOEBQAAAAAAAPBnmpgPaVhCaAAAAAAAAAB/DkhvJ9xLwgIAAAAAAAD49Vp6O+L2ERYAAAAAAADAn+XS2wn3o3VNJTQAAAAAAACAP5ektyPuOmEBAAAAAAAA/Jks7dlvyY64EUIDAAAAAAAA+LNLejvh3rauMYQGAAAAAAAA8Oep9HbEHSYsAAAAAAAAgD+LpLcTTq9ZhAYAAAAAAADw57T0dsLdISwAAAAAAACAP+Na11fp7YjbQmgAAAAAAAAAf7ZKbyfc59Y1RGgAAAAAAAAAf+5Jb0fcCcICAADQNoUQAAAAwIM5Yj6kYT6hAQAgXBNb1whhyG1M5yVoXes60rqutK4vnZejFYQHAFADk6jjgzFLzB0ueh0iPI111JAfHhMWAADCtbZ1vWtd31vXDMLRY3zrWta61kh7fw49sUo73F60rh+WF+bJhA4AUANXO/XStdb1B+GotX2W9wpmPzWTDvp+MOSHvwgNAADh0Y6iy10V+i1pj5qjbZvYO9ps1xPCBwCoiT1d9dOn1rWBkNTWo5T3iheEprHWG/KDDp5PJDSAH/8t8VpFuBGBzyU/N0Vd9yqI3fLW9b7rHi60rrFkqd+s7rwQf2xd33KmKZvnAgDqZGXivels6xpHWGqFZakwuWXID+dpt9Wm3bap4O877TENrni6p+uxPWTaEL7aafh9KyARdd+if1vXpdY1jzINEXgRSYF+tuS4HabTqC96PPxo51xWmq4hXACAmtGljd2DcDp7exphqQ3bstQFhKeRpqXkh6W022rTblss7Q6ut56/53Wnb2irxzTYJe3+oC8D3NcDac+yjtqcToH8YYBAvWxdu1vXTMoxRGgkkgJ9U0nx0qWoyVG1o2Sj3OZlpKcuZ51AmAAANW3Yv+6qs953GpKo3iNLew7NdMCQH17Rbqttu037XE71+bnfOn+rg/5DJaTH7E7++uh4fw+l3T/VKFNb15s+EvNvaW/uCMTsWgQF+sIS4jSjU3F3f+8Rsk9fxkn2SBEAAHVuW7xONAA5VbVaMzPadGim14b8sJ92W+3bbYdzfuYbqW7ilNYH7zLu75Y0eCuD3TkTcy/lFhpieuv6Ku4zRIsYYdDP1JM1dW8P3YNFN1U9KO2DELKm/ursqaI7zLXCeC/F7TfQNOMz0vQfQgQAqDltfCWXUnGIQ3Vsy1L/JDyNtDyl3RDyycdNabfpv3kt7n03VZe9J8S+RLbRh/mtyZGQNym30DB7czwfB0q+tzGdAv5pyv08Kvj7l0nv5qhXyDIDx9SWx1YTIgBAAHRpUnILnPWEpRJpy1JfEZrGuixxbpLflHbb/hy/c6jiNDluubdlTX8Q83TEcRADmkYLzWfivv5+RgX3ODalQi3yoAbdyDU5sqPLJjklbTA7xD5SxumzAIBQLO7UXQwoVWeG5b2CbUSaaYrhuYzlMLCmtNtmi3v/TdWup9zXBR5F92Nx7xIqNNTSHIXdrYruUTvAXibuZUtB36XLUZMz4XR56jBZZWCXKIMBABHZnqjLdOkYp3SWZ49Uu48w6meXIS/oPl6x7P/elHbbe6l/R5z+zu+Ge/pEu7HtuGMibidUaLDzUv+1+Mn9Hos4qWy6oeDXUbUlZBEvPlvy1SHCAwAI0EVDo38qYSnFQ0nfmwnNZFoaGduhHU1ot11y/H1VlrVbUu5pJ49h278BJCJQtcnifgSzblA8oYJ7XCLFHtSgm2m+MPzeg2QPL/7MyFcrCBEAIECTpPfwBt3Ogu0WimVblnqU8DTSopT8MIt2W3DtNtcDN1dVmA6mgYDHPIZtmuDfHRKQgAG9yytsVxX7bkwo+Jk1HQv+iGzhje1Us+8Sz5IBAEDzrDbUbccIS6FYloqk09KcrU9ib7etcvxtmyuK/0LhpGarZY4J+A+hAn56lKNQn1/yvY3r+u5znj/bdAqRjt7MIUt4c1s4sRoAEK+rwmzvMqUtS31LaBppvLT3aEzmhy0R/+aY223jHX/X6Ypif61G91JLfzsm4HJCBfw0L0eBXvZssYld373N8282na7ESLY/E1JiPHrtJ0QAgMDNNNR1bzvvL/DLtiyV97dm2mbIC9oxN0S7Ldh22yeH33WlJnHXpcKTeQx/cekl1geUJVHAL0dyFOplHnIyv+t7fR2eoM++aVPXLxSmXq3NyEcsIQEAxOCUoY47RVi8sy1L5YCtZrpnyAsnabcF3W677vCbqjiY5V/h4E+rYccMeYVQAb/R2UtvHZ8f7f2fUtJ9je4V4POghgMpv+sw2cCrM5Y89IXwAAAiMUvYN6gMLEtFtzkp+WEB7bag222nHH5TEQf42Swx3MMDHsHfbXHMkNsIFdBjg7iPrlwo6Z501tR58TeyPK11fRPzwQHDZAGvbC8IFwkPACAiN4TDn4o0XViWit8dNeSFJ7Tbgm+3bXL8TbNLjPVjYU/xTBcdE24aoQKcXyTTrqUB/r5zFVdQTTE7I+9sIUQAgIhsTKnvNhIaL1iWim46G+qDIS/8Rbst+Hab68mpa0q6H9M+hHT+Gx7Izw6J9pRQAal0I9xvjgXgMwlrr8U5lt+ykqT3andG3vmDEAEAIqKbw3831HcvhX2pfUhblvqO0DTSejGvbmnaISkxttuGHH9PGZ2uk6S3w/edcBhPj8WOiUYPJmB3QNxHV0I6+TJtxuwXXpK9s43QPSc8AIAIXRW2xCnCNMs7xQnC00i3hNUtMbfbXCZXnSvhPkyHYmzg8es/EzLzBbDTkYiXjs+TjsLMCOA32Y68Z78yv8aKeVbA6HWcEAEAIrQ1pd57QWgGYptlv4zwNM508kL07TaXk1OvFXwPus3Oj8R33uLxM3vgkGDaOGTmC5BthbiPrlwP4PfYjvneTHJ7tSYjv4wQIgBAhGyDfmsIj/c23ntC00imyTevaLdF1W47K26nwRYpOetSO+Vm8/j1muiY8a4RKsDZhRyFep07V3SG1gfLvc8gqY30qPP1ncpQK6NP0h5J0wENnTJ+W9pT3Ccl/u6E2AdDxhJaADWke1du6JR5Nzov+aNl3tfW9aZ1XW5dOzvlI2DyLqX+u0No+sKy1OLf9W5LWJ1ZryXsrXJot2Xb4vg7ippgNWL4rkNkMbP1jom1g1ABzqaK2xp9vd62rgk1/R1rLff9gWT+zZhO5acvZT8c015HpOd1fcYLy78NbUr3nE48zgujrUCsjVA9jfFxjgbM6PKefQH+Xsq04l2y5JtZhCc3lqUWZ6G0BxhCOoHWNPNL31c5BCyedptyPTl1fgHfbVrqq/XlOLKY2UXHxKICBPy9ACWvIzX9DVcs93yZJP5pXKcxahrJ15PKdnUqu9GRJ52afSxRQWnFNTMjj+ytcQzGdF5Ad3fyhellJjRp6QA0nc6EPiW9+1nqrCWdFTe564V8q6Vxc4oyjTItYZ/lPg/z6OV2T1iWWgQ9QMR02ua5mt/3ZcM93yA5o2q3qUmOv6GIJf+mpc9VzyCsdd333iGhXvJsAn1xnSmgI1JzanbvWQcH/E3y/twj760hNrony+KMv+3eD04bq9sz8siCGv1u7Xxc3ckDNzPyCY1WIA7awXZUemf86jviUsvf/WV5nlZQplGmpdSL7GM1GNuy1NOEp+9y4ozYtxCp60ypKWJerbGWZI2m3dbtq8Nv8D3ArzMrv0j99tSrbd23wDGzsY8A0J/54j66cq9m9z6Scb/rG5yueurUHUNMtOLbnuNzRg/C0FHKq1LdpqpZhjsvazqD5aG4L72l0QrEYZ2YB24vOzQ8hy3P0yXKNMq0REPOFvM/eRSd2Wb3LCc8uU3rlBVZ5cK2mt7/HjFvMcNBjPG027rddLh/3zM4k/vs1eWU2drWffscM9pqnsvclvfxUhfqdYXktjqZI5Z1qsCPZ9zrkoam5ybpHfEZ3TNiXs7Pmtr5W132ZJuBcbGmlRiNViBuEyV9E+sTHp6nz5RplGkJtk7RgzySztKWpX6k8yW3FZ24uZQL92v6G54Z7vUfkjaqdlu3cw73ftPj9y2W+h4CUtu677ZDInFSX3/oiMMoXav/3jGWWtFPrsl9Z03PHmpYOmo5eDolFnoK1dQ+P/eFQ77YWNNKjEYrEC/dG/i5+FkpYXvHpEyjTOv20nKvD3ksndhmFrIsNZ/9fZQNs2v2GxYJ+783od3WbafDvfscCHuS+OznNeo/qmXdN17cpuL/y/PYFzri0G1jjnjW4SVpKKN8+Naw9NNK9q6kb3o8yNTr6w55YmrFv99lwOYGjVYgGkskfQbIVY+dAl8p0yjTEmzbNOh7CafvZWNZqp/OmGt9tovqNtPMNIh8jySOqt2W5Hpyqo9JFdtrXs7Usu5b65hAu3gW+0JHHJJu54jpoprn3zcNSjftBHtmaUQOeohCVkfc0xpWYp+kvTeUbsKu09HHODRuAYRhpaRv9KzlUd7NyNdbyoVHlGlIyFpSxXY52dKWpX4SlqW60G1GXg7QLnpXozjrxBvTCa9bSeao2m1Jw473vXTA79EO6w9Sj71fg3JawpxeGwo64pCkz5LLLFTt5Jpb8b1uzbjHaw1JM+2EeyXFHliRNeviWA3ioDHQfaI2Z9QJNFqBsGknXNp+ldqY62cp02VLuXCcMg0Jf2fE/QAhynxvSYvdGcKTSWdCffHQNlpTk9+zTcyDyMwsjavdZvLN4d4HbcccTXyePjt/kHWyvXVIHI4K7x8dcTA5lBFL3f9kuAb3mTUi3YTRDj3q3bZ/m68OsqwNgEMa/afRCoRrkaTPhNNrTx+f+UdGQ6buh/5QppVvc0bcLxMiq78ssVtJeFLpflZZh5TlueoyYP3AcG+nSO7o2m0mdx3y6eEBPn+OoX7fS5bJNtuxEGHkpH90xMFER6DSZljpfowTanKfWftinI08nSaI/Zj6J+JvE1LbiFVoh+XQaAXCNF16l5d0X4/7/NzjBXwmZVrc1glbYxTR+NaN2VmWajaciJsewKX77I3OANa4LZPsFQzJ/Qyr7qCZm3Jvf5Lk0bXbTM475NOLA3x+cunuM8oYN7skrGm1QCzmi3k26sma3efrjLLhZOTpZOuI1M6xOZ6+Z7yUd7Q4jVYAaeXQ04znt5+9MOeKfTZcCJvGU6aVb7VDBweNPTPbstSzhCdV94CBLn22DYAeFPfOuN0V/66jYh5IRnztNhOX/p4HfX626ayBJWQXNy49+lrRDREqwJsV0h6RDOFAlKx9BY5GnE5ZR9Xv9/hdWaca7QksdjRagfCczXh2L/TxmUOdBl/oKy4o08q30qGNMpMwGdmWpXLIRbrJ0j6cwbUj4YK4dcQ9q/A3aWfiB+EQxqa020zWOOTRb33W78lZgnT053gwvzskzC1CBXijhx8kZwZ8remL0RiH8iHW05aWZvzu5+J3qWjWoRjzA4tfTI1WGt9ogqxlgD/67PSw7TOqy/7HBV4OUKYVZ5nDOwh7nZndSYnXF2EWoUvngis9KfKjuHXGLazo92wQ84qOySR1dO22NNMd8+iknJ97QHpPY55C3edmxDFR9vAMAl4cNjxf76W+ezSMdygfNkeYTloRvcn43as8f6dt/4YPETX0aLSGxfVU9VAvZvv/KvPeif/9Y2xLt/QAnGHKNMo0i6kOz/BaHt9ccTtHeLz7j2N9U9XBCLfE735gtNvC3FvP5eTUPAMb06T3UKed1H3uXE+EmctzCAxkbKfSSz5buhfP9Jo3zrLKh00N7Hy4XcB3Phe/y8FotDav0VrFs0BHXBxc3gfz7g132PJZWvcNU6ZRpmWY4JAvN/L49rAtSx0hPN7pzDKXFWZfK6hz0mZCLSfZomy32Tx0yKMbcnxeMj4hH7pUiRcOCfKOZxEYyCTpPU1mdMn3pJrf+xJpXkfc4gIapFmGPVaMNFqb22gtAh1x8Zst9oMU9Lqf4/N0qalthu9VqffpcpRp9eHSEbeFR7gHy1LLd9Gxzik7vx4y3MMrkivadtugedR1329T+zCELXRqU/fNdCww2HAP6N8fYp7ppI2UsQHc/3JpXkfcYyn/9NKs/eFC3MeDRmsc6IiL3xXxtxeoDlI8tXQC7Aw4TpRp5Rsvzd2ntl+2ZakXCE+l78tFraiwMW2zsp/kirbdZrPXIX+6LllO1vOnAolBbeq+bY4FBnsvAP3RBsn7wCtAl42SY+qI2+jwe5cW8L3XLN/3iEYrFXeF6IiL22yHGOmSq6wDFXSw4Jikz6zTWXDTA48VZVr5hhzy5yFeN39jW5a6hvAU6o241TszSrqfFWI+dGc6SRVtu83G5eTUJw6fs1N698wLZcJAbeq+qw6JoQ/rRJ5LIDfd7PKLoTET2l4mc6RZHXHPM35rEfsfjBf73iL/0Gil4q4QHXFxO+kQo/OWv9cG5RHp3bC5e0nrkkhiRZlWvnHCjLi80pal6kbtYwlPoQ451jtldR6bZjvfIJmibrfZzHLIm98yPsN0SnBI7cBa1H1jxG1TyTs8l0BuptmmWmgtDfC3uOzPEsupqS4jRTsK+N6sZamhbqhLozUOdMTFS3/7V4cYrTC8iOs+R7ctf/OvxNMBR5lW73cQ9oj7xbbfLMtSi+e67dObEu5liphnKK8jmaJut2X1//xwyJ9TLZ9xIvFv71L35ee6jp015EA+RwzP0Wtpj0KEaKw0ZzT6jmQvzypihvA9sZ+wFerGyjRagXrb7FC+v+38W13CqstRblpe5F+2roMS77InyrTycWpqPtuFZalVu+vYxi56kHWP4Ts/CId1xN5uy/LYIW+uSvnbudK7cnIOdZ+fTFfGyYBArHRmgek0Gl2WMyXw35Y1enIigvRzGcW8WsD3zs/4zis0Wqm4gYK4bFHyptMoSfvvD6Xd+daE90XKtPJNEvayziNtlirLUsuzVdza2EXPUDRttfIPydOIdpuNy8mpaUtNkxMWjlD39eeJQyJ84BkFnOgGlXdTOlHG1eD+1reuxQP8/fuMsuJUBGl4QKoZdT8v5S+FpdEab6MVcOW6RUmyMa8v4ic6nR9N20OYMq18Sxzy5Uoe559sy1IvEp7SuC75L2qVhXTe+U3fOYvkaUS7zeagQ948bfi7DdI7W34CdV9+Ux1fuM7VJGALW9dZSZ8mGQLXpcAxXCHP4OmHblRtGnWqyyjBaME5yBr+6xlpfjaCdHwk2QfXTPL8ndMle7bhbBqtVNxAAZY61OefWtcuaS9p0wZc05c0UaaVb4VDPp3J4/yTbVkqswbL5bq36s4Sv/8+ydKYdpvNuj7a8to5mTwReENk9XhptjgWDutrErBbEv5oDh1xcfpTzLPFttXk/sZ0VTaDzKw6l5HmlwJPx2GHfP2ogO89k/GdL2m0UnEDBdnlUO6dIkyUaRVbLdmDZOx51Za2LFVnXg0RnlItdmwzPSzgu8dLe/Yypws3t91mM9chX75O/E1y1dCtCOvx0risDS5i9segBdmGgBOdjrj4jEjv1PPPUq8lEru7nudB9jv4KyPN/w08LV1Gh854/s7Zkj0b7jSNVipuoMJ3QWbRUKbVvX5+T7b8yTageInwVOKFY7tpnufvNZ0Aqu2VcQ1Pjya122xcTk7tHuDQ1TvdHbvasR/yLORK6z4N6heHQqEu01cfdiV6yAUIHXFxMXVMvZP2xvt1Ma1TwfgYuVglbqfqheqYlL8/3HWH7wz9hDMarUB9ZZ0SHfrSeMq0OMq0rJN9r5Atf7ItS11HeCqxz7HddMzz9z4QZjc3vd2WxaWTeLT+v5L43w9GWo+XYoljoVCHIG/sup/rgSc6HXHxMHXaPJX23ot10r1EYcuAnzVesjfwDtkVh3zt85j5teI2Kzn0pSQ0WoH6+uRQDnHKImVa1bI2Fj9Ktux552NZan06VrJmHun1Ufwtr56X8h0LG5wOTWy3ZbksbpMBknvJvpLwZ1ZWWve5nJSh16KKg6TLYt+WmCGLRkdc+LTguWb4vTekfqfGHBH/pzI9y0j3kF/0njvk68key7Z3Dt93h0YrFTdQoG8O5RAo06qWtUcts73aS9jSOnxYllqtG45tJ1/52NTp9KShsW96u83msEOe1H1knyb+t5GI6/FSPHQIvK6frnrj0+5NzH94bARXhY648F9y7kkYe3glN9S85ulzT2Wk+7KA09dlub6vMvFyVzlr+74DNFqpuIECuczUAGVa1a5mxH0q2dK6LHUj4anUese2k4+9lnUG8wfDZ+9uYNxptw2eLz8n/v/rkeSNyuq+SYF0pCQzx23KcVRIj7l+ZXhO9tbsPnX05HyBL2FZyynXB5zG30tqkO6QX6dkPcn4viU0Wqm4gQIxI44yLYTf8UriPVncF9uy1HGEp1I6iPtR3LYj+WPA79qYkgemNCzmtNuyLZR8k2z0fWF65PV44Vx75fdVGJwF0tsDu0OAauipvcnRJZ3JVKelELokdKf8vpS7iJewcWLvsPo74HQuY2bI0k789Jovg89K3i/tJSd1XhJMoxWoL5c94oYL+m5d5TASUTlAmVZcJ4atfj7JY2xdlnqV8NSCy4Fgev1nwO+5JSxNpt3mp2xNXvsjyiOV1X0XHYNd1Ul9usHke8P9/CFA+fQ5SM4Y0PxZ5f6JWnDqwQm61FlPErsg9mWVvitg20mfIS9JzlomOujylznya0RUX7SyTqHNmpa+pfPv7tJopdEKFFCej15rC/heLQ9HZyssjaQcoEwrxsyMmK/gMWZZagCyBl99zPCcLsUfNEa7Lbx2m81rx3yp+2jHdHBTJXWfZoRPjgGv4qFdnXJ/9ym/UYHdEsd+fb4bUZst3/Uh4PR+XGAs58qvAYa7jvlrj+XzVsivU7am0Wil0Qr06YhDuXfG83fqLLjRVQ+3A3y5p0wrl21LjM9S/X7WdcCy1HjeMwfZluSQ4bPe0G5rfLvN5kqN+4Wiq/uW5cgEZY4w6fpo2ybwewUo18lICvMvBbykjhf78tRQZ69ecIhnP0s89IVqdIq8dsaNzqrLmp2cdvDFIvk1khbCsi4arUB9ubwXfhd/m+F3n9L2SIo/FY4yLfwyzXay32keYZalBmSX47t7P4Mf+q7/RuI89It2W3GOOtzTxQjzSyV13+kcGaGMPeI0o+n66HcZ9zKbshsl0U6maxLP6bVnC4rTGYnvwIZtjjFdkOMzd3e9IOv/7R7lvJfxPaZZIrq0YXR5ayj78dFoBerNZWnKoC/iOkBzt+vznki4m4dTppXLtnx6EY+v9d1lE+GplcnitieXLq3MO5NxZcpnTY88prTbBrNBsjsGY9werPS6T09L/ZojI+i/LWpqpBYK+xxf/p5SbqMk2ih4GFFh/t9OxVyEBTWqRHwZdnxB0o1VZ2R8lu51eV/s+7R8zvie5IiYbj77UcIbnaLRCtSb6yyNfgdodf+q7m1HHkjYJ/hRppVnjKSf7PuYR/enm5I+k3UC4akd16WA23J+7lXDZ9yk3Ua7LcPijPuJdVVi6XXf8T4zhI5a6swL3fxQ1wdrh17Wfh7637WHWjdYXdH5279a1zlpb/aX5/sPUWajBN0bR8dyfZRipzffT/nedwHng7OOsdVONJ3u3z1bV8u7rWLeq2WX4bu+Z3zH3530m9ipCEcbI3oiVh32fCkzL9NoBYrt7Hji+Czqe9xkx8/VZa+PpPcQmrp2DlCm1e/+bI3ELTy61hlW1wlPLa10LCPu5eyQMuWDdRHHkXabH0OW+4l5sKPUum9XwJlygQDFWiK/ZhrFdJ0qOG4jlu+eH2he+EOyZ6rlvdJGNX/08Vk3pD3IQaOVRivg08wc9aAuVdHB3dWJTrWhTufbXkPH3g+p/8g6ZVr97u9gyv29EQ5pELEvS91MeGpJ8+1bx3JiluNn7hXz4WmxPiO02/x6n3I/f9IR17+pnUL4fsAZ8jXlNQqmywW/RViY2zb79yltFsXhgPPEOk/x15cg26E3n3J+3rlOQ5dGK41WoAgLC2rc6Ky4eQG/mFOmVSftHeMvHtefbMtSJxKe2jrsWE64vkubVpsdpd1Gu82Rabl07AfhFFb36VH0XyLJkMcoq1GgLZEW5KP7mJVhjaSPVodsw4AVvS6/yjpl0HUZrJbn22m00mgFSqB7+D7w9Ny+kLBm5VCm1ev+5qXcmy5HYzZce6ugtJn1/xKeWpuV410+K6+nLd+eQ7uNdpuj5ImzOiA3OfJnsLC673pEmXIJZTUKdFriLdDL7MROa7StDjx/6EvM7Zxx13+/1PHzXZaCnZf6nnhFo5WOOMRLO9Ce9/Gs6kwc3TR8JMDOEsq0et3fsZR7W8vj+dNWYf+8kN1zLCuyNu83Derep91Guy2HTYl72d6A54/3eQBRmC/pnVKx/D49NEYHOXQ56bfOpTPVdCPTC51Kq58OMx0V1SWnnzufqf9XR7L3SvxHzlNxA/Wne8Tsl/bSFZ3p/LWrDNTy8Ennv2kZqYMvYwkZZZoHE8W8uucWSfZ/17qexe5Ln9FJhKf2bB2p3ddVy2foHp2mg7+2EV7ksEx+30qCug8AApI2SrWQ0CDyivs7YQFAmebVATFv0zCDJEMk9OAtly1QdPnxlJTP2G7499oRO47wIoch+dWRP78hv5n3eQDR0L0ETKfu3CE0iMQYSd/DDwAo0/yYIubZcDtIMkTGda/g3Sl//0iat8k+wPs8ACSMpBRsI4QGEZiYkr+fERoAlGnemGbYXye5EKG0gxaS1xPD36YdZsJKFID3eQANZHqB1hPOJhAaBG5VSsV9mdAAoEzzwtQx8VriP8EPzfVS3DrjFiT+znSYyRPCCfA+D6CZxndeBJKF2wlCg8AdSqm49xAaAJRpA9MBu1fSu9/VPJIKEdsnbh1xx7v+Rg/F+STuS1gB8D4PoAF0M+UPhgJuOaFBoKam5Gm9ZhEeAJRpA7tguJfVJBUiN03cOuI+y69TqTeLeaP5KYQT4H0eQLMtld4j1fUwh2FCg0DoZq5zW9eu1vUupdK+RpgAUKYNbIfhXraSZGiIW+LWGbep8+9vG/7bJcII8D4PAGq9oaC7L79G9IA6+ibuo9OMngGgTBvMstb1Q1gihOba6PiMaofdzJT/xqoTgPd5APi/7YYC7yJhQeAV9xdeegFQpg1sTuv6KOxzhWZL2/PNdN01/G9vCCHA+zwAJG0zFHyHCQsCrbh1SQgjZwAo0wYzXXqXCbEcFU11Qtw64kzXAcIH8D4PACYbhKUnCMPnTuWtl57Yp6f4XWld+6U9ewMAKNMGoxvUv5XfT0cdIanQYAuk/4646YQP4H0eANLoPjDJJSi7CAsAAI2hnXBvut4DdFbcAsICyBPJ3wl3k7ABAIAsOgX4eeIlYi9hAQAgejoLoXs56p3WNYWwAD/tkvwdcesJGwAAcDGhdZ1LvEgcISwAAERrqfw+K/4gIQF+o53SyW1cbNeH1jWGsAEAgDzWJ17K9TTVIcICAEBUNrWu7526/rW0O+UA9Loq7h1xxwgXAADox7C0O+D0hUI31ZxJSAAAiIbO2HnWqedPSntWPACz1eLeETeXcAEAgEEs67x8AACAuCxvXYsJA5BJO66791FMu+4TKgAAAAAAAGAwf0t2R9w2wgQAAAAAAAAMRk8XtnXCfWtd4wkTAAAAAAAAMLh7kt4Rd4bwAAAAAAAAAH7o0tO0jjj2WwQAAAAAAAA80aWn36W3E+4ZoQEAAAAAAAD8Oiu9HXG7CQsAAAAAAADg1zL5vRPuR+uaQlgAAAAAAAAA/15I+5RUvS4RDqC+/gc6/8vvHhPACQAAAaF0RVh0TWF0aE1MADxtYXRoIHhtbG5zPSJodHRwOi8vd3d3LnczLm9yZy8xOTk4L01hdGgvTWF0aE1MIj48bXN0eWxlIG1hdGhzaXplPSIxNnB4Ij48bWk+TDwvbWk+PG1vPiYjeEEwOzwvbW8+PG1vPj08L21vPjxtbz4mI3hBMDs8L21vPjxtaT4mI3gzQTM7PC9taT48bW8+KDwvbW8+PG1pPmQ8L21pPjxtbz4mI3gyMDgxOzwvbW8+PG1vPiYjeDJDN0M7PC9tbz48bW8+JiN4QTA7PC9tbz48bW8+JiN4MjIxMjs8L21vPjxtbz4mI3hBMDs8L21vPjxtaT5lPC9taT48bW8+JiN4MjA4MTs8L21vPjxtbz4mI3gyQzdDOzwvbW8+PG1vPik8L21vPjxtbz4mI3hBMDs8L21vPjxtbz4vPC9tbz48bW8+JiN4QTA7PC9tbz48bW8+JiN4MjIxQTs8L21vPjxtaT4mI3gzQTM7PC9taT48bWk+VjwvbWk+PG1vPiYjeDJDN0M7PC9tbz48L21zdHlsZT48L21hdGg+IYMxdgAAAABJRU5ErkJggg==\&quot;,\&quot;slideId\&quot;:258,\&quot;accessibleText\&quot;:\&quot;L space equals space capital sigma left parenthesis d ₁ ⱼ space minus space e ₁ ⱼ right parenthesis space divided by space √ capital sigma V ⱼ\&quot;,\&quot;imageHeight\&quot;:19.68},{\&quot;mathml\&quot;:\&quot;&lt;math style=\\\&quot;font-family:stix;font-size:16px;\\\&quot; xmlns=\\\&quot;http://www.w3.org/1998/Math/MathML\\\&quot;&gt;&lt;mi&gt;L&lt;/mi&gt;&lt;mo&gt;&amp;#xA0;&lt;/mo&gt;&lt;mo&gt;=&lt;/mo&gt;&lt;mo&gt;&amp;#xA0;&lt;/mo&gt;&lt;mfrac&gt;&lt;mrow&gt;&lt;munder&gt;&lt;mo&gt;&amp;#x2211;&lt;/mo&gt;&lt;mrow&gt;&lt;msub&gt;&lt;mi&gt;t&lt;/mi&gt;&lt;mi&gt;j&lt;/mi&gt;&lt;/msub&gt;&lt;mo&gt;&amp;#x2208;&lt;/mo&gt;&lt;mi&gt;D&lt;/mi&gt;&lt;/mrow&gt;&lt;/munder&gt;&lt;mfenced&gt;&lt;mrow&gt;&lt;msub&gt;&lt;mi&gt;d&lt;/mi&gt;&lt;mrow&gt;&lt;mn&gt;1&lt;/mn&gt;&lt;mi&gt;j&lt;/mi&gt;&lt;/mrow&gt;&lt;/msub&gt;&lt;mo&gt;-&lt;/mo&gt;&lt;msub&gt;&lt;mi&gt;e&lt;/mi&gt;&lt;mrow&gt;&lt;mn&gt;1&lt;/mn&gt;&lt;mi&gt;j&lt;/mi&gt;&lt;/mrow&gt;&lt;/msub&gt;&lt;/mrow&gt;&lt;/mfenced&gt;&lt;/mrow&gt;&lt;msqrt&gt;&lt;munder&gt;&lt;mo&gt;&amp;#x2211;&lt;/mo&gt;&lt;mrow&gt;&lt;msub&gt;&lt;mi&gt;t&lt;/mi&gt;&lt;mi&gt;j&lt;/mi&gt;&lt;/msub&gt;&lt;mo&gt;&amp;#x2208;&lt;/mo&gt;&lt;mi&gt;D&lt;/mi&gt;&lt;/mrow&gt;&lt;/munder&gt;&lt;msub&gt;&lt;mo largeop=\\\&quot;true\\\&quot;&gt;v&lt;/mo&gt;&lt;mi&gt;j&lt;/mi&gt;&lt;/msub&gt;&lt;/msqrt&gt;&lt;/mfrac&gt;&lt;/math&gt;\&quot;,\&quot;base64Image\&quot;:\&quot;iVBORw0KGgoAAAANSUhEUgAABDoAAAInCAYAAAB5tTnGAAAACXBIWXMAAA7EAAAOxAGVKw4bAAAABGJhU0UAAAEKOepKwQAAU9JJREFUeNrs/Q/IHNXZAG4fJEiQIIqKKbUYSpBQRAIqRlQaIUjwF/xCqJiixYgiQaQECZii4iMiEZVWVJT+ggQJ8oCKFZVGCBIk+IVisaLSSEWCBAkSUFFJQgzf++3pbmzyZObszD47u/PnuuDwvtQnO7P3zJmZc++Z+4QAtMmyXpvRGttWOoUBAADgVHt67f+0RrYZpy8AAACcKs7q+EHSQKIDAAAA2mKDpIFEBwAAALTJdokDiQ4AAABoi0W9tk/yQKIDAAAA2uLSoF6HRAcAAAC0yIwEgkQHAAAAtMWCYMlZiQ4AAABokYuCV1gkOgAAAKBF7qp4kL5rMFBvQ3sh9Fet2dlrn/TaIYkOAAAAqJ8dFQ7SYzJgcYtjd36vreq1zb32Vq99GyQ6AAAAYKrikrOfh2pndSzoSCzj91wd+smjI0GiAwAAAKbiijEOzLPalg7GNM5k2RrmP8tjxukJAAAA5W0K1daaWNXRuMaEx1tBogMAAAAmKr52sTdUl+g4ENpdr2OYe3vtpyDRAQAAABMTl5ytcjWRLtXryHJbKJ/smHFaAgAAwPwG41W+wrKl4/Et+4rQjFMSAAAA5udvobpER5zRcEXH4zsbJDoAAABgYqpecrbr9TrO6bWDQaIDAAAAJibOuhileGbRFmeNdLlex/og0QEAAAATtTlUW6/j3o7Hd0+Q6AAAAICJ2hmqS3R822tLOhzbtUGiAwjhocQ1YLPwAHRK6ofGh4QHYDyWhn5Coqpkxweh26+wfBIkOqDLHgtmvQFwqj8m7g2PCg/AePwuVPsKy9YOx3ZDkOiArkrN5LhfeAA67YHEPeIB4QEYjzJLoo7S1nQ0rnGFmx+CRAd0zb2Jfv+48ADQ81TiXrFReADmLy6JeiBUl+g4FLpbr2NHkOiALknV59khPAAUfE5cKzwA87ciVLvkbFfrdaQGPTNOO2iVK3vtcE5/fy90u2YRAKeL94W8lfri/eRyIQKYvwdDta+wdLHA0vkhP4E045SD1rig1w7m9PU4Y+48IQIg5/6RN7P64OC/AzBPu0K1yY6VHYzpv4JEB7TZGSH/F7mjwS9yAKRdObhf5M0IPEOIAOZncah2ydlYr+OijsV0Jkh0QJspKAfAfN2TuJc8ITwA87chVDurI84a6dK76nl1OmacatB4qxLXujeEB4AS3kjcU1YJD8D8bQ/VJjse7FAsFwWJDmijc0N+XY6vg7ocAJRzweD+kXVf+Wpw3wFgnoPzz0N1iY5YoHN1h+K5P0h0QNvMBssCAjBeaxL3llnhAZi/K0K1S87Geh3ndySWWeukzzjFwIMoAMyRSqSvER6A+at6ydlYr2NhB+K4JUh0QFucFfKXAvyu1y4UIgDm4cLB/STrPvPl4D4EwDzlLZs4rtaFAf+aINEBbfFY4np2n/AAMAb3Je41jwoPwPzF5WCrXHI2vh5zbQdiKNEBzffrXjuecy37t/AAMCZn9NqnOfebY722VIgA5m99qHZWR1y5YHHLY7hyTlvitILGeS1xHVstPACMUaoe1CvCAzAeqcJI46rXAVBXVyWuX+8JDwAVSL1CfrnwAMzfOSG/AJ96HUDbvZu4dl0tPABU4OrEvedd4QEYj1Wh2iVnY1spzIAHTQD4L4l2gAmoesnZOGvkfGEGamRX4pp1jfAAUKFrgle/ASq3oNf2hmqTHTsH2wGYtssT16o9wgPABKjVATABcUmrH0K1yY7NwgzUwMuJ69RNwgPABNyUuBe9LDwA4/O7UG2i40ivLRdmYIp+2WvHc65R+4UHgAn6Iud+FO9TvxIegPHZHqpNdhwM6nUA0/Nw4vp0v/BM1QVCAHTM/Yl70sPCAzA+ccnZ/aHaZMerQb0OYPLOCPlLah8z0J7ocYiz+27utad67fVe+3FwHG4QHqBDLhjcf/KK+Z8hRADjEx9Aj4Rqkx0zwgxM2JrENWlWeMbqrF67vtfW9tqdvbYt9BMa/wn5rw7Fdp7QAR3zWuKauFp4AMZrS6g20fFTr60QZmCC3khck8wkGI+7QzqRkWofCx/QQasT18XXhQdg/PaEapMdn4f+qzIAVTs3MQA/KDxjE2fNfNhr3/Ta0ZL3hOeED+igMwb3obzXKs8VIoDxWpy48I6rvSXMwATcmbgOPSM8lTkz/C/5Mex+sFa4gI56JnFtvFt4AMZvfag20RHbBmEGKrY7cQ26Wngqd9mQ+0CcbbNImICOujpxfXxXeACq8WqoNtHxQ68tE2agIl5bmb6FQ+4D/xAioOPyZlEfD15fAajEJJac/SSo1wFU446gLsS0nTXkHvCEEAEd99fENfJ24QGoRlxy9qdQbbLjWWEGKpBauu9G4ZmI64dc/9cIEdBxNwVLoANMxdZQfb2OjcIMjFGsZn8s5FezP0OIJuKekK7PsUCIgI5bkLhfHXa/AqhW1UvOfttrlwozMCarEtebN4VnYl5JHIc9wgPwX28mrpWrhAegOnHJ2UOh2mTH3qD6PjAejyWuNZuEZ2K+TxyHR4UH4L/+mLhWPi48ANW6LVT/Css2YQbG4B+J64zZY5Nx5ZDr/Q1CBPBflwarUwFM1bZQfbJDcTpgPs4M+cvKfi88E/NA4jqvTgrAqX4M6hkBTM3CXvtXqL5ex/lCDYxoTeL68prwTMzuxHHYJTwAp0itFOZHQIAJWBGqX3I21uuQvQZGoT7H9MV6S8cTx+EhIQI4xX1BTSOAqdscqn+FxUUdGMXbQfX6aVs35Pp+lRABnOL6xDXzbeEBmJzdQb0OoH4OB+85T9uLiev6j8IDcJoFIX8m3GHhAZicuOTswVBtouOHXlsm1EBBlySuJx8Jz8R8lTgOs8IDkOnjxLXzEuEBmJz1ofpZHR8IM1DQzYlryQ7hmYhlQ67pdwgRQKYdiWvnzcIDMFnbQ/XJji3CDBTwdOI6slF4JuK+IdfzXwoRQKZ7EtfOp4QHYLLiO4WfhOqTHauFGhji9cQ15EbhmYh3EsfgM+EByHVj4vr5uvAATN6loV9Po8pEx2ZhBob4OnENWSQ8lYuJ72OJY/CMEAHkOjtx/TwoPADTsTFUl+TYFayWAKSdmbiGfC88E7F2yLX8JiECSPo+cQ09U3gApmNXGH+SY3+vnSO0wBBXJ64j7wpPKRf02i2hX4Mpxu67Xjsa+rM14kN4XF78oV47d86/ey5xDOK/lbCG8Yn1bn4/6KfxlbFvTuqncTnSA732Wq/dO+jTNP9Z+hrhAZiOuOTst2F8SY4jvXatsAIF3JK4lrwkPEOdEforosQkxvGC1+j4qtBlJ33Gf4JkE1QpJiziq7wflXyeigmQB4SvEV5KHMdbhAdgelaH8SU6NggnUNBDiWuJB/x8CwcDp4MZcftnr23qteWhnwiJ4vKxJ69uE2fdxenUS4dcz+8XahjZr3vtr+H0Gjjvhf6sjvMGfxf74p0h//WHvwpl7f0pcR19WHgApmtmDEmOuJa4ac5AUX4FK+/2XvsqI17/CMOnSJ9cjyMOrIbVabpcuKG0mMD4czh9ltUXvfbbxL/7Y6Iv3iCstWZ2IkCNxQTFvjB6kmNPsEICUM7biWvKKuE5xcWh/0vw3DgdHiQsinpq8O9iHYA3EvH/RsihtJtD9kpSrxV4Rrow0R9fEdpaW5U4dm8LD8D0xenNR0L5JEes8bFU+ICSvkpcV84Vnp/9odd+zIhRjN9lJT/rF+F/q9qklpWdFXYoLC4x+nJOX3quxOdYhaqZFoV0XSQAauCtUD7RsUbYgBHkFdA8LjT/FWfabcuJ0ZeDpMUo/lPgun6r8EMhl/TaZ2H+SY4Q0isg0cz7mWMHUAMbQvkkx4PCBozgrOC1iZT4nv+ekP8L4a/n8dlvF7i2/8IhgKGuG1yvsvrQGyU/65eJ/nhYqGvvu8TxWyg8ANMTXz0pu8xsXNJQ8VFgFFcHy5rmiUmGfycGPPMtEjos0fGp0xOGWj3oj3l9qGzdslRByw+Fu/Z2J47fVcIDMB3n9NrnoVySIxYuPV/ogBGtSVxfXutwXGKSY3+odjWad4Zc3592ekJSTHLk1bg5Gvqvs5T1WqJPPiPktfd68Io3QO3MhnJJjp96bYWwAfPw+8Q1ZntHY3JBSNfPGFcC4pug7hKMKs5GO5zoP5tH+Mz42srxxGdeJ+y1Z7l0gJq5N5Svy7FR2IB5uiNxjXm+g/GI09z/mYjJx2F8rwoeDemih15JhGxxmedDif7z0Yif+0wFn8lkPZ84hncID8BkxXW/yy4nu0PYgDF4OnGdubuD8XhzSPLhN2PazllDrvG7nJqQ23c+HdJ/Rqmfc2lIz+ZYJfSNsDF4HRCgFmJ9jQOhXJLjX6F8cS2ALNsT15rfdywWDw259j40xm3dOGRbm52aUPqaFdvLI3zmmaE/WyvvM18U9sa41XEEqIddoVyS44deu0jYgDFJ1QZa26E4/HbItfezMN5XSe4csr3lTk04zc1D+k2ckbF0hM9N1XWIr7JZlrQ51oXxJsEAGMGWUL4uh+J0wDi9kbje3NiRGJwbhs+sG3csdiS2dchpWTvbRrhfN6md2ZB+enDI95gd4XMfSXxeLEp8odO/UVKz5V4XHoDqxV9Kfyr5IDIjbMCYvR28kz5sELu7gm1+FvzqKNEh0VHGMwW+R9naHI8lPutTSY5GuiFxTN8WHoBqLeu1b0s+hOwMKvAD45d6fa4LSyleU8HgaZgLh2zv905LiQ6JjtOem44P+Q57S3xefBUlNasqznRTC62ZrgqTTVoDcNLNdW/JB5A4VVNdDqAKXyeuPWd34Pt/FCa/+smw+hznOS0lOiQ6TvF6ge9wZ8HPionLvFVbfuy1e53ujXbukOdpACqyo+TDR3y9xZJmQFW+S1x/2l6A79YC1+DfVrDd1BK2HzolJTokOk6xrMD+HytwvYoJxLi8aN7MkDiL42KneuMtCuofAUzcXSM8fDwobECFvg/Nfm9/Pj4bcv39qIJtnjUYlOVt8wmnpESHRMcpni+w/zsS//7XvfZUrx0O+a+8XOcUb40zE+fJ98IDMH7xF4kjJR88/hLU5QCqdThxDTqjxd97bYFr8D0VbHfYaytm8El0SHScOmg9XGD/b5jz7+LrC3eEfk2GvH/zdwkOiQ4A5uf8Xvu85EPHbkkOYAKOJq5DbfZeGD4VvooaJe8nthkHdGc4JeFntxd4Xvpq8LfxB6VYXyPW1cl7PeWL0F9O1isq7ZZ3rhwVGoDx+lsoX3x0sbABE9DFRMfSAtfhNyrY7vIh23zd6QineKNAXz3Qa18m/vs/Qz+5cblwdoZEB8AEbAnlp5CuFjZgQlJLNrbVwwWuw7dWsN1hxajvcTrCz+LspmMln5/iQDbO1nqu19aFbqwcxekkOgAqtjL0V00pc5OeETagBg+EbU50fDjke8fkz7lj3ubFIZ1Uim2Z0xF+9tsCz0xx1ahNoV9z55Lg1S/S97XjQgMwf/HVkwNBXQ6gmQ+EbU10XFjgWlzFEq8vDtnmF05FOMWmAn31r8JEifuaRAfAPMVkxe5QLsmxP6jLAUxe115dubnA9fjFMW9zWRg+m2ObUxFOMVugr64TJjJ4dQWgIk+GckmOuOzscmEDpqBrxUifDpOvz/F2gW2udSrCKd4r0G+87kUWiQ6ACsSH1bJ1OTYIGzAlXUt0vF7gmrxqjNtbV2B7cbbHmU5FOMV3BfqO133JItEBMGZxycJvQ7kkx3ZhA6bocOL61MbCfp8VuC6fN6ZtxYKmBwts7z2nIZzmaIG+A3OdmThfvhcegPIW9toHoVySY1+vnSN0wBR9n7hGtXGWwY8Frs3jSvC8Nvi8w0O297DTEE5zPEh0UJ5EB8CYbQ/qcgDNk5oevrCF3/fYhAZP9ww+65+99vGQ7V3nNITTmNHBKBYlzpdDwgNQztpQLsmh8BxQF18nrlNnt/D7TuJX4t+GfkIltuVDthVnewybQfJQr70S1PGgW4rU6Liwom3H19ducgga6dzE+XJQeACKu7TXfgjlkhwzwgbUxK7QrZkGw14jie0X8/j83/TaN4PP+VOv3ThkW28O+bw7Bn+3p6bxvCT0f0GFcSuyWlEVy8vGPrx/8Pm/bUis9MP/uSpxvuwWHoBi4k1lXyiX5IgXWVXCgSYMJla18Pt+VOHgKSa+v56TmLhvyLY2Jz7vhsHfxMTJr2oWx/iL93OhP0PmD7oRFXiqQF99cczbjLM4vm/Q85p+mH/dzGpvCw9AMa+WTHLEKXOLhQ2okTcS16wbW/h9Xy5wrX5jhM+Ns18ODf59THacmBUyO2Rb1+d83tXhf4VT6zSFPg787g+nvlZggEUVri/QV4+F+c3AOtljJ33uh6Her+7ph/lSs+heFx6A4TaF8nU5VgsbUDOpgXgbawndXfB6fXmJz4yzNk7U/jgeTn3l5/0h28n6xTjW9Tjx+svjNYpdnOmyP+M7TGuAdXGvvRT6CaH4StKOUF3NBqbjywJ9dXae2/hl6M/AOvF5sXjwBTWOiX44PD5558rLuhRA2orQXzWlTJJjo7Cd4oqMGK0RFpi41IpRv2/h970wFCtI+lWv/XrIZ13Wa3vn/Ltb5/zN96HcUrbXnJTkmK1JzGLSJ5WwmcYAa2nILqT7Vc0HqZRT9EelB0b8/PhsdvKsiH/U+PzRD4u5NUzuVSeAVomvnhwomeTYLmyn2ZIRp/OFBSbu6cS16+6Wfueiy4HHJMXDvbZszoP9naH//v7cv9+Usa1hy9k+Pkh2xGnycSr6iSU13w3TX973lwVjNY0B1iuJ/Xlet26N2Dc+Lthf46yC8wp+bnwt5sNwemHgOhb01A/L2ZjYp6d1KYB8O0smOWKx0nOE7TRvzYnTESGBqbijgwPGX4bhMy3Ktryk0PERPuudXjtrivGJCZaY4DlccH+nMcA6mtif73TrVonJxW8Knovx9YlnQn+G6MlJizMHyY37MxInxwf/e93oh6N5PrFPd+hOANkeLfmwGgfvy4Ut09wlefcKCUzFLSH9C2lb3TymBEcsQHpDYjvflfy8lwaDsmmJA4E47Xx2MDA8YzDQ/E+DBlhHdevWuapEsqNMi7M6Lqvh99UPR/dSYp9u0ZUAThd/Hfip5A10g7BlWpERq2eFBaZ2bcu7hr3W8u/++yEP6sNanOo+bMWHoq/JxF+ip13L6a+hvyrBbzL+2y01G2ClVguyhGQ7xaKX/xhTgiMmDG6v6ffUD+fn9cQ+qQUHMMeSXvu25E30BWHLlVWf4y5hgam4OnEde7cD3z8OJnaXvL7Hv/9twc8vMu1+x2AQN22p+gbn1myAdUlOXL8b/DfaKyYoPhshuXFsMDCPyzWfUePvpx/OT+p6fpXuA/A/C0Z8CF4gdLk+yIjZKmGBqTgrcS37pkNxiK8ZxtcT3x48pB8dtDjT4qPQX5Zw44gJifjAH6dTfz/4zPh//x76dQEublCM6jTAOhHX2cExOjoYxEpydMeVvfZQ6P+CH4vEHz6p38Y+/PHgv8V+vaZFz2X6YVrqdcGFug3A/zxbMslxMPRXZiHbRSH7FSArrsD05BXMPC401HiABfqhflj0fnZMaAD+57ZQfmrkamFL2hSyV6YBpuerxDXtXOHBAAv0wwZYlIjP18ID0Lck9Kvpl0lyzAjbUPsy4rZLWGCq3k5c17xWhgEW6IdNcENIF48G6LxFOQNydTnmZ3VO7Ky4AtNlOT4MsEA/bLquLpcOUFjZuhwxKaLGxHBv5cRvvdDAVD2UuL49JDwYYIF+2AB/SsTnYeEBum5DKJfkOBL61fpJWxayi5DGtlR4YKr8CoYBFuiHTWd2IkCOFaGfuCiT6NggbIW8lYihV35guq5O9M93hQcDLNAPG+CdRHyuEx6gq+La2vtDuSTHdmEr5NqQP5vDiiswfWcmrnPfCw8GWKAfNsD3ificKTxAV70aytflOEfYCvkgSBZB3X2d6KeLhIcaDbDO6LXf9NraXnu012Z77T+9dpNDhH7Y2X54diI2B502QFdtCeWSHPGCuUTYCnlySCzvFSKohdcT/fRG4WHCA6z46+ulvbam127ttT8PBlKf9trxnP34pUOEftjZfnhjIjavO22ALroi5L9WkddWC1sh1xaI7e+EiQa6ruQ1o2g72ms/9tqhXvt76BdW29xrN4Tqa9k8ndivjQ45Ex5gPVey73zh8KAfdrof3pPYr6ecNkDXLO61z0texGeErZCLCsZ2iVDRQHHK7lm9dkno/9L1wOAB7/8qbMd67e1euzP0awqN282Jbe9wyJnwACue44sGLa7MdcuQPuY1SPTDbvfDlxP7tc5pA3RJ/HV0T8mBxt5ghZCiSY4ihV0PCRUtEh8EPy1w3n88eOg6O+OaFJdhju87P9Rru0P+1OBYcO3RjM+Yj6VD9hmmXRvgssQ+3OzwoB92uh9+nNivS5w2QJdsDeWLj54vbENdOohV0cQRtMnDYfi03jKFPX81SGj8mPN534T+DI9xOZyznZhwkeRl2gOs1OpAFzg86Ied7YcLQv4PA4edMkCXxF9My9TliH+7QtiGuqvXvg2W56W7Ng0550dNSsSEx3uJz30ljGdllLcT21jl8BpgTXmAtSxn+586NOiHne6H1yfi8rZTBuiKOD37UCg3m2OTsCUt77VdoXzNASuu0DYvDTnnz5vHZ8e6ILOJz/5nmP+vaY+5DlLjAVZeHZnnHRr0w073w9SPDI85ZYAuiFPb/lVyMP6CsGWKBao2DBIcZVetOdGWCyMtk5p18dGYtvFmYhsfhvnN7FiT+OzXHF4DrCkPsP4cFBoE/fB0ryXissYpA3TBtpID8U/CeKaDt0GMQ3x9J2bN3+q1I2H+q0iILW0SE6nHEuf7E2Psi/9JbOeNeXx2fPc6VQAVA6xpDrDyEolnOzToh53uh3l1rNSXAjphwwgD8VhUc3eHW1yVJi4R+0MY/1KZB1p0bv26197vtat1s05bPeScv2GM2/ptqKYWSLQ38bmXOcwGWFMaYOUVG/zIYUE/7HQ/TK0Co+g90HrxFYlxzEDQxtd2teTcinUT/jH4Tl1LdJwb+u/qxvdy4+sUX4d+dfNjFZ0zdV+O+M+JfT82OFfGKVUXJ67GMuqva48nPvePbicGWFMaYOUVG3zaYUE/7HQ//GMiJo87XYA2OycUX+5Um1x7tiXn118H3+fHDvWpODMhVjE/PuFzpu6Jjo8S+/5mBdsbNqvjkXkc3ypei8EAaz4eytn2TQ4L+mGn++EbYTIzKQFq52+SCrVsbVhx5f6Tvs9sB/rSdaG/sse0zpk6JzouHLLv91S03S+HxGuUWSTx3+TNyqliZgoGWEX8PWS/f3+mw4J+2Nl+mKqNddj9CmizLRIKtW3LGn5uzV3K7O4W96O4ws7zNThn6pzouGVK5/tzQ7Y76q9sqQr2N7q1GGBNeICVl3x73yFBP+x0P7wpEY9ZpwrQVtcGdTnq2uJxaXIV7EcyvtPFLe1HcabChzU5b+qc6JhN7Pf+Cre7bkjMto/4uXckPvM5txcDrAkPsK4J3r8H/fB0f03E43anCtBGcfnFAxIKtW37GnpexeKOWb90f9HSfvSrkH414kSLq/Pc12urQn/2RxcdrCDZUMTFoZrVjWKh2bwaLAfdYgywJjzAui9nu2scEvTDTvfDvHvv8cF9DKB1ZiUTat1ebeA5FQs/7s/5Pn9tYR+6IAxPFr4cmv8K0jhcNiRO6yre/rCisItG/Nx3E59pKWUDrEkOsLISzHEK/QKHBP2ws/3wmkQs3nWaAG2kLkf926MNOp/i0sSvDPk+a1vWh2JRsX8kvu+XgwcM+jYlYhWTEGdXvP3vhpyfq0f83LsTn/mMw26ANcEB1o8Z29ztcKAfdrofPp2Ixd1OE6Bt1OVoRrut5udRfB3gxZB+HaFIa+q0yVSBy3eD6aBzvRnSr/VUbdh5esuIn+v1FeowwFqes82HHQ70w872wzMS975jnlOAtlkc1OWw4sp4vDGG7/hNQ/vRbxPfKcbFVPHTH7aOJWI2iYfAYUv+3l5RX7jB4TfAmsAAa2PONq93ONAPO9sPVyfi8LpTBGiTOPjaI4HQiHaooefYVWE6U0UnPWj/NOd77pbkyLRqyPk+iVoWh4bsw3ym8KaW7nvZ4TfAmsB1MOvVwWOD6xXoh93sh6lXii2BDrTKVgmExrS9DT3H7s/5Pr9qUT/KW1I01uQ4z2Um0+OJc/3HCe3DsBod85lVEh9i82bKxYfcC5wCBlgVD7CyEnm7HAr0w872wwtC/kzKA0ESFGiRWAjyJwmExrTtDT3P3gntX1b238EKG2WlXhuZndA+DFt15c55fv7Dic++3ylggFXhAOuSnO094FCgH3a2H94fpvu6KMBELA3Dp21r9WpbGniexVc2sn492NaivpT3as42l5lcZ1ecYChiUYE+d+s8t/HLRDJlv9PAAKvCAdbtQfIV9MNT7Q/5q5z90ukBtEEcfP5L4qBxrYlLsebVYVjXov70lIeG0m4Zcq5PInY3Fuhza8awnZcSn7/OqWCAVdH2Xs7Y1uFgajr6YVf74brE99/h1ADaYpukgRVXJuSxnCTA2S3qTx+H6b160VTbE+f5ZxPah9sL9LmlY9jO8sTnv+9U6IQzpjDA+jJkr/4E+mE3++HexPe/zOkBtMEGCYNGtrjmeRNX7ng/47t82KL+dGZQuXwUXyXO9WcmtA87hvS5w2Pc1juJ7VzjdGi9C0M1Sxjn+WXOtjY5FOiHneyH1yW++ztODaAN4i+LRyQNGtmaWCn/rJBdn+CJFvWpG4LlG8taFqp/XaSIfw/Zj3E+/F2d2M67TonWS72q9dQEt3elQ4F+2Ml+uDtMdyl3gEot7LWdoV+ISGtee7SB51ze+6Btmu1wi4FrafcmHrhikmgSM5cuDMOTi+NeFeVdD5qd9V6Y7KtaWa+GHXYY0A872Q9TiXbLTQPACJ6b4kB2Uu4IzZgRdKhGMXu9Bg9ddxaI2SVj3uaViW2953LRWk8UONeeD+OdBZY1W+kVhwL9sJP98P3Ed17u1ACA8j4N7Z/tsFGio5T4EHk0sZ+bJ7Qffx8Sr39WtN1XwvRf2aE68ZfT+DpbXCHr8ZC/lGPecsNx+vy6wWfEd+oXjbAP5+V8/kaHB/2wc/1wTeK7Sn4CwAjyXg14SKKj04mO64fs5yQqv18QsmvHnNzuqWjbvw79WU1Z24y//qnt0lznVdBvnxthP/JeGVzmEKEfdqofnhHya1EdG9yPAICS8opwta0WgVdXynkksY9fT2gf7i8QqzMr3P7DYXJ1QeierFcGvxQW6Fw/vC9xr3nEIQKA0WQt3dnGYni3SHSUsjexjy9NYPtnDB42J1mEdK6FiX34PvRnQ8GoPso4r7YJC3SqH/5icD/Jez1noUMEAKP5KuPm+loLv+dvO/I9xyG+55x6ZeSWCezD7WH4+9lnTmA/Vif2wfnDqM7OOadWCw10qh+m6kHd6BABwGguCd0phndmxuD9R6dApnVDkgznVbz9OJvjiyH7cNME4/FSYj/WOV0YUx/7Jqj9Al3qh6l77Q6HBwBGd3fODfY3Lf2+WVNUVzkNTvNi4uHrwwlsf3NIJzkm/QB4bsie+XSiXsl5ThlK2hbGU0gRaGY/vGBw/8i6r3w1uO8AACN6JUyv0OQ0PJXxfd90GpwmNZvi8Yq3fXHoz7TJ2/5/Qn+68aStSuzTG04ZSspKnF0pLNCZfvhG4p7iBxgAmKesAlhtni65PExvqdSmWBrSsymqfgB7P7HteL5Oc7bRE2Hyy9zSPpeG6cyUAurRD+8N0/sxAQBa78qcm+zvW/69P8z4zv9wOvzs7sQD2LFQ7bvLfw7pJMu0CzXG7747Z9+O9tpVTp/OWza4tqb6SdayxbcKHXSiH145uJdm3Ufec+gAYP7y1m3/Rcu/9+9zvvfDTon/ei2RaKjyNZ97QjrJcUtN4hPfqz6Ys48HBv+d7omvU70bTl0VaFnO334257z5t/BBJ/phvD/k1Xv6yv0DAMbj7xk32s9y/jYucfbyBPYp/vryWK8dCv3K5w9VtJ2PghU08uKfqo9xX0XbvXtIkqNus4wu77XDOfsaX71Z4PLSOc9lnAuvZ/zd1Rl/t0b4oPX9MK78tifnvvHj4L4CAIxhQJs1dfL5jL+9eJB0mEQNgqwaCH+qaKCa92rGTR0+L64bknCookjbY4ntxYe/G2saqzWJ/Z51iemcrHpHhzL+brbAIAxoXz98OdRjuXQA6OSAdu2cv1sU+rMfdk9ov77L2KeDFW3rkcRDxx87el48nIjJ0TFv68JeezuxvfgayPKax+vOxP7/2WWmU7Jm+MwdPM0tfmiqOnSjH6bqT93psAHA+Pwp42Z7fJDYOFkciMZf1S+e4kPK4Qq3tyvx8PHaYDDeJXsS8RhnkbSNob+McWq51vMa3JdOtAdcajrjnYzj/+uT/vvCXvs4nLqCkKnq0P5++FDiHvEnhwwAxitr/fa50zu3Df73P0xwv7J+9ajyl/Fz5zz0ZC1nGmc5dOFX14tD+rWVd8awjZuHxDv+stbE1SdSs4M2udx0QtY7/ycGUPGVr70n/e9fD/4eaHc/vC9xb1AAHQAqkPUe6+HBgD62Vwb/24sT3q9YxPGpwf79OEhyVF3Y8YIhg+8TtTvi9Nc4xfSa0C8q1jZPF4jBr0b43Mt67dHQfxUl77PjA2ec/XBWg+MXf7U7mtM2u+R0wu2D453qR2+P2I+AZvXD+xP3BLP9AKACZw15ADh59YgzOxKTOLNjV8G4VN0OTeH7/6HgvsV6KbF+yW9Cv6DtyeKU4KtCv85LHNi/Mvguqc+Lr8PcEaxSQntcEvorP3wxGNDEBHJMpMYZclcKD+iHAMD0Eh3/GAz+uyb+Kn+8A4mOmMBaPUhI7J3gd/t6kACJM2N+oSsCAAAwLu+HdBHORR2OTZyt8G5od6Jj25j3Ob7WEn81i68bxaWI4+yY+KrPS712b+jP8pDYAAAAoDIXDAa73w8GqPGVhLiu/HVC87M4vXV7GP6ubxteXQEAAAA6ItaPWNNrj4f+LIXPQn/mwtGK2ldCDgAAAAAAAADUUlzR42phAAAAAJokJjQuDf1ilXFd+Vgn5N+hv/LJYeEBAAAA6u6Pob+qSSyEmlrK9TWhAgAAAOrusl67sddu6rXbQ/5St5uECgAAAGiauKpJXMVkbqLjKqEBAAAAmigu2XpykiPW5zhDWAAAAICmiQmNY+HURMfbwgIAAAA0UVx1Ze5rKw8ICwAAANBEd4fTEx3XCwsAAADQRLPh1CRHfI1FfQ4AAACgkb4OpyY6dgkJAAAA0ETLwumvrTwiLAAAAEATbQynJzpWCwsAAADQRK+EU5Mcx3ttgbAAAAAATfR9ODXR8b6QAAAAAE20PJz+2soTwgIAAAA00R/D6YmONcICAAAANNFr4fT6HGcJCwAAANA0Z/Ta4XBqouNDYQEAAACa6Kpw+msrzwkLAAAA0ET3h9MTHeuEBQAAAGiit8PpiY5zhQUAAABomlif41g4NcnxqbAAAFCV/5tgu1G4ATrnuoz7wYvCAgBAVV7utTdCv/r90TD+5MaPvfb3Xnul1y4TboDOeSjj3nCzsAAAMCm/6bUHeu1QGD258UWv3ddrS4UToPPeybhP/EJYAACYtPgQeiCUT3I8HvrvYwPAgnB6fY79wgIAwLTcF8olOe4XMgBOsiqozwEAQI2sDcWTHLuEC4A5Hsu4X6wVFgAApqVMokOhUQDmem/OvSK+xrJAWAAAmJY/hGJJjj1CBcAcMaFxfM794hVhAQBgmp4JxRIdG4UKgDmyZgWuFhYAAKbp76FYosMygQDMtW3OveJLIQEAYJriErFzlwTMah8JFQAZDs65X2wWEgAApun6UGw2xxNCBdA5sf7GVSG/sOh1c+4VMemxUNgAAJimx0OxRMcqoQLolMt77dDgHvBNr12Z8TdzX1tRywkAgKn7MAxPchwO/VdcAOiO9+fcC16b898X9dqPJ/333UIGAMC0XRiKzeZ4XagAOufokHvBwyf9t68G9xQAAJiqO0KxRMfdQgXQOZ+G/FcYfxP+lwiJq6xcIlwAANTBbCiW6PiVUAF0zo1z7gW/Dv3XGNeG/620El9nuUCoAACog/iw+n0YnuT4VKgAOmt56CfFvw79GRyxZlNcbvyZ0C9WCgAAtXFNKDab42mhAgAAAOru5CJyqbZaqAAAAIC6+0cYnuQ4FiwrCwAAANTc2aHYbI43hQoAAACou1tCsUTHPUIFAAAA1F3RZWUvESoAAACg7uIygcOSHF8IEwAAAFB3l4diszmeEyoAAACg7h4IxRIda4SqtFUFY9uG9rrDDQAAQB3sDsWWlV0gVKVJdAAAAMAEndVrxwsMYv8uVCOR6AAAAIAJWldwELtJqEYi0QEAAAATtK3gIHaZUI1EogMAAAAm6KsCA9j9wjQyiQ4AAACYkGUFB7AvCtXIJDoAAABgQjYVHMCuFSo66P80TdM0TdM0TdO0sbWJeKfAjsQVWc405kWiQ9M0TdM0TdM0TatzomNBrx0rsCPvGu8i0aFpmqZpmqZpmqbVPdFxU8Ed2Wy8i0SHpmmapmmapmmaVvdExzMFd+RS410kOjRN0zRN0zRN07S6Jzr+U2AnDhrrItGhaZqmaZqmaZqm1T3RsbTgTmw31gUAAADq7u5QLNGxTqgAAACAunsjDE9yxGVlzxYqAAAAoM7OCMWWlX1PqAAAAIC6WxWKvbbykFABAAAAdfdUKJbouFyoAAAAgLr7OAxPchwSJgAAAKDufhGKzeZ4qSb7e1XoL3F7Y4NjXvRVoTa013UxAAAAJumOggPWW2qyv+8O9me2wTGX6AAAAICKzIZiy8qeW4N9veakffp9g2Mu0QEAAAAViMvK/lhgsLq3Jvv7z8H+xKVwFzY47hIdAAAAUIHrCg5WH6nBvt560v683fC4S3QAAABABR4pOFi9esr7GV+b+eqk/bmj4XGX6AAAAIAK/LPAQPVw6L/iMk0vhlPrhZzX8LhLdAAAAMCYnduQgeotc/Znt0MHAAAAzDU3gZDXHpjiPl7ea9/P2Z97HDoAAABgriLLysa2dkr7d1mvfZ2xP7906AAAAICTxZob34ViiY5VU9i/NTn7t9ehAwAAAOa6PhQvJnnDBPfr7F77a2Jf7nfoAAAAgLm2heKJjknU6IgzTO7ttYND9mWZQwcAAACcLK62EpeMLZroiH+7rqJ9uTj0EylfFtiPTx06AAAAYK5nQvEkx8nt4157PPSLk8a6HTFhsmDItuJ/P6vXlob+KzDx3/6x117qtc9Kbv9Rhw4AAAA42aYwWpKjDu1yhw8AAAD4Ra/dHvorljQ1yfGlwwgAAADd9lSv/Riam9w4uT3tcAIwx0W9tr1gWytcAADN93ZoR5IjtuscTgDm+F2J+8iMcAEAAAB1FotUS3QAAAAArbAzSHQAAAAALbEvSHQAAAAALfFTkOgAAAAAWmBJaE/BbU3TNE1rUwMAYARrPUhqmqZpmkQHAEBbbPEgqWmapmkSHQAAbfGCB0lN0zRNk+gAAGiLDzxIapqmaZpEBwBAW/zgQVLTNE3TJDoAANrg/MTD1RrhAQAAAJpkRchPdCwTHgAAAKBJ7grZSY6fem2h8AAAAABN8peQnejYLzQAAABA07wVshMdu4QGAAAAaJo4cyMr0fGC0AAAAABNsijkFyK9TXgAAACAJrk05Cc6LhUeAAAAoEnWhvxEhxVXAAAAgEbZErKTHAeEBgAAAGia2ZCd6NgtNAAAAEDTfBCyEx3bhAYAAABomm9DdqJji9AAAAAATbIk5BciXSs8AAAAQJOsDJaWBQAAAFpiY8hOcsTXWRYIDwAAANAkT4bsRMceoQEAAACaZlfITnRsFxoAAACgafaH7ETHg0IDAAAANMnCXvspZCc61gsPAAAA0CRXhPwVV5YJDwAAANAkt4XsJMeR0J/tAQAAANAYW0N2omOf0AAAAABN81bITnTsFBoAAACgaT4P2YmOrUIDAAAANE3eiisbhAYAAABokvND/oorK4QHAAAAaJJVIT/RYcUVAAAAoFHuDdlJjv1CAwAAADTNs8GKKwAAAEBL7AnZiY4XhAYAAABomkMhO9GxUWgAAACAJrko5BciXSk8AAAAQJNcG/ITHYuFBwAAAGiSu0J2kuOg0AAAAABNk7fiyl6hAQAAAJrm1ZCd6NguNAAAAEDTfB6yEx1bhAYAAABoknN67aeQnehYLTwAAABAkywL+SuuLJnyfs1ojW0rdS0AAACm4Xc5SY4jNdi3PSE/CaPVu83oWgAAAEzDg6G+K67EWR0/SBpIdAAAAEBReUvLztZk/zZIGkh0AAAAQFF7GzBQ3S5xINEBAAAARRzJGaiur9E+Luq1fZIHEh0AAACQck5ioLqsZvt6aVCvQ6IDAAAAElaF/BVXFtZwf2ckECQ6AAAAIM/mnEHqvpru74JgyVmJDgAAAMjxZKj3iitZLgpeYZHoAAAAgAy7cgapW2u+33dVPEjfNRiot6G9EPqr1uzstU967ZBEBwAAAG31ec4gdUMD9n1HhYP0mAxY3OLjfn7o12eJry691WvfBokOAAAAGi4WG/0pZ5C6ogH7H5ec/TxUO6tjQUfOhfg9V4d+8uhIkOgAAACggVYkBqmLGvIdrhjjwDyrbengeRFnssRXl+Y7y2NGFwMAAGCS1ucMUA807HtsCtXWmljV0fMjJjzeChIdAAAANMRMzgB1T8O+R3ztYm+oLtFxILS7Xscw94b8V5wkOgAAAKiN2ZwB6rMN/C5xydkqVxPpUr2OLLeF8smOGV0MAACASdoX2lWX4rZQ7SssWzp+vpR9RWhGFwMAAGCS8op4/q7B3+lvobpER5zRcEXHz5nZINEBAABADS1JDFAvavD3qnrJ2a7X6zin1w4GiQ4AAABqZnVigNp0cdbFKMUzi7Y4a6TL9TrWB4kOAAAAamZLzuB0X0u+3+ZQbb2Oezt+/uwJEh0AAADUyAs5g9PZFn3HnaG6RMe3of/6T1etDRIdAAAA1MjunMHpX1r0HZeGfkKiqmTHB6Hbr7B8EiQ6AAAAqIm8gpK3tex7/i5U+wrL1g6fQxuCRAcAAAA1sDgxOL20hd+3zJKoo7Q1HT2P4go3PwSJDgAAAKZsRWJwen4Lv29cEvVAqC7RcSh0t17HjiDRAQAAwJRtyBmYHmjxd47JnSqXnO1qvY5UUdIZXQ0AAIBJ2JozMN3Z8u/9YKj2FZZHO3guxRlAeQmkGV0NAACASchbdnVbB777rlBtsmNlB8+nfwWJDgAAAKZoX87AdHMHvnssxFrlkrOxXsdFHTufZoJEBwAAAFOysNeO5AxMV3UkBhtCtbM64qyRLtXryKvTMaO7AQAAULVloVtLy+bZHqpNdjzYoVguChIdAAAATMn6nEHpD6FbsxDi4PzzUF2iIxboXN2heO4PEh0AAABMwZaQvzxq11wRql1yNtbrOL8jsdwRJDoAAACYgrxXNnZ0NB5VLzkb63Us7EAcsxJoM7obAAAAVdubMyDf0uGY7AnVJju6MOBfEyQ6AAAAmIK8FVfWdDgmcTnYKpecja/HXNuBGEp0AAAAMFGLE4PxpR2PzfpQ7ayOg4P4t9nKOW2JLgcAAEDVA9G8gfg5whNmQ/X1OgAAAIAx2RjyVwehn+w5ENTrAAAAgEZ4IZhpMMyqUO2Ss7GtFGYAAACYv505A+9nheYUVS85G2eNnC/MAAAAMD/7cwbedwnNKRaE/GV4x9V2DrYDAAAAjGBhYtC9QnhOE1eh+SFUm+zYLMwAAAAwmhWJAfdC4cn0u1BtouNIry0XZgAAAChvfc5g+6DQJG0P1SY7YvzV6wAAAICSZnIG2ruFJikuOZtX22Rc7dWgXgdQ3TVsZgptyZj2f0kF+7bSaQEA0A6zOYPsF4RmqPh6yZFQbbJjRpiBCiyp+NpV9TLaK11vAQDIsy/ngW+j0BSypeJBwU9BUVhg/Bb32geh/5rcJBIccTufhPHVH1o+uH/9NKb9O+S+BwDQHnkzElYLTWF7Kh4gfB7608wBqhBXk/pLGP8Mtfj6XawDtbjCfY9Fs2PS49Fe+7bk/sUVtJ7stYucAgAA7bEk8QC4RHgKiw/xVf8q+pYwAxWLCY+9YTwz0dZMYf9jQrhooeh97nMAAO20OuQvb0o560P1U783CDNQsUVh/rPUZqf8HXaG4TM5ljnUAADtlFdfYq/QjOTVUG2iw8M5MAnxVY6yr4Gc3O6a8v5vGLJ/9zrEAADt9UKo569xTTWJJWc/Cep1ANXbOI/r1LQTCSsT+xav0ZbtBgBosd3BEnvjFovijWsVgLz2rDADEzBqvY5pL0++MrFvVlYBAGi5vAKa64VmXraG6ut1eFgHJpEwGCVxu2fK+31vzn4dCP1VWgAAaKnFiYdUdSDmr+olZ+P785cKM1DDa1ksaD3NV+xmc/Zri8MJANBuKxIPqX7xmr+YSDoUqk12xGnli4QaqNDKEa9Pa6e0v7H+xoFQv+QLAAATsCHkF2pjPG4L1b/Csk2YgYr9a4Rr0+4p7evaoLYRAEBn5dWR2Ck0Y7UtVJ/sWCPMQIVGTdpO4/W6ncErmQAAnZX3MLhVaMYqvgY0yq+hZet1nC/UQEXi6yCjLJ396IT3c0nILp4qgQ8A0BH7gtU8JmVFqH7J2b2DwQhAFTaPcF2KdYomWfMpb7WVuxw+AID2iw+eR3IeCFcKT20GCXX/9RTojlj4+OAI16UNE9zHD0L2jDdFSAEAOmBZ4qF0sfBUZndQrwNorq0jXJN2TWjflgdFSAEAOm19zgPhQaGp1OIw2i+iZdoPQdE9oBrLRrwuLZnAvr2Qs+3lDhsAQDdsCfl1HqjW+lD9rI4PhBmoyKsjXJOerHif4ms132Zsd4/DBQDQHdtzHka3C81U4z/OtkWYgQqsHOF6dCBUWyx5Q1CEFACg8/YaHE9VfOD/JFSf7Fgt1EAF9tXsepRV/yiu+LLIoQIA6I4jBsZTd2no19OoMtGxWZiBCtwb6lOU9Pyce9o2hwkAoDsWJx5EFbGcrI2huiRHHFQsEGKgAnG51m9LXpN+GiQlxi2v5tRShwkAoDtW5jwUxl/EFgrPxO0K409y7B8MRACq8sII16aZCvYj6zUaBZkBADombxbBPqGZijjDpuwvo6kWE1bXCitQsUvD9IuSrszZzgaHBwCgW/J+hZsVmqlZHcaX6PCAD0zK7hGuUWvHuP2spW5j7SOzEwEAOmZnzsPnVqGZqpkw/yTHjqAuBzA560e4Tr06pm3nFSF91mEBAOie/cFMgDqKCYpRlmw80fYESykCk79uHQzli5IuGcO2817DXO6wAAB0y8LEw+cK4Zm6uOrNkVA+yRFrfFhhAJiGmRGuWVvGsN2sQs57HQ4AgO5ZkXjw9E5zPbw1wqBhjbABU3JR6M/SKHPNirPX5vOa3dKcbW5wOAAAumdDzkPnQaGp9fFJtQeFDZiyV0e4dq2ax/aeDNkz2yyrDQDQQVtzHjh3C83ULQ3ll5mNx03xUWDaVobyiY6dI24rzj48FBTUBgBgYDbngfMFoZmq+Cvk56H81O/zhQ6oiVGKKS8bYTtrcj5riUMAAOBB9OS2UWimajaUX7VA8VigTjaH8omOUWZhZL0mY1YiAEBHxem+eSt6rBaeqbl3hMGBxBRQN3FmWtnX7+JMtjKv3y0JipACAHCSZYmHzSXCMxWxGF/Z5WR3CBtQU8+G8onbMon2TRn/PtbrsGoYAEBHrc95yDwiNFMR62scKDkg+FevLRI6oKaWh/KJjl0lPj/r9cu/CDsAQHfN5Dxk7hWaqdhVcjDwQ69dJGxAzX0QqilKem3Ov10u5AAA3ZVX8HJWaCZuywgDgTXCBjTA+hGubw8W+NwdQaIeAIA59uY8YM4IzUStDdnF9FLNMQKaIhYXLfta3rCipLEGx6GgMDMAAHPkFb1cLzQTE6dnl12VYGcotyoBwLQ9GsrP6liV+LwNIft1vnOEGgCgu5aE+b0bzfzFXyT3lnzwPxjU5QCaec8pO3PtrcTnZdX9eEGYAQC6bXXi4dKyfJOxo+RDfxwkrBI2oCPXvNiWZnzOkpCdNFkhxAAA3ZZX/HK/0EzEXaGa4nwAdbVyhOve5ozPeTLj7z4RXgAAXgj59R+oVnw16EjJh/2/BHU5gObbV/La98mca1/8/7OKkG4SWgAAduc8VG4VmkqdH/qrCZR50N8dJDmAdhhlKe3VJ/37lRn/PSaOFwstAAAHcx4oLc1Xrb+F8sVHPcADbbEojLbSVOoaOiusAAAsTjxQrhSeysz3l0yANnh2hGvhkpBfhHS5kAIAsDLxMGn2QHUxL7u04oywAS20PJRPdMTZhpsy/vd/CScAAGHwwJj3mgTjF5NHB4K6HAAn7Cx5TdwXsguZet0SAID/yltxZa/QjF1MVuwu+UAfl/g1swZos7Wh/KyOrCKk5wglAABR3i9p24Vm7J4c4cHd++ZA28UkcNmZbnPbDmEEAOCE/TkPjVuEZqziL5Zl63JsEDagI7aG+SU6VgghAADRwmCFj0lYGsovoWhGDdAlF/XaD2G0JMc+4QMA4IQViQfHZcIzFjGZ9MEID+3eNQe6ZkcYLdGxWegAADhhQ8ivDbFQeMZie1CXA6CIa8NoRUgVbAYA4Gd570SbBjweo6wksFbYgA77V8lr5t+EDABgsm6r+f7lrbgy69DN26Wh/PvmM8IGdNyGktfNNUIGADA5cQruT4MBb13ty3lw3OrwzcuiRGzz2u7QX2IRoMvia5NFizfvd90EAJicBScNdO+q8cPkkWBZ0yq8GsolOQ4G75gDnPBCwWvno0IFADA5j570ILajpvu4LPHwuMIhHNmmUL4uh6V8Af4nzoT8ach1M/73JUIFADAZ1855QIt1Guo4tXZ94gHSiiujiQmiI6FckmOjsJ3iiuAdfCCEXUOunTuFCABgMmJthgMZD2RX1HBft4T81ygob3HOsU+17cJW6Lw8X1igc4atWmWFKgCACdmW80C2qYb7uj3kF8WkvJ2hXJIj1nA5R9hO89acOB0REuikOBPyUM718/OgCCkAwETE6fU/NSh5sDdnX19wKEt7NJRLcsTB+3JhyzR3Sd69QgKdlZeQ98ofAMAExF/mDyUGtnGpvLr9+nTEA+RYpBJceW2DsGVakRGrZ4UFOiurKOmhYDYcAMBEzBYY3K6q0f4uDlYAGYcloZ/EKpPkMGMmX1Z9jruEBTpt95xrwoyQAABU77aCA9wHa7TPKxP7ucQhLWRBxgP4sLY7eK885YNQ7wQhMHlxpteJWR37g9kcAACVuyikX1k5ue2p0X5vDPm1Iyjm2VAuyRFXs1ksbMm+lPUKkBVXgK2D64OlpgEAJqDsSht1Gei+kLN/Cj8Wc1vJ4+6VoOE2heyVaQAiMzkAACbg3hEGu7+ryb7nJWhmHdahloTis3i8U17cvoy47RIWAACAyVga8lctaUIhyv0G5CNZlDMgV5djflbnxM6KKwAAABMQB617Q/kkR2wHarD/CxP7t97hTSpblyMmRdSYGO4t5yMAAMD0PJgY2P7/Qv3rdKxI7NsyhzfXhlAuyRFn/CwXtqHiOfdTTgyXCg8AAEC1rgjpV1b+vwUGwPdO+TusT+zbQoc404pQ/lWlDcJWyFuJGHrlBwAAoEJx0JWqz/BBr/0/BQbAO6b8PWZy9mu/Q5xpYcivaZLXtgtbIdeG/NkcVlwBAACo2JOJge0PoT8F/5zEwO1Eiyt2TPOX6tmc/drpEGd6NZSvy2EZxGI+CJJFAAAAU5H65Tm2TSf97b8KDIanWbshb1bKVof5NFtCuSTHwdBffpbhngz1fsULAACg1T5JDMhijYGTZ2jMhHrX6cirNbHRYT5FrMfyUyiX6FgtbIVcWyC2vxMmGui6MNqKXMPa0V77MfRnBP69117qtc29dkNQy6ZtLh4c33i8D4f+664XCgsAUIVYjDJrmn18ZWXuyhBrCjy07p7S91iS2KeVDvPP4so4n5cciMwIWyEXFYztEqGigc7otbN67ZLBveCBXvuiouTHiXas197utTuDgtJNF58nvs44xl/12gXCAwBUIf5q9mg49ZforF+d44Pmt0MeTL8N0/kVbnWo77K3dTrOe0oONPYGv6oWTXIUKex6SKhokUW99mmB8/7jXlvXa2dnXJNiDai1vfZQ6CfKj+d8xveD+9TZwt5IryTOj+eFBwCoUqyvEV9l+Vvib4oMlFdNYd/zak4cdFh/tjWULz56vrANdWlIr1o0N3EEbfLwkHM+zvpYVOLzfhX6CY0fcz7vm9Cf4UGzHE2cI98JDwBQtfgLW2pljQcLDOb+MoX9fsHAMin+YlqmLkf82xXCNtRdYfgsJyuu0GabhpzzoyYlYsLjvcTnxhkCi4S/MVKJjqPCAwBM24pQz1+tdxtY5orvRh8K5WZzbBK2pDj7aVcoX3PAiiu0zUtDzvnz5vHZsS7IbOKz/xnUd2iKNxLH8W3hAQCmLdbpOFJgQDfpuhgHc/ZjS8ePV5yhU2RZ4JPbC07z3HN/Q+gnOMquWlOH5ZehCqlZFx+NaRtvJrbxYTCzowliEdtvQvZrK5cIDwBQB28VGNCtn+D+LA6WRc2zreRA/BODhp/FOMQZTJsG5/yRMP9VJMSWNomJ1GOJ8/2JMfbF/yS284ZD0ZhkR5yhE+uvHB0cN0kOAKA2NoZ6zQpIvU6zrMPHacMIA/FYVHN3h1ssthuXiP0hjH+pzAMtOrd+3Wvv99rVLoedtnrIOX/DGLf121BNLRAAAPivS2s2qMsb0Mdf4Bd29BgtD+OZgaCNr+1qybkV6yb8Y/CdupboOLfXbg795TDj6xRf99rhkJ7VMJ9W9+WI/5zY92ODc2WcUnVx4msRlp4FAGBeDoT61OnIWzZ1X0ePzTmh+HKn2uTasy05v/46+D4/dqhPxZkJsWDi8QmfM3VPdHyU2Pc3K9jesFkdj7g1AwAwH7MFHtI3TmhfduZsf7ajx+Zvkgq1bG1YceX+jvWv60J/ZY9pnTN1TnRcOGTf76lou18OidcZAQAARnRXgYf0Vye0L3mzF7Z28LhskVCobWt6vZhNc77P3S3uR/GVt+drcM7UOdFxy5TO9+eGbPcmt2cAAEZ1UYGH9G9Dvyp/1QOSvFoUGzp2TK4N6nLUtR2ZQF+o0iMZ3+nilvajOFPhw5qcN3VOdKRm9e2vcLvrhsRsu9szAADzcbDAg/oVFe/DssS2V3ToWMTlF4vUTdGm05paLyYWd3wt4/t80dJ+9KuQfjXiRIur89zXa6tCdwseH5xSsuHi0J3VjQAAmILtBQYED1a8D+sT2+7SAKRIzRRteu3VBp5TsfDj/pzv89cW9qELwvBk4cuh20tWn3DZkDitq3j7w4rCLnKIAAAY1YYCA7zdFe9DXk2Kgx06Dupy1L892qDzKS5N/MqQ77O2ZX3ozPC/JXOzWpzlcY1L/s82JWIVkxBVL/P63ZDzc7VDVCuxQOxvBteNeC2Mifn/BPVUAICaWhKK1SY4p8J92D6lBEtdqMvRjHZbzc+j+DrAi6HY62ipdm5D+1GqwOW7Df5eVXkzpF/rqdqw8/QWh2jiYrLw0l5b02u39tqfBwmNT0P+DJxfChsAUFf7Cgx+Vla4/b0523yhA7FfHNTlsOLKeLwxhu/4TUP70W8T3ynGZUHgZPHX+WOJmD08gX0YtuTv7Q7TxD1X8nrxhZABAHU2U+CBZnOF28+bzbCx5XGPg689EgiNaIcaeo5dlfN9/tCyQfunIX9WmCTH6VYNOd+vnsA+HBqyD3c7TBMXa2ItGrSloT+r5otgdRwAoKFWFhjo7apo24tDd9/R3iqB0Ji2t6Hn2P053+dXLepHd4T8mhznubxnejxxrv84oX0YVqPjYYepFlJFa28WHgCgzuKvOMNqRPwQqlkBJZVkWdLimMeCbj9JIDSmNfWXy3dC+6eb/ztMb1ZCU6VeG5md0D4MW3XlToepFs5MHKMLhAcAqLvdYTp1OjaG/AKobRWnBB8KkgdNalsaeJ7FVzay6jBsa1Ffyns1Z1sgz9k1SDAsKtDnbnWoamFZzvH5VGgAgCaYKfDgubWC7b4Q2vWqQJHB578kDhrXmrgUa14dhnUt6k9PheylUa0Eke+WIef6JGJ3Y4E+t8ahqoWbc47P80IDADTBygIPnh9UsN2dYbrTpydtm6SBFVcm5LGcJMDZLepPH3fo2jEu2xPn+WcT2ofbC/S5pQ5VLfw5tD9hCgC0WJE6HbGdP+bt7s/ZzkwLY7xBwqCR7WBo5sod72d8lw9b1J/yagfc6HKe9FXiXH9mQvuwY0ifO+ww1cZ7OcfobKEBAJpiZ4FB321jTq7kbWd9y2K7PBRLJGn1a7saeL6dFbKLPT7Roj51Q8b3izVJznApz7Us1ON1kX8P2Y93HKpaWJBzHflIaACAJtlQYNA3ziJ/K0K7XhVIJXRiEmm/1sj2aAPPuXWh/bMdsmpNvOsynnRv4pp7LExm5tKFBe4z9ztUtXB9zvF5WmgAgCZZUuABdP8Yt7c+sZ2FDgeM7LkpDmQn5Y7QjBlBh2oUs9fD9Gcu3VkgZpfowrXwUM7xuUloAICm2R8mV5hxJlSfTIEu+jS0f7bDRomOUuIrPUcT+7l5Qvvx9yHx+qfuWxtZxyq+ynKm0AAATbO9wIP7vWPa1mzO5+90GGBkea8GPCTR0elEx/VD9vOyCezDBSG75sPJ7R5duBZiYuxYxvF5X2gAgCbaUODB/a0xbWtfzudvdRhgZLfk9KurW/Y9vbpSziOJffx6Qvtwf4FYmS1QD9fkHKPHhQYAaKIlBR7cfwjjqaGRtwrJRocBRpa1dGcbl+u8RaKjlL2JfXxpAtuPMwS+DIqQNsV9Ybor8wAAjN0k6nQsSXz2SocARvZVRp96rYXf87cd+Z7jsCikXxm5ZQL7cHsYXujabI76eC20v6AxANAxL4ThiY4N89zG6sRnL3YIYCSXhO7MkjozY/D+o1Mg07oh1/PzKt5+nM3xxZB9sJJHvfyYcYx2CwsA0GQrw/BEx6vz3MaWnM89KPwwsrtz+tVvWvp9P8r4rqucBqd5MXEt/3AC29885H6ywyGqleU5x+lhoQEAmizW3zgy5ME0JiTmM4U1b9bIXuGHkb0Spldochqeyvi+bzoNTpOaTVF1ccmLQ/bsgBPtP712tkNUK3krGl0vNABA0+0Ow2d1XFHB528XehjZ96Fbv5bn/fJ8mVPhZ0uHXMerngHzfmLb8Xz9jUNUO1kJ01if4wyhAQCabiYMT3Q8OI/PP5jzmVuEHkZyZU6f+n3Lv/eHGd/5H06Hn92duIZXPXj985B7yGqHp5YOZRyrXcICALTByjA80THqg89iD74wdnnLQf6i5d/790E9gZTXEtfbKl/zuWfI/eMWh6aW8goaPyA0AEAbFKnTcWTwd2WtCNUtWwtd9feM/vRZzt/e2GsvT2Cf4myBx0L/F+Jveu2hirbzUc71ZF3Hz4kY/1R9jPsq2u7dQ+4dv9ddaytvGeCrhQYAaIsidTpGmYGxIYw3cQJdFwe0xzL61PMZf3vxIOlwzwT264mMffpTBdu5POS/mtHlZUuvG3L9vrKCbT6W2F5Mutyou9bayxnH7XBQnwMAaJEtYXii48kRPndrzmftE3IY64B27Zy/WxT6sx92T2i/vguTW0L6kcR16o8dPS8eTsTk6Ji3dWGvvZ3Y3oHQLx5LvX2ZcezeEBYAoE2WhOGJjlEGTDtzPmtWyGEkf8roT8dDP7FxsjgQjb+qXzyh/Tocsn8drsquxLXqtcFgvEv2JOLx3hi3E5cj/TqxrThQPk83rb1f5hy/TUIDALTN/jD+Oh37cj5rq3DDSN7I6E+H5vzNtsH//ocJ7lfWqht/rnB75/baxyG9nGmc5XBBB86Ji4dcu98ZwzZuHhLvr3rtVt2zMW4Jk3vFCQBgqraH4bM6Vpb4vFSR0w3CDSP5PmTPnLhg0F4Z/G8vTni/FvTaU4P9izNJ/jz436p0wZDB94naHa/32p29dk2vndnCc+LpAjH41Qife1mvPRr6r6LkfXac3RFX6ThL12z8/f6wsAAAbbQhDE90lJmJsSzxOSuEG0o7q0Afje39lg7os8SZHbsKxqXqdmgK3/8PBfct1kuJ9Ut+E04vNhmT0leFfp2XzaGfLDs05PPi6zB3hOqTWVTj3xnH9BVhAQDaaEmBh+X9JT7vd4nPseIKVJPo+Mdg8N81cTnb4x1IdMQE1upBQmLvBL/b14OBcJwZ8wtdsdHOyznGG4UGAGirYXU6/m+QECniwZD/yyIwmvdDugjnog7HJs5WeLfliY5tY97n+FpLXJUlvm4UlyKOs2Piqz4v9dq9oT/LQ2KjXdblnAvLhAYAaKsidTo2FPys2TC+1VuAvgsGg93vBwPUg4O+dp3Q/OzKwbXsaGj/qytQ1nMZ5+6XwgIAtNmGAg/z2wt+1ic5//4FYQYmINaPWNNrj4f+LIXPQn/mwtGK2ldCTgN8lHFf3iYsAECbLQnjqdMRBxh5K654DxgAJu/snPvyaqEBANquSIG7JUM+46LEv/VABe0VV/S4WhiglrLqc3wTTl+JBwCgdWbC/Ot0XBHmX8wUqK84MLo09ItVPhD6dULikpVx5ZPDwgO1lFXM9jlhAQC6YGUYnuiYHfIZt+X8uyPCC431x9Bf1SQWQk0t5fqaUEEtfZXRX68UFgCgCxaG/PoaJycsFiY+Y2vOv9srvNBYl/Xajb12U6/dHvKXut0kVFA7l2b01Q+FBQDokt1h+KyOlYl//1YYbSYI0Byx6PCPGf38KqGBiVoW+jMzUrU2Hs7oq7cKHQDQJTNheKJjJvHvPx/h3wDN89mcPn44KGwIkxJXUXk3nLoq2rKCffXfwgcAdM3KMDzRsTvn38ZXWn7K+TfrhRZaIyY0js3p428LC0zMcxn32dcz/u7qjL9bI3wAQNfMp07HpYl/s0xooTWy+voDwgIT831GHzyU8XezYXgyBACgE0at0/G7xN8vFFZojbsz+vj1wgITczgMn9ExNyEZV165QOgAgK6aCaPV6Xg052/3Cym0ytxfieNrLOpzwOS8k3Gv/fVJ/z3+uPDxSf8tzgC5XNgAgC5bEYYnOrKWi3015293Cim0ytdz+vguIYGJyqq9cSKRceXgHn3if/968PcAAJ23PwxPdiyZ828+yfm7rcIJrbEso48/Iiwwcbf32tEh9+lYJPhXQgUA0Lc9DE90bJjzb/JWXNkonNAaGzP6+Gphgam4JPRXYPki9JMesXZHfGVlW+jP7AAA4CQbwvBEx/aT/v6cUK5wKdBMr8zp38d7bYGwAAAAdbckDE90nFxk9IrE3y0WTmiNuctavi8kAABAU5Sp03FXzn8/KIzQGssz+vgTwgIAADRFmTodT4biq7MAzfTHjD6+RlgAAICm2BCK1+l4Kwyv4wE022vh9PocZwkLAADQFEvC8ETHgdAvRHgg579vEUZohTNCf0WHk/v3h8ICAAA0TZE6Hf+fkL+0rGUnoR2uyujfzwkLAADQNEXqdPy/if+2TAihFe7P6N/rhOX/3979glYVhnEAfpEFg0FhorYhw2ASVFxwYLhBxLAiGBYMhkXDqjgQWbBZFkQMCwMRi4KCYRjEYBGcWMQhIkMGJnHzT/A7zHG3s7PduxXv9+154C07Sz94w/1xzvcBAAC5uRydi453m/x9Kc1eEUIRnjTs+AGxAAAAuamKiqXYuujY7LOV9+KDIlTnc/yq7fecWAAAgFzNRue3OppmRnRQhOGG/b4nFgAAIFcTsbOiY1J0UITrDft9SSwAAECuzsXOio4rooMiPGvY7yNiAQAActXNOR1NMyQ6yF5fbDyfY14sAABA7nZyTocbVyB/rXA+BwAAUKCJ2F7JsSAyKMKthv0eEQsAAJC7odhe0TErMijCi9puV5+x9IkFAAAowXx0X3RMiQuyVxUaf2q7/UAsAABAKaaj+6JjTFyQvZGG3T4vFgAAoBRXo/uiw48hyN/d2l5/EgkAAFCSwei+6BgQF2RvobbX4yIBAABK0805Hctigp5Xnb9xJjY/WHQ4Nt6k5MpoAACgODejc9HxQUzQ006mWfy3r9/SnG74n/pnK87dAQAAitSKzkXHRzFBT3tZ29mHtef70nwP10UDAAC7QPUDaCm2Ljp+hlfcoZct13b2Ue35jTXPvqQ5JDIAAKBkr6LzWx1DYoKeNVfb19aaZ8ejXYRUt6wcExcAAFC629G56BgVE/SsC7V9PZpmT5qRaN+0Un3OclBUAADAbnA2ti45+kUEPe9Empk0X2PlDY4fad6kuRMrh5UCAADsKlsVHQAAAABZeRzNJcdT0QAAAAC5GYvmomNSNAAAAEBuBqO56BgTDQAAAJCj1dsZ1s4psQAAAAA5mo6NRcd+sQAAAAA5Go31JceCSAAAAIBcHY71RcdzkQAAAAA5+xztomNKHAAAAEDOqnJjtegYFwcAAACQs5FoFx0tcQAAAAA5q87p+B0rRceAOAAAAIDcvU2zmKZPFAAAAEDuJtO8FgMAAABQgotp7osBAAAAKEF/mmtiAAAAAEoxIAIAAP63v6zW3KYaNmXwAAACXXRFWHRNYXRoTUwAPG1hdGggeG1sbnM9Imh0dHA6Ly93d3cudzMub3JnLzE5OTgvTWF0aC9NYXRoTUwiPjxtc3R5bGUgbWF0aHNpemU9IjE2cHgiPjxtaT5MPC9taT48bW8+JiN4QTA7PC9tbz48bW8+PTwvbW8+PG1vPiYjeEEwOzwvbW8+PG1mcmFjPjxtcm93PjxtdW5kZXI+PG1vPiYjeDIyMTE7PC9tbz48bXJvdz48bXN1Yj48bWk+dDwvbWk+PG1pPmo8L21pPjwvbXN1Yj48bW8+JiN4MjIwODs8L21vPjxtaT5EPC9taT48L21yb3c+PC9tdW5kZXI+PG1mZW5jZWQ+PG1yb3c+PG1zdWI+PG1pPmQ8L21pPjxtcm93Pjxtbj4xPC9tbj48bWk+ajwvbWk+PC9tcm93PjwvbXN1Yj48bW8+LTwvbW8+PG1zdWI+PG1pPmU8L21pPjxtcm93Pjxtbj4xPC9tbj48bWk+ajwvbWk+PC9tcm93PjwvbXN1Yj48L21yb3c+PC9tZmVuY2VkPjwvbXJvdz48bXNxcnQ+PG11bmRlcj48bW8+JiN4MjIxMTs8L21vPjxtcm93Pjxtc3ViPjxtaT50PC9taT48bWk+ajwvbWk+PC9tc3ViPjxtbz4mI3gyMjA4OzwvbW8+PG1pPkQ8L21pPjwvbXJvdz48L211bmRlcj48bXN1Yj48bW8gbGFyZ2VvcD0idHJ1ZSI+djwvbW8+PG1pPmo8L21pPjwvbXN1Yj48L21zcXJ0PjwvbWZyYWM+PC9tc3R5bGU+PC9tYXRoPpDIGskAAAAASUVORK5CYII=\&quot;,\&quot;slideId\&quot;:258,\&quot;accessibleText\&quot;:\&quot;L space equals space fraction numerator sum for t subscript j element of D of open parentheses d subscript 1 j end subscript minus e subscript 1 j end subscript close parentheses over denominator square root of sum for t subscript j element of D of large v subscript j end root end fraction\&quot;,\&quot;imageHeight\&quot;:88.16},{\&quot;mathml\&quot;:\&quot;&lt;math style=\\\&quot;font-family:stix;font-size:16px;\\\&quot; xmlns=\\\&quot;http://www.w3.org/1998/Math/MathML\\\&quot;&gt;&lt;mover&gt;&lt;mi&gt;H&lt;/mi&gt;&lt;mo&gt;&amp;#x23DE;&lt;/mo&gt;&lt;/mover&gt;&lt;mfenced&gt;&lt;mi&gt;t&lt;/mi&gt;&lt;/mfenced&gt;&lt;mo&gt;=&lt;/mo&gt;&lt;munder&gt;&lt;mo&gt;&amp;#x2211;&lt;/mo&gt;&lt;mrow&gt;&lt;msub&gt;&lt;mi&gt;t&lt;/mi&gt;&lt;mi&gt;j&lt;/mi&gt;&lt;/msub&gt;&lt;mo&gt;&amp;#x2264;&lt;/mo&gt;&lt;mi&gt;t&lt;/mi&gt;&lt;/mrow&gt;&lt;/munder&gt;&lt;mfrac&gt;&lt;msub&gt;&lt;mi&gt;d&lt;/mi&gt;&lt;mi&gt;j&lt;/mi&gt;&lt;/msub&gt;&lt;msub&gt;&lt;mi&gt;n&lt;/mi&gt;&lt;mi&gt;j&lt;/mi&gt;&lt;/msub&gt;&lt;/mfrac&gt;&lt;/math&gt;\&quot;,\&quot;base64Image\&quot;:\&quot;iVBORw0KGgoAAAANSUhEUgAAAoIAAAFCCAYAAABl8Lw8AAAACXBIWXMAAA7EAAAOxAGVKw4bAAAABGJhU0UAAACu8UoccQAAK5hJREFUeNrt3Q+IF9e1wPGDiIiIVIxYscEgIiIighUjVqwgIiKySMWIDSopIiGIiGBCKiaIVPKCT1KxiIiIyMJWrBhJBBEREQkJqRhJxCAiIiILRoyYxQh9c/qbff7258zcO7vz58693w9cXl923bl75v5mzs7ce64IAABAuMYTAgAAAL8Ni9rsqK2O2qdROxW1p1H7T9SWEh4AAIBmGxW1xVHrito7UTscJ3y3ovYiTvqS2jhCBwAA0EybDIleVrtO+AAAAJprRdS+jdqjqPXlTAQPED4AAAB/jGhLDk2JYBfhAgAA8M8sQxKor5NHEyYAAAD/jDQkgl8RIgAAAD+NMiSCnxAiAAAAPy02JIIrCBEAAICf3pXs+YHDCREAAICfejISwcuEBwAAwF9PMhLB3YQHAADAT3Mle34g+wsDAAB46sOMJPB51IYRIgAAAD9dzEgEzxMeAAAAP+luIS8yEsGdhAgAAMBPqyR7fuA8QgQAAOCnIxlJ4FPCAwAA4K/7GYlgN+EBAADw03TJfi28kRABAAD4aZshEZxEiAAAAPx0LiMJvEl4AAAA/DRcWsWi0xLBzwgRAACAn7ok+7XwSkIEAADgtvFRWxO1o1G7ELXHUeuT1tO+J9LaNUSLQo/t+HcHJHtbueGEFgAAwD269+/GOMnL2hWkvT2M2qy2n3Er43svEGIAAAC3jIza9qg9SEjevona1qjNjhNFpeVh9rd9z52ojYjaVEPSuINQAwAAuGO9JBd//ipqCwz/tn0+4DtR22xIBOcQbgAAgPpNjtqlhGTtWZzQ2fo0/ncno3Y6Iwl8RMgBAADq97a09vvtTNb0yeCsnD9rYvxvdQFJVtkYtpUDAACoka7YPZySqN2Nk7rByFog0t/WEX4AAIB6jIvaZUlf+TtlCD/7rEUiOJFTAAAAUD1Nwr5PSdB0TuBQF3GYEsEbnAIAAIB6ksA7GUnamgKOcc6QCO7nNAAAAFRLdwe5VUGC9siQCK7gVAAAAFRntLSKQaclZ9eluO3e+oRt5QAAAJxxxpCczSjoOKMk+2ngeU4FAABAdXYakrOdBR5rueFY2zkdAAAA1VhkSMxuSrGvat8xHG82pwQAAKB8Y6N2z5CYLS/4mMczjtXLKQEAAKjGYUMSeLGEY97MON4JTgkAAED5Foh5d485BR9zguF4azktAAAA5bsm1a/eNc0PHMdpAQAAKNc6MT8NXFTCcbNK1HzLaQEAACjfTUMSeK2EY2r9wOcZx/yE0wIAAFCuLjE/DXy3hOOaXgsv4dQAAACU65IhIdOndmNKOO6VjGM+i9owTg0AAEB5por5aeDpEo4723DMU5waAACAcu2ySATXlXDc41L9q2gAAAC0+daQkL2Q1m4jRZoc/9ys407n1AAAAJTHVMy5rBIuRwzHvM2pAQAAKNdqi0TwSMHH1Cd9pqeBhzk1AAAA5dov1c8PPGtxzC5ODQAAQLlOWSRlRdbyW2VxPH1aOIJTAwAAUC7TbiJF7vWrC04eWBzvEqcFAACgfE8tErOiijqflJeForOOt4vTAgAAUL7nFolgEd6Nf9Y3UbtuON5CTgsAAED5TKt3i0gEF8UJpzbTbiI228rtjFqPMI8QAFADLX3xEa2x7Y8M4QFMr2m1TRzCz58RtUfxz/kgassNxzpj+Hkb4++7zKkDANTlssXNk+Zm+4jhO8A1i5itGuTPnhm1hx2J2zbDsbZn/Lyl8fdoYvk6pw4AUBd9KvgzSRWJoAdOWMTs9CB+rs7z643/vSaD/U8Vuw3HWpzy8+bLy4UtKzltAIC6bSCpIhH0wCbLuM3J8TP1qV//3MMXMnDxxxXDcYYn/DydV9j/enmvAzHTfZKPxYmpvlo/Lq2t+gAAgTlKYkUi2HATxG7ByP2oTTH8rFlRuyrZu5I8kXylaha0JYHdDsRrqrx83d0Zn/EMJwAIy+io/UByRSIYyB80msRpjb/pHYnRO1G7mPD9WxOOZSpXszdOBsdEbUfU+uL/fiFqIx2IVU9G3w8ylAAgPDohnvmCJIJNNknMT+rytk0px3oxiJ91LmqjHIlVX0Y/HzOUACBMH5FgkQg23OqC4qsLRJZmHOdxzp+nc/FcqheYlQj2MYwAIEw6wZ2SMiSCTbfWkOiYmtYANNUctH0NrQsxNjsYo9MZfT7LELLDyhoAPvqd8IqYRLD5tAD0xZwx1e9fZPnzdU7hI8PP01W4kx2Nz7SU/j+OvwYDLQD5gGAB8NRfSk5izos/O3z8I3469GXUvpOXNedIBN2gJVt2S+splyY5fXHTJ3VahFrrD24eZMKmOYC+8n0S/0z9v19Ia3HI5AbERvvfHcdC+3+avMaOrgLqX1aug4g9AgH46HiJSYwmS7/1OHavRW2JtHaX+DxqP5EIAv7Y1/FhPEJIAHhIS8r8KOU+FRweSCz191wWJ9e/kAgCzbUx5QO5ldAA8NDvC0xcktr7AcZUn4T+TYb+lJBEEKhYl+FDuYYQAfDQVil3rtuSQOOqCeHnJIJAM6xL+BDeTfhvGwkVAM/oa82rJSaC98Tv+YIm70XtVxJBwF17Ej6At6S1bcz1hK99Kq/uMQgATaYlZcpcDRvSfMEkfx5EMkgiCJRMl5x/I8kVt2fF36PLrJ8mfM+3UZtDCAF4lqyU+Yr4/cDjm/cVPIkgUAKtD/i2tPYDtN13cK1kF6dcH/9cAGi6f5WYCOoTsd8HHt9uEkGgWLq5sy7Z14Uce6VV+PFUnOg9lFZxyWdivxXN/pTj7Lb8933x8Z7Ex9dEUQs4akmBfXESujxq4zl1ABxUdkmZ0OcL/kZamxWQCKJMOn1Nd17pivMX/QNEp7yt9OGXmxm1LVHriROtIi9Qxw3HPlzw8fSVs+53uEvst7wBgLLpU7vBLG6wbfrUMeT5gm+RCKIAI+KcaIW0FrzuixO+G1F7kTKmJjX1l9V5evq0726JF6ZDln3ZX2IfHsX9WMD4BlCz7VLufMH3Ao/vZRJBDNGBnJ+52038JXUxxrmSL0bPpfWEMQ/ds7Cv5H7pYpQuxjmAGn1Z4jVOiy2/EXBsu4REEEMzUlpTObRNldYUudsZ4+lok365cdKa61f2ht76F9nMQfZR371fqqiPbBANoA5TpZw9dPvb1xL2K+LvSARRsFkZ42l1U34JfQp4r8QLz01pvX5dWFB/58c/72aJfda5hGsZ3wBq8KeS/9j9W8Cx3UAiiIKNyBhPjVikuliSa/ZlNV0woqty9QmivuLVR6Mr4p+lBaH10WnVxZ+HxccdEyecy+NMXMvS6IITXdWsq3de5PxdtzHGAdQgT8mTwbQVgcZVX+n9TCKIAk1PGUs3mtB5fbL2TMzz+XTO4IfxhWNEw0/YsPj33hxfaB9bXDC3MM4BVExLnpT5pkZ3NHkj0NgeJxFEgVanjKWDrnd8gqSXgtGnZlpiZZWEMZdEE0NdmfxI2MAdgDvelHJLyoQ6X7CLRBAF2pcylla53vGLkl7Xb3KgJ1NfLe+QVmHqpNfhFKQGULW/SrmviHcHGNPXMhJsEkHklbaIdYzLnd6U0GGtuk6B5ZaJklxCp4fQAKjB+ZKTwT8GGNN/kwiiAPpEPWntwTWXO60Zam9Hh78RnnYlSXrcu5iwAKiYbg9XZkkZvSf8LrCYfkQiiAIslnxb5zrh44SsdSznMtWehKQZAKq2Qcp9Knhewpov2EUiiALsTBlHzu4vPEoGzn/TeW8TOY9GJzpOMK/QAdThaMnJ4F8DiuVoEkEU4AtJXnDrbIWVLR2dXcY5tL5gtG8hc46QAKjpWvRjiYngr4HdF+6QCGIItBzd84QxdMXlTl9v62g35zCXRR0negohAVCD30u5JWV0vuBrgcTyOIkghmBBymdor6sdni0Di0RP5hzmdrYthjsJB4CalF1SRucLjgwgju+TCGIItknDdu1pX/RwiPM3KHOkIUvDAXjvcsnJYAgJ0QoSQQzBSUnejc3ZRVfft3V0FucPABpNy72UWVJGXz//IYAYkghisJ4mjJ+LhAUAUJW3pNyngrrRwG89j+EfO9obDCtYmJ3ymdlFaAAAVeqW8ucLAhhoc8rnhU0nAACV+k3U7gnzBYEq9Ujy/MBhhAYAULUlUm5JmVD3IwbS9ApPzwEADim7pIw+dXyNMAMyLeUz8iGhAQDURUtWXC05GfxSwtqPGEiyPuXzMZ/QAADqNDVqP5ecDG4nzAjciYTPxTNhfiAAwAF/KjkR/EVapTOAUN1N+FycJiwAAFcclfLrCzJfECGalPKZ2EpoUKUxUVtJGF4xlrgA/6UlZe6UnAz+U5gviPCsSfk8zCU0qMqq+K9xrVc0hXAMcDr+QJ6J/2oDQqavb38R6gsCRUp62v6MsKAK42TgBtcXpPUEDC9tb4vP46itJSQI3PslJ4Jau/BNwoyAfJ/wOegJ5Zd/UvIFpb0tcaxvT2qOvcbjYVt/dMUSr2SSLesYD/rX20jCgoBdLvn6+KO0XkUDITyQSfoMbA4lAEek9cpN5528KOFi8jRqZ6W1b+aMQfbtbgn9uh21YzXGfU9Hfw7wWTSa3ZE4X4/a64QFgfqttKaTlJkMfk6YEYBVKeN/eojBGBbfbLdF7eYQLh76iHWLFDvXbVTUVkftyhD6dTr+GaNq/svjQke/9vE5tPZ6xx8GmhguICwI1FtS/pucDYQZnjuQMO7vEhaREZL/1cPzOAEs266c/dJkYZ4DMdXEuHPF36cMtdwmdiSDfcKqYoTrnyUngj+H+mQEwbiWMO4PE5aWVTkuFvpaeWmFfctTQsGFJ0bzZOBrTQba0JPB+x3xZBEJQlRFSZnvhPmC8NOYlDG/jNC0LMlxodhVcd9OWfbrpANxXCyvLnw5xfAaMn1K0dsR1zWEBQHSKT2/lpwM/p0ww0NJD7weCdvK/b9lYv/qteoVnGcs+7aw5hguktaCmfY+fSWseC2KPu3tXOS0grAgQH+T8ucLbibM8MzhhHHO4s02ay0vDntr6Ntji37drzl++jr4SULSPIGhVajN8moR0DmEBQEqu6TMT1GbSZjhkfvCbiKZDlpeHKpeiDHVsl91zsGbLK/OCdQnVwsZVqXollf3TJ1IWBAYLSnTW3IyeDVqowk1PDAzYXx/S1jy/3X5qIZ+vWN5weqqKW66M8ithP58zJAqNeadf9npK3gKdCM0f5byXxGz0A2u0znk+mQva65fUgWSdYTuJb2B2hSY7q6hbyfFbhVzXfPwzvBXxgA6T1JrOJb9NHRFQtz381FGgA5XkAwyFxcu0lXA7bV670h6+aPOesnfE76BllteDKrOnjW7f2rRr0s1xW1HSlI6I9BxpAWg++dzVjHR/HRC/JfycUZg9I/gf0v58wVfI9RwTFJx6KQqHfP548Zsn+XFoOp5WIss+7WzhpjNkuSnqKE+ldKkvX0nmCommU9NOAf3478SgZC8KeWXlNH5gky/gEueJIzT3oTv6xZKuhldt7gIXKuhX3vEzQUsmvTckOS9lscFOoYOycDV0nUct78d4iONAG2X8l8R7ybMcMgzMT8RnJnwsGA8oRtoguUF4JMa+vatRb8e19CvtG3v9nAD+m87VuGxp6WcC0oCIEQXhfmCCMe5hPE5pe3rOm2i/UGXPkGk3FgC2/qBVc+9mmjZr6oXsOg8uD5J3ns5xJqB7ybEYo0DFwPKAiBEWlLmgbAfMcKQNPevP9HThwFXZeCbqvmELFm3xQdfH79WvQWLbdmYqhewHEvpx4kAx862lFhU/Xp8nSNjA3DBW1L+U8GvCTMcsV6SH860t7PSeoiDFDa7dtQxsdKmbIy2SRX2aUZGP0LbtDptgVEdT+JGSOuJbGdfbgt7SCJMRytIBt8nzHCEThE6EF/zNSnUh1f6SlhLKzFNyGCuuLnn5DBJngTa2W5U3K+0p6dPA0o4xsZ/Xbk0l1SdTunPJj7mCJCu7v2ugmRwGaEGmu1Dyw/7tIr7tdiyX1WWapkibhXaroPOr7gjbs0l7Zc2leAWH3MESldL/lxyIridMAPNZrPC7HYN/frU8iK03JE+rfd8nOheoza1JvX1bF1PRrMS9S4+6gjU5hKTwPNCXUGg0Wy3lTtYQ99s6ho+r/AipMfJ2tx9iqdjRGst7RD7je3P1NzftNWSl/i4I2DnS0gC9c3Abwgt0Gxdlh/4qp+m2JaNOVthn1Zl9KPXw+RPi8Z+Y/mHQp72ccl97xF3pjcArtCSMj8V+Dn+JWp/IKxA8x20+MBrIjCi4n7Zlo3ZWmGfTmX046RHY0KX1z+U8l4llf1HRdac1z185BGwZQV+jjcQTsAPtyw+8Bdr6Jdt2ZgZFfVHXws/z+jHXo/GhG1x8cG2ss9Z1lPuO3zkEbiPCvgMHxfmBQJemGr5od9Rcb+GGZKuOvayXWnoy5qAxk3WXMH9DvRvkuFcUU8KIdME7ochJIGXpbVwDIAHNll+8Kvek2+JZb+q3Mv2M0NfFgYyZmZJM/YfzZrX+LEn58L2c+JDOyUokm4N98sgzsNP8QMEAJ6wef1axyIImxIlVT+Fu2boy4hAxswWyZ5L6srrotsZ/fyGRJBEEPL5IM7DCsIG+MN21w5XmyYdYyuK1QjDE6a+gMZN1oKZiw7187Rh7IwkESQRDNiGQZyDvxI2wC8LG35juOrQDfcefzz8t+1yqK/HAniyQSKIwdBXu3nLyOgfeSwOATzzccNvDLsrjJWplM2ZQMaM6Y+HRQ71da+hr7s8OB8kgshLiz//mDP2urDkNUIH+Oerht8Yqkw6TE+XegIZM1n1+fRJ4TCH+rrecM58qPtIIoi8unPG/deovUnYAP+MEfeKNSvb7e6qTjrOGPpzNJBxc6FBN+rV4v/rfBJB5PHeIOK+mbABflpjeRGYWXG/bLe7q/qmcFfc24e5aqaC2lsd6+8KMS82GsalAIHQPxrylos5Ttic8R9aEK1SR8XNsjGfiZt/pfYZ+rMvgAuRaWuqmQ3rrzbqoSEEOr/vXs4b0r+FotEkgjSvE8EHFh3qrmGw37QMVpU38GEW/XkngAvRXsf+aDBZbHHelnF/QQDO57wZ/Ry13xE2EkGav4ngdMsOrat4oE+07Nftivs1yqJP6wO4EH3l2B8NRYynVdxf4Ln3B3Ezomg0iSDN80Rwq2WHJlU80N+27FfV8/HGWvTpbc8vQvqK6EXDEuHRDv6xA1RJ51z/mvNG9BFhIxGk+Z8InrXozK0aBrptWYOuivtlU3jb90RwleH3f72hieBG7i/wlL75yVs0+kuhaDSJIM37RNC08rPOVbC9Fv3Sp1JV7+lrU6LD90TwgLjzqt6WzSv9EOZ2Ijy6feLVnDcgnTfOvEAgAMvEzadusy37VcdetjaLDnxPBLMW8Rx2tM8jLM7bbi4J8NDxnEngr/EfvAACsE/snrqNqrhf2y0vWDtriNmMwBPBCdLMBRcjhSeCCM9fJP/rqL8SNiAc1y0uCldq6Nc5ywvWvBr6ZjPXzOdVw2sMfzSMdbTfzBFEaHReYN6i0f8rzAsEgjHB8sJQ9esy23mLj2qK23AJ+8lS1mumbx3uN6uGERItGv1jziTwIkkgEJa1lheHxRX3y3beYp216kz7Hx/weNxkFR//xOF+25T9oY4gfPEvyb845LeEDQiLTXkW3Uqt6v1XbeYt1v305qGhb4c8HTPTpLmFZ23K/rCzCHwwmKLRjH0gQI8tLg5naujXNcsL18QaY2eqvXjU0zGzKeN31tf5Lr9WWmoxppq+1/ASCae+1iku4Yn+KBSNBmBhruUFYmvF/bKdt3i95vgdM/Svx9Nx05PxO19wvO8rxLw6fljDzw+JYNj01e49YV4gAAsfWl4kZlXcrzWW/dpfc/y2GPr3hafj5om4Vconj9WGc/bQg/NDIhiu4XFSlyeGd4R5gUCwbC4YvTX064Q0Yz7LckP/7ns4ZkxPkec73v/1ASQWJILh+p+c8dOyMrMJGxDuX46mVa91rcp9YNEvnYtW9ys803ZlfR6Om20Zv+8zcf+16seGc7aPRJBEsKF056e88wI3EDYg7IuGi6tyZ1j266wjcfze0M8Rno2bsw2/KZvmda4mESQRbCBd4PRTztgdJWxA2A5aXiwmVdyvLeLmApY0h8St+otl0qd9WUW+32vA73Ba3F2FTiJIIjgYum3i1znj9kPUfkPogLDdsrhY3HLwRt3fZjgSx1WGfq7xaMwsHsI5GSOtxTNLa/4d7mT0/zaXBTTQUWFeIICcplpeMA5W3C/TE6f26vcu/TWe1ee9Ho2brPl1ptW2/Qn+nBr7r+PrhUPjHRgq2yk+7a2LsAHY5OgFw/aV1jHH4tn0eXO2LmX8nicy/t0H8ffscfwPoKVcGtAgM6P2s1A0GsAgnLG4YOiTk9EV9+sTy4uZa69bs0qS9HoyZkyrzNMWFfWX2NFFNXUvnMl6ja+1EYdxaUBD6LX5B6FoNIBB0JInNq9fr9XQN5t5i9peb1hMJ3kwbpZJ/kVFM+MESxPIWQ78Dnsy+n+YSwMa5J85k0CdTkPRaAD/tVncXI23MMdFzUVHxO8FIzszfr/HCd+vq2/vx1/f5sjvkPUKfz6XBjTEVsk/L3AZYQPQz1T3rr+drrhfXzU8EZwjftfrykqiLiYkgTfFrXqP+tq3T9x5+g0MxpvSWvWbJwncTNgG+H1CjFYQFoTCtkZf1aVj9uS8sE13NL5Xxf1VzoP1TLJ3UJkWJ1ur5eXOMFqOZawj/V+Q0f+NXBrQAPpq955QNHqo3k+I02uEBSHQifI2cwPb2zsl90knPB+W/K85tB7dSAdjvDKjz02u2zV+EOdIF8lMceh3SCt9c09YJIJm+FIoGl2Ez+XVuoqA1+ZF7bgMvnL/OWmtCB1fYJ/mSuspYO8Q+nUvvrlryRmXVsJdT+nvnoaPoTzn5lF8jqUB52ULlwg0wG6haHRROkvuXCUk8NH2OIF7JsVu56QrQPVpXN7t3TRZ64naFUmfpzWUpqtStaCxlsU5VHPsuzIS16YanmMs3RV3dn3pNyulr7rLCE8D4Tqdv/ZrzmviBsKW6M2EWP2dsMBHZ8Wt/T3fler2Hn3iQPzTFr40eULyexax15XTYx3s+/6U/q7iUgHHvRG1n3JeA/9B2FIlzQ/8C2EBULTZYre6tolPJs7GybY+2X0atcvSeu3t6gKeMXE/O8/FBYYpHDc8vmZQNLo4XyfEbAlhAVCGtEUw8whNpXYlnANNDKcQGjju70LR6CL9TpJfsbNiGEApxklr3mLnRecSoanMeEl+GvguoYHj/iwUjS5aUiHuHwgLgDKllZNZSWgqkfRU9ixhgePekPwVFT4ibEZJezOfJywA6khGdLXqaEJTqqQC0rqieRyhgcNGpyQszAscmrS90lkxDKB0oyS5ht0BQlPqzfROR7y1/M0sQgPH5Z0XqEkjc9zMPk+J31uEBkAVdGFC0qseVquV44SwlyiaZ4NQNLoMWtEgrQ7jVMIDoCqL5NUt/nQxyQRCU6ikmpXvEBY47s04saNodPE+z4ghr9QBVGpNwoXoKhejwiyW1i4z7fHdTljgON03/U7OJPAoYbPyB0l/GsiKYQC12JxwQeomLEOm29o96ojrNsKCBvin5J8X+BvCZuVrkmkALtqUcFHaQ1gGbbK0iunyOhhN877kLxr9BmGz8j+GWL5HiADUaa3wGrMIr0ftvgxcHUydRjTB7yX9tSVFo4fmDxax/RNhAlA3ndPW+TpzK2HJlQTek4FPS+YQFjSAbgX3o1A0ugy/s4ztG4QKgAumRe1mxwVqB2ExmiEDXwfr1n3jCQsaQBeHXc6ZBLKozD4JtFl400uoALhECyAf67hQfUpYUmkpnvYnqR8TEjTI34Si0WWYKfa7slwlXABctKYjwdHVxCMIywBvy8t6jHfjpBBoii7JNy9Qv/dNwmb0l6j9JJTfAeCBCXECqBerJ0Ll+3bDovZ9HJuDwn7NaBb9LPdKvqeBzBnOpjurnM8ZU1YMA2gEXUjCtmiv0m35FhAGNIzO7/t3zmTlH4QtkRbg3hAngHlXXfc3tuYDAACVOZwzUflOeOLdT+Ogr8f16ahuF5d3K76kRmwBAEAlNgwiUdFFDxcDbrqqWkvA/FxA0tfZ7jEkAQBAFfQVZBFPsGjFtfMMSwAAUDbdD9i2nAmtuvZ3hiYAACjbv0i6nGysGAYAAKV6n4TL2Tad4QkAAMryB2FeoKtNzwtb9QEAgFJoWZJ7JFzOth8YogAAoCzdJFtOt38yRAEAQBmYF+h+280wBQAARWNeYDPanxmqhdM9tFdFbW/UTkXtieTfuWVGnKRfjP/986g9i9qVqO2M2jjCDABw1W+FeYGsGPbfiKgtjtrGqB2Jk7a+hBhfyfEzZ0btC4vz9jBq8zgFAADX6ArUyyRYjWi9DFdr46PWFbVdUeuJ2t0ccd5h+bnZE7UXOX7uo6hN4NQAAFzyNxKsxrSrDFcrq6Xcp64To/bVIH/2J5weAIAr9InJryRYjWlHGbJW9BXscWk9CTwbtcc5YnzL8LP1VfDDIZzDG5weAIALdIJ8L8lVo9r7DNtBmxYnhaYYf2pIMB+1fe/tqL0rrSeESp8kXjf8/D5OBQCgbjq/6d8kVo1rXQzdIdHFIs8NMV6Q8m/nysAni7sleYeXeSSCAADXHSapYsVwoJ5I/sU4+jSx/3Xw06ityPj5wwzn8AmnAABQpw0kVI1sD4Q9hodKk7SsVb5HEv6Nrj7uX3GsTwTnWxzDVEYGAIBazBaKRje1nWf4DpnptW3nq3d9ldxfWkmLQy+0OMZEwzHucxoAAHUYGbUvo3aH1sjG1nJDtysjQdO5g51PXI+2fX255TGWi/nJLgAAACp2MSNB6+n43nfavrY1xzHeExaLAAAAOGWUZM8PfLvte2fJy63njuc8znEZWp1CAAAAFGxVRnKmCeLYtoTxprws/jwy53FMdQQ/41QAAABUK6tk0qWE79MyMdNyHmOUmBf9rOBUAAAAVOtWRnLWPwewS5JfFdvqMiSBSQtSAAAAUKKphgRtirTqBfYXje4e5HE+E0oAAQAAOGVTRnJ2Lf6ek/Kyzt+4QR7npiER3M6pAAAAqNbJjORM6zOuafv/lw7yGKZC0tpmcioAAACqo1u+Pc1IzrQAdG/8vw8O4Tgbha3lAAAAnLJQsrd7OxH/b929ZfQQjtNtSASPcSoAAACq9XFGcna37X8vG+JxHhsSwTWcCgAAgGpdFvPcvZNDPMZcw89vL1gNAACACoyW7G3l+mv7TR7icT4wHOMrTgUAAEC1Von5aeCnBRznguEYuzkVAAAA1Toi5qeBE4Z4DN0pxPTUcRGnAgAAoFp3DAnagQKOsdJwjGfSKmEDAACAikwT82vh6QUcZ7/hGD2cCgAAgGq9a0jQLhZ0nBuG42ziVAAAAFTrlCFB21jAMWy2lXudUwEAAJJo2ZIJhKFwOievLyM506+NLOA46wxJ4C1OBQAA6DQlaoektdp0IeEo3GJDgnaioOOYtpX7jFMBAAD66eKEozKw3AiJYPH2GBK0roKO82CIx3mH8w8AgP9mSGv1aFKyQCJQvK8ku3bg8AKOMVrMNQqzjtP/1FL3KB7JKQMAwD+zo3bGkDCQCBZrjFRTzmWF4TgXMv6tzg3tFVYVAwAcpXPYrkRtPqEYlHlROyfmFaWXpRmLRZo0HtYYYr6uoONsMxxnZ8q/0yeJN4QagwAAR+mKy/5XaySC+ejTvUsWCaB+zwLGQymOZsRd52aOLeg4poUiS1P+3dn467el9fQSAACnHIpvVE8JhbUl0npiZkoALzYoAWzqeHgg5ReRVt8YzvWIjFjqtnOzHIiVvqI+Fp9b7dNxoZwRAARtR9uNrJtwGK20SAj6E5D5jIfSTTech60FHuuZ4Vid+wsflOJfTw/F1Kg9TOj3/aiN56MNAOHZKmyNZWt11K57nAA2dTxsMZyPKQUe64XhWDvi75spA6cLfOJIrHoy+n6QjzgAhOXjhJvBZMLyivVRu2mRAF6QZs+vbOp4OJ1xTr4v+FiPLcZBWSuWi5C188pjPuoAEAadrH4y4UZwm9D8P33Ft1la24XZJIDzGA+1nafnGeem6CdxJ3MmgV9IMfULq0gE+/jYA4D/FkXtTsqN4BDh+e9k//eidtfiJn++4QmgD+NhieEcLSr4eEtzJIHHHEsCVdbT07N8/AHAX1rkuEeq2YKriXSXB60Rd9/iBn/OgwTQl/GwN6P/Za14PmSI2xNxd27ltKg9kuTXwtO4TAKAX3R+1xEx741qamM9jpEW+t1hGSNNAOcyHrweD7bWSmsxiK4i7osTKd1NRhfbuF4nUBO+7jhR1r6fJgkEAD+dHuIN/z/x0wMf6c16pyQ/HUma5zWX8eD1eAAAIAjzUm7wbwfy+4+T1urYpxZJj86ZmsN4AAAAvtiRcuN/3fPfW3dO0PlkpoLA/QngbMYDAADwzTkJq2zMpKjtl+wSI/3tTEAJYKjjAQCAYA1PSYgOe/i76sKIQ5YJoM6dm8V48Ho8AAAQvLSaa6s8+h1131ldGWvaCizkBDCk8QAAAGJ7Em76mjCN8eT3m2eZAOpCkWUMB+/HAwAAaHMl4cb/rWe/40Jp1XczJYP6SnRf1CYyHrweDwAAIDJKkp+WfeLp7ztfWvX/SAgZD2jRfZlnSGvHmN3SKiqte2mvJDQA4L9VKYnQcs9/b50DeDJHQjiJ8YAG072yZ0ZtRdTWxWNaE74bkj5tYhJhAwD/HUhJfoYH8vvrIpLjYp5DqDHZH8DNMfTxENJ5zWqUCgKAQNxIuAlcCDAOU6RVVib0hJDx4KeR0to/W9vUqK2Jk720cX6UkAGA/yak3AR2BhwT3Tljn5jrDOrXPxO/dtpgPIRlVsb4Xk14AMB/a1JuAvMJjYyX1tZzpr2HfUoIGQ9hGZExrscTHgDw3/GEG8AzwjLA2Kjtitpji4RQ52FNZjygIaanjOUbhAYAwnA/4SZwkrAk0rlVH0TtoSEh1DmGBxuaEDIewrI6ZQwfJDQA4L9pKTeBzYQmk75O2xa1exYJ4aEGJYSMh/DsE7YSBIBgbUq5CcwgNFa0CO+7UbvjSULIeAhP2k47bCUIAAHoSbgBPCQsg0oI10ftZsMTQsZDWIZLcqmka4QGAMLwJOEmcJywDInOubpukRAedjAhZDyEZXHK+NxPaADAf3NTbgJrCU0hdBuvrywTwimMB9RgZ8o5Z39hAAjAtpSbwERCUyh96nLZIiE8Iq3dHhgPqMoXKWNxBKEBgDBvAjdTvnd51E5U0Ceda7cnar1ReyR+7WYxPyXmSQnhOMYDKvisJe2cc4XQAEC4N4Gk2mGT46Ts3Qr69UlCnz7wLPZzonbakBAuZDygZAtSxt5eQgMA/luYchPo6vg+LaCsKwgvVtSvpJ07Hnh6DnRHB32q9sKBRNDV8YDypE0FWEFoAMB/H0jya8nRHd93Vlr77Fa1uvWZhLe9mRZxPtSREC5kPKBkJyV5i8ThhAYA/Jf0arK343sOx//97Qr7lbTLwb5Azsnr0irb8byGRNDV8YDyPE045zzpBYBAJNWL0ydv4+PWX1j4SMX90qcRn8b9exongaE9odBVuhMYDyjRbEl+LbyL0ACA/0ZJ9kKF9tWDlJFgPDAe/LM55RwvJjQAwI1fmxZCHkuoGA+MBy8lbSWoUxKGERoACMOVjJu+TiIfTYgYD4wHb/UmnOfzhAUAwqHzvnTyv84N65NWiZZuqX6RAhgPqNa0lIT/Q0IDAADgt/UpieB8QgMAAOC3E5K8Qpz5gQAAZ+hNqegnFEvEbnWsC41XsijL3YTxdpqwAADqSvhmSmsrM52jpPPSvpfWrhZF7yhCIojQTUoZb1sJDQCgKluidkFaCxNeSPZqVRJBoDhrUsbbXEIDAKjKrKgtj9pKaU1cv1LRUwoSQYTuqIS3lzcAwHG6hVzSvqfzCj6O7prQ15C2gGGBEnyf8DnrISwAgLrdFFYxAmUaJ8lPnzcTGgBAnTThe95xczpLWIBCrUpJBKcTGgBAnWYKuxwAZTuQ8Dm7S1gAAHXblHCDWkxYgEJdS/icHSYsAIC6dXfcnPQ1MfMDgeKMkeTXwssIDQCgbg87bk7nCQlQqKT5gY/4gwsAULfpCTeojwkLUKjDCZ+zA4QFAFC3zcLrKqBs94XdRAAADurpuDnplnPDCQtQmKRV+d8SFgCAC5503KCuEBLAmk6t0Cd7WXP9diUkgusIHQCgbrMTblCfEBbASFcBX2j73NyR9MLQnbv2fE/4AAAu2JKQCK4gLIBRUnHoUwnfN5/PGADAVSfl1fmBowgLYPQkIcHrTfi+botkEQCAyumcpmfCBHZgMJ6J+Ylg5yIRXTk8ntABAFwwT6hrBgzWuYTPz5S2r4+M2vW2r+kTxDmEDQDgih0JN7JVhAWwkjT3rz/R01XEV9v++8P4+wEAcMbZhBvZWMICWFsftT5J3kO4v+nn7HVCBQBwic4PfN5xw7pBWIDcpklrSsXtOCnUuYP6Sli3lGPnEACAkxbKq08ujhAWAAAA/+1MSARXExYAAAD/Ja14nEhYAAAA/DZcXp0feIewAAAA+G+JMD8QAAAgSHsSEsEuwgIAAOC/Sx1JoL4mHk5YAAAA/KYJ34uORLCHsAAAAPivS159LbyMsAAAAPjvcEcSeJeQAAAAhOFBRyK4nZAAAAA0n87/myfpCz86t5XTpHAkYQMAAGi2OVHrjRO8R5K82X3na+HNhA0AAKD5rnQkeSc7vj46ak/bvn6RkAEAAPihryMRPNXx9V1tX7sftQmEDAAAwA83OhLBJW1fm9GWKOoq4WmECwAAwB/LOxLBKVEbJq26gf0rhfV18XhCBQAA4J/ZUeuO2kNpPQF8FrVrUftMWotJAGDQ/g8u2ou9QRNAAQAAAW10RVh0TWF0aE1MADxtYXRoIHhtbG5zPSJodHRwOi8vd3d3LnczLm9yZy8xOTk4L01hdGgvTWF0aE1MIj48bXN0eWxlIG1hdGhzaXplPSIxNnB4Ij48bW92ZXI+PG1pPkg8L21pPjxtbz4mI3gyM0RFOzwvbW8+PC9tb3Zlcj48bWZlbmNlZD48bWk+dDwvbWk+PC9tZmVuY2VkPjxtbz49PC9tbz48bXVuZGVyPjxtbz4mI3gyMjExOzwvbW8+PG1yb3c+PG1zdWI+PG1pPnQ8L21pPjxtaT5qPC9taT48L21zdWI+PG1vPiYjeDIyNjQ7PC9tbz48bWk+dDwvbWk+PC9tcm93PjwvbXVuZGVyPjxtZnJhYz48bXN1Yj48bWk+ZDwvbWk+PG1pPmo8L21pPjwvbXN1Yj48bXN1Yj48bWk+bjwvbWk+PG1pPmo8L21pPjwvbXN1Yj48L21mcmFjPjwvbXN0eWxlPjwvbWF0aD6Rc9rAAAAAAElFTkSuQmCC\&quot;,\&quot;slideId\&quot;:259,\&quot;accessibleText\&quot;:\&quot;H with overbrace on top open parentheses t close parentheses equals sum for t subscript j less or equal than t of d subscript j over n subscript j\&quot;,\&quot;imageHeight\&quot;:51.52},{\&quot;mathml\&quot;:\&quot;&lt;math style=\\\&quot;font-family:stix;font-size:16px;\\\&quot; xmlns=\\\&quot;http://www.w3.org/1998/Math/MathML\\\&quot;&gt;&lt;msub&gt;&lt;mover&gt;&lt;mi&gt;H&lt;/mi&gt;&lt;mo&gt;&amp;#x23DE;&lt;/mo&gt;&lt;/mover&gt;&lt;mrow&gt;&lt;mi&gt;e&lt;/mi&gt;&lt;mi&gt;n&lt;/mi&gt;&lt;mi&gt;s&lt;/mi&gt;&lt;mi&gt;e&lt;/mi&gt;&lt;mi&gt;m&lt;/mi&gt;&lt;mi&gt;b&lt;/mi&gt;&lt;mi&gt;l&lt;/mi&gt;&lt;mi&gt;e&lt;/mi&gt;&lt;/mrow&gt;&lt;/msub&gt;&lt;mfenced&gt;&lt;mrow&gt;&lt;mi&gt;t&lt;/mi&gt;&lt;mo&gt;|&lt;/mo&gt;&lt;mi&gt;x&lt;/mi&gt;&lt;/mrow&gt;&lt;/mfenced&gt;&lt;mo&gt;=&lt;/mo&gt;&lt;mfrac&gt;&lt;mn&gt;1&lt;/mn&gt;&lt;mi&gt;B&lt;/mi&gt;&lt;/mfrac&gt;&lt;mstyle displaystyle=\\\&quot;false\\\&quot;&gt;&lt;munderover&gt;&lt;mo&gt;&amp;#x2211;&lt;/mo&gt;&lt;mrow&gt;&lt;mi&gt;b&lt;/mi&gt;&lt;mo&gt;=&lt;/mo&gt;&lt;mn&gt;1&lt;/mn&gt;&lt;/mrow&gt;&lt;mi&gt;B&lt;/mi&gt;&lt;/munderover&gt;&lt;/mstyle&gt;&lt;msub&gt;&lt;mover&gt;&lt;mi&gt;H&lt;/mi&gt;&lt;mo&gt;&amp;#x23DE;&lt;/mo&gt;&lt;/mover&gt;&lt;mi&gt;b&lt;/mi&gt;&lt;/msub&gt;&lt;mfenced&gt;&lt;mrow&gt;&lt;mi&gt;t&lt;/mi&gt;&lt;mo&gt;|&lt;/mo&gt;&lt;mi&gt;x&lt;/mi&gt;&lt;/mrow&gt;&lt;/mfenced&gt;&lt;/math&gt;\&quot;,\&quot;base64Image\&quot;:\&quot;iVBORw0KGgoAAAANSUhEUgAABdcAAADVCAYAAAC14sn8AAAACXBIWXMAAA7EAAAOxAGVKw4bAAAABGJhU0UAAACNUy1tAwAAQXNJREFUeNrt3Q/ITdn++PFPT5IkjYyMXM1NkiQpV0ZzNVdJT9L0pK9cuTKTmyRJUmZy9ZB05Ss/zZVvkiTpKVe+MnKVJGnSdOXKnYxMkjRJysjoIdT97c+cfb5zHHvtvdY5+9/a+/2q1fd+x3P22XvtfdZen89eey0RAAAAAFU1Kig7gnKQqgAAAAAAAAAAIN7IoPQH5XlQ/hOUZ1QJAAAAAAAAAADRRgRla1CeSiOp3iwk1wEAAAAAAAAAaDM8KFuC8kTeTqqTXAcAAAAAAAAAoM2woGwKymOJTqqTXAcAAAAAAAAAIDQ0KBuD8lDik+ok1wEAAAAAAAAAtTckKBvEPqlOch0AAAAAAAAAUFs9QVkXlAfillQnuQ4AAAAAAAAAqB1Nqq8Jyn1pJMnfBOVKUA4FZU9QvhGS6wAAAAAAAAAAvOWWNJLj14KyPihjIv7msJBcBwAAAAAAAADg//QHZWrC34wVkusAAAAAAAAAADhrjnAnuQ4AAAAAAAAAgKXTQnIdAAAAAAAAAAAnp4TkOgAAAAAAAAAATkiuAwAAAAAAAADgiOQ6AAAAAAAAAACOSK4DAAAAAAAAAOCI5DoAAAAAAAAAAI5IrgMAAAAAAAAA4IjkOgAAAAAAAAAAjkiuAwAAAAAAAADgiOQ6AAAAAAAAAACOSK4DAAAAAAAAAOCI5DoAAAAAAAAAAI5IrgMAAAAAAAAA4IjkOgAAAAAAAAAAjkiuu5sSlG0Ub8sfuIQBAAAAAAAAdIvkemeuJNQbpbxlG5cvAAAAAAAAgG6RXO+Mjl7/WUhUk1wHAAAAAAAAUEsk1zv3mZCoJrkOAAAAAAAAoJZIrnfniJCsJrkOAAAAAAAAoHZIrndnRFC+FxLWJNcBAAAAAAAA1ArJ9e5NE+ZfJ7kOAAAAAAAAoFZIrqdjm5C0JrmevoUpH/vLoAwG5UlQLgVlIChbw+8Zws8YAAAAAAAAsEdyPR2amLwiJK5JrqerJygjgzI/KEuCsjso9zOql1dBOR6Uj/k5AwCAVmOpAgAAACASyfX0/EaYHobkevaGBeWmxXFuD8roiM9q8nxtUL6J+exZ4miQlwEAqAlBeRiUyVQFAAAA8A6S6+n6s2SbGL4gjeRwFcr/BOVIUP4RlH8H5bGQXLe1NeEYL1lupzcojwzb0P8+i580UkBeBgA8pa/QXQ07BjeCMpQqAQAAAN5Ccj19xyS7xLAmoD+ocN29L40pUDYF5eug/CQk16OsTzjGlQ7bmhL+zk0J9gn8pNEF8jIA4LG9bR2Dw1QJAAAA8BaS6+kbEZQfJNvR63VZfFKPU0dX6wOLF0JyvelQwjGOc9zexphtXeQnjS6QlwEAT31u6BhsoGoAAACA/0NyPRu/k/SSwVHlixrWqY7Y/6t0P5p9WwXq4kzM8d3oYHs6mvhVzDZZ5BSdIC8DAJ7qS+hMLaWKAAAAgF+QXM/OBsl27vD5Na1XTbJ/LfVOrg/GHN/uDrcZl7A/xM8ZjsjLAICnlkc02vcj/tvnVBUAAABAcj1DOqXJVckuuf5Aqj3/epJ1QXkt9UuuT084vgUdbjduqpnb/JzhgLwMAHhqZ0RjfScoI4NyM+Lf9khjcQ0AAACgrkiuZ+s30liElPnXs/EncU+wb/P8mOPeiHjVRYy7Lma7b/gpwxJ5GQDw0IygXItopF9K46m+mhyU5xF/cz0oM6lCAAAA1BTJ9ez9SbKdHuaLmtev6/Q72zw/3nMxx3ami+2uSqi3ofyUEYO8DAB4ZkJQVgTlfMzNf3XbZ5bF/O2loKwMtwsAAADUBcn1fPyvZJdc15Hbv6t5/Q5IPZLr+pZC3MKja7vY9h4huQ435GUAoESGB6VXGota7ArK0bCjr430o6A8lcaiLS8tO0z7DN+zw/LzL8PvexZ+vzbyp4NyLCh7wxvIwqCM4dQBAADAYyTX8zEiKD8I869n5b2gPJTqJ9d7E45tShfbPi5MC1N35GUAwCPTgrI+KCfCRjLNjuWxhO8+lPL36WtN+vpdf1A+4dQCAADAIyTX86OjyztZgNO26Oj4Os+//kepfnJ9b8xx3ety23ditn2Dn28lkZcBAM/o/Fr69PN+hh3Kg5b7si/DfXgS7sfHnHIAAACUHMn1fG2SbOdfX1fz+r0i1U6u34g5rsNdbHdqQp3t4KdbGeRlAMBDujDF+Yw7kTrv3HrH/Voj9q8zdVp0YY4+LgEAAACUFMn1/P0jw/jjp6D8tsZ12yfVTa6PTTiubuLO/RI/JcyH/Gy9R14GADw0WhpzdP0n46KjE6Z1uI/6hP5yTvs4mUsCAAAAJUNyPX+TpJEEzyr2+KfUe3qYf0s1k+txC0FqAnxYh9udFn7etO2d/GS9Rl6GvAwAT+lT0QcZNoq3pfGKz9yU9ndOuL3bGe7z87BDBAAAAJQFyfVi/Jdkm0T6a43r9jOpZnJ9IOaYLne4TV0I8m7MdnUByR5+rt4iL0NeBoCn5oUNlksDp4tn6KrP+kRVXyPS1akXhdsaKY2n8Hnf1HvC7x0Z3ix0FeolQVktjcU3NBDRRV/eOB7rRi4RAAAAlATJ9eIMSLYJ9kU1rdcRQflZqpdcj1tw8ssOtjchKLditnkxrEv4ibwMeRkAntInjYOSPA+XzvW1JWyoh3p+zD3hca8JO8hPLRry9VwqAAAAKAGS68V5T7IdVfpY6jv/+jGpVnJ9RsK5nu0Yv26IiVs1SbldGLHuM/Iy5GUAeEoXWHkUc4M+E5TFUo/5/7RR15Wvn8Q05PO5ZAAAAFAwkuvF+igor4X519MWt7DpNg+PZ1PM8Tyx3MaUoGyV+Ac62h5M5WfpNfIyvyIvA8A7lwyNlY4aqOvq4vr60uYwKIl65WoMlw0AAAAKRHK9eH+RbKeH2VHDOn1fzA8ttnl4POdjzu830pgqo7Vo8nR5UHYH5URQHoo52fqtNEYvT+SnWAnkZd5FXgaAF1ZHNFJ6A/+EqvnFOEOH6ARVAwAAgAKRXC+HC5Jtgv0PNazTf0k1kus6wvhVytfDkaB8GpTh/PQqhbxMPPIyAEpLF5Z43NY4XROe/kXZG9GQz6NaAAAAUBCS6+XwQVB+kmznX/9Nzep0m1Qjuf5pBteDjljXBzqL+OlVBnkZe+RlAJTO9rZG6UZQRlEtRjsjbngAAABAEUiul8dnku3odU2m1mn+ddO869s8O459Mef0SlDmSmNkss4drVPCaDJep4Tpl8bCjrcSrovr0lgwFX4jL+OGvAyA0hgub89bpfNVjaNaEh1va8h5TQsAAABFILleLkck2wT7X2pUlyOkGsn1uOT4FsttTIqIQdtHsq/n5+ct8jKdIS8DoBTWtzVGvVSJdUfvbku9nadKAAAAUIAzQnK9bHHCD5Jdcv11zWK2e+J3cn1cwvmc47i9tcLit1VEXqbz9pa8DIDC3WxpiAaoDieftN0AWZ0dAAAAebstJNfL5nfSSIJnOf/6+zWpy2Pid3L985jzONjhNvckXB/L+Ql6h7xM58jLACjUjJYGSFcv/5AqcXa2pQ63Uh0AAADIkU4l8EaSFz7soapy9xfJfv71YTWoxy/E7+T6QMw5PNHhNvW8/xiz3adBGc1P0BvkZbpHXgZAYVoXgDhIdXRkpry94AgAAACQl1Vil4idR1UV4opkm2DfVoM6XOT5cT+NOX9rutjul8L0MFVBXqZ75GUAFKZ1YZXpVAcAAADgjfa5ZpNGOSN/vwnKT5Lt/Ou/r0Ed+ppcn5Vw/qZ0se3JCdt+wM/PG+RlAAAAAAAAcjQ2KJfFLRG7X5gepgh/lGxHrz8MygcVr8M/tJXferLfWyTb5PezhGtjEj8/AAAAAAAAQGSUNKbI0CT5c+ksEXsvKP1BWRCUoVRpbgYk+/nXUT6XYs7Z0RS2fzbhuujjFAAAAAAAAKCOPpbGqOQnQXkp2SRlX4bb1+9ZQpVn5j1pjFRm/vX6GCLxiw0vTeE7TiRcE8s4DQAAAAAAAKij+ZJtMra9rKDKMz+frzM+h3+gmkujL+FcjUvhO5LeiFjOaQAAAAAAAABQBX+RbJPrOjr+faq5FPbHnKfvUvqO0wnXA2+jAAAAAAAAAKgEnSrkqmSbYP9H+D0o1p2Yc/RVSt9xM+Fa6OU0AAAAAAAAAKiKSUH5WbJNsG+imgs1XrJfaDRpTnf9NxYtBgAAAAAAAFAp/yXZJtdfBGUG1VyYVZJ90nthwjVwndMAAAAAAAAAoIqOSLYJ9ofC/OtFORFzXi6n9B1HE87/Rk4DAAAAAJTfyKB8SjVYixtptpDqkVFcTwBq4r2g3JNsE+x/F+Zfz1tPUJ7HnJMdKXzHBImfEuZp2D8DAOI64jriOgAASmyxNEbGvQrKRKqDTlgKTod1cUYac9YCQJXp1C0vJNsE+zaqOVdzJPtFRs8Ko9YBENcR1xHXAQDgrdFBOdnSebgojSfToBPWrU3y9si7ZVQJgIr7QrJNrr8OykdUc276JX6+9W7fJNiUcL4vcAoAENcR1xHX+eNZxh3B1jK/ZPv2jNMPoKa0PX7U0h4eF145pxOWrt62+7jOSzyMagFQYVcyjl1+kMY0NMjetZjz8KDLba+X5EVMSYrVD3kZENcR1xHXeeywNIb361yBbzJoKHWuOn3lbSAoUzvct/sZ7NddaSwgAwB1s7OtPdxPldAJy8iMts7+TWnMMQsAVfSBNF7HzzIJ9TXVnLkpkk0iUEeWHkvYto42ZZ71eiIvA+I64jriuoroCStM53e73UUDeUsaT+TTnONpeFCWBOWbLvbrdLiN4ZxqADU0OgzaWtvFvVQLnbCMTWgLxrRT9jHVAqCi/ijZjzr9jGrO1BGLc7DcYXtjg7I1KE8kPvG5iapHiLwMiOuI64jrKmKouL/a+CpsvLPW77hfesJnc0oB1Jh2qu+1tY17qBY6YTkZ19YReymsOg+guv4u2SbXf5bG6Gqk73OH83AwKAvCuLlpSNjn0r6AJtQvSfwoZL0f7gvvk0AU8jIgriOuI67z3GKHhvJN2LnIyz2HfeNJCoA6my1vv8Kl5RDVQiesgI7Yj211xYI4AKroPcdYpZPyb2H+9TRo4nJuUNZK9nPmtyY+dXqOVcLIXdghLwPiOuI64jqPzXdoKPtz3rdTlvt1ktMIoMbmybuLEJ2iWuiEFURHWj5uq6+lVAuACtIpHV5Ltknav1HNXTuU0bnRkXxPpTEnrU6BoXNKrwnKJ8JCg3BHXgbEdcR1xHUe6xX713vyXin2jOW+zeU0AqgpDeCet7WJ3wore9MJK5aOWmp/RX4R1QKggv4q2Y+CXkM1A5VHXgbEdcR1xHUeW2bZUO4qYN+eWuzXj5xCADWlrww+i+hwj6Vq6ISVwJq2OhsMykyqBUAFZT3VyE9BmUY1A5VGXoa4jriOuI64zmMHLBvxvBelmGS5X8w9BaCOPpR35+LTJ8qMGKETViYDbfX2UFjQDUD1fCDvvjaddrkalBFUNVBZ5GWI64jriOuI6zxmM9LiSQH7tcqyEe/jFAKomVFBuRPRHm6nauiElfBabV8IR19vZS5aAFXzJ8l+ehiSV0B1kZchriOuI64jrvOUVsIbi4ZyoIB9Oyl2q2Qz/xSAuoma9/B6jetD5yfUhcTSHt1BJywdiyLqbx/VAqCCslo4k3lOgWojL0NcR1xHXEdc57GFlp245TnvV4+8u5BDVLnMKQRQM5sNHdqpNa2PCfLrPJBpL/hGJyw9pyPqcAHVAqBiNLn0L8l+/vX3qWqgUsjLENcR1xHXEdd5bK9lI573PDqfWO7XVq5rADUyXaJHtdT1abF2+L9pqYe0F3ujE5aeSRHXrr5WOJKqAVAxHwXltWQ//zqvYQPVQV6GuI64jriOuM5jNy0ayhsF7NdOKediHgBQZIfju4h2UEeTjK5pnRxsqYdHGWyfTlh256tZDlItACpok2Q/PcwOqhmoDPIyxHXEdcR1xHWeGmvZUO4uYN+uW+zXU65nADXSb2gLd5K4+KUcpRNWepMNdTmLqgFQQZeE+dcBJCMvQ1xHXEdcR1znsWWWjXjec+eMs9yvAa5nADWh88+9jGgHX4Ud8rpZG1EXS+mEeeG8sGgTgHr4ICgPJdvk+s9BmUJVA14jL0NcR1xHXEdc57EBi4ZyUBqvrORplZRzMQ8AKMpRQzt4vIZ1sdFQF1m8QkknLH3LuacDqJE/Svaj1/9JNQNeIy9DXEdcR1xHXOexpxYN5akC9uukZSM+nmsZQA1MjWkHe2tWF6bFnrJ6Qk4nLH1DpTEyp70+7xYQNAJAHo5I9gn2L6hmwFvkZYjriOuI64jrPDXLsqFck/N+6QkYtNiv77iOAdSEaTTL8xrdtEYF5azkPwclnbBsnDbU6WqqBkAFDQnKvyX7BHsvVQ14h7wMcR1xHXEdcZ3Htlg24pNz3q95lvu1j2sYQA1MFOY3nBOUe1LMHJR0wrJhes34DlUDoKKmSWN+9CyT65uoZsA75GWI64jriOuI6zxms3r93QL2a49lI87FD6AO4trElRU/9hFifl2wffGfrEZ60AnLP7joo3oAVNQayS6xfkEaI+QB+IW8DHEdcR1xHXGdp7Tj9cbiwj5QwL7dtPzB0XkEUIe2+nFMWzixosc9JiibE469tZzJcF+K7IRpx/KToPRLY87LB9J4PfdVmET5sMvt67Z1lMyTcJuPwk7v6JzO80NDvV7mpw+gwi5I+ol1HQX4HlULeNnXJy9DXEdcR1xHXOepPssLO++nDOMs9+ssbTOAGlgc0w4+rmDHa0dQrlkGGS5lu0edsCHhedfO0XOLZMqIDr5jbFDOSfzcmcNyOOcnpDyvPgNAXj4Iyk8p3uNeBOX3VCvgJfIyxHXEdcR1xHUeO2Bx0eqPYGjO+7XK8ge1gbYZQA2cimkHT1boOCdI4+l6Vq/KdxOQ5NUJmxuUw2K3cFRr2eL4PTMt6zqP+2zcHKM7+fkDqLDeFO9xn1GdgLfIyxDXEdcR1xHXeeyOxQm4VMB+nbS86KbSNgOoOH3S/SqmHdxVoWNdJtku8NbNPSPrTtgSacyj2b7tl5bHdt/hu3QBoaeW2z2ew3mPG611jyYAQMVtS+H+dkyYkgHwGXkZ4jriOuI64jpPTbI8AZtz3q+ehAanWR7RNgOogU8T2sKlNaqLuDn69mX83Vl3wlaG977TQVkXlNny6yI++mrgDov74myL75kijTn4bDuueXTCxifswyyaAQAVT7Z830WC4Yp09go5gHIgL0NcR1xHXEdc57HVlidgZs77Nd9yv47SNgOoga8S2sK5NamH6Qn1sMjzTthoSR51eCKhDvoTPq/zHt53TNqszen8xs3DuL0i1/B8yXYET5nKKZpuwIkGyC86+K3pnO2TqD6AvAx5GeI64jriOuK6Yti84lPEggp7LS+MOj3VA1BfNxLawqE1qYf1Ej8HZdavwxe5qnzTjIRr4ULMZ3W0xKW2v/0w/O86MuJwxPauSz4L36i7Mcd1rSLXMMl1AHG+7uC3tohqA8jLkJchriOuI64jriuGVrrrpPplKvqDG0XbDKDihkr8k9+XNaqLuMV/8piDsgydMHUn4XroMXxujyS/EqgjJ/eFQd6Xku80A6cT7vnDKnANk1wHYPJZB7+zv1BtAHkZ8jLEdcR1xHXEdcWZ63nQdpW2GUANJCXjHhB4WL02V6VO2P6Ea2JGxGd6W/79TEnP8VGp/uhMkusAoui0Lj85/sY0+cACpgB5GfIyxHXEdcR1xHUF2u55I76DthlADaxKaAvP1KQekgKPT2rUCVucUBfL2v5e5+N7FP7bd1LeRe92SXfzDlYhqCK5DtTPe0H5wfH3pYufvk/VAeRlyMsQ1xHXEdcR1xXrW88b8U8EAKov6anviZrUw5aYOtCRDz016oSNTLgmjrT9/dnwvz8PyuQSn+OVCcd1sgLXMcl1AO0GHH9br4PyEdUGkJchL0NcR1xHXEdcV6ykE9gsG3LeL3218Y3FfuX1gwOAop1xvOFW1UUpPolXlk6Yuh2zL9cNHZtVJT/HS6T6r8qSXAfQal0Hv601VBtQGeRliOuI64jriOs8ttSyEZ+W8371EbABwFvuJ7SHB2pQB9rBf1WCgKNMnbBjEr9IjNbZuKA8Cf/bOQ/O8yJJXjCLAA5R/kMpVYEdfdj2wrFuj1FtQKWQlyGuI64jriOu89gRi4bycQH79ZUwYgMAWr1MaA/31qAOeksScJSpE7YioU40adN8bfBZUMZX4DxrmUSTgAgktEmu+0bnS3/gWK//kvLOrQqAvAyI64jriOtqF9c9tDjQgQL267ZlI05wDaAOeizaw1U1qIddJQk4ytQJm5ZwXVxo+d/rPDnP8yyu916aBUQgoU1y3TcXHOv056D8hmoDKoe8DHEdcR1xHXGdp6ZYNpTLc96vcZb7dZd2GUBNDLdoE1fWoB6+LUnAUaZOmBq0uD6ue3SebfoBi2kWEIGENsl1n3zRQZ0uotqAyiEvQ1xHXEdcR1znsQ2WjWXerxqssNyvOsxDBQBqlEWbuKLidaCvwL8pSSe0bJ2w0xbXxwzPznXZAkz4gYQ2yXVf6DzGrx3rcxvVBlQSeRniOuI64jriOo+dtTjIOwXs14BlI95HuwygJubSCfvliXbc8U+ocSdsa0LdHPKww510vX9Os4AIJLRJrvtAR6n+5FiX/5DGQmYAqoe8DHEdcR1xHXGdp5JW5i3yKeRji/3Sp1xDaZcB1MR8OmGyX8rzOmrZOmELE66NTz071zavy66iWQDgoWFBuSpuiXWdi5l51oFqIi9DXEdcR1xHXOcxmxVbi3gKOcNyvy7RJgOoEZuFQKreCYtbUCnvJ/hl64QNlfhXK1d7dq6HWlzvO2gWAHjomLgl1nXqmPlUG1BZ5GWI64jriOuI6zy2V+yeQg7Peb82WTbiW2mTAdTI1Jp3wsZKuRZBKVsnTN2I2aejnp3vYcLIdQDV82dxn1rnL1QbUGnkZYjriOuI64jrPHbT4gC/KWC/zls24rNpkwHUiM1cZVVeVX5pQsAxik7YL6M8TPt0s4LXO3OuA/CJzrP+QtwS6/9PmGcdqDryMsR1xHXEdcR1nhordg1l3kPzbecbe0J7DKBmhki9R/LGvUZ/vYD9KWMnbGnC9TGyYp2w5TQLADzxflB+ELfE+iUhsQ5UHXkZ4jriOuI64jqP47pllo34vJz3y3a+sQHaYwA19Cahbdxf4WN/GHPcu+mE/WKNVGfxm1EWfYHFNAkAPPG/4r6A6QdUG1B55GWI64jriOuI6zyO6wYsDu5lUHpy3i+b+cYYrQagrh4ltI0HK3rckxOOexGdMJkQlGcJ9bTXo3M+16Iv0EuTAMADX4j7POu0b0A9kJchriOuI64jrvO43/PU4uDOFLBfNywb8XG0xQBq6GxC23ikose9OuaY9ZXVIl6bL1sn7Bsp53ydnVpgcTyTPL+u54t7ws3XcormGzX1h6C8dvy9bKPagNogL0NcR1xHXEdc52lcN8uyodyQ837Zzjd2UwCgno4mtI8nKnrcJ2KO+WJB+1SmTthWeXsRoLgFgnyZv3dRwrWux9Lj+XVNch2oNp3W5YEwzzoA8jIgriOuI66rXFy3xbKxnJ7zfi213K99tMMAamp9Qvt4rqLHHfda3Naad8JmtXS8tJ5WSDVeuVuScByPKnBdk1wHqksD3kuOv5N7wjzrQJ2QlyGuI64jriOu8zius+noPS5gv44LcxACQKc3fi0/VvCYk0b1zKlxJ2x4UO60fK8uiqVP/V/F7Fu/J+d9pVQ/WUtyHaiu/3b8jbwIygyqDagV8jLEdcR1xHXEdZ7GCTqKImlV4qJWfX5osV+vxP/XwAGgm5tu0oJHVbMx5ngHC7wnlKETdrjlOw+1/PfzMft23pPzvl2qs4iPCcl1oJr6xH2e9c+oNqBWyMuAuI64jrjO47iuT8q56vNUy/06SxsMoOZuJbSTQyt2vHGL/RSZsCu6E9Z6P/8uKMNa/m1rQkfdh2AoaR7KJRW4tkmuA9WjC3L95Pj7OEK1AbVDXgbEdcR1xHUex3UHLBvL8Tnv13op52IeAFA2BxPayXkVOtakV+HW1bQTpgtNPQ6/63lQJrf9+7yEa+RjD8796YRjGFeB65vkOlAtGgz/0/G38X1Q3qPqgNohLwPiOuI64jqP47o7Fg3lnRJWdrNMpf0FUHOLE9rJpRU61qTORNw9YaQ0FgJaUMFO2IWW71oR8e9DEjqvGz049/di9v8uzQCAEjoizLMOwA55GRDXEdcR13ka102ybCgP5LxfSU+wmuUhbS8A/DIyLq7N3FWhY42bny1pVfFmcDCzYp2wDS3fczzm7y7H7N9Jh35Dv7z9amJe/YI3JeqnAEAS2ykeWksf1QbUEnkZENcR1xHXeRzXrS5pR8/2teijtL2Al4ZSBakr63x1aYvrSMR1QL4M/2ZnhvtWRCdsmjTm1muOZhoR87c7JX7BIJvf7Y2C+gVJQecCmgAAJaJt88/illjfRrUBtUVehniVuI64jrjO47jujEVD+SbhpGZht2UjXqVXYoAqGhfefNaGna5LYWNfptENOoeZLphx0PPOysqYtvJxRa6nIRL/lHt5QufoVsYd5bw7YcPk10WPtCM2vYv9+4/F5w9YdHazEveK7DPxY+EeAPWgcdP34pZYvxTe4wDUE3kZ4lXiOuI64jpP47rhYveKz40C9s1mvjEtE7gPA6WhHZLD0khQ30toXwYK2L+x4U1IOyuHpDGX2WDbfl33uP6T2vTxFbjGesV9gadp4U36jUUnw7dOWOsq62tS6MSuj/nssvBvHkhjjsO8xY3OOETzC6BE/i5uiXVN4HxAtQG1RV6GeJW4jriOuM7juG6NZUOZ90jOuQ6dUQDloR2+J9JY0Trpt7s6x/36MeHG01r2en4ODku13/TZGnN8TyP+flx4/vNa2CWNTtiosLM5JeHvtrRs+4TDPl6J2cdvDJ/RuQybD6LmFXTu416PnUPzC6AkNoj7POu9VBtQa+RliFeJ64jriOs8jutuWTaUp3Per2+F5DrguyEJAeaUHPdFOx/6dFZHKugIhLhRAIs8r/eZMcd2pALXVdyN+FJEB+x2+G9nc9q/bjtha9uuz1uGjv3Glr/RUTcuIw72JNxXZ7f9vc6J91Cyn9cwjr4a+FLKM4oLAKJ8FJQX4pZYX0O1veV3FeybAUnIyxCvEtcR1xHXeRrXrXdoKO/kuF87HTukUwRAmTssnaz8nbVpYp7HsArznV4V82vnvhuMuR/oTXpyeMNe0tJxuCuNUQNl74R9HPNZ7UxuCsqn0nhA1Don3TTHfUxamOp+UKaGf7s4/L1GdXLzFFc3n9PUAigBndblgWMcc4Rqe8cXEfX0PtWCCiMvQ7xKXEdcR1znaVynlWozp1drWZXxPunCHIfE/TXKc9KY+B9A+YwR95W/8xI1TczlitT7pzFt5owKXk9xRRf8mZjjPnbTCTvSwfF1Mt+fdlKfOH6PjqIYXeC5327YrwfCQqYAyuEfju2qLnj6HtX2jq/b6ukFVYIKIy9DvEpcR1xHXOdhXKevBBzr4CQ3y3lprNg7JsV9miWNp6KPu9ivB+EJ0qc2VRh1ClRFn+E3u6Lg/Zpu2K/+CtX9TcMx7vT4mGY73huehPeYPHXTCTvueHzLu9jPvQ7f8yjnjqzL9byeZhZACexwbL9feJ4UydLPbXV1lSpBBZGXIV4lriOuI67zLK7bFDa+g100klFFX1nQp5MbHPdHG1qdoF8n13+Z8j41p3XQC+ZMUA5y3wYKZXqdsOjVzU1z682rUN33xXR6fTXE4V7W+gqcL52wjZbHpiOclnW5n/obtFnISV/BnF7weTc9DNNRF4xaB1A0nQ/8tWO88hnVFumjiLr6G9WCiiAvQ7xKXEdcR1zncVx3NoOGspsVq9dmvD/tNxoAxYlavfp2CfbrtETP61a1RJ1pESKfFwZbZ9H2H5b85uJLsxOmr9Jetehczk1pX5clfJf+fseV4JzvM+zfYppYAAX7bVB+coxP/odqM4qab/3PVAsqgrwM8SpxHXEdcR1xHQA4GS7R85p/VfB+aQI9am7DMxU8BzPEbvV13ywKAxTtqOtDkedhh0FHnhS9mFJvuE9Rpdfi8zqKQ0c66CiiwfBzepwXpPGq3NCU91dfyTzdUpf6f09KY37HMhgp0SMxLtLEAijYkPB+6pJguiRMYRnnnxF1Np9qAVCzeJW4jriOuA4A8IvFhg5A0Y37PMN+baroeTAtSDSbSxQe6I+4drVTNpGqAVCwv4lbYl1fx/6AajP6jURPr/M+VQOgZvEqcR2I6wAAxpu/jhgvesSWaV69mRU9D7oS+KOI473MJYqSGyPRoxvWUjUACvYncZ8WoZdqixW1Hs73VAuAGsarxHUgrgMA/OKOlPO1tai5z55X/Fx8Kn6NygBMAc9ZqgVAwX4blMfilljfRrUl+j6i3i5QLQBqGK8S14G4DgAgkww3/S8L3q8REj2v3kBNb2j3wjoByuZjiV70ZzRVA6DgfsT3wjzraes11N3fqBoANYtXietAXAcA+MVqKed8cKZ59dbU4Jzogj03I459P5crSmZEGCC0Xqe6CNB0qgZAwVznWddEPHOGJ/vaUH9/pGoA1CxeJa4DcR0A4BcnI272T0uwX6ZFYKbU5LzoYiFRr7LP55JFiRyPuEYXUS0ACvaZuCXWXwRlBtWWSPtgrw11OInqAVCzeJW4DsR1AADpkejFKsow9UrUvHo/1uz8fCKNhXpa60AXxhnLpYsSWBvxG11FtcBj/8mh6HRnL8N7rwbaF8J77ldBWSaMDkrDR9JIlrucl8+oNitfx9Qh0+kAqFu8SlwH4joAgMw1BEifF7xfEwz7dbSG52hpRD1cJYhFwebJu2sibKJa4DkdsXMmKHcles2PvMrzMGmwOEwqwN4wefeV5qRyhGqz8nsxj1r/vmLHOpTT7aXJwjzWxKvEdQBxHbw0XhpPdDQgux6UZ9J4IqlzE+ncWnul+9ckJ4UB1p6gnJfGKKck+gR0a1C+CfdF90lHAu9IsdMxLiibg3IqKE+kMRJLv+dBWB8LDUHhYWlM+eHbudDj7QvKzvCYH1ncCPX4dY64cy37o/WzX9yfUi8Kg+3mdh6F2+lmcYl+Q2dlfMxnZoZ1eTlMADTr+FpQdknjtbdufW7Yr2UV+D13Yo3Uc2FXlNPUsM1vvR43Ui2o6LW+QdyTtWmWh2F/bhinw8rfxX2e9feoNiv/lOo9oBgXxis6Yk8HcFwK+3wPOd1eGR3GRJocWkF1VE5Z41XiOhDXASlYHHbAbDrumnRe6nBxLwnKAWkk0gcjtrcl5vM9YRA2GLM/30l3CfYh4U3plcWxPwj/Vjuu+irUl5L+k+YszsWH4XZ3SyORHvUqWtJDjoUJAblOcWKTYNeFWm7EbOdWUEZ2WHeXI7Z3O+batKln7dhu7/KcDhi2Pc6z33Oaohby2UlTjJx9GCYdeGUQdTIi7Du5JG0vhf2eoRH9tJFhH2FdUM6K3Sh57U8t4FTE+kLcH1z8lmqz8t8JdbnOg2PQBPrhsF9/LyGOIdHlB41JdaDX05ZzR3K9esoarxLXgbgO6EJf2Ji3XoDfBmW5/JqwnhRxE9AG3LRQkn72ojSSdjbBwFTDdsaH+2KzjV0dHv+wcF/b5wrTp1sT5deR6hPCjvZ9w/cvKuG50HlOdYT5oGUdxr0qs89yG0mrhPdbbmdHB/U33BDQfxXxtxvE/RX5Y12c26cOnaiy/Z6ztEx4ZQvF0Xb9R3l79fhPqRbUxBqH+98dcRtpPja899psewunItLvxDxlian0Um1Wfm9Rt//lwXHoQBUdnffc4tpYzWkvPR0YEzWIieR6tZQ5XiWuA3Ed0AFNXJ9ra/x0yoiVhr+fGtF4Hzf8rT4dOi2NkdBJHb67hm1Mk3efOnWynSRH27ajyfO40cSaoLwY8f2TS3gupofHp0VHrNxOqMNphg7AOYfz8Miwz0PCa8IlkO+kUxq1rb62vzssnb/Ovr6D/Zph2NYBT37PWZsn7766tYEmGjl0wB7I2yM+Z1ItqJE+h3tfp6N454f3oiweqFfZB0H5wbF/so1qs/Iby7r9rWfHNSTsO5mOZwqnvrS07/FNzLkjuV4tZY1XietAXAd04NOIRk+f8kxN+Fx7w/3MoZE1BVf7Iv5ek8KP5dckq065MjzsOJpGQr3qoB6ikp4202OMavvx6hPaHk/OxV6xT4rrKLXLLceor3ZNCo91h8N50FfIz8vbi3g2R0mvTvF8HpLoV+RaX2E/Jm9PP6Pf35zfTo9rljSS3qbOio5Ad52CaJNhW4s9/T1nQR9OtT/82UxTjYxMlbcf3mo7N4ZqAQG+sYzv4nt6Lb9jKafkF9rXveKYSGHxODuaWLdZb+Cxx9eOy8AXFEvb1SMW1yPJ9Wopa7xKXAfiOsDRdomeK3tCwud6pLsE6AlD4z+v7e8+DDuB+m8H5d25PUcYtjPYQV1E3ZRsg5OV8va8ob6cC1MwfTTiO5oJ8TvybqK2x7CdqATt6ZbO/fyIf0/rfN6R6Dlim3a11NV6h/Pb7au15w2dqJEe/56zMELefZNkD002UqZzRrc+jNpOlaCmVopd4vZGCt9lMwJPE5qjOC3yV3FfwPR9qi3RtLCubB9W+GiM4XiOc/pLRQcv9Yv9tJ0k16ulrPEqcR2I64AugxudtsXmlYnp0t1I19OGz/e0dQqbI0pMK/qakrqdTCNyK2I7tnrk19H1pzw6F2vFbsTYkZabfVSwO9SwnTNtf7dbfp1ffILD+XQN5idJ/Fyuy1qC9zmW27xg2OZJh/0aItELTH3r+e85S0vbbpID8u5DNqATK1p+j/fDDhlAnzC+7E7huyZZfld/zc+JTgvgMs+6/u1HXMqJ/hyUnxzq9YjH1w/J2XLTt7F/DPu288I4aJJEJ1w5f9VT1niVuA7EdYCDo4aGd5nl57d00WhrxyFqWphjbX/TnIJkY8y20hyVEbXg6vQO6vSQR+fimESPom5NoDfnbDwXc/NbaDiGrS1/0+wgfCfmV3NmSzrzka8ybGd22JHR6++p4/ldYtjmjw7b6M0oWVHkNZSHsWHnq5n0n0QTji7pPeZWS/sygipBzV0Su0Tj/JS+75rFdz2sedLlsbiNWmce23g6BeEFcZ+veJ2nx7tT0p/WCenRN7J1QFbUtI1LheR6HZQ1XiWuA3EdYGm3dJeQ1tG39yM+v9Ly86YEauvCHfvC/7Y3YVuLDNta20G9RI0odnldqZk8XuXRubgh8a+/zg3/my6sMyxmO1skfpqfyeHN8154QzVZL3aLuiQ5KdGjuLXhvS6NBwjzOugIRO3bS4dt7DJsY5HHv+c8zeuyroBWmiT8mGoAfrk3vpLkJOOgdL6mTLtDYpfYnFPD86H35X+JWwL4f7iMI2nf9TNpJNVfS2eLAc7w9Nij5uq/zSVRGqNj/m2UkFyvg7LGq8R1IK4DLJjm4nqUcJNv9WXE5+86BFz9Ej2/c3NUdPOJ61mLbZkWh5zSQd3cN9yIJlp+fpa4JUqLPhdDwpt2++d3hP+uo8sfhh3xpHlPT8YE4XpeNYn/xOK8nDZcGy4Lc/WEHZP27Qy0XHsbO0w+dLvY6rUUjq9sv2cAgN/mil2S8VSK37lCGI1tYvvgoVn+LYzSatJ6+Ci8br4OygvpLKHeWnys2+GGPv5XXCLeILlebWWOVwEACfS1M9NiKbYjvfW1pKjpU1xeE44aSdFMpOs83JqE1eSezQKPUUndex3Wz4CYFzKySTRqEnm/2L3aVIZzYZqipDk/1dnwXNg8XDB1DtSe8P/vtegMRI2cu+h4HucYjmtPGGhcTrmj+9zysyMNn7/o+e8ZAOC37WKXZFyT4ncutvzOozU7F5+Je/JXF+a8VOOiccUPQflZuk+kt5cHnl5Hpt/XpzR33iC5Xm1ljVcBAAk0cfmdmBf/tEke60jmqNHdWxz2Y4REj6RoBmzaQdZkn+3cYlHzUR7usI4+jenIHKrgudgq5tHma8L/f4HFdmYYjmW5NF7N0f+902I78w3b2exYv/1inmtOOxYfdnjehhi2e8vy86b5E7d6fA0BAPz3rdglGiek+J19lt95ukbnQftTaYy0pqRXLnh6LUW9/dDNm5LIH8n1aitrvAoA6LABt50jfJw0pgdp/+x2x/0wjaTQ7W8Wt5FR0yWd+bmbNCH5IKaeNlXsXJyT6NHmejPX+dF3WW5nnaEDr3O+6RsI18Qu2bvHUCczHY8rblG2zV2ct2nS3errhw2fn+vxNQQA8NtIsUsy3kn5e22T62drch7ek8YIdBLa5Sp/8/R6uhNxLJdo7rxCcr3ayhqvAgBiaCLNNH2EjvxOSnzqa0sP5d25yDtZ8DAqwagjpnQu7leOQVTUfOs6Kn5YF3W1MaGTvboi58I0BYsen47SuS72c25HTc1zRhqL0ro8eb9hqBMXpjkmXUZ0m5hGnn9p+fm7ks7icGX6PQMA/LZU7JKM+1L+3mVCcr3V/wqJ7DKWdR5eS5O67K+iHEiuV1eZ41UAQIy9MTfouNHJmqTeGdH460jkKR3uy48SPQ2FblMXYRzjsK2Lkv6oDH2V6m5CR7uvAufCtHiZjlzWpPtky+2YFmM5IPajqJVpZXPXuVbjRsIt6fLaMI08n9NFoHPa898zAMBvR8Uuydib8vdutfzeOoy2+0JIYpe1+Ng/Wm04ltk0d14huV5dZY1XAQAxNFn9MqYBj0qi6ivC+jpS++hWnZ95VRf7MkXMCVT9v4sdtqVJ8KgnvptTqLNFCR3twQ47qGU6F1HTijyVxgKmLnOAz5botwf0AcUVh+2YRrAtdTyuA5LdPHNRUwY9tPzsKsN+bfD4GgIA+O+hJCcY9aF7T8rfe0Lskpt7K17/vxfmWS9reSF+zlF+0tDHh19IrldXWeNVAECMzTE3529a/k47j/oU9bi8O12IThGyMoXAKmpubk3EDor7yCTTE9+ZKdXb8YQOt96kxnp8Li4b9uOuYyCxxbAdPa9THbYzYNjOaMfjumPYzudd1lfciu7dJBGme3wNAQD8NkPskoxnMvjux5bf3Vfh+h8h8Wv9UIot33t4TZneKB2gufMOyfXqKmu8CgCI8Z3EjwbSkbM6n2V7Au5u+O8zUtyX04b90JG44x23dVC6n587zihpjOyN63Rf8PRcxM3zttxxWxcN2zmUQpB93XEbE6Tzecg7ud5MI8WjRAU6Tzz/PQMA/LZJ7JKMa1P+3nmW36uDL4ZWuP4HhAR2mcvfPbymTNM+fk5z5x2S69VU5ngVAGAwxaEDqSNndHTtOslmfkEdSfvK8N07O9he1LzoR1PeZ11t+1lCva3w8FwsEfMCKq7nNCpJr//tQ4ftzEzpujBNvbKry/oyTcViO5JvtmG/Bjz+PQMA/HdRipl3+ozl91Z5tB3zrJe/7PDwuuo3HMv4hH64DsDQt1qfh/GaPti6FvahJ9JUFoLkejWVNV4FAMRYE3NjvhnenBdKYyRz1uaLeR7PMY7bmmzY1rIM9nuhJCcxezw7F6aFTtY5bsc0NY9r0vhLw3Y+cdzOQEZJge3S3ZQupqlzVnv8ewYA+M30gDxqurg0fSx2ic2nHfQPfcE8636UP3l4bUVN+3jb8Lc6feMli3p4E/aFkS+S69VU1ngVABAjbt7w5Tnvyx7DfhzsYFvrJJ35uW31J3Q6V3p2LqIWL9Mn3cMct7PfcDwfO24nauScjphxeTXONMfkjS7rSq+pqLcXjnR5fFomefx7BgD4rU/sEowHUvxOnWP8juX3VvW+9oEwz7ovxbc3/0zTPn4V8bcbxO7hWms5RrOZK5Lr1VPmeBUAEONqzI0577m3bkh6C5BGzd1+LeP9/zamLk96dC5mGfbhcAfbigqQ05paxnWBW9PUK/1d1lfUau46V/pYh+OLmg7pvue/ZwCA3/ZLvguK6v3wvOV37q5onWsdXBGS1j6Uxx5eX4stf8OHu6iX9TSduSG5Xj1ljVcBAAni5gvvyXE/xhr24bsOA5OoZKXLvIgatLkm46fF1OUTj86F6ZWxeY7bMU3Ns9VxO6aRc2sct7NV0nt40zTDsM2lDtswTSt01OPfMwDAfzYjyF+F/a5u6SLxF6TeiXX1VyFp7Uu56uH1dUiip3RpXRT4WMu/3ZLGFIXN+di1L6mDcA5I/HRNI1La3xWeXRNncz6fJNerp6zxKgAgwauYG3Oelkk6iVjVK93Pzz0Q1o1rQvKE4btfenQurkd8/6MOtrNB0hlBbRo596HjdqLmjHzWRT1pMuE76f71ur0pdnjKcg0BAPw2SeySSedS+C7tn92z+C6dDm5lhetcBxO8FpLWvhQfp1OIemB2qeXfd8mvD82SRqCvjKmb1SntL8n1eCTXq6es8SoAIEFZknFpLtxxWOzn59aRFTrXe/sCj+fCz81y/O6FMQGhD+dinOH793ewrah5xDuZLy4qEDAtnqYLm+m8kcMiOhZpTC3TKmqNgG/FfV5603RIpkXaJkpjVPvIEv+eAQB+Wy12yaQNXXyHjsQ7LfZJ/IkVrm99mPFYSFj7VL7w8BqLOo4t4b83BzrpdTjHcpumt01OprTPJNfjkVyvljLHqwCABHHTSIxJYfuLxG6k8tOI77/V4U0pahGQAcPfnwq/e4KhXjY5fv9QQ13e9ORcmILp+Sl1DnY4bme82C+epnX/jTRG2bfPH2eaWqbT+eui5qy8J+7z1o0Wt+mQ9AHRVTG/ilyW3zMAwG+nxC6ZNNVxu1PCvtU1y+3rg/pPKl7X2mf6l5Cs9q30eXadrTIch87xPCnsQ2pMNN1hm0sM2/wxpX0muR6P5Hq1lDVeBQBYOBNzY17S5babc3fvTPg70wKaOzv4zk/Ffn7uHeG/LWv77z0tn/smpY7OEU/ORdQIsmfiPj2OqXMwx3E7pk714oi/bc4RuSji3/anGBjpSLvBiCBiQgfbWir2Dw+a51GnGJpc4msIAOA3vefHvQnVeu8bEVF0DZr54f1Y7+M6ck5H3j0RuwSVJt51WsCJNanvQ0Ki2scyxbPr7GTEMTwPf+86JaQOinFdX8m0ZtbLlPaZ5Lp7zEly3V9ljVcBABa+lPjRQp0YHXYudBtnLP5+i6STiFVHDduaZuisRS0aObGLzvNI6Xzkd9HnwrQQ7LEOvvegoQPv6pjYzdu+M/zvewzbMS3KNtdxf/RaeCTvTlHTaUfliNg/PJgnya/gl+H3DADw2zzJLxmlCb1vw6TCkvCeUyefCUlqH8tDSWch37z0iPnN3v7wf2/scLumhY6RPZLr1VLWeBUAYGGCRE/f0SzLHLe3QBpPRZvzYw61+EzUwh2POzyeHyV5vunm6HadeiNqNftFYjelTJSoERbXPTkXplH/nTwtvyP2U/PEuW3Yp9aR9M2g4IJhG+Nj6nS4w77MiuioXJHuplsxdaLGtf3dh+F3n/Hg9wwA8NtOyS9JqW8IrpP6JdXVjKC8EBLVPpYLnl1rcwzHsSfsN17uYttR231OM5oLkuvVUeZ4FQBgaU9MY64jD2wScnpDaB01rv/bZiqRYRKdDOx0BWvTa8w6CksTg81R8jqnoGlqjagE+QKL79bjbV+NW49tpifn4qDhO10TqqYFkz7v4HyaEsX6GqomnJsL4eoDjJGGbSyJqVPbY9NphV5GBCQ9Xf72TNdrKz3O+9J40DCq5NcQAMB/1yX/ZOWrsO83pSZ1rP3ff0hj/luKf2WHZ9dbv5indnoe9jU7McSw3Vs0o7kguV4dZY5XAQAOHfykhaV0dLkm5VoXwNAnoDqq+aj8miTUBn29w3eb5ubudJGgp2L3CnJcsnx3xGd0ntA5CXU4IN2PFC7yXESN+j/XwTkwLYrayatoLy3O502Jfxo/RcxJ+qRF0vTByGV597W6+Sn99kzJ9QVhR2ilNN7ieOhQf0VeQwAAv40Vu2T4iTDgHxred0aE91u9f+kbgLqmyMbwnnLR8n7eLIelniPZgaxcivm9be5iu9MM2zxJleeC5Hp1lDleBQA40MTaVelu1NFFcR9xFLWI06swUOvEgMV+LulwG3rD29V2jDpKe628O72HLgLa59G5mC72C8EmOSXRK5N3IilJfMUyAF8o0Qup3Q+vh+aIAE1ozwjP6RV59wHLZkl3ahSb0YEPxPyWRdl+zwAAvy2zvEe4vo3WEwb65y23r6+1L+B0AF0bLuak3R3pblTrUsN2v6Tac0FyvVrKGq8CADoIfHTalGfithCVjm6e2+F33pV05zHUG41pNPBjsXuCe67l2J7FbM9UH/rAYJxn58K0qOyEDvZ7MGI7Rzushw0xx7rdMSDQJPyO8DpwSTLryPj14jbfna2VCd99WjqfI6+I3zMAwG82gxQ6fRutaYnDvYm3p4Du9EnnA46SHDZsdw7VnguS69VTxngVANAhHTWuI5eOSWMOcU2WvgyLPg3V5LfOi6mjFUaVcP+1Q3cl3G8tOvp5q8O+6s3suLy92Kne6BaHx32zpU50nkKdC1tfj9ZR3mM4F6nbGR7ry7CuddqeD7vcpr5ep8l5HWX/oKVeB8N6Hgg7KHmM3F4Vfmfz+3WeSn1AM4trCACQsycWQfydlPpqg5ZJg9WcFqBjByS7edEfRGz3IVWeG5Lr1VameBUAAAAAACTQh7o2ye4DKX3fCrEflccbVUBn7kg6Uzu1m2PY7h6qPDck1wEAAAAAAErCNEVcWovOR7lo+Z26dgtzyAJuJoh5qsyeLrd90LDtyVR7bkiuAwAAAAAAlMQlsVubY1iK32k7Wl7LJk4R4GSV4be0q8vt6jSYLyO2e4YqzxXJdQAAAAAAgBLQRdA0cZ6U4L6cwXffELvk+gNOE+DEtEBxt3M0bzdsd3rK++8ydVQZytmczy/JdQAAAAAAgBLQRdttkkf9GXx3v9gnrz7hVAFWdNqX5xG/oRtdbnd0UJ5FbPdIBsdAcj0eyXUAAAAAAIASOCTFLSzaK/bJq+2cKsDKbMnmAdmBiG0+CcrYDI6B5Ho8kusAAAAAAAAlcFeSE0eD0v0iiFGGin3y6hSnCrCy1fAbmtnFNmcYtrk0o2MguR6P5DoAAAAAAEDBdP5lm8TRyQz34ZXlPtzgdAFWohYoftbF9oYE5TvJZzqYJpLr8UiuAwAAAAAAFGyd2CWO1mS4D88s9+EJpwtIpInwqAWKu3lAtidie98GZRjVXRiS6wAAAAAAAAU7I3aJ7SkZ7gPJdSA9fZLufOtRCx7fk2zmWYc9kusAAAAAAAAF0hGuNlOyPMh4PwbFLrn+gFMGJNpv+P30dbCtmRG/zx+DMoFqLlSPkFwHAAAAAAAoVK/YJbWPZrgPPWI/p/EZThmQ6I7h9zPXcTv6tsqjtm3o4sck1os3NqadXEn1AAAAAAAAZG+v2CW1l2a4D7YLqmad5AeqYHzM72e4w3ZmybuJ9StBGUMVl8LSmPO8h+oBAAAAAADI3k2xS2qPynAflop9cn0NpwyItSTm9zPUchv6O3sp7yZse6je0rgcc55vUz0AAAAAAADZGid2Ce3rGe/HYbFPrk/ntAGx9E2QN4bfzycJn9X51duTtjoNzHyqtVR2W7SVB4SHIQAAAAAAAJn5XOwS2rsz3AdN/jy23I97nDLAysKgPIn4Dd2Xxsj2oS2/vxlBWSuNKV9a/1Y/v1nsR7sjG3OCskAai9HuCttB24eR+rf6xsHicBs65/4IqhQAAAAAAKB7A2KXoOnNcB+WiX2iaCunDLA2Oig7xP7hVbPoVFHrxW1+dmR3Dv+TctlPtQIAAAAAAHRHR6w+k+REzKugDMlwP2znfH8ujUQTAHc6Hcz2oJwKyoOgDEpjTnX9v99J40GbJtSnUFUAAAAAAABAvI/FLql9IcN9WCv2oy23cMoAAAAAAAAAAEXrF7ukdn9G3z9VGqPRbfZBR9ayMB8AAAAAAAAAoHDfil1ie2EG3z1OGlNT2Hy/Lqo4mdMFAAAAAAAAACiaJrdtp2MZlfJ3TwzKPbGfZ30upwsAAAAAAAAAUAabxD65nuao8WVBeSr2I9bncKoAAAAAAAAAAGWgc5ffFfvk+pcpfOeMoJxz+M4b0hjhDgAAAAAAAABAKbiMWtcyKJ3Nuz4sKCuCcsnhu15KYwFVFi8FAAAAAAAAAJTG4qC8ErfkerOcD8ryoEyRt5Pf+r+HB2V+UJYGZU9QLjp+j/7t/qBM4BQBAAAAAAAAAMpAk98LgnJKOkuqZ1l0epqt0lhgFQAAAAAAAACAwun0L9ek85HqWRTdFx3VrlO/zOQUAQAAAAAAAADK5qzkmzh/GZanQbkVlDNBGQjKLmlMF6PJdOZSBwAAADLy/wGDItgE0JUw1gAAAmN0RVh0TWF0aE1MADxtYXRoIHhtbG5zPSJodHRwOi8vd3d3LnczLm9yZy8xOTk4L01hdGgvTWF0aE1MIj48bXN0eWxlIG1hdGhzaXplPSIxNnB4Ij48bXN1Yj48bW92ZXI+PG1pPkg8L21pPjxtbz4mI3gyM0RFOzwvbW8+PC9tb3Zlcj48bXJvdz48bWk+ZTwvbWk+PG1pPm48L21pPjxtaT5zPC9taT48bWk+ZTwvbWk+PG1pPm08L21pPjxtaT5iPC9taT48bWk+bDwvbWk+PG1pPmU8L21pPjwvbXJvdz48L21zdWI+PG1mZW5jZWQ+PG1yb3c+PG1pPnQ8L21pPjxtbz58PC9tbz48bWk+eDwvbWk+PC9tcm93PjwvbWZlbmNlZD48bW8+PTwvbW8+PG1mcmFjPjxtbj4xPC9tbj48bWk+QjwvbWk+PC9tZnJhYz48bXN0eWxlIGRpc3BsYXlzdHlsZT0iZmFsc2UiPjxtdW5kZXJvdmVyPjxtbz4mI3gyMjExOzwvbW8+PG1yb3c+PG1pPmI8L21pPjxtbz49PC9tbz48bW4+MTwvbW4+PC9tcm93PjxtaT5CPC9taT48L211bmRlcm92ZXI+PC9tc3R5bGU+PG1zdWI+PG1vdmVyPjxtaT5IPC9taT48bW8+JiN4MjNERTs8L21vPjwvbW92ZXI+PG1pPmI8L21pPjwvbXN1Yj48bWZlbmNlZD48bXJvdz48bWk+dDwvbWk+PG1vPnw8L21vPjxtaT54PC9taT48L21yb3c+PC9tZmVuY2VkPjwvbXN0eWxlPjwvbWF0aD721oHjAAAAAElFTkSuQmCC\&quot;,\&quot;slideId\&quot;:259,\&quot;accessibleText\&quot;:\&quot;H with overbrace on top subscript e n s e m b l e end subscript open parentheses t vertical line x close parentheses equals 1 over B sum from b equals 1 to B of H with overbrace on top subscript b open parentheses t vertical line x close parentheses\&quot;,\&quot;imageHeight\&quot;:34.08},{\&quot;mathml\&quot;:\&quot;&lt;math style=\\\&quot;font-family:stix;font-size:16px;\\\&quot; xmlns=\\\&quot;http://www.w3.org/1998/Math/MathML\\\&quot;&gt;&lt;mi&gt;B&lt;/mi&gt;&lt;mo&gt;&amp;#xA0;&lt;/mo&gt;&lt;mo&gt;=&lt;/mo&gt;&lt;mo&gt;&amp;#xA0;&lt;/mo&gt;&lt;/math&gt;\&quot;,\&quot;base64Image\&quot;:\&quot;iVBORw0KGgoAAAANSUhEUgAAANEAAABCCAYAAADJyDMCAAAACXBIWXMAAA7EAAAOxAGVKw4bAAAABGJhU0UAAABBwf/jmAAABP1JREFUeNrtnVGElFEUx4+VkSSSJOklyVpZsXpIklhrpIdE1krSy1pZSfYla6wkkiRJLxnpIZGMrJVYY/XQw7IysnqIMQ8rSSRrrbWi7jE3Mr3878y939z7zf/HoYf1nW++c//d7zv3nnNF2ud3BvbL2IaxNWPfjc0be2HsobExY4NCSMI8NzZrrG4H++8u2ZoV1jljfQwLSZkBY9eMNbooqK/GSsa2MhwkZbYbW3Yc/AvGThortFxLZ5Ydxk4bmzQ2B856K8ZGGAqSMhMOAvrsOHPssd9EyLWnGQqSKmcdRDTZpo9hY6vA9W8xHCRFzjmIaF8Hfoqgj1GGhKTGJXBw1zz4KgN+ND2+k2EhKVEGRXTXg6+DoK8ZhoWkxAI4sIc9+VsSLP1NSBJoWnoTGNTr4m9x9Ako2mMMD0mBE+CArnj0eRH0eY3hISlwExzQEx59otnAZwwPSYFFcEDv9+gTXZd6zfCQ2Nkh+C4F6YKI5hgiEjuj4GB+4NnvGEVE8sIzcDAXPfstgX5fMUQkdr4CA1nT377rfl6CIrrPEJGYOQIO5NkAvr+Dvs8yTCRmpsCBfMWz31OgX13cLTBMJGaq4GDu9+x3FvR7jyEiMbNFsIrTume/x0EB/TS2m2EiMYOu0zz26FPL0D+Dfi8wRCR2HmX8Ya8z31vJrtyCkOAgM8KmHfydosV18xQQyRNoUdwbD760IxDSkkszcZcYGpIK4xK+DGFImptHUbEeyPHzHpbu9fXL2iq9IqIK+EAGHK+rqXBde1oCr1+1M1XeoYhyBlrF+kWa2bRWO2wHxRlpFtbpWo7ub/sBPmQVWCnnMw9FlHNOZfhAdR1q0WYCzxvb1aOvzxRRzrid4QN9L81Gj70qHooop3zowoPV18en4n/7EEVEEWXOHvBBaJlCwdpW+y2kAhix30JayHddmrVImhzYcHjI5R6cmSiiHIFWk15uI1mhAwXdkfBNeAIESZQXEr4hiSYQVkE/VxkSkhpIGtpHQxJtuLgOCmmcYSGpcFSy3bWNNmdUO8HwkBSYluzLsdGiv4awgpUkANKwXhdHfZ6dis5+alMMEYmZbYJVsb4L4LsGimiFYSIxg/a9DnEe0IzDbHSSoSKxgh5jEuIDv+ggopsMFYmVumR79tC/FISr3SRx+qX77Xo3wXuoMVwkRiYl+7OHWkF3MPxguEiMoI0S+ykiQv5nC/gqFTq9jG4Bymuam7u4EwbNjIU80rHPIQCzFBFFFBv3wR8+GkFiI8/ns1JECfMR/OE7A97DqEMAJigiiigm9oI/+kPg+yg7BGCQIqKIYuIy+KNDtu3V7yH0MK9GjhM8FFGioFWsxYD3MObw8EsUEUUUEzoDIGszvhrWd/pNtiZsq0UiAz1Iaz7gPVxx+N9rmiEjsYGWH8wE8j9gZxfkHpYlzMZXQjpiERzApwP41qzgiuDbfA4xXCQ20NR2iPUhbVLfEPw7iA1KSJRMOYjI5yygmbifDjPQMYaKxIh+W9QdRHTDg88j0jykC/VZk946VoXkeBb6W83azneRdgTSvnILDr42bCKDSQQSLdqMZFPaWyDTHtp65H1/yyDXf2unIF0s1D1weqBX1dGP/q2eT7SfISKxvr5pY/iKxLdyra+VJZvoICTK17alDmaeUGcQVe0r2xBDRGJnLmOBbFjT7NsnaRbP6d68O/Y1b4jfOoQQ0kP8AZq78S9vpSPmAAAAknRFWHRNYXRoTUwAPG1hdGggeG1sbnM9Imh0dHA6Ly93d3cudzMub3JnLzE5OTgvTWF0aC9NYXRoTUwiPjxtc3R5bGUgbWF0aHNpemU9IjE2cHgiPjxtaT5CPC9taT48bW8+JiN4QTA7PC9tbz48bW8+PTwvbW8+PG1vPiYjeEEwOzwvbW8+PC9tc3R5bGU+PC9tYXRoPqIXQJgAAAAASUVORK5CYII=\&quot;,\&quot;slideId\&quot;:259,\&quot;accessibleText\&quot;:\&quot;B space equals space\&quot;,\&quot;imageHeight\&quot;:10.56},{\&quot;mathml\&quot;:\&quot;&lt;math style=\\\&quot;font-family:stix;font-size:16px;\\\&quot; xmlns=\\\&quot;http://www.w3.org/1998/Math/MathML\\\&quot;&gt;&lt;msub&gt;&lt;mover&gt;&lt;mi&gt;H&lt;/mi&gt;&lt;mo&gt;&amp;#x23DE;&lt;/mo&gt;&lt;/mover&gt;&lt;mi&gt;b&lt;/mi&gt;&lt;/msub&gt;&lt;mfenced&gt;&lt;mrow&gt;&lt;mi&gt;t&lt;/mi&gt;&lt;mo&gt;|&lt;/mo&gt;&lt;mi&gt;x&lt;/mi&gt;&lt;/mrow&gt;&lt;/mfenced&gt;&lt;mo&gt;=&lt;/mo&gt;&lt;mi&gt;c&lt;/mi&gt;&lt;mi&gt;u&lt;/mi&gt;&lt;mi&gt;m&lt;/mi&gt;&lt;mi&gt;u&lt;/mi&gt;&lt;mi&gt;l&lt;/mi&gt;&lt;mi&gt;a&lt;/mi&gt;&lt;mi&gt;t&lt;/mi&gt;&lt;mi&gt;i&lt;/mi&gt;&lt;mi&gt;v&lt;/mi&gt;&lt;mi&gt;e&lt;/mi&gt;&lt;mo&gt;&amp;#xA0;&lt;/mo&gt;&lt;mi&gt;h&lt;/mi&gt;&lt;mi&gt;a&lt;/mi&gt;&lt;mi&gt;z&lt;/mi&gt;&lt;mi&gt;a&lt;/mi&gt;&lt;mi&gt;r&lt;/mi&gt;&lt;mi&gt;d&lt;/mi&gt;&lt;mo&gt;&amp;#xA0;&lt;/mo&gt;&lt;mi&gt;f&lt;/mi&gt;&lt;mi&gt;r&lt;/mi&gt;&lt;mi&gt;o&lt;/mi&gt;&lt;mi&gt;m&lt;/mi&gt;&lt;mo&gt;&amp;#xA0;&lt;/mo&gt;&lt;mi&gt;t&lt;/mi&gt;&lt;mi&gt;r&lt;/mi&gt;&lt;mi&gt;e&lt;/mi&gt;&lt;mi&gt;e&lt;/mi&gt;&lt;mo&gt;&amp;#xA0;&lt;/mo&gt;&lt;mi&gt;b&lt;/mi&gt;&lt;mo&gt;&amp;#xA0;&lt;/mo&gt;&lt;mi&gt;f&lt;/mi&gt;&lt;mi&gt;o&lt;/mi&gt;&lt;mi&gt;r&lt;/mi&gt;&lt;mo&gt;&amp;#xA0;&lt;/mo&gt;&lt;mi&gt;p&lt;/mi&gt;&lt;mi&gt;a&lt;/mi&gt;&lt;mi&gt;t&lt;/mi&gt;&lt;mi&gt;i&lt;/mi&gt;&lt;mi&gt;e&lt;/mi&gt;&lt;mi&gt;n&lt;/mi&gt;&lt;mi&gt;t&lt;/mi&gt;&lt;mo&gt;&amp;#xA0;&lt;/mo&gt;&lt;mi&gt;x&lt;/mi&gt;&lt;mo&gt;&amp;#xA0;&lt;/mo&gt;&lt;mi&gt;a&lt;/mi&gt;&lt;mi&gt;t&lt;/mi&gt;&lt;mo&gt;&amp;#xA0;&lt;/mo&gt;&lt;mi&gt;t&lt;/mi&gt;&lt;mi&gt;i&lt;/mi&gt;&lt;mi&gt;m&lt;/mi&gt;&lt;mi&gt;e&lt;/mi&gt;&lt;mo&gt;&amp;#xA0;&lt;/mo&gt;&lt;mi&gt;t&lt;/mi&gt;&lt;/math&gt;\&quot;,\&quot;base64Image\&quot;:\&quot;iVBORw0KGgoAAAANSUhEUgAABc8AAABUCAYAAABUd8+dAAAACXBIWXMAAA7EAAAOxAGVKw4bAAAABGJhU0UAAAA870vuGQAALspJREFUeNrtnQ+kFs33wI8r15XElSvJFXklSSJJkkSSJFckSb4SSZIk8kqSRJIkr0iSJJEkeSWSJEkkSZJIXkkSSXJdV/Tb8czzu9s8s/93Z2f3fj6M7/e9Pbs7e+bMmTNnZ86IVE+fAAAAAAAAAAAAAADA/3MkKMcQAwAAAAAAAAAAAABAhzVB+a3LOsQBAAAAAAAAAAAAAJOdZUH5LhPB8x/6bwAAAAAAAAAAAAAAk5KN0gmWq6D5r6CMyUQAfSPiAQAAAAAAAAAAAIDJgjoUdFVQbsrEanNVDgXlgPG3m/q3HCQKAAAAAAAAAAAAAK3mt6XcDv37zYjfqFXpakX6f0G5E5Qr0gm4bwjKAGIFAAAAAAAAAAAAAJ9ZEJQtQTkXlOtBuR+UL0H5KRNpWcLlUVCmhq5XgfCHYg+gR5Vf+j67gtJPEwAAAAAAAAAAAACADywOyj/SCZJnCXpfE/uq8QH9b79zlM9B2UmTAAAAAAAAAAAAAEBdzJJOypWsAe57QVmf4v7r9W/zBNHVqvcpNBEAAAAAAAAAAAAAuGSZ2Feav5POqvH9QRkJypqgDEo56VTUPVTAfm1QNgflcFBuSCcPui2AfotmAgAAAAAAAAAAAABXqLzm6vDObpD6TVD2SCewXRfzpHOAqBlIP0hzAQAAAAAAAAAAAEDVqNXfb6UTmB6XTtDcJ/qCclQmgufqkNK5NBsAAAAAAAAAAAAAVEk3MD0alNUe11PlS/8lEweTAgAAAAAAAAAAAABUwvSg/JROQHprA+q7U9dVBdGHaT4AAAAAAAAAAAAAqIID0glG321QnR/qOh+h+QAAAAAAAAAAAACgCl5KJxC9pEF1XqLr/JrmAwAAAAAAAAAAAAAAAAAAAAAAAAAAAAAAAAAAAAAAAAAAAAAAAAAAAAAAAAAAAAAAAAAAAAAAAAAAAN9ZL50DWbtlJyIBaDV9QVkWlC2IAjLQr8eLg0GZgTggBdO1zhxAFABQgJkhWzKMOAAAAADaxdKgnPa8jr4HzweDcjkoc1AngMzM1n18t+5HT4Iyrvv6a8QDFgaCskY6H1dOBOVGUD6ExgilP1MQExi+jtKXI0G5EpQ7Qflh+BYzPajjxaC8D8qY1uP/9N/m04QAXrBI25KTQbkelKe6v4ZtyWDDbSV2CAAAoCWoYO9Pw1FJU9REKW510SWLA5RUvjV0kj5Fy1G9w9+e17UJwfO7Wid30D0BUqNs8miMfT3f4ndXq6O/BOW7dAJ6kJ7b2ub+iNCb+4gILP1N6c3zoPyy6MzHGuumVr9fk4kPhiuls/tmbqh+Y9oXAoB62RWUW3oMsvkvLxv6XtghwF8GAPpci1FbtNXX/08SHXxRDb9Hsq0CmBdyIOKC8DMbKrc5egKp3mV7A+rblLQtF3X91OpZVj0CpGdIOqtBTVs70tL3XWV51z2oQS6OWmR5CLFAxv53paa6KN/0hUwErAZj6vmepgPwimnS+zHubAPfAzsE+MsAQJ+bJOyS6MD5rAL3/Rhx3w0NlpVaSfBNv0dT8gk3Kef5WV3HR9LsbZsArtlg9PNfemLaRs4Iq6XLYqFFlssQC8QwzaIzW2uqy4NQHRYb//aPUcdRmg7AK/qkN3i+sYHvgR0C/GUAoM9NEraKPchdNMj6VNqzHU+0Q9fNJby7QfVu2oGh3RXoSn8IoAOk44DRz5+2+F1PWMaWe6hALjYZcvyJSCCBlZb+N7tmm3c9he9zgaYD8IpF0vvRv7/Bvhd2CPCXAehz9LmWY9u2rb6M9xW4p7rWlv+8qdvB18vE6ojTDax7k4Lniu4qjsfSOdwOAOK5ZfTzUy1+18WWsYXzEvJhroq7jkgggf1SfxoClaoqnLN/acTvdmjbeFhIBwfgG+bO50cNqz92CPCXAYA+N8m4ZWnkWwXvaVuZpMqSBspnuUwcavOogfVvYvB8RlA+6/pepYsCxNInvQdvrWv5O6sV08+kk190LyqQmzeG3uxCJJDAHUNnLtVQh1Oh57+jSQAayU3DlhxtWP2xQ4C/DAD0uUmELejyu4SGPma557cGykcdatoN4qrVBcMe1Enlo80S4Ghi8FyxMVTn3XRVgFibEO7jKr3UlAbVnYBtfeObOU7PRSyQ4DOOGzqzyXEdpkonvVD3+SdoFmCcaaQt+WnYkuUNqj92CLBjyBTa3TboB7rUQ9QK8QUF7/vEcs8mbgcPHwJzwIP6qC2CKph/LsM1TQ2eK+7KRBqhefR9ACsHjT7+oCH1zmPPoDy2GHrzAZFAAqssvt0Mx3UwUz2solmAcaZxmPPPoulCXYMdAuwYMoX2tg36gS5ZseU7/1zwntOl9/R0Vf7XMGHvDtX9Pw+cOpX7+7FkP42+ycHzpaF6P6T/A1gx0ygcaUCd89ozKI8rht5cRiSQ0Wes4xD4R6Hnj0mzAm7AOAN2W3KjYfXHDgF2DJlCO9sG/UCXInkovUHuKwXvuUXsq9lnN0jYg9JJM9Ot+8Ga66NOn++uwlYfJrKkZGhy8FzxXOrbHg7gO7bDmX3f+lzEnkF5fJR6029A8zB9RtcHE88ynn+PJgHGmUby2OjLTUrPiB0C7BgyhXa2DfqBLkUyRewrxLcUvO9lyz2bdpDKyVDdlYyGaqyLCuSH08dkXYHd9OD5AeFAHoAoVkiztj4XtWdQDn8ZevNLtw1AFp9xreM67DaeT55hYJxpHlMttqRJqRmxQ4AdQ6bQvrZBP9ClWEbEvkK8aP7Kz5Z7nm+QwKfJn4fAPKqxLkuC8l6KpWRoevB8nlH/7dgEgP/nkNE/bnlc1zLsGZTDTqMdniESyOhLqINDXX+oe2DUYYRmAcaZxrFJmn3eBnYIsGPIFNrVNugHupTIP9Ib5C6av3K+2APyTXIs9ht1P1pDHdSWwLNi3xmQNSVD0eC5OjxWpa25KZ0PI2rC/DoowwnXqR0MKuXKmHaMNxSQx6dQ/Z9iF0pD5ZQ/Lp2c2d91W6n2/SKdA37XZOz7akJ0WjpbWNMGcdVqxv5QSROMUR9UNus+cleXKNTHlsf63dRHsXP6OUmGV8lkVF9zNocddCWLu0b/3leCXqg+r1ZSPdEy6OrEBZlIv3VAy+g//ZuFDuyZkslqbcMu6/pdT/i9sn/qYK8renz7klKu/fre6t1UepM9BWXap3XiqnR20HTl+iooh8X9tsDrRjucjPnt4qBc1HIY1+PAoZLqUbau1UFV7zBH+04HtP4+1GOqTbfUb95qO/dU8q3iXKL76StdR1WuycSOhJOGzvzrWM7TLDbEVTpAl22hcjRu1c95ocegcX2/9/rva3K+h+9jpw9+s+t+52Js8G38OW+0z6WIdjip+0C3vp/02LWiRntfpx1ybS9c94Um0hZ/uQ5bskDHCs5r3Tof8y77tV6N6Wc+1mOZ65hKUV2pO57SVn33wXco2uea6p/54l840aW3lpufKXjP/ZZ7/tKDe1N4btTfpZFaoTuDreGjSlJwP0/wfFgHVd/putjqczPm+iuW338vIJcbxr0WCxRhkw4k/tZ2YK90Ar5dI7hDks9AmK8HhVfaSJrtnTYX7muJz7s8pAcT9bHvnjbKafrAsKUvJwUK+3S9bdfEfbV0JQtbfc3nLSqgFwtlIhivJqn7Qs7QTOl8DPii/3/4g9aHiuzZfB28U0G6HxG/3x9hL77HPGNlCllstlyXJydrv3Yevia892PH4+Q3SU6/Maidoag67/FI17p8z6BrZvnPg3e4rAMgYxF1NCeXsyPs3IuM7/EwRi7dfL5PU/S9stjpsB19aYtBrTPdMe52UFZpO9+nJ2Vhv/1RQtCuCWOnL35zHf3Oxdjg6/jzLsHXORrhS4XLRQf19MEOubIXdfaFtAGahXpOvl3bm6s6GPRF+4ph5mg9eqj9x3EtqyfaJhXdZd8Wf9mVLVH126r77eMI/bLFW5ZJ7yrScNnhOKaSFd/iKW3Rdx98hyJ9rg3+mS/+hTNdmhVxs/UFX+Cu5Z51pj3JyhxL/ac7fP6LHA5aUo76PMFzFZzepY2l6nRTpHelolLSaZZrr0XU80cBuRyVeg8pawuzjCDJIbGvwp1hyPtAhOO+Tjs7dyztneZU40WW6wYtjtMtPTH4HKFb5hfFpXoQj+ozXyx1Uf38Qcw17xMmMS5kYbLS+P23ApOS46GB53pE3xb9fmYfv1yRPVPOxYh2uM9E/H5hwnvtyxkEX1/CZHil4fR/1HZ1akjm4fsfc2QHFkty+o0F2umNa6uXHumaaDuQN9ChVmEs8eAdlA1Zq/XvlqWem4ygxaeYd0qzw+K44XA+1w59d/dLd7X5YotjuqBCHb1SoC3LSl3lsi02hMasUYleUTdkjG3q/8+N+G0Txk5f/GbX/c7F2ODr+DNsmUt051nKjt7P0I4XKq6rD3bIlb2oqy+k4S9dlzsxtmyb/u2ADuQlBVK+aBuJv+zGluzT40RUkHFceleobk3Rjm8dx1Ty+Ns+xVPaou8++A5F+lzT/TOf/AtnurQ9peHKwhSxrxSoI+1JXsxVBmM118f8GJHnq3FZOc+HE5woxREdhBjR+qCU84029NsKyGGL1HcA7UgB57msUsZWuxUhozuug71p7UOSvAcl30cnMw1A0koVZZCfSe8BmWFUAOy7ftcdWg/XWWxdGOUIdFdVntYD4qKEa+qWheJwCXqi3vVR6B5nM/bF35J+62RRe3Y/haNgw9y5cjXldU9z6oDCzEV/16IHU4zffHRk08wPCv9anP2vWr7/0/1uUOtGXnm40LVjBWzseg/7y4BEf1BTNuu1HluvSe+qlfEUduqRpEv5dN/Sd7+Ie0zb7/IjepVtcdIYz5J2xvxt3P95ygmw72OnL35zlW3tamzwefwx51lPQ3Lv2iS1Em9NKPiqdOpmygBDm+2QK3vhqi/kDebdsQQf1aIftUDoldblffq/u+Pd8YhgU5YFcpPBX3ZhS1ZJ8urrbfrvT7SO9+kg5e8CelZGTKUM6oyntHV+6IPvkLfPNc0/89m/qFSXrjsM/K2U5nBNqt12ltVBKCMlQ5kHhppbRU6H/m2N/tu6CmSx2qJXw47aoQ3B87WGY5t06OqNjMbVPOvgbcp6fcwxCbkVI5s5emB5pgeJMOFrPhn97J52SNbHXJP2S79LWdwt2LfVxOJDRj2zrcie4cie/Sf5guAjOe260qGXkv0LvZnP9bbYV2D11RRkMvvQwdC/qZx7XyP60FCCc1e3rj3X/VQ5Smm2p3fTUx3wsL/YAhevQv92W9u6brqtAxn6xpC+V9pzaWypC67U4A+ZK9A2Onx+VW1xPcdEc7Gk2+7etLHTF7+5qrZ2NTb4Pv6YOn885HeOJ/injyy6f2kS2SGX9qLqvlAEM3jzSI/Pyo9WK12nRlx30SKLg/jLtdiSsZj5y/qYYG3eFCZlp7ksSl3xlLbOD33wHYr0uab4Z777F5XqUlJ+mrLKqJS3bcsFb8Tdtrsk1hh1+ZrzPmUGz81DZruHGSjjqLadnKhIFtMk/9fMojQ9eL5c/gycX05xzb+SbaXK5hyBFdvKgzSrP83cd7v036dqx/6J9G4pmyvRKxzO6cHDXL00XfKln3IlC9sAMTeDXgwZA/1rSZeTbCRmMlWlPZthkdHWnBPAXxnGpeGMk/Rz0pvaJEquS8T9l/k+y6RlSUgnPmhdt23LNFfiv/BI12bq36xOWaeVuv9c8rS/dG13+Np/9N/3ah02FyZ0c06qVAZRKZ8GpTdwnpTGyLaaaIu4ZYVkT2tVJlW0hblY43yGPpzHR/B97PTFb66irV2NDb6PPyK9aRuUzd6n7fHahGs3ivvc4r7YIdf2osq+UBRzgc9RPSYfz9F+D/CXnduSmZb6zdT/Nl/bCNsZfP2W6646kmnZ1BVPaeP80AffoWifa4J/1gT/ojJdWhwRoCs60P2UbIcg+IZtRcHVGutzoqQAapnBczMwOBpy6pRxnVJh25i6ddZROzQ5eD4sf+bH+pyyn4+E+sJXSc4FbBrUNFvKLkn2tFE2x2luSAffRLyfqbd/h4JCY2LfHWNO0k7mHFyqkoUZcP+QQS/UYBxe9aDaOu2X2e0Rk6mq7ZktgDcrw/Vm/u6lOWxP0sTeXHmldGtezO9P5ZRlEeLy5D/QztC0FNelHR9d6drODP7GHG3X7nvcX7oBCnNb71w97ubJH9gnvSs3r6W47n+Sf/V8WeyR+lK3VdEW5jkunyQ6j6iN3xK94qipY6cvfnPZbe1qbGjC+LPMModYoOu6PcX1Nj0enwR2yLW9qLIvlIGZI1gFlq7k1J+f+MvObYlZv2f679N0n4pauGg712ax45hKWdQVT2nj/NAH36FIn2uCf9YE/6JSXTog5Rz8FecQZTmYzRdsuYov1lifxzmCcDbKDJ7PFvtJwlmCUXkxV0veEsiqQ/syXDtX605/it8+NJ4zL8VAYeZHfJBDl7tpNFTfUB8JolL5mF/4V+nffpPoFZSmAU67zdWVLI5I/jQK5gqmMxmuNbdsjTiyZ+YHhlcZrze3xKVdEbAy5STZtqLpcMzvhw2bpv7/Xw5sQlSe/KO6D81MeV3a8d2Vrs2TdKlaunla30r6BQN19BfFTek9VO+edqTzTKzOWgIoafK9moGbOtLZmW3gemFDmW2xztKX/pfxHr8l2/k8TRg7ffGby+53LsaGpo4/t3Sg5lKFut90O1SHvaiqL5TBX5b3+SjpPyZk/fgy2fxlF7bETD90JCTr1zFtuU3yr5otK6ZSFnXGU9qm7z74DkX6nO/+WVP8i0p16Z5FCOcK3vOQ2IPn8xsUaFxrqf8/NdVlqvSugp+d815lBs8VtpQ/LnIOmls9nwvEsdfiXFaRQslMH5Imf9bOjIY4auJ1QRtp9cw1MdeF0010U0mpVadxWzwfGpOGfs9kYdrxtGkUzK/jatVNllWk9yX5hPgq7Nk7KbbzxNwRkHbLczfguDfmNwPSu+XuY4zOTLEM8Lsc2YUHlkn4MrFvwQ5z26KnSzzUtSTuamd0rsf9pWtLwrv5Xmont+sgl+HfpJ3YmBNdlyuJu7w16rDD4bPLbAv1weazFPsQODVHMMz3sdMXv7nsfudibGjS+GMuLngr2QKftl2oX1psh+qyF1X0hbKw+cxZPiZkkcVk85dd2ZIv0puTeLNuiwUx110We9DdZUylTOqKp7RN333wHYrMUX32z5rkX1SmS1OkN09uGQee3JV689CVge2gg7qC52aqkHclvlfR4PlNi3Gd5UAm5iDzXSAKNWB9y+lkZMX8IpkmdcJzS19bnuK6O5bgz/2EYE6/YUzVSqfdegCJmzSE7eQzz2Rhy3eexsEZtPSjLHn1zPHjpSN7NkvyH3jVxdxOmGbnylTtvLyT+A9PRy312xsjQ3MV/N+O7IJt/J+rHaOkDzbm7ohRT3UtjtN6crYiQ+Cirncwtyef00GTPDuupkrvgcSPM1z/0rh2rbjFtqXV5WFSZbbFKSmei9a2dT3JH/J97PTFby6zrV2NDU0af35J/o94Ir05Xl3uQq3DDtVlL6roC2Vh5jv/IukXBg1I+o8vk9FfdmFLzNTBagfckJb13oRr3+aYN5YdUymTuuIpbdJ3H3yHonNUn/2zpvgXleqSbftX0ZUhtkBO1jQCPmDLbV1X8NzcinG+wL3KDp6buwzuOJKJadR/CERhS7Ewp6JnmSvck06utznyoyntzKhht9RAkZQbboPxrGPaWY6Th5lP/KxnsjDr9zpl/c5I73bVmQVsyTlH9myLZM8Jn6QHaVZvHZTkj8tKfmOWNhyI+O0jYwLr8uDFdRbH4lQKB2pxjoBFXboWRTdvd5YtfHW+g+mwXtA2L8/WR5vzm3bSOWA46GPi/hD4DTlsZJmU1RbDFl85z44wW27Nfxs+dvriN5fZ71yMDU0af2xzrCcZ77HZco8jLbVDddmLKvpCmZi7kLOklViYwZeZbP6yK1tywKJXNyX5DJrZBfpfmTGVMqkrntImfffBdygyR/XZP2uSf1GpLp0qwXkxWSP2lC2bGxZwtJ3iXlfw/LXkX5mRZNCKBs/N7d+uTkUmeJ4ec5XhywqfZa4CWZ3w+7sWY5xmhbZ5rsIbSXeY6UnpTfeT9CX0b+k9JMknWRzJ4aTYJmLXMrb1pZx2qag9uyLZc8KbzM/oeE/T+pU0yTwhydsu+/WEIbwbRL2T6xUmJy1jv3LUFiRct0fsuRl91DUbK3R9jhcMXLh8h8eGM/0ipyOoVhOZh7k/LRDwqmNy93eOwE+ZlNUWNv/7RI77nLXc52TDx05f/Oay2trV2NCk8eecpa4rC9pUl/mBXduhuuxFFX2hLJZa3mVZhus3Wa4/jr/s1JbcszxD+ShJ6RV2SP6DAMuMqZRJXfGUNum7D75DkTmqz/5Zk/yLSnXpec5BNI5jYg+eD0qz8CVty0zp3RkwvcT3Kho8t229HHIgF4Ln6Vgl5Z9pEEc4d50afPsSBgm17e6TZD940HauQhpH3sy9FZerq4uZ33m6Z7J4kGOAsA2CazK0c78lCDfdkT0z860dzqGnti3XfQkT1ySHvk96czeGAwLLdd/rOhU/tc7WdRbI05zj/w3LdQs91LWoScEXyX7iep3vYObt+6VLnt1DRyzvkSVPr5ljdE8NemtubT7q8NlltYWyFd8tbbEgR50eW+6zquFjpw9+c5n9zsXY0LTx560UO7fI1odet9QO1Wkvyu4LZWLasqzpYc9YZLECf9mZLbGlDlRzoIMprjXPXkmbR7nsmEqZ1BVPaZO+++A7FJmj+uqfNc2/qEyXBsUe5F5X8L6PLPd80cCg4zLLe1yooR7m9o+nBe9XdvB8nmXwc7G6yMzh/UXAxkmLHlfVPsOSLY+usgv7Jd/BwuZqhTRbymyHR+xN8azRHJMzV7IwnU/1fgMpHGPz0KmsKxzM1cevHNmzYSm20iiMuco/6sv4Qi3XJF2J2nV1PWSvvur/3iLuDs5L2xe+pnQuvmSwvXXqmsk03X+fpugjPr2DbXXctZwy+M9iN9Pq4RTLhKgOx9hsiw0On11WW9hSJr7PqdO/LJOmJo+dvvjNZfY7F2NDk8YfW07YrIdtbrPcY09L7VCd9qLsvlAmpi3LmhbKPL/jE/6yU1ti0+s3ki4VkRkDmOtIplVSVzylLfrug+9QdI7qq3/WJP+iUl2y5T3LkzvWnFzZDoA51cCgo21l4uUa6nFVim/TC1N28PyZRU4u8lqak3hXW7dHIgyIy5Jl1eS/JQYbs9qUuNyDSu/Uh7atKZxXm50xHYx/crTd9xRBNDO/80XPZGEOaGnSbq2WYmdSKOfKXDV2wZE9M2X0s8TJ75qId1WO390U97OtYlL28aTWh3kejW+2yXCaXLFzM+pOnbpms4UqeJx1JU/d73BR8ucoD2NbEHAzw/W7jGs/1KC3Q9K7mmTA4fPLaoszBXUqyh4m9eMmjJ2++M1ltbWrsaFJ4495YPdojsn2Cyme/7spdqgue1FFXygLmy3Lsjp2nuWdjuEvO7UltuekSfG7uIAvUnZMpUzqiqe0Rd998B2KzFF99s+a5F9UqkuXLYJ4UPCeGyOCfWulmZgB2hs11OFTybIsM3jezZd0R8rNm58G8yONq1UQTQue27Z6VuXkn5d0X8xnSGe16gKLgbuS086k2b5qHh6RJn3N7hyOnUtZHMsxQNi25G0vEETLIpei9uxagb5gcleSV46d0u2T5qCce1I8h6srzL6gHLY0qdVsk+8RT3XNbMfvkm+be93vYG4Bzbvy3nZQaJaVmmb+wEs16K350ee14+eX1RZ3C+pU1H1+6jGlyWOnL35zWW3tamxo0vhzvaD/btPjbS22Q3XZiyr6QlmstbxLlo8nZg559QFnCH/ZqS15Jfl2Uxwo4IuUHVMpizrjKW3Rdx98hyJzVJ/9syb5F5Xq0icp/5Ry25eJpFy/PmM6Gq4PpppXgSzLCp7P1/W5qju3uQqjyjafYtGzvx21SdOC5+OW66vC/Goe5ZQrnenm8DK/UKc5jfmC5NuOYz4rzQp8c5I3yzNZPMgxQNyR/KuIVIBVBZPHcsilDHtmHn67q4C+3kxwHrq2Mu1qph8WuU4RPzEDoWlXlly1TDineKhrYbqrHPOmpKvzHWyr4w7lfI9blnutTnntZsn20aQqzDRkLncDltkWNluxJuM9hqV3EUGSD9+EsdMHv7nMtnY1NjRp/PlWwJb0S28w937L7VBd9qKKvlBVkC/LvGiqRQeP4i87tSUzC8zjzUBe2tQmVcRUyqDOeEqb9N0H36HIHNVn/6xJ/kVlujQvIii3quB9X1ru+a80F3Nwdn3y8a4KZFlG8LxPt7XaAt/NkfuzoGOXhb8seuYq7ynBcztmyqYPMfqn+tEM7cCadUuzwtccnPanuGa2ZE+Jovgs2bcGupKFucUraoAwB7ivBQZBtbXroXGPT47smS2X3HABnTUDwdsMG/NNsh0C5vJDVdmTlrSB5XeSbcVPXbrWZblul90F5FXnO+wqUedtCybS7EIa0DasznQpXcw0ZFtr9MeKtMWY5V7TMt7DXDn5TpJTX/g+dvriN5fZ1q7GhqaMP0sstiSL7pvzsrQ7w5psh+qyF1X0hbJ4ViBIZe7C+hAznk1Gf9mFLbGlDp6dcn5lnvM03ZFMq6DueEpb9N0H36HoHNVn/6wp/kWlurTHIoQxKRaZnx4R6DsozWWN1PsF8GaCLNVXvrkZ71lG8LzreKyMqWuVK8E3WNqlX8DGT0ufrEKHVxnPuGr5zaA22N0tYOYWpVcR+hpmUU6Ha6dkP716jsSvzp0V8WxXsjAP27GtvlIrMq6XNAiOaH0yt8va0lkNVWDPTGfbtsUzS1qOCxG2cEjf+3ZLgxemHNNud54hydv2ZsufKxjq0rVu/1SBlX8KyqvOdzD7zOMa3uOs9B40+qgm3R016uEyz2LVbZFlXJ5lyEL5QEmrjZowdvriN5fZ1q7GhqaMPwclfwqQlRbff/UksEN12Iuq+kIZ2A4+TTsXnmORxXIPx/86/WUXtuR6Tr0y5WlLa7LYYUylKHXHU9qi7z74DkX6nO/+WZOC55Xpkm377p2ClbVt61VlSYMDj8o5MbcqLHP4/B8JslRfU7Lm+SsaPF+knQ0zt/IhST6IbEAH+IquEtnuyUS+CTy29MlFOeSdtDJ1r/GMHZbfqGDkw9B/H5b4g1GOSW8A80jOtjeN6cYU15j5ncN9TX2JV1uqTtcoi+MSv5V2tkzkUy86EVug7dF2LYfwtfssg/mhCuzZ+QQnYal+36kpdcKUnwqyqo/Az6WzEmRqxn7y3iLX+RmuV4P52xz9MyvmeSdp882aeV7fWMbLJ4ajX5euTdVteLcEedX1Dn2WIM3Bkt8jiY26T5m7NMyD1fq1XzlUod7Ol/IOC87jC5bZFt8LTkSuJuiUjSaMnT74zWW3tauxoSnjzz3JlzJMTeg/S315zuu0Q3XYi6r6QhmYvsjnDNc+yCiLyegvu7AlXyT7KluRidzg3XLc+Pc1uk8OOYqpFMGHeEpb9N0H36FIn/PdP2uKf1GZLk2J6BxFc5jZTuN2ObkxjUpZXJLih7TkwTwJ95sl8JPng0eR4PmADpg8txjTVSnaXhmS6yXI5nJOR3Aycs7SL7OkMNiknefFCb8zD8kwDeRhbdDmhP5mrjzYYARtvlscg6c5HC6lq+Ftr+OSbhuauTJ5aejf1PkOatvrtBpl8ci4ZoUlkHnAUr9vFp1YGCMHte3sk0yk6DAnYuE86xvEnsqjDHtmTrrDeVKHdB2zDIjmF/urWqafcjqkVyxyPZ7y2o1aJlcd2AQzBUfaLeenEybRqk+8NPpWHbqmuK37/FYpnpevrndYaXlukZU3tgBM3E6N5dpObdHyjNtGfEuqz/u7NcWEsirKboubkn8lqbnz7lzK65owdvrgN5fd1q7GhiaMP7b5Z5q822rX06sCfmzT7VAd9qKqvlAGZrzhRsrrzMBrmg94k9FfrtqWLJb86S3MvhBe2DVHP3u3w5hKkTiVD/GUtui7D75DkT7nu3/WlPltZbq0VewrxLcUqOw0sSeTf1ixkBbp4N5B3bAPtJF5U+IzVki+VRJF2RfjHKiVrHnz/KUJns/Rym7mEbuq5TsvohObTvFyQ+++SLqT3ZN4bhiLIYG4AIjZL19mDC6mOczJPO9ADH21fXh6Ifb8u8u0PTEHmaGcDteanHbpacRkRdUrbturC1koRmMmU1djJhS2idiJiN8u0wP+49CgbNa1PyTn2xGDdxn27EfEcwd1nbKmWdlukcNXyZb6Jcxqy/1+yZ8fNUymhxwZF477XEv9BlNeax4kFE7Pslk7cQs80LVj0ntYzDXJv7W+jnewvcfLgm1ve48zMc7uD5nYlWCuEptiBDJeVxQMNSeLda2ALLstdkq+HWHD8mc+0bSTkaaMnT74zWW3tauxoQnjz3pLHZM+eM+WPw+4Hi04X22iHXJtL6rsC2Vgnr2SZvGfmRox7c6XyegvV21LDhTQq48RvsgMHfu56TimkoTv8ZS26LsPvkPePtcE/6wJ/kVlutRvOCFlrd69FHHPjxULaYduGHNSf6Hk54SNwWdHCnBD7Gl1uikh1pbkvJrB879CBuCndp5UB70sySvVH0pvDuZ+PXCMSrrtJEmYue4uCiRxT7LtNBkITRDS7kwwDzRaqgeMkzKREsPEDP4qg6ZWEXwTeyqJ/+V0uM4a1x3N+U4DWh7jCXJxIQuR3pyP8/SAq1aBPpDoHThRH1APhRy8+Vpuv7ScB2Pqukk7w+qZUyu0Z+b7Dulg7Rs91mR1JM3g+Q/58wt8Hh6J/TyR4/LnFje1kuOITKzyuCpuTi7fIflOc7c5hru107VJv+N2D3Rti0QftDyWIugyxdJv6ugvCvNAtOMF2357xHsc1u/cp53mbl99HqqfOZFboN/xmnZGXaxGfBwzmayasttC6Zm5DTZpBe4Mw3/Pksu/KWOnD35z2W3tcmzwffyx2dK4FeTb5M8Pd6rP1J0KtA475NpeVN0XijDbokObEq7ZGBrD1P/uKaizk8FfrtKW3CugV7Zc96o+amfKO4k+PLSqmEocvsdT2qTvPvgOeftcU/wz3/2LSnRpoe58URPLL3pinXb1kJporUy4Z1doy6T6gzbHMwykWTHzubvIe/4uRqYHCtw3KXi+P+a5Sc7XwZhrT5Ukl3A+rV+SLefSZGW29K4c7H54WBjqz8rI/62N/E+t92kZi2n7Oyn6rHmA1LQURvFYzr60OodNyaLLLmSheBFxzXVJTl31IsFuhw/xmZHgIKhyN2HsKMOe/Yi4/kfOCXXYSRwvyUEbjuhrUeWXFE+ZloXrBSYt4zHvcdwDXVtqcdxtZX2Mj/QtQidd95fpluuK+h19Gd7jlfy5o+tXjN/oIoehuRLru8M+U0VbdPU1bNOU7s2K+O2cUCDsR44AdFPGzrr95qra2tXY4Pv4M2CZgL835ogq4LTbsFWqnqcl+zkkbbJDLu1F1X2hCDssehy1+l8FbE4YQak849Vk9JersiW21E1Z9OpHjC8yt4aYShy+x1PapO8+xNzy9rmm+Ge++xel6tJGHQj7naF8l+gVeAO6cuMZ76mEqLZ3LK5AWIPGswYreEY43945BwpwryJDsk4H97rFPMxwJCYgl8SMCONRZqqb8MeaCwJZJlXPUvZVJeOsKQ4eRtzrkkR/OLNdoxz+mSkmLb8l3SrhedKbwiHth7znlvod8UAWXZZouzSu+91tST7YtcushEHmlw6I2up7SD+vu+pgtyN7dt1yvZpArsjZJ7aEdGJ9iX1trvSm7rGVR44Cj2G+Snzu6jieRrzH3x7o2kwdhFFpSNRHkV3aIR2P0BnblsjwWQU/a+4vWywTw7LGgXcJennFMtGxTaZeyp/nNlTJMsl3yG0ZVNUWovv/m9C9lY+sdgj0hwKJR7U+Kv05HxMwSxvw83nsrNtvrrKtXY0NPo8/XX08GhNoMO3qFcmfcqtNdsiVvXDVF/JyPSI4tU0mVjfO132+e76LGvOK7HiZrP5yFbZkXUG9smU6+Jzi+VXFVOLwPZ7SJn33IeaWp881zT/z3b/wQZcaQ/jk7ecVPSN8cMqoVJNrKoxygtRXvTFtiG6Ju+2KR3WQRT1bnY67N8O1q7Vz1712T4n1Cp9y/9VBG7SR7paxN1qPx7SjrQJjZyV/2oqwvqr7/ZsiMKeM8DN9jVrtflKqz5ubhRW6XkpOdzPIpimyUB9CD+uBcFSXF/rZZQfFyrBns/SAPKYdbjUxnF2gTupQnvfatlfBdv2eP0K6oGSgAryLG2g7FmubPqYn7VcyOEcudM226mhIO/nmivTHlt+GD1f+WXN/qbrfH9I2vzsGfNCT0qg+uVz3lVEtu91S/W7CMGbO3xFpF+t0f3odapNR/d9qQrarYf5O3rGzyX6zb2OD7+OPskM7tH5/DOn8B/031ecHPWs3X+xQ2+xFFswFAEd14OdxSBZK5x/qOc3KEvV1svrLPtkS5dPdC73XP5Lu3LO6xgZf4ylt0/c2zlF99s989S+a4gN6Qfjk7eOOnnMSsTvndkj+mxEHAACkQDmw14xJ93njNwti/g3q5ar8ucpwCiIBAOzQpGKx5Ds4FQAAAEJ8EjeHt6iVoN1tYON6sg1uCOdq55BQAADIilqBEM65q1bp/aX/rbslX+1eG0RUXhE+LI8PGwCAHZp8HJDelAgAAACQgXAqj5+OJt+joUl2H01QOWpL1meZyKPEag8AACgyjqst3a9kYkvqE+kc0tSPeLxitvwZMGHRAgBghyYfdyR77mgAAAAIcaCGgXRj6JlnaYJKUR8nuocpqtxbrAgEAACYHOwN+Vt3EAcAYIcm5VzQPFhvF2IBAADIRvhk1e0On/u/0HN30gyV0c1Tqw6qGEIcAAAArUEtRlAHYUXlrn0i5LcFAOzQZGaV9OY7n49YAAAA0qPSd4S/RIdPtVXOzWXp5ENXv1Hbsh8EZVuJz98aev4IzVE6F7Rs70sn3zwAAAC0gxMh/21ceoNS4UNc/0FcAIAdmpQckz8D518RCQAAQDZGQgPpy9Dfj0vvF+pwuVFiHVYE5Yu+7yaapDQua5meQRQAAACt46fhm+0w/v2W/rvKTT8VcQEAdmhS8kjIdw4AAFCIC6GB9JT+mxpQ30pnhbk6+EvlSVsnEwdOdsv+EusxUybSx+yjWQqhVpj/K50PEhsQBwAAQCt5L9GH8HUXR6jdg7MRFQBghyYlM4Lyy2ijPYgFAAAgv8OzVjoB9LtiXxmw1Rh4X1VQH5VznQNEizEclKvaWQIAAIB2oj6Qh4MiC6WTjk8dzjcWlKdBmYWYAAA7NGk5Kr07yNnpDQAAkIF5oUFU5TPfLJ1tXf0Rv+83Bt5xRAgAAABQGyq/sPpgrlZ2qkDVD+ksgtiGaAAAOzQpUbvG1Ur/w2JPv6o+aKwMygCiAgAASGZfaBB9HJQ30kmfEkd44B1FhAAAAAAAAABeoM67+pqykP8cAAAggTvyZzB8c8LvB6T3qzUAAAAAAAAAAAAAQGtQuehU2pXwyvMkRuTP4PlJxAgAAAAAAAAAAAAAbWKj/BkIX57imovGNYsQIwAAAAAAAAAAAAC0iXOSLf3KtKD8DF1zDxECAAAAAAAAAAAAQNt4JxOB8J0pfh8+rftXUBYgQgAAAAAAAAAAAABoE3/Jn4HwaQm/nx2UH6FrDiJCAAAAAAAAAAAAAGgbu2UiEP4wxe/vh35/A/EBAAAAAAAAAAAAQBu5LRPB8NMJvz0W+u3doExBfAAAAAAAAAAAAADQNvqCMi4TAfEtMb/dE/rdeX0tAAAAAAAAAAAAAEDrWCsTAXFVNlp+0x+Us/rfvwVlK2IDAAAAAAAAAAAAgDYzIygvZSJ4fjkoU/W/zQnKvqB8kM7q9DNBGUJkAAAAAAAAAAAAADAZUOlXRoJyLShvpRMoV+VTUG4GZVdQpiEmAAAAAAAAAAAAALDxf5M9gP9FLmdOAAADLXRFWHRNYXRoTUwAPG1hdGggeG1sbnM9Imh0dHA6Ly93d3cudzMub3JnLzE5OTgvTWF0aC9NYXRoTUwiPjxtc3R5bGUgbWF0aHNpemU9IjE2cHgiPjxtc3ViPjxtb3Zlcj48bWk+SDwvbWk+PG1vPiYjeDIzREU7PC9tbz48L21vdmVyPjxtaT5iPC9taT48L21zdWI+PG1mZW5jZWQ+PG1yb3c+PG1pPnQ8L21pPjxtbz58PC9tbz48bWk+eDwvbWk+PC9tcm93PjwvbWZlbmNlZD48bW8+PTwvbW8+PG1pPmM8L21pPjxtaT51PC9taT48bWk+bTwvbWk+PG1pPnU8L21pPjxtaT5sPC9taT48bWk+YTwvbWk+PG1pPnQ8L21pPjxtaT5pPC9taT48bWk+djwvbWk+PG1pPmU8L21pPjxtbz4mI3hBMDs8L21vPjxtaT5oPC9taT48bWk+YTwvbWk+PG1pPno8L21pPjxtaT5hPC9taT48bWk+cjwvbWk+PG1pPmQ8L21pPjxtbz4mI3hBMDs8L21vPjxtaT5mPC9taT48bWk+cjwvbWk+PG1pPm88L21pPjxtaT5tPC9taT48bW8+JiN4QTA7PC9tbz48bWk+dDwvbWk+PG1pPnI8L21pPjxtaT5lPC9taT48bWk+ZTwvbWk+PG1vPiYjeEEwOzwvbW8+PG1pPmI8L21pPjxtbz4mI3hBMDs8L21vPjxtaT5mPC9taT48bWk+bzwvbWk+PG1pPnI8L21pPjxtbz4mI3hBMDs8L21vPjxtaT5wPC9taT48bWk+YTwvbWk+PG1pPnQ8L21pPjxtaT5pPC9taT48bWk+ZTwvbWk+PG1pPm48L21pPjxtaT50PC9taT48bW8+JiN4QTA7PC9tbz48bWk+eDwvbWk+PG1vPiYjeEEwOzwvbW8+PG1pPmE8L21pPjxtaT50PC9taT48bW8+JiN4QTA7PC9tbz48bWk+dDwvbWk+PG1pPmk8L21pPjxtaT5tPC9taT48bWk+ZTwvbWk+PG1vPiYjeEEwOzwvbW8+PG1pPnQ8L21pPjwvbXN0eWxlPjwvbWF0aD6XN1dmAAAAAElFTkSuQmCC\&quot;,\&quot;slideId\&quot;:259,\&quot;accessibleText\&quot;:\&quot;H with overbrace on top subscript b open parentheses t vertical line x close parentheses equals c u m u l a t i v e space h a z a r d space f r o m space t r e e space b space f o r space p a t i e n t space x space a t space t i m e space t\&quot;,\&quot;imageHeight\&quot;:23.8},{\&quot;mathml\&quot;:\&quot;&lt;math style=\\\&quot;font-family:stix;font-size:16px;\\\&quot; xmlns=\\\&quot;http://www.w3.org/1998/Math/MathML\\\&quot;&gt;&lt;mi&gt;x&lt;/mi&gt;&lt;mo&gt;=&lt;/mo&gt;&lt;mo&gt;&amp;#xA0;&lt;/mo&gt;&lt;mi&gt;c&lt;/mi&gt;&lt;mi&gt;o&lt;/mi&gt;&lt;mi&gt;v&lt;/mi&gt;&lt;mi&gt;a&lt;/mi&gt;&lt;mi&gt;r&lt;/mi&gt;&lt;mi&gt;i&lt;/mi&gt;&lt;mi&gt;a&lt;/mi&gt;&lt;mi&gt;t&lt;/mi&gt;&lt;mi&gt;e&lt;/mi&gt;&lt;mo&gt;&amp;#xA0;&lt;/mo&gt;&lt;mi&gt;v&lt;/mi&gt;&lt;mi&gt;a&lt;/mi&gt;&lt;mi&gt;l&lt;/mi&gt;&lt;mi&gt;u&lt;/mi&gt;&lt;mi&gt;e&lt;/mi&gt;&lt;mi&gt;s&lt;/mi&gt;&lt;mspace linebreak=\\\&quot;newline\\\&quot;/&gt;&lt;/math&gt;\&quot;,\&quot;base64Image\&quot;:\&quot;iVBORw0KGgoAAAANSUhEUgAAA0kAAAB2CAYAAAAdvdilAAAACXBIWXMAAA7EAAAOxAGVKw4bAAAABGJhU0UAAAB14EsXLQAAIPpJREFUeNrtnQGkVcvXwJfrupIrkiRJPMmVJJIrSeJJkiSSJEk8SZJEnidJIk/y5IkkSRJJ8iSRJEkiSZ4kkiRJJMl1PZf3nfk3+7u7886eNXvvmX322ef3Y/ve1/+ePbNnZq2ZtWbNGhEAAAAAgGYzQBMAAAAAAEC/MtR61rSefa3ncut513o+YSgBAAAAAEDTMUbPSOvZ2HoOtZ4rredV65loPf+2PU9oLgAAAAAAaBpmZ+hc67neet5mGENZz+80HwAAAPQCy1rP7dYzZp+/Ws8SmgUAMvi3xLOe5gMAAIC6szFjIWM8w1toHgDowEr7/Nx6NrSe31rPSw8D6Z/WM0jzAQAAQJ2Z3nq+OhY04/L9nAEAgA/XFCPpLk0EAAAAdWeP6J7f8zQTAHiyQdEnh2kiAAAAqDsXPYykTzQTAHiyTdEnK2kiAAAAqDtXxO+gNQBAWZ1iksJwPxIAAADUntMeBtI7mgkAPPng0CXXaR4AAADoBdZ4GEknaSYA8GBE0SX7aSIAAADoFR6JexdpBk0EAB7sVYykxTQRAAAA9AozW8/9DguaJ61nHs0DAJ7ccBhIn2keAAAA6EWWt56drWdX61lFc+RmlV0kkr0L+hGTkGHcYSRdoYkAAAAA+ou5reeLXQzupjmgT50ErlC7XTQRAAAAQP9gPOgPU4vBRTQJ9CFHFSPpJ5oIAAAAoH84m1oIfqQ5oE954DCQ3tA8AAAAAP3DwbbF4EWaBPqQqa1nwmEkIRcAAAAAfcKeDovBLTQL9CEbxR1qh1wAAAAA9AEHMhaD3CkF/cifipGEXAAAAAA0nFMZC8GnNA30KS8dBtLfNA8AAABAc5neem46FoO/00TQh8wW9y7SaZoIAAAAoJmYi3bfKIvBNTQT9CHbFLnYSBMBAAAANIthyQ6vSz//yPf7kgD6jSsOuTAZ76bQRFAHjII2Nx4faT3XWs+71jNmlfed1jOv5PtXWWH4bN/50U4eHMiDkIy0nh2t54J8D235lBrH43b83ZDvF9fV5dLGZa1nt3xPc9peZzNJfJPvcdlGfvZJ3Ev1ZrWeTa3nZOt5Zttsc6B3D1r98tZ+m/Gsn5DvYUjdYEnrOdR6rsr3mPikzc3/fd56zrSe0Q6/W2jHmDlsfKn1/GW/yfxubYR6Dtn37mw9560+/pLj94vtt7yz3/fB9m+odjfhMhttW5ox+qL1rO7zPp1p6/HJw0D615bXbea0nq1Wd962unI81X7v7Npgr/2+XgddVw9d99EhFw8jtonpI7N7e9CO6y8BDbKVrWd7xrMa+f7fnLHLjqknreerrcuErcsTW88tiswkFxDPijlINtmJ7ZuixI2QDxdURLfEfSgPTwGUYYGdgLRwlk7PfTuBVM0qu+D9VKDO5rln31GG+Vb+j7ee6466XAv0zdcy3m8m3bkVtbtxyvzWel7naOurbYr6huNvyziTBqzBvMU6kK47FhB3Pb/1kqOuL3M6qczEua7NWOs0b0xUvBisS5+a9jlmJ/iJgnKd9RyN1HYz7SLxWc76jNs27xXQdfXSdWkHjqs+xwMaxEZ37bc68e8OMvo2UFkD1hGV9U1/VDju6ybf8629kUc/Ttj1jnE6bLDrnjV2zZfUNTgr7SQ3lrPh8jbaUsVLkDz7WedDAZZbj0j7ePpgPV+brHJMwliMR3699Zy1C+EvFdR3wHppXnWo82u7wFpt65n8/VL7718yZMco/Gme5a+wf//YKhZfuf8W4NtHlDL+Tn13rAXDiQ46b8IuaLZYT1syVubayeVTyqM5aP+3LL35rMD4PSyTuy95Jo4jHjreR/eeyVi4nLFj5YatW57x8qjCRWBd+nSuZ3sXfUKfyzC70WetF7ndabQ1ZTwPWY/v14x6na3p3ICuq5euy2KfhD2nZwy37dYQuWIdFr79H+rC2jVKOesrGP91lO/dHepjHrODZXY5F6XG5KCdH48qBmfIsfg/Nmd4FXwHUR5Le7ljYdf+XGa9Dzm9EZ08XMYzvk302P5ZGeNwR8Q6b8qQvfe2XJ86P3RMuj7b48aTdtN6Uq/b//7mKaPzS37/Oo8y9kZqe6OcP3co75xdLGiL33cpw2SphMtOdr3EotkVsrE1h8HV6SzM9pIL+mMV6IC69enWiAaSeRYGXECf6jA+Xot7Z3qf9FbCCXRdvXRdFjck7Dm9XSVkbGugb7oq7l2R2AZyHeX7cMa7Tf9PVX47LO5za1dCNuAOO/BuWCEdTQ3CYTu5aQNp1NOT8jnH4MRIAl8OdDDqjUL4LYdCXZAxDsc8JpK8mPfdcoz7PCGsJgzilcNQKhIOa9psj4eMlo3VX+BRRuj4cxP3fDfDc7Uyx3tW2d99DjyZGEfSWmsAD9s22uHoY5/FQxEDZ6TDmDD1MTuUy2wdzXvveL5vVUT5r3ufZuEKq60q/MbIcKfdrmseumOWuEO0egF0Xb3kYkA67ywkz50C7xy0Y3nYtsk68Uuc8q+ECYOcpnzT/T6U7yyngYlQyHPU5kLGe06GtjIHS1jBPmEexqP9NuckvSfCgPk5smevTs/1PjCOZmRMAkYprChgaFVxV4lRWlm7qQcjjOsyzoZDyhgLoYgeKWWMBWz7NRkTxgMpdig1ien+JPGzk81WJtpbGb9bX1B/LMtRt3sefRgrS1uv9ql27iJ2+M00qxs6lf1njvdk1f9rj80l6Lp6yMVqpY0OBWyj/RIuSsrF7pLr56bJtxknWWfiduZ815A1rNrfs6VqBbJE6eQ7SoPca/vbefbfzQ7Ueel8y3iMxA0YSc1hSYbh/cF67fLiWuiFut37D0cZ20q++6mE9+IPyGSoRZ6FeR4WSnbsc8gDmPscuquorjmvyODNwGP+vqOsXzv8/TL58fzAPTsGtXMyecM/LijvuxJJB/Ryn+5T2n8wou40+vFlgAWUaxH1T4/NJ+i6esjFUaWc5QH7fLpUcx7poVS7y153+XY57opktu503mttN5TIK0W4s7wIJ0X3ao/YyfuaneyHI30DRlIzWJMx2Zh/W1rgfTPEfV6j7ORl4mtvO94fIkGEyxNaZjv/eAWeT+M9zDob8D7A+0862mVKpDaPkXzmTo7Fw2yZPNz6T5sRvlz07I550M5RxUiA0ut96mqzexF1pwmzygp7v5HzXXOkml2RqkDXdV8uHlQ4plZI/PNIWsKO0LvsvSDfLqdaUdoTb3UlO/afSmd3Spm8Vup15wNGUu+zQbLDjoqGqGyVeGEQ0xVP0olA7aIdDC568FibSEKlrl2eYfhei6S3Xkr5lNRHlLZZHHjsf/acaM1/p0N7OmVBO+Oo98qc9fpU0RhpSp8OiDuL7JFIunOto9wi5xe3OL7haQ/OLei67srFVMVZeS1wf/9SQX+fkOruQusV+XalHi9qMB6U8DuyudmU0+o2ca8fS3QQRhJGUidDYCKCsaEdbC8aajEs7jj0OwHbZlj5hn0lFnSuTJch0xB3mrTKxKBneVXNmbAQl++6DI1Pgcf+oKOsG47vzjrnZjxt7eF7xsOdN+xTO5D+KnA7NKFPV0r1SS7WOpxL41IsRPma4xtO9+D8gq7rrlxoa8zdgfv7ssQ9jzQgemjz/j6Ub5eDaEXBd6Z37B53S4FMUzr7Qtvf30xNvAtqogQxknqXFeK+n6HMlvU8xYM1WvC9rhC7jxL+BmvtQsCiuMK8QqZ2HhC/HWof9lew2Lko1Z3DcemuAxl/5+N5NbuvJkWuSSgyI3A7h14sN6VPf5Nqk1wsVxYmRRLGzFF05krpTdB13ZOLM1JNyvsEVzKxEOeRNnqs0xb1oXy72qNMkqwvEvcMrBcvxW/7bUfq33fVSAFiJPUm8yQ7pMcIcoit/kMZHpjtkRT+hgjtpF1WWBRXqG3IEIj2hUPRXYh1OZw5ZXDd57E9cN8eFj0TnQmpeS+TaX5nVCCbdysa503q07sV6m2X7ixz6eLpCO+sA+i67snFS8WpGJLZEv88kqYbP/WpfI8pbVI06iw553m8mwrkkugZeczgS2LnbwlAOYbEHcMa0lNtdqvMBXuX7aJ0XsH3aOF7sTwdsW6N31rR5NV+UeHhAu8wZ6+yMkh9kPKx+WneONol9N1aWRNu+rzcWak2u88Uxdv4j4TJ0takPh0Udyr3kMk+plrniEsvFEl0s0jp9597eL5B13VHLjSjJfS9mVsk7nmkn0R3ZF/pU/nWrowoumObZA/e0k0Foi3+TOMlYXZfIywUoP/4U1n4z6hZfV0TVyIXsyMtWLXLRouinaEIlUnmQFt9Z+X8/YBiUIfc3Rl0TCShz+G4yrqWMvBDp67V0M4QhDhz17Q+XSvxw28StNTsRRaexmn13PHO8z0+36DruiMXO5R23xa4n12yEeI80u8eRtL2PpVvLZlF0eigVdbwXNxNBbLIY1JM/nsv63soiXax3LEa1vmBVHcZXpq5SrllMr4MKe9eF+gbHpZUxi7l+yhwe69ylHU2cFkbHGUlejaZ2D5X6DjQ7k45GKCMpvWp63tCJvvY7LEQKZLx0nU25Yl0KfVuQNB13ZGLK0q7h3a4xzyPZHZ4vnoYSXP7VL5HPdrGGN/DvapExjw+8KkAlJ+sXot7Z2Rmzeqs3az9TvJd0pkHzUP9reT7v0pcr2X7fRIjOX+vXXg9Gri9XZeBbgpclusSYuM12yXxMkC5+CBx0wI3sU8fS/ww3OkefVOkrKPKomaWNAN0XfVy4TpX8zrw98yXuOeRtGQ2Zb+pCfL90qONrvWqArnh8XFLBKAcvyljrG5hHdNFvy9mT8TytRjrshPNTce7zwWo/58lFbwr9ORmhPZ2XQY6PXBZWROK2TUatMZ31QfmlynjLcT5jab1qfGMumL9dwT6jtMec3Teswqui1b/bpCBhK6rXi40o+9c4O/ZJfF2eEwY5BsP+TvX5/K9V/wSkB3pRQVyuOIBDf2HUbzadvXymtX5mOi7SAMRyz8pcbMdXo74brMjmNxPUiRMYI+EP7yqTYRZ96mENlRct56bBVbaa7m6wvGuXS5ZNmSliX2qneEKcXnliGKI5Q3HMuE1roRNN6SHw2LQdbWQiwPKN4XemXeF9pU9j6QZYGW/qSnybSJq3nu21fZeUyDrpPrUxtBfaLtIr2tWXx+j7mDkOlxXyv8johH4ouS7016sUzl/a+K/XaEH9yK09ZqI7Zxn0jWhdW+k84WysXmsjLcyGYaa2qd/VqDTND2Q51oOs+DOyp5lwnebeu4YXVetXLh27iYk/M7850jOnQFxn3VKf9M05Fs9npBurzW9pECGFEv2F9b4UFLRaLdUn6pZnQ+JnlluWuQ6fFPqsLnk+12pccskhTCZ/pJzjh8KtNNB0TNuhuZchU4i163nR1OTyEiF4326x6RWZmHT1D51xeGHiMAY8VhwGF2kHb6eYRfAWfO8McjnSXNB11UnFwPiTokf+ny7Ftq3NaLeKvtNTZTv555tZpzQi3pJiTyTeGEW0N9s8BCYunkVNO9R7PNTCzzarGza8fXK+4smpEhPwnm31QcVg/pVhLY2ZX5xGAchE3MMOIzfT3ay7UaI81ZlLDwp2b5N7NNZEj+k6IyHHrjk+L252+WkZCdnMmE8K/tgDkLXVScXP0u1DtF9Eifk1RgeyQ7VF6WM35Hv/2epp5GUhELO7BUl4vIuPGedDyW46uEpGahRfVd5CHdsxfOLUn4ImdS8WEWStaS9ekVCRbT47xghji4D4WHgslx3tnxILVaq9upr6XrLpOZvap+6EquECCkaEr/Ms+0OJlPuTnFf8HirT4wjdF31cnFc+a71gb/phsQ5j5QYMMZQuqN801rk+wdOiL+hdK9XlIiWSWuaAORH23qvo5CcVer7oYI6aBknQ9wnpd0fUmQyS3ZCvlkvV14eKgvPGBm37kt4D2EWRz0mjbNdkFEttHNVifc3tU9dh6NDhBTt8Bgr71NGwF67mMsKuXltx1+Tw+rQdd2Xi0fidogOBtZd4xI+Cmq5/JjB9muEb2qyfGsX2LY/v/WCEtEOXJG8AYqwWuKmzoyBlqEl9iJ20MOwXBioLNcEk/egfjrsocgBUS3E8G6Ettbi2UN7PR97yMNIzWR0TIrv9Da5Tz9EXnD6XM1hMmy6QoOf2IXTUgF0XXy50FLih3aIrpTw55HMAv+F/f0D0SNL7iDfmWPc5wLexClQ6/NJcz0+5pQA5OdX6a10kD5ngTZGroO2q/skYFmu+x925XiP8aQmuxG3C9ZFS0Ed406qS4riDun1nOYxtm53YcxrqebLXADY1D7V9ETZBafPDnynBARmp8Bk3NskRH+g66qXCy0lfug7crTra4qcRzqRapOF1uERehekX+R7XY7ve1rnD3no8QEPa1r3n3MOtF5+rkvvccXju9bVqL7bPDweg5Hr8JeESQfqwy1HOWdyvOeBTCYfKBom8kTiHMAtutANrfO2eMjCqi6M+b+VOpXJbtrUPnWdGQwRUuRzLtIcJt9vnTYLpF7nOusIui6+XJyrWL/dlbDnkRbL5E7YUftvTyX8/Y79JN8+IeYhrpmIxuG2BWA3F4cYSc0zkh55fNdPNaqvpuQfRS5/piKH7wMrS1dSjQue70jfgVU0LFfbZYlxj5aWUORk4PIuKOW96sJ4n+Mhn3Pp01zlhAiV2i/1O7vW66Dr4svFK4kTttuJQWWuzHseydQtyfJsUvsPiZ7Bcgz59uKe5xr3Zd0qviw1yEy43XYJn8EDI6m/jSSfmNQpNaqvtotzIXL5WhjGgcDlnXeUddXj96MpHVLmIkItTONS4O9e4jEuQ5/D/KCU92sXxrt2FvUVfZpbrx0O8H6fHfhNAui6+siF5nD5K/B3aaFcec8jpQ3gFfbftKsRriHfXpjrSj57rnNrk3VzapvVv1X0OMkjNWx8jKR6M+HxXXXilVQX6tbJM+a6N+OdhL2zx3C8xKRmdr2SQ6WPpdxO87GK210LoZiwOjIUiz3Km9OF8a4dHv6TPu3oXAwdftPOfQ+9OSKArquPXOxUytlfYX/m3QE3spQk9jidw5jZjXx745PNL0YERxCvSjq72G2p16FijCSMpCrRUiGvj1j2Xqk+XndHCXlP4sE/SvmLba9LdbvY+1L1zrokMPTdcAckToakska5dnh4I32aqy9DhRR98dCbdQx/79VFGrquPJpBEToD2wMJcx5pIGVIvmkzGLXd/5E+ke9R27+jJd/jc/ziQR0+eGOqQubQbjrcyZUtZFzqd3gMI6nejPeYkaQtGhdHKtfsEL3vwiJ6s6PMj47f/ZHyQq4OUI9nSrtPD/S982UyVGqPVBcPflv5vh1dGOtrRb/keZA+/Q83K9DRvaY3ewF0XVy5cIVTfY4wX4Y6j5Te2UuHemnJLt73kXwniWrK3me03OO7v3X7Y81BtE+pyixo+9+1OzNWYCRhJDXYY9Kt81Ous0hmoot1Qdx6cWfXcSnMf62nMgTaDl4I58xQaoFyUVk0bQ7YxtqOzT/SnXN5pyTuXS1N7FMtJH1voL7ptR34XgBdF08utHNPVzzekUcHbpAw55HS9yy1h3lp4YMX+ki+k4RWVwO8S7srcKLbH3tH3PfTaBP6AQHw566HMqjTJWJjXVBc85SJM+Yuwxpx7xy7Fhohk1iMV9DuSXY5c+7MXHp41lGedj5oOOCE3i3nh5aG+JDye3Nwen6f9anmRHRd8myymt2yMldWHjCS0HV1kgstnNjnGgFz/tGc1Znp8bfa3W4+55FMOe9kMqKq/bzvZSmeWGGubfstDZHvJET0XYB3accKxrv5oem0g5cdf+c6VOabzcNMnkekXpnLoHouSXeyuBjFbuJfT+Ucg2+7oLjuOMo7H7l/FuT43tUpI/KBhN0BjD1hHEgp4CRk8rnkD70xmIPV7+W/u/BZnFa+bVsX5HKK6N7MJYp+N973133Wp647P7QykiQZPmczfHbgZ0UaGzMkfGbHOoCuiycXt5Rvmq/8PjFIn3l+Y4jzSHdS7bQo51rA6M6ssMgBmTx7s6kh8v1UiiXE6MQi5bs/dEtBLEpZr68U74Ara4hPXvj0Vu9GgX5mp4cy+CNwmcMpQ/9eQY9JVUbSPnHfyRTbyTBV+d7Eu2ZiiZP49jdW0YZE28ErU176EtdfPL7bFVKwKaUHfQ8iv5T6hdqtLzFRGfl6IXpYSxP71OVAdDkef7V/c9zz+252ybm00Mp3ty42Rtf1nlxo0Uea0TLLGmsT4t6JTZdX9jzSCXFnqJshxe9LPCP6hkKvyfe4hLlcPDEiaxdZMSU1qaW9C1lo+ee135/xmDSgP/jJQxm8CVie8e48LDHBafcUhUzBvcwxuZi6z6ygfwaV7zUL4tGU5+ujxLn8953EySq4IdXGZ9r+PausgxnvWpt6l+8Ept0dcqNLcqndgn7O8dtb4hdV0LQ+1RZn25T59EUO/XHSQ2+G3mXekDIO7knzsueh6+LIhXYuXDNakh0d3/vFtIQz2nmknR5G4kaljN+Vd38U905QL8n3UFu9bgWoS5kw7yhclHx53bXJwHWAMbl8yyiCadgIIPpBvX/tQqIsRikl28KfPb1S7YxKNRedGQMoK5vde6n2zhzX926XyaxFX61hFwNtB+90gXemJ8O78uOB6OM5x6Lxuo3lnMwNu6R+We3EGjhFUn+fSy0CZvRZn2qLs04yu8jKzYTky4y52kNnmkXs7EDjId12Txs8d6PrwsuFdl+RK5w4ucA1T9rn35TyXEmO0hsAf0t2RJXmLO1kyK7MYVj2knyvkP+GGpYJuRtSvntBKEGbbpX2SI4BlSczhSvm82HGb5amhGu1AHxnm4dCeFHSczmaMjrGShozLwt43vJgFHPWofnXARWjL1rmtWQHek3EOmgT3zfxj9E24+gPZVJwLVSGO0x+iQfuYs7vchkjrrj22LxR2rvT5ZLpbHg/92Gfuq7H6JQdbXZKJxVJePTWQ29eKTkO5rTN9c+lmh3sboGuCy8X96TY/UjrUg7NPIvuq1IsJD6902YyPP9Uooz2Nl6YMrAvNEy+O+2qHStRJ5eBGOyqkz1twm4WmJ3iBNMZR97ktB617cD2S6XMwbzk4q3jAvAjf3sohHMlJp2JgBOcy/v/tOS7p0p2xr8HXVqg+GTaiX2Qe4lHHe6LnmlpRdtYe5nRpq6Ql7QXdlPK8XM3pyE/IO6shfe7KI95MmwNyOQOUh793rQ+dZ0juNfBQEqcLTcL9tF+j/Yrc3fJbvnxAPnjhhtI6Lo4clEkpfny1O/yXp77WilvpmKYjns4UZ/l0I9mt/ij+J3370X53pthyBd15rqunlgSQsBWOAowQnLQCnn69uOvkj/NshZn+lYmw5k2pQbJPQH4L0vF726AqzmM+Y0yedYuGeehdjCfRJhETXjSw4x3npLuXdT8VeoREvZU/M6vGaWdDqkw/71d/rv7/cwxKbgWSxft2LrQZhwP5/yelcq3dPM6BU0Wt6S+4WkJT1+T+tR14N6UvcDK8OaUw9As6IruFpp3PfdcSF0U//OXqzv0y18Fxncvgq4LLxeaLmmf19am+qGIDtQufDcZdYdsuRs6zOU+87dmTK+3RmTaEDGGw+IGyvcFyZ/0w7UGyrp0+Ggo4brg2ahlz3sMiPsG5SyhniEAndnlOY6MwX3MLtDS3qyZVjkdl/+GC73NqaA05qUM/06Zv/J6URZL5xCndwU8aVUuHKo8RBnyYui7yuI0z7teFPTAackRfqppn2c9zyT/WZWm9OnMAvX9FKCP5+eYh80i7bTVkekF0ZBdOB3qsCibkC4dlEbXNUbXadn6jtj15Dz58TqEkwXb7p+C7WR+55twZ6LA+zc2VL6vB5SZrN34oBntLufsuDJ3cJzKUU6sTDDQLHYHnBzSGcJihIksdRhKb8UvBbRZVP7eQekahX2iJt7brIXDiS7U5VyA8eBT73HPd5U5o/FYMTi6yY2cbfqyRDs0oU9Hc9bXLHxCHfwfLeCw9HmeBnYs9bKRhK4rruseFaj3yRLt9qJAeV/E7xxlwuuc79/dYPl+5TEGtSgYs3lyO+P3Z0IL1gHxt5q3lixrjujxpolnvd+ULRTHZM95E0AJvAswxjXmSvYZomTLeWPb5DLT/tu5Dl428///IeUvZIu9cDjTpbqYncNbBceDic9fHsCASZ8LKBoqNU15d7fPbW7P0a5lz8o1oU8HRfeYdwpFD8U8z+/zecyiZ4f0J+i68LruUI56j5c0KAzHJP8O+PycZZzI8f5dDZfv8bb++9LB8DZONBMams5MZ3a41tv1Tic7wiS12RxDsKZ4WO5GSYdKVbzVYwKdLQD5GLIG/1spNkHslWrv8TBGz8OCSsvsIpmzeia5Sh3j/tsXDudrUKfD4h9WYcbDTsl3pmuf0l/HpNwZsS1KnZfXoI21BdqY7YcB+vR/7PWo93mJm7Fwh7izb7qcpmb3cIN07+wjuq6ZcjEkfrtJ5jzjSID2GhY9sUIS3XSw4Lf5lGEcvasaLt/DqTL2t717jh2L93PW9bXtl6mxPRAH7KJtzFp1X+0g3CdhL7w0jNoO+Joq65rEzwID/cGonSiuWS/INzvOxu1/G2V1xQrpwi7XdZ41di5Z5fAlVdfEy/LI1veYlZGhmrd/ejI4VaN6mTS4h6xeS3TPmPVAXbdjZmmJ9++34y15r1mAmDCQfgob3tthHrll55cZ9Ol/MJ7Rm6m6G/1kHIXHAy0AfVlm28q02btU/yU66Ln9347J5CFzQNfFkgszx/0q35MkpHXJXSsboSONptiF9sPUeiH5rkvWSTUYoIzDVpaSb/pg1yl5DdVele+fbZm/K3+32MrTY8f6zcwpS1BBANBrmNCCNzKZ0QwAAF0H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NBb/B8hNsu3/t1I3wAAAUV0RVh0TWF0aE1MADxtYXRoIHhtbG5zPSJodHRwOi8vd3d3LnczLm9yZy8xOTk4L01hdGgvTWF0aE1MIj48bXN0eWxlIG1hdGhzaXplPSIxNnB4Ij48bWk+eDwvbWk+PG1vPj08L21vPjxtbz4mI3hBMDs8L21vPjxtaT5jPC9taT48bWk+bzwvbWk+PG1pPnY8L21pPjxtaT5hPC9taT48bWk+cjwvbWk+PG1pPmk8L21pPjxtaT5hPC9taT48bWk+dDwvbWk+PG1pPmU8L21pPjxtbz4mI3hBMDs8L21vPjxtaT52PC9taT48bWk+YTwvbWk+PG1pPmw8L21pPjxtaT51PC9taT48bWk+ZTwvbWk+PG1pPnM8L21pPjxtc3BhY2UgbGluZWJyZWFrPSJuZXdsaW5lIi8+PC9tc3R5bGU+PC9tYXRoPkV+vDkAAAAASUVORK5CYII=\&quot;,\&quot;slideId\&quot;:259,\&quot;accessibleText\&quot;:\&quot;x equals space c o v a r i a t e space v a l u e s\\n\&quot;,\&quot;imageHeight\&quot;:18.88},{\&quot;mathml\&quot;:\&quot;&lt;math style=\\\&quot;font-family:stix;font-size:16px;\\\&quot; xmlns=\\\&quot;http://www.w3.org/1998/Math/MathML\\\&quot;&gt;&lt;mi&gt;t&lt;/mi&gt;&lt;mo&gt;=&lt;/mo&gt;&lt;mo&gt;&amp;#xA0;&lt;/mo&gt;&lt;mi&gt;t&lt;/mi&gt;&lt;mi&gt;i&lt;/mi&gt;&lt;mi&gt;m&lt;/mi&gt;&lt;mi&gt;e&lt;/mi&gt;&lt;mo&gt;&amp;#xA0;&lt;/mo&gt;&lt;mi&gt;p&lt;/mi&gt;&lt;mi&gt;o&lt;/mi&gt;&lt;mi&gt;i&lt;/mi&gt;&lt;mi&gt;n&lt;/mi&gt;&lt;mi&gt;t&lt;/mi&gt;&lt;mo&gt;&amp;#xA0;&lt;/mo&gt;&lt;mi&gt;o&lt;/mi&gt;&lt;mi&gt;f&lt;/mi&gt;&lt;mo&gt;&amp;#xA0;&lt;/mo&gt;&lt;mi&gt;i&lt;/mi&gt;&lt;mi&gt;n&lt;/mi&gt;&lt;mi&gt;t&lt;/mi&gt;&lt;mi&gt;e&lt;/mi&gt;&lt;mi&gt;r&lt;/mi&gt;&lt;mi&gt;e&lt;/mi&gt;&lt;mi&gt;s&lt;/mi&gt;&lt;mi&gt;t&lt;/mi&gt;&lt;/math&gt;\&quot;,\&quot;base64Image\&quot;:\&quot;iVBORw0KGgoAAAANSUhEUgAABA4AAABYCAYAAAB1RrW5AAAACXBIWXMAAA7EAAAOxAGVKw4bAAAABGJhU0UAAABDL/GCtAAAIrlJREFUeNrtnQGEV8sXx4+1VpIlSVaeSLJWEknyJJEkSSIrSRJJkiSSJ08SSZIkkiRJZCVJIllJEklWkkiSrMRK1lpZ+t/z37m6/d69c+beO3PvnbnfD+P//u/tb+beuWfOnDlz5gwRAAAAAAAA1bE2Kmei8jAqY1GZjMrPqIxH5VVUrkVlU1S60FUAAAAAAAAAAEA7YCfAwah8jMovw/KJph0IAAAAAACNYwVN74JMqHIvKsvQLQAA6BIACrEyKu86nAIforI/Kn3qb3qicizDgXAMXQidAgAAADSJLRlGy1RUBtE9AADoEgBysVfJfXIc3IjKjJS/7abs6IM10CnQKQAAAEATmB2VHxqjhc9g9qObAADQJQAYcTxF/q9q/v6wZtw8gE6BTgEAAACawH6Sz1teRTcBAKBLABA5lCL3L2k6qiCLD5oxMwGdAp0CAAAANIHrBhPzN3QTAAC6BAAt6yk9pH5A+N0vOA6gUwAAAICmc4vMsjwDAAB0CQDpzI3K1xR5P2/wW13EwT3oFOgUAAAAoAlcMJiUP6ObAADQJQBkcjdF3n9GZZ7Bbw9R9hn+gRb3KXQKAAAA0CDWG0zMZ9FNAADoEgBS2Zwh75dz1HGu47dforIWOgU6BQAAAGgSz0nvzZ+DLgIAQJcA8B+6KPuowbKcdS2IyraobCR9MkXoFOgUAAAAoBb4bOYTSs8EvQDdAwCALgEglX0Zi9oRdA10CgAA6FhD0+fcVqMrgIdytSoqu6OyR7UJAADQJbAnQDocbfApw3FwFN0DnQKdAgDGQhZ/ReW7mjD24ZsAyBUAAADo/WDZTtlh9AvRPQA6BQCMhTTY6/wsMWEswXcBkCsAAADQ+8HyLMNp8AZdA6BTAMBYyOJy4iG+4rsAyBUAAADo/WBZQtnRBufQPQA6BQCMhTSOdEwY1/FdAOQKAAAA9H6wnNM4DjaiewB0CgAYC53sT5kwBvFtAOQKAAAA9H6QcLjraIbT4CfhKkUAnQIAxkIHhzMmDdwpCyBXAAAAoPfDZB1lRxs8RfcA6BQAMBaSZIWovcL3AZArAAAA0PvBclnjODiL7gHQKQBgLDCzo3JfM2GcwTcCkCsAAADQ+8HyTfPdtqB7AHQKABgLq6LyUfMQXNbjWwHIFQAAAOj9IFkjfLe56CIAnQJAe8fCLNJnz00mxOnC9wKQKwAAAND7QaL7frjqDkCnANDSscBe46OkD0lLlnv4ZsBTueqj6fBKfq5bUXkblbWO2jgelds07Q3cUUAp7I3KUFS+q8E/EZU3NH2udEHJZ2RFMqj64FNUJlUb71X9fQ2RoflR2R6Va1F5GJWxxLNyf3xWfXSAwtv94nfnq852qm/C3+pJVH5EZY/B71dG5d+o3KHprOjcb1Pqf7+of8/jYFHD3ntFVPbR9PVB95X+mFDfnJ9/XI0D7o+DUVlY03NWoUtIfZ+tUTmtvtkPpR/yMBCVk1EZVr+Px88zpadsJk6CPRGOvOt2soZg4kCnQKd4Ybv0RGVDVHZH5WpUHim70pSlUbmknvmnsifYJpndwr7sU/bXjai8VLIf21YT6t9dU/a1rn9OKFmd59NYmKsG/Uv1wr8slhPQ/612FjRBruaqRVdSUY6n1DlVQvl1qcUZK7TLmjZ+5Vjoz1CLvXGhLyao2PlSfubDlH29VlxYMf9dowzxHbSvc8oHK+9/PBorPcoo3Kre97pS8qMGY2elps7DJIeupU0udToQ1qhx+q2gbhhWdbiSR9e6JCkPcTvDSqY723mWo84lUXlg0H9fNTIFe6Jd8h6zXHiGf2HuQKdApzTKdulSjkhetJ5TTqGvGW0+NqhvjlogZz33O3KXrb9pduAi5czLI4tTasyxrtysdPZ65bCLn9WbsfCXRphsFCTMaSd1yFXsCWXldpemPfSTOep8bvhuvWqi50XZzaiM5BjA7w3bWJ1zwcfvOZDj+6xSit60/jGq9gqXhcoB87PjOZ4o58ychDG0R3l60577sgdj5WSJcZAVIszj43OJesfV5FYVbOQcUOOj81k+qD5aq753/PfL1b//nvEON9RYLUJVuiQ2BLYog4Kjkj7laOeoQf3dUTmV08jg8T7PE73vI02S908Ov1cZx3loQKe0Q6fUZbuwTXecfken5Pk2kuNvteE3uNQCO3BfyvP8UvbWUeVM60qMk1VqQS5t0L32aSxsdzxJDBBoI3XI1c6SdZ40fLfJEm1cMKj/WMG6rxg+/7+O+6cMc5R3fCrFmNbtqh0kfxMjLVKTHhc+knJVOaNMvsm1jrpmKcPB1jjbWMH7b1Xft7NtPkKxi+QzeWyMPst4/jdULFyxKl2yrWQ7/UL9HEr5omDdZzzR+77RJHnvq9hpMN5imwg6JWydUrftcqdEH6wV+t/UCWHrDH1T7cDjGXWzI3Cm8FvJNrsV0vyqC587j/UxaJBcdanBybsuHKK1QU3WjwwHjWm4Jz/fRVXYk8nnqSYM29gk1H21xKD/JNTdo561aP2vHcvEtgxv6hDJZy7naZ77tqdj5HBODzGf/XvbMYlfV38zJzFG+snsiEq8S+QqxwU/b1aY603Kd86WQ3jfaxZTsxqqSzh894aSUT7T/j3HeJSil5ZQud2JN57ofV9oorwPVuw4uNtimwc6JVyd0gTbZZWSqXmqzcXKEfm+xGK/iLOrP4C+TGNjRr1sc83IUc+1jHrOhjK/Li25CHLBuoonujrLnUAn0DrkapjkPAFlPKVsyL0yUNDdGb/vpv/evcqKbrV6LlaIjw3qz2JGyu+fKSXdrbylNwz6yAW9ynBOa/NijnqynvuHx2PlnfC941BmNhK+0J8hg9KCf64y5CQ95OK4xzaNQXvEwdxw0yNdspj09zCbGBorldMnuVOzPyETbNxJUS2Tlr95E+2JqvBZ3qVdrisEoFPaqVN8sF36KD20Pi4PMn63qeC6ZUWAfdlF6VFiXHbnrKuH/tzgictgKPOrLuxjSrMIguMAjoOmydU1oa9vWWhjl9DGfc1v79KfkQNpyQgXFlzYc38+7FCgOzOcH0UdE2UMmncWJguq+Lmr4oXBhM9nhuPogc+UL5HlAMlhiD/Jbsbk85q2dpSsW+e8W+ORLukRjL1fmu+8omORejJDp66s2Mhvoj1RBb7L+yVBTgYJQKe0T6f4ZLs80bRxLON7J6Noh5Uek6JNpuj3ZkZIfalzohTJ/bU+pZ4NocyvujMzwzUpWDgO/KcOuZLOf+210MZ+oY1DGb9L7vQ/FhZpuvpfZvwm6cVlr+migvV/s/xNOJpijOyEtM6n6iMlXNMlGHr7lazEnnB2MhQ5z3/PQBftsPA+MzscWC7G4FFN/U880iVE2YmedGNxccK4Gyf9LkOX8B4/KtTBwxQeocj7M0KywzptIuiU5ukU32wX3XGYVR1/yxEKo4nFdnLuXyV83yeB9qXOsVeUzuicGZ6Ohf8oAN257bqu34HjwG/qkivpqqu/LLRxnfInHjlBf+4q6MIR51C+RHlEfyZCfCF4R3uouvOpGzRyUORMuu6s7itPx4p0BdpC+n385GmBPovZZaCLbpR8l9nCAuS0pT7bKLzHIk90CesBXSTI1ZTfsNMozp7+PcUgzGvkf22BPeGKUORdksNvBAg6pVU6xUfbZYzMjsDwPz8nfZZ9XQTS6kD7UncNZNEjREfIXiROY+bX1WQnUQscB3Ac1C1Xi8nOFYkSunCwtMSF23MuzLYI77Gr4++T4VXPDJSw5E22dd8xTxZZO+mT6nvlRZf08YKnY2Wv5p3eJpxCPMH2lmhnpYEuelmi/lkdxkhneWSxz2YJ73HQE10ifZMtKU6/pwlj0MSAkzLqf2mBPeGCkORdmhNuEyDolNboFB9tl24y3ww6S3LulRkpti5HouwIuC91i/K/C9bZT39u6gUxv/5D7hK1wHHQXsdBHXJ1iMpfkWji8dOFlXd685cllNGQYRvSNYrJ3SXeoYi9zBwSZXJGfY9Q/2oL/bRKUMJFEoVxeNqU4+euA93VPfHChHeByoYKzzDQRWWuUdOFa/MO1FzL/eZyoVOFLpHGelqS1WQopekVmtJu9WgL7AkXhCTve6nY8TsAnRKaTvHVdtGtmQ5n/J2JTbpJ2Yyc+HVO4H1p+4rRmDhvyC3PxkImjxu6oIXjwG/qkCvpNoLNFtpYRubefF7Ex+F/T8g8aYnuDNPHDidGvLBkD/88CwtVG8qHF7i6kMyi1z1ecFBnExgz0BHbK1h8lAmlu1TB2MvzLm880CXMcI7F4J6CC7kDjr65T/aEbUKT95vk3pncdqBTmq9TfLZdjpN8A8Js+n0r02cqlvAv5L7UOTn4XYoeE41t+lMhzK/dpN89hZcZ+CJXMwQv5E+yk210B+kzmiYTn8Q3KLzPqaDHySyi4XRisb88R/26xEllPaIzSb76b3mBepcI33edp2NFulpHd42SC8dBkYzE0h3Qtxz1navIiap0yUyhnZ0dcjJJxfJQSNev2gqRbos9EZq8M9J1sCFFitQBdErzdYrvtkvWojKZLPAy2cvuH2JfStelnixYb3zjzqAnY0HLBqGTlkDfA0/kaqvQpq3zproJM5nRdB/9zi6c5wzXAJlFNPxNxTLhryC3WZ2l66aK3DvOZzBHyPx4iE8cNljM91foOMi7U7RIcETxf+tzZIi7ulK0Kl2yVXBCzk4YYfHC7g3lz8os3bluK0S6DfZEiPI+U6g7xJswqgY6pfk6xWfbpVuzoB5KsRmvO5Z3X/vyNMnXUC4tUC/nHrhV8LeNm191nYQsusAnuboqDKojltp5q2njaMK4nKDsbLU6dgnGYY+a9D8UVJbHyF1W520GSrdI9m/dLRYvqfz1NnXygKo7xtRt4DgYy1nnU6G+o4767S9yFypblS65QmbXXcV/N075E0nNNPjmm2BPtFreNwl1n4VJ4419Ap3STttls6adAx3OHp7jXR5R8LkvTRJIczTNrBp0SGPm1xdUfbgdCJ865GpUGOxLLbTRS3LoVZdSYvz/zxdoQ5d/4J76m/h87bsCyvIxuQkvnG3wDYp8+xPC887zeJxIiTa5rLXYnnTNZ97dxX1CXZ+Vo8sFkvd9vOG6hJT8SmGHyRtWdhZoQ7qhxVaIdBvsiVDl/ThVn6+hbUCnNFenhGC7nBdkK5nLYp9DOQ+hL98Z2ElDNeiQRsyvs0h/VmQXdD3wRK6k8HtbdwpvNWgj3tEfKTh5fhH6Lk4aOkX5z4hJZ6QuleibCwbKNu/zniJ9MrB5no8VKQHsJ8vtrTf4RqYTEBsI0p3k+x323aDQ9oeG65JFQjsLaTor/9eShoE0Lm2FSIduT4Qq78wdoe7ZBHywT6BT2mu7ZC12x5Td95mqSSIdQl8eMHgHLv8Gvq7KvQgqG7IM2ksdciVdX2jrPNdFoY1+tTDnsNGBAvXrwlG53j76fUThWIH6pSuUthTsl35BqcXXCprCURS6XBJ3qZ5QMducEvrslOX2pMVHnlDrkyTvvrpMqHaW3BzxqEqX6K6/i427+K5qdiYWDS2Vdk9shUiHbk+EKu/Md3Kf5K7NQKc0V6eEYLvMJ/1GQPIa0LUO5TwUO7CH9Bt4WclGW7Fe1y2CPhAA/sjVC2FQDVpqZ0Ro42XJiVOXrZuPKcThaC8K1n+O9OfOiobZSjtWXPYY1sXe6KxsvByOeyCgsfJc6LMBy+2dJDtnU3kH8kdFxmNRmTvfcF0yRPrMzUknz/qCbfQZfG9bCZVCtidClncpd8INAr7YJ9Ap7bRd9mienY8lfEwstOvUUT7ZgfvIzHEwVWIseTm/6ryGV6DrgSdyNdtgYNsItewV2ojPYD0v0YbuLu140c/RDIsL1v+a7GfO7jdQrhwtIeVimKOM3yyPNU96CwIaJ1Lo2YiDNocMxorJ8ZqjBt+713H/jQvPsK3BuqRLeH6ODIrD4sscH9pN1YRIh25PhCrvRHIiMxxZ9cM+gU5pr+2im9dPJOSs3+EzhGgHjpCZ8+AHub/RoBHz6zyhI7ZC3wNP5Gq70OZLS+3owrw/KeXByq7MLvGoRuHGSY+OF6x7LrnJBn7JQLHqdq343CWH4U5Qdmjb6gDHihR6dtxBm9/JTmLET0I9rq/HXGwgc30N1iWrNW18STgQP1K5UMxbVE2IdOj2RKjyTqRPquYi6qltQKc0V6eEYLvoHEbsKHpV0eIyRDtwuaHjIF4DzA19va5bBNnygIL2UYdcSRPZSUvtXDVQHmWurTIxDnnS73bwbbisKFBnj0bRJ0tnKBfLwW61UM36zYNAHQamE63t3QGTHYHDBvWsMajH9XfbK7Q/0nBdckIwQOJ/3uDYUWQrRDpkeyJkeSdBB0/ApPHGPoFOaaftonMYjSb6y+Uufch24OkczoNhR8/QmPlVl3DiFXQ98ESupPC8X8rws4G068TZa8uEq+4xUEzbHH2bsYJ17jJ45i+JhSufS3tE2WFoH5QBtKAFY0UXevbOQXuHDb7VfIN6Lgt1jFbQd3cdGONV6pKnBt+i7HVPUiZ3mwZHyPZEqPIey/xPhzLYdqBTmqtTQrFdThi8x2XHzxCyHchOEdMjC1z+CXm9rrtn8wz0PfBErtYKg3iC7GS67q9AYdwmd7tK0rcpei3TXYN++Sw4XV6qSWJ5i8aJlGDqlIM2nwhtPjSsR8o27NpIka4ULRpeXZUukXJbxEeTyhpNx4Q2Xlj8JiHbE6HKO5EcivsPAR/sE+iU9touLwzeo9/xM4RuB3I08A8ycxzwOLSd76AR86sUEr2JAPBDrqQrqmztmBwkOdqg7LUwkmLa7NDxsaNAndJuVVqZVAtYzhDL57J6WzpWdgr9tNJye38ZfJtNFsZ4mSs9TZGO3LxsuC7ZSm6PPMU8pmpCpEO2J0KWd0ZKdLeegA/2CXRKO22XXoPnfuj4GdpiB27M8X42owAaM7/qzsuxAHQ35EOtyymMPpc75D91yNUboV/3WmrnvuMJc6VQf9nQ9QNkP7GWydlfPg95SBnXi8ntPec+oTv3+tVBe8ctydcOsnMrQxnukZ3rnurSJVKuFNaV80q20U3yDqStEGlf7IkihCzvzI2a3y10oFOaqVNCsV0GDd5jjeNnaJMdaHIsxHauj8bMr7qQ6McN+khwHPhF1XI136Bf/7LQjhQqOmWhnX+E99hfsn7d/bqvC9Z5iOo/W+crXzV9ds1yWzxJS/k5dhrWdUWo57njfpsrGK9fCholVekS5qPQzkULbWymakKkfbInihCqvMfozu6+IOCDfQKd0l7b5ZrwDu8reIa22YHDhmu6d56MBWN0IdHHG/SB4Djwi6rlal9FSlOaMO9baOOxMCHPKFF3F+kz3p4vWO8tA7nGta7/ZWnFfSbtmubJnSHtfl5z3Hf/UvlbIerUJSah7zbOo0pX7N1uoT1RhFDlnekRnBKXoKq9sE+gU9pru4wK73Csgmdomx3I0bljhuu61R6MBSOkrKir4DiA48ATuZISsly01M5lx0pRCgEse//uauH5i17P9ISqMVhCQ5cvg+XA9nk/KVx2bY663pO7sGmTcaKL1PisFkNN1iX7qZrrnKoKkfbJnihCqPJOSu/D6esO6JTm6pQQbBdpA4JtifkVPEcb7UCTWyRs5BVpzPyqu5LLZqgRHAftchxULVcmmaZtJa3SeXXHLLzbFsdeS925rJ8lnv+7gVzjjGw+g/KZ5bakJIw3c9YnXS3mMlGPlKdj0ANdckdoZ7eFNvqouhBpn+yJIoQo7zFHyH7eGwCd4oNOCcF2ka5XflTRc/jWl5xP7BaVT0D93OC9n4Yyv973aPEKx4E/VC1X0m6JraQh0nVVNnYNLmrq/2Shft39zmWOWUwayDX4EykD8UmLbfHxls+kT8I4J2edkjG81FG/8c7qF0dGUlW6pEsYM5NU7khSjHQ0xea5V5/siSKEKO8xQyTfuQ6gU0LUKSHYLg+F599V0XP41pdxssGyV82uMnjv8RDmV8loPQDHARwHnsjVOaE/bSUNkbLR2zjDpAuHPVey7pmkPwZxqETdUwTHQV6kDMQ2rz875aAt6XvPcNRvurPefAZwgQe6RLrT/aaldqQzpxdaak8Q5P0PRiuQxbYCndJsneK77SJFtPx0qJt878s44a2NnBwvSD4u4v38KimZAc1v+dztA8K9vqAZcvVSaPOo8Hu+k3WRQTu6cCQbuzJSYqOyZ5i2lPg2seMk6zofRBzkx9WxkU6WCRN60ciGiRq+Ny+SdCHjZXdWqtIlkiOniqNVJu3wuX0Th2gb7IkQ5Z2ZR25v8Wk70CnN1im+2y5Swu4qNyJ968v4aM9nC3VJx8kmQ1iv64xW6e7w+FzucswJoGa5mkGyl3OZ5vc8IfO5rA9CO3OENs5b6LtDJfrOBN0xiFHht3ECGM7jkJaEy+Rs2zxHMjdHTZ6+oUsk9NRSGzw+3mnaeVCibulaRxc80rR31UJfVaFLmBfkPnR5FpULkY6Nle8k71i1wZ4ITd5jtgrvtQJmDXRKwDrFd9vlgvDsOyqUd9/68hXZy8uxRHjv0RJ1N2Z+1RmtupCmY+pvTmFOAA2Qq00lBitPgm/V320X2tlO9rLRZ/HQsZGoy4R8Q/O7v+l3mFRWEq77BhOGi8zc7GmN761e49E4ka4/O2upHd3d86/UGCiKlIjLNrobKJ5T+XDMqnRJL1VzlZn0ProQad7p/kbmGdLbYE+EJu8xp0m/S+Z7Uss6gU5pvk7x3XZ5R804puBjXyYjJMreBNJF7iI/GjG/Sle+ZXmoNqr//pbKXf0DwqQOuTohDFbd9YUP1N8MGbSjO9f3zVLf6c4wlQ0zlMJR92om+68GfXnWYMK4alne2Lsc32s7TH7d2iAdG7Exue7W1M/GxtyS9Uv3ytucI1ZoxsdHC+9SpS4ZpGp2iKRM28c1C5Y3ORYcbbEnQpP3TtlNKw9h1kCnBK5TfLZd5gvPfbdiefepL3vIXvRlTJkjSY2fX6Usr2n3fS5RH4dfYCkB0Ay5GqJi5+3inViTbPLsSRx3rAh1C0kbYYbbhH5K89LOpt87HnxOU+e5ls5gxe9h61qv5HlO3jnv9WysSOGFZROerdUsPN6RnXDBleQ+WSipRVJWVvkvZO9+6ip0CXON9AmUZlt6HymJWdaZx3jX6IPhuGqLPRGavMfoziWfJACdErZO8dl22UPNuE3Bx778O2WclDmu0CO892Lf1+u67PDfU/6+LzGRHcZcABokVx+FQTUz5TfJLMfrLChDG/d360LKbVy3dYny7ZaxAn6eMF5MjFXpDPAvZXiUgZ8jeaXkCNndfasK3bGRyZJ1r6Dss4bPKP+1izp0YZJHLNQ/i7KTi30gu/fLV6FLGF1ysWGL7/OS8u+QX6bf90KbGhxtsidCkvfYwHQ9t7UZ6BQ/dIqvtstQRQ6jEPsybbOujKN0rSMbvjHz6/0cSqYvMVneJwCaJVdSFtckXR0LdNNzP+fI/RnQL44N0uEc/cS70XHSmHEyT451yGDCKHNn7r6OBfELT50G0rGRMhl+2Ys+llHvdbIfEq7b8XhVsm42qh9TdvJI29++Cl3SL7RxyOL7SLcAdGmci3lCm9tkT4Qk76S+s27h0U0AOiV8neKj7SJFwj6pSeZ96cu0WxDGqbhzVrdOWBbCen1CWAgtVkK5LeHJ/FCT9wr4Qx1yJWUsjpP5raY/M6jm8QDqdplsJB0aEN5hqeNv80sZH7yo5FwHcU4DDinLc4ULf9sRw0mDF7GmO99rO74dl3tULrFfnUjnUUdKLAImM8beHofvo9uFKpoxmmXjWUad58hNwrYqdMlBoY2FFb5PfOZyCf2ZfOkM7IlWyDtzlfQJGAF0Sht0io+2y2rhOeuK5vKlL69ZtOn5HbI2bE6EsF6fa/hBO5O/LSQAmidXPwq0+5rMz0ItIvdJh46Q28SLJhN+mkLaWKCdRRoFmubd5bP+mzqUf4+aJI6mTEBTVDzJTFO4KfTLFOXzoPdqFgAvlVPIJckEmmlZw/N68NlRlhbiy5EYGxy+h2tdwtzV1PXW8vt8L/A+eY2mNtoToci75AQ5DbMGOqVFOsU320VKvFmnjvWhL+8YOMBMyYoKuFPyGRszv67M+RD88XGPL2iqXN3N2W7ebPIHyf0ZMt0xgluWvs/XnIpnTUlZGCug8KTyisJIzDpq8K7sSZfChHuUfI5mLGD2VfhOyzUy9onM7hBmY/lMipPrp1rEuI4wca1Lukh/c8oZy+8zlPN9HlD+0PS22hMhyLuUrXs9AeiUdukUn2yXF4LzqQlrgib35XuhndMkR3pxpEHWNeqXQlqv8yCeMHwIngAHoPtBg+VqZ45BVeSc6ENym3RopmC87bbUT9cM+4jDU/+y0N4CYWLLU1jB7wpknPRTvp2nQfq9+8STGHuS+apGjjBI283ixcw/VM8xDpabx6TfedrSMQbnqn93JUV/8P8/b0kem6BL1lH+m03KsD7H+1ynYufZ22xP+C7vumReE+TueESbgE7xT6f4YLv0Cu2eaoj8N7kvk8c6+Z+/03+PerIjj3MhJG9E4A2bTUpXp+WY4Hxl20Jcrx8weAg2TJHTAPggVw+ENnngHS9gCEk7MjaSFkrXJNoyIheRPmySPZWHHRiLu0ifI0J3ZQ/v1mwOzICVxgh7uZ/k7Ksp5eDa3pC+4oXRs4LGwZRyyO2tyfnhSpeQ+ra6cE0XXBbe54fqa9gT7ZN33Xe7RQA6pd06pcm2i5QnaVXDxkDT+nIW/Zk8NFk339iwu4Ad9kGtCWaGvF5nj8l9NcgnlZJ5qjxV/QSAX3J1QBlvE6rdH2rC5sXwHHyW/8PeyDuJb8Ph7ENKSfY4bnuFMo64/c+J7xR7ekfUfzupZCjUbN5SqGes/NnDfVT1yddEf/H/flL//ixNRx/MaOi7LlAG5A01CX9PfPP4uz9Xi5STyjjoacBzh6ZLtqv+n0j0+z1lMPVaagP2hH/yfpvc5u4B0Ckh6BTYLuH15TrVpnSUh49EcHLaF0r+JhOy+Frpch7Dyxz3G+ZXAABoIV2kDzt7gy4CAFRE1n3rvMs3C90DAAAAAABAPUjXJ11GFwEAKmA26ROzAgAAAAAAAGriOOkdB1vRRQCACthCOKYAAAAAAABAI9Fdu5nMbwAAAC7JSqrHZ2hxRhsAAAAAAICakG7oGEEXAQAqIitj+AV0DQAAAAAAAPWxmfTRBhfRRQCACtA5MQfQPQAAAAAAANTHeUJ+AwBA/WTlN3iMrgEAAAAAAKBeRijbacC7f73oIgBABVzJ0ENr0DUAAAAAAADUh+7qMy6v0EUAgAroisq3FB30HF0DAAAAAABAvWwjvePgPLoIAJCTWarkYX2GDvob3QkAAAAAAEC9XCO942ALuggAYAgv8t8m9MfnqGw3/O3tFP0zhC4FAAAAAACgfj4KjoNZ6CIAgAF868FEhh7ZJPy2j/57m8KPqMxHtwIAAAAAAFAviwWnwQi6CABgyD2NLhkWfnsm5Td70KUAAAAAAADUz1HBcXAdXQQAMGRCo0vGNL/jqILJjr+/g+4EAAAAAACgGbwTHAd70UUAAAuOg5ua3w11/O1rwhEpAAAAAAAAGsE+wWnA5SC6CQBgyCONLllhqIc+RGUeuhIAAAAAAID64URlkwaOA86Ojp0/AIAJ6zS6pDvl73d3/M1LOA0AAAAAAACojyXKWcC7e48NHAbJ8iUq56IyGJWNanEwgC4FAKRwMkOPXIjKjKh0RWUNTecwSP73K+q/AwAAAAAAAGriVk5ngVSQNBEAkMXOqIwa6pLnUVmLLgMAAAAAAKB+VtF0xICtshJdCgDQ0BOVXTTttPxE04kT+XjUD5rOhcDXLy5HNwEAAMjD/wC7NWPSJtdtwAAAAW50RVh0TWF0aE1MADxtYXRoIHhtbG5zPSJodHRwOi8vd3d3LnczLm9yZy8xOTk4L01hdGgvTWF0aE1MIj48bXN0eWxlIG1hdGhzaXplPSIxNnB4Ij48bWk+dDwvbWk+PG1vPj08L21vPjxtbz4mI3hBMDs8L21vPjxtaT50PC9taT48bWk+aTwvbWk+PG1pPm08L21pPjxtaT5lPC9taT48bW8+JiN4QTA7PC9tbz48bWk+cDwvbWk+PG1pPm88L21pPjxtaT5pPC9taT48bWk+bjwvbWk+PG1pPnQ8L21pPjxtbz4mI3hBMDs8L21vPjxtaT5vPC9taT48bWk+ZjwvbWk+PG1vPiYjeEEwOzwvbW8+PG1pPmk8L21pPjxtaT5uPC9taT48bWk+dDwvbWk+PG1pPmU8L21pPjxtaT5yPC9taT48bWk+ZTwvbWk+PG1pPnM8L21pPjxtaT50PC9taT48L21zdHlsZT48L21hdGg+wY7z9QAAAABJRU5ErkJggg==\&quot;,\&quot;slideId\&quot;:259,\&quot;accessibleText\&quot;:\&quot;t equals space t i m e space p o i n t space o f space i n t e r e s t\&quot;,\&quot;imageHeight\&quot;:14.0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1034</TotalTime>
  <Words>1802</Words>
  <Application>Microsoft Macintosh PowerPoint</Application>
  <PresentationFormat>On-screen Show (16:9)</PresentationFormat>
  <Paragraphs>118</Paragraphs>
  <Slides>8</Slides>
  <Notes>7</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8</vt:i4>
      </vt:variant>
    </vt:vector>
  </HeadingPairs>
  <TitlesOfParts>
    <vt:vector size="15" baseType="lpstr">
      <vt:lpstr>Arial</vt:lpstr>
      <vt:lpstr>Cambria Math</vt:lpstr>
      <vt:lpstr>Noto Sans Symbols</vt:lpstr>
      <vt:lpstr>Times New Roman</vt:lpstr>
      <vt:lpstr>UCSF Contemporary Pattern 1</vt:lpstr>
      <vt:lpstr>UCSF Classic</vt:lpstr>
      <vt:lpstr>UCSF Contemporary Pattern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Amy Girard</dc:creator>
  <cp:lastModifiedBy>Choi, Sin U</cp:lastModifiedBy>
  <cp:revision>5</cp:revision>
  <dcterms:created xsi:type="dcterms:W3CDTF">2026-05-11T19:58:21Z</dcterms:created>
  <dcterms:modified xsi:type="dcterms:W3CDTF">2026-05-31T15:46:04Z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0x01010009BFD5D484ED57438231C5F4848B6EC7</vt:lpwstr>
  </property>
</Properties>
</file>