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5b16dc85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5b16dc85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Emma walked us through what SVM is trying to do and what the margin means. My goal is to show you how SVM actually solves that problem — and why the method we use turns out to be more powerful than just finding the answer directly.</a:t>
            </a:r>
            <a:endParaRPr/>
          </a:p>
        </p:txBody>
      </p:sp>
      <p:sp>
        <p:nvSpPr>
          <p:cNvPr id="55" name="Google Shape;55;g3e5b16dc85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5b16dc856_2_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g3e5b16dc856_2_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So we have the primal — our goal is to minimize ½‖w‖² while making sure every training point is correctly classified. We know the goal, but getting there is the problem. Every training point has a constraint attached to it, and traditional calculus only works cleanly when you can optimize freely without restrictions — those constraints are blocking us from solving it directly. </a:t>
            </a:r>
            <a:endParaRPr/>
          </a:p>
          <a:p>
            <a:pPr indent="-298450" lvl="0" marL="457200" rtl="0" algn="l">
              <a:spcBef>
                <a:spcPts val="0"/>
              </a:spcBef>
              <a:spcAft>
                <a:spcPts val="0"/>
              </a:spcAft>
              <a:buSzPts val="1100"/>
              <a:buChar char="-"/>
            </a:pPr>
            <a:r>
              <a:rPr lang="en"/>
              <a:t>Think of it like trying to find the lowest point on a mountain but certain paths are blocked — you can't just walk freely downhill, the restrictions force you to take a different route. That different route is exactly what the next few slides cover. But before we get there, the key question driving my whole section is this — which training points actually define the boundary? Not all of them do, and by the end of my section you will know exactly which ones matter and why</a:t>
            </a:r>
            <a:endParaRPr/>
          </a:p>
          <a:p>
            <a:pPr indent="-298450" lvl="0" marL="457200" rtl="0" algn="l">
              <a:spcBef>
                <a:spcPts val="0"/>
              </a:spcBef>
              <a:spcAft>
                <a:spcPts val="0"/>
              </a:spcAft>
              <a:buSzPts val="1100"/>
              <a:buChar char="-"/>
            </a:pPr>
            <a:r>
              <a:rPr b="1" lang="en"/>
              <a:t>**primal constraint: every single training point must be correctly classified and sitting outside or exactly on the margin boundary.</a:t>
            </a:r>
            <a:endParaRPr b="1"/>
          </a:p>
        </p:txBody>
      </p:sp>
      <p:sp>
        <p:nvSpPr>
          <p:cNvPr id="71" name="Google Shape;71;g3e5b16dc856_2_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5b16dc856_2_3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e5b16dc856_2_3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To handle those constraints, we use the Lagrangian — a combined function that absorbs every constraint directly into the objective by multiplying each one by a new variable called alpha-i. </a:t>
            </a:r>
            <a:endParaRPr/>
          </a:p>
          <a:p>
            <a:pPr indent="-298450" lvl="0" marL="457200" rtl="0" algn="l">
              <a:spcBef>
                <a:spcPts val="0"/>
              </a:spcBef>
              <a:spcAft>
                <a:spcPts val="0"/>
              </a:spcAft>
              <a:buSzPts val="1100"/>
              <a:buChar char="-"/>
            </a:pPr>
            <a:r>
              <a:rPr lang="en"/>
              <a:t>Instead of the constraints sitting outside as separate rules, they're now folded into one single function we can work with using calculus. Think of it like a river blocking your path on that mountain — instead of treating it as a barrier, we absorb it into our map. </a:t>
            </a:r>
            <a:endParaRPr/>
          </a:p>
          <a:p>
            <a:pPr indent="-298450" lvl="0" marL="457200" rtl="0" algn="l">
              <a:spcBef>
                <a:spcPts val="0"/>
              </a:spcBef>
              <a:spcAft>
                <a:spcPts val="0"/>
              </a:spcAft>
              <a:buSzPts val="1100"/>
              <a:buChar char="-"/>
            </a:pPr>
            <a:r>
              <a:rPr lang="en"/>
              <a:t>We introduce one alpha-i per training point. At this stage alpha is just being introduced as an unknown — its actual values get determined later. But intuitively, alpha-i represents how influential each point is in shaping the boundary. A large alpha means that point is pulling the boundary strongly toward itself — and a zero alpha means it plays no role at all.</a:t>
            </a:r>
            <a:endParaRPr/>
          </a:p>
          <a:p>
            <a:pPr indent="-298450" lvl="0" marL="457200" rtl="0" algn="l">
              <a:spcBef>
                <a:spcPts val="0"/>
              </a:spcBef>
              <a:spcAft>
                <a:spcPts val="0"/>
              </a:spcAft>
              <a:buSzPts val="1100"/>
              <a:buChar char="-"/>
            </a:pPr>
            <a:r>
              <a:rPr lang="en"/>
              <a:t>**ONLY PATH THAT LEADS TO THE DUAL </a:t>
            </a:r>
            <a:endParaRPr/>
          </a:p>
          <a:p>
            <a:pPr indent="-298450" lvl="0" marL="457200" rtl="0" algn="l">
              <a:spcBef>
                <a:spcPts val="0"/>
              </a:spcBef>
              <a:spcAft>
                <a:spcPts val="0"/>
              </a:spcAft>
              <a:buSzPts val="1100"/>
              <a:buChar char="-"/>
            </a:pPr>
            <a:r>
              <a:rPr lang="en"/>
              <a:t>** The Lagrangian absorbs the constraints into the objective by multiplying each one by αᵢ and subtracting it. Now the constraints are baked into the function itself — the wall is no longer a separate barrier, it's part of the landscape. And now you CAN differentiate freely because the constraint information is already inside the function, automatically penalizing any violation.</a:t>
            </a:r>
            <a:endParaRPr/>
          </a:p>
        </p:txBody>
      </p:sp>
      <p:sp>
        <p:nvSpPr>
          <p:cNvPr id="88" name="Google Shape;88;g3e5b16dc856_2_3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b16dc856_2_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e5b16dc856_2_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Now that we have the Lagrangian, we need to find its optimum. The KKT conditions are the five rules that must all be satisfied simultaneously for us to accept a solution as the true optimum — think of them like a checklist where every box must be ticked at the same time. They also give us the tools to simplify the Lagrangian into the dual. </a:t>
            </a:r>
            <a:endParaRPr/>
          </a:p>
          <a:p>
            <a:pPr indent="-298450" lvl="0" marL="457200" rtl="0" algn="l">
              <a:spcBef>
                <a:spcPts val="0"/>
              </a:spcBef>
              <a:spcAft>
                <a:spcPts val="0"/>
              </a:spcAft>
              <a:buSzPts val="1100"/>
              <a:buChar char="-"/>
            </a:pPr>
            <a:r>
              <a:rPr lang="en"/>
              <a:t>The first condition tells us w is built entirely from the training points themselves — specifically a weighted combination of them using the alpha values. </a:t>
            </a:r>
            <a:endParaRPr/>
          </a:p>
          <a:p>
            <a:pPr indent="-298450" lvl="1" marL="914400" rtl="0" algn="l">
              <a:spcBef>
                <a:spcPts val="0"/>
              </a:spcBef>
              <a:spcAft>
                <a:spcPts val="0"/>
              </a:spcAft>
              <a:buSzPts val="1100"/>
              <a:buChar char="-"/>
            </a:pPr>
            <a:r>
              <a:rPr lang="en"/>
              <a:t>tells us what w equals at the optimum → when substituted back, w disappears from the Lagrangian</a:t>
            </a:r>
            <a:endParaRPr/>
          </a:p>
          <a:p>
            <a:pPr indent="-298450" lvl="1" marL="914400" rtl="0" algn="l">
              <a:lnSpc>
                <a:spcPct val="115000"/>
              </a:lnSpc>
              <a:spcBef>
                <a:spcPts val="0"/>
              </a:spcBef>
              <a:spcAft>
                <a:spcPts val="0"/>
              </a:spcAft>
              <a:buSzPts val="1100"/>
              <a:buChar char="-"/>
            </a:pPr>
            <a:r>
              <a:rPr lang="en">
                <a:solidFill>
                  <a:schemeClr val="dk1"/>
                </a:solidFill>
              </a:rPr>
              <a:t>In plain English: </a:t>
            </a:r>
            <a:r>
              <a:rPr b="1" lang="en">
                <a:solidFill>
                  <a:schemeClr val="dk1"/>
                </a:solidFill>
              </a:rPr>
              <a:t>w is built from the training points.</a:t>
            </a:r>
            <a:endParaRPr b="1">
              <a:solidFill>
                <a:schemeClr val="dk1"/>
              </a:solidFill>
            </a:endParaRPr>
          </a:p>
          <a:p>
            <a:pPr indent="-298450" lvl="1" marL="914400" rtl="0" algn="l">
              <a:lnSpc>
                <a:spcPct val="115000"/>
              </a:lnSpc>
              <a:spcBef>
                <a:spcPts val="0"/>
              </a:spcBef>
              <a:spcAft>
                <a:spcPts val="0"/>
              </a:spcAft>
              <a:buSzPts val="1100"/>
              <a:buChar char="-"/>
            </a:pPr>
            <a:r>
              <a:rPr lang="en">
                <a:solidFill>
                  <a:schemeClr val="dk1"/>
                </a:solidFill>
              </a:rPr>
              <a:t>Imagine you have 569 tumour samples. Each one gets multiplied by three things — how important it is (αᵢ), which class it belongs to (yᵢ), and its actual features (xᵢ). You add all of those up and that gives you w.</a:t>
            </a:r>
            <a:endParaRPr>
              <a:solidFill>
                <a:schemeClr val="dk1"/>
              </a:solidFill>
            </a:endParaRPr>
          </a:p>
          <a:p>
            <a:pPr indent="-298450" lvl="1" marL="914400" rtl="0" algn="l">
              <a:spcBef>
                <a:spcPts val="0"/>
              </a:spcBef>
              <a:spcAft>
                <a:spcPts val="0"/>
              </a:spcAft>
              <a:buSzPts val="1100"/>
              <a:buChar char="-"/>
            </a:pPr>
            <a:r>
              <a:t/>
            </a:r>
            <a:endParaRPr/>
          </a:p>
          <a:p>
            <a:pPr indent="-298450" lvl="0" marL="457200" rtl="0" algn="l">
              <a:spcBef>
                <a:spcPts val="0"/>
              </a:spcBef>
              <a:spcAft>
                <a:spcPts val="0"/>
              </a:spcAft>
              <a:buSzPts val="1100"/>
              <a:buChar char="-"/>
            </a:pPr>
            <a:r>
              <a:rPr lang="en"/>
              <a:t>The second is a balance rule — the pull from the positive class must exactly cancel the pull from the negative class. </a:t>
            </a:r>
            <a:endParaRPr/>
          </a:p>
          <a:p>
            <a:pPr indent="-298450" lvl="1" marL="914400" rtl="0" algn="l">
              <a:spcBef>
                <a:spcPts val="0"/>
              </a:spcBef>
              <a:spcAft>
                <a:spcPts val="0"/>
              </a:spcAft>
              <a:buSzPts val="1100"/>
              <a:buChar char="-"/>
            </a:pPr>
            <a:r>
              <a:rPr lang="en">
                <a:solidFill>
                  <a:schemeClr val="dk1"/>
                </a:solidFill>
              </a:rPr>
              <a:t>In plain English: </a:t>
            </a:r>
            <a:r>
              <a:rPr b="1" lang="en">
                <a:solidFill>
                  <a:schemeClr val="dk1"/>
                </a:solidFill>
              </a:rPr>
              <a:t>the two sides must balance perfectly.</a:t>
            </a:r>
            <a:endParaRPr b="1">
              <a:solidFill>
                <a:schemeClr val="dk1"/>
              </a:solidFill>
            </a:endParaRPr>
          </a:p>
          <a:p>
            <a:pPr indent="-298450" lvl="1" marL="914400" rtl="0" algn="l">
              <a:spcBef>
                <a:spcPts val="0"/>
              </a:spcBef>
              <a:spcAft>
                <a:spcPts val="0"/>
              </a:spcAft>
              <a:buClr>
                <a:schemeClr val="dk1"/>
              </a:buClr>
              <a:buSzPts val="1100"/>
              <a:buChar char="-"/>
            </a:pPr>
            <a:r>
              <a:rPr b="1" lang="en">
                <a:solidFill>
                  <a:schemeClr val="dk1"/>
                </a:solidFill>
              </a:rPr>
              <a:t>Think of it like a perfectly balanced seesaw. The weight on the malignant side must exactly match the weight on the benign side. If one side is heavier the boundary tips toward it — which means it's not in the optimal position anymore.</a:t>
            </a:r>
            <a:endParaRPr b="1">
              <a:solidFill>
                <a:schemeClr val="dk1"/>
              </a:solidFill>
            </a:endParaRPr>
          </a:p>
          <a:p>
            <a:pPr indent="-298450" lvl="1" marL="914400" rtl="0" algn="l">
              <a:spcBef>
                <a:spcPts val="0"/>
              </a:spcBef>
              <a:spcAft>
                <a:spcPts val="0"/>
              </a:spcAft>
              <a:buSzPts val="1100"/>
              <a:buChar char="-"/>
            </a:pPr>
            <a:r>
              <a:rPr lang="en"/>
              <a:t>This condition is what causes the b term to vanish when we substitute back into the Lagrangian — because the b term in the Lagrangian contains Σᵢ αᵢ yᵢ, and since that equals zero, the whole b term becomes b × 0 = 0 and disappears.</a:t>
            </a:r>
            <a:endParaRPr/>
          </a:p>
          <a:p>
            <a:pPr indent="-298450" lvl="1" marL="914400" rtl="0" algn="l">
              <a:spcBef>
                <a:spcPts val="0"/>
              </a:spcBef>
              <a:spcAft>
                <a:spcPts val="0"/>
              </a:spcAft>
              <a:buSzPts val="1100"/>
              <a:buChar char="-"/>
            </a:pPr>
            <a:r>
              <a:rPr lang="en"/>
              <a:t>Second condition → tells us the alphas must balance across classes → when substituted back, b disappears from the Lagrangian</a:t>
            </a:r>
            <a:endParaRPr/>
          </a:p>
          <a:p>
            <a:pPr indent="-298450" lvl="0" marL="457200" rtl="0" algn="l">
              <a:spcBef>
                <a:spcPts val="0"/>
              </a:spcBef>
              <a:spcAft>
                <a:spcPts val="0"/>
              </a:spcAft>
              <a:buSzPts val="1100"/>
              <a:buChar char="-"/>
            </a:pPr>
            <a:r>
              <a:rPr lang="en"/>
              <a:t>The third simply confirms every training point is correctly classified — just a sanity check. </a:t>
            </a:r>
            <a:endParaRPr/>
          </a:p>
          <a:p>
            <a:pPr indent="-298450" lvl="0" marL="457200" rtl="0" algn="l">
              <a:spcBef>
                <a:spcPts val="0"/>
              </a:spcBef>
              <a:spcAft>
                <a:spcPts val="0"/>
              </a:spcAft>
              <a:buSzPts val="1100"/>
              <a:buChar char="-"/>
            </a:pPr>
            <a:r>
              <a:rPr lang="en"/>
              <a:t>The fourth says every alpha must be non-negative — the multipliers can only pull toward satisfying the constraint, never push in the wrong direction.</a:t>
            </a:r>
            <a:endParaRPr/>
          </a:p>
          <a:p>
            <a:pPr indent="-298450" lvl="0" marL="457200" rtl="0" algn="l">
              <a:spcBef>
                <a:spcPts val="0"/>
              </a:spcBef>
              <a:spcAft>
                <a:spcPts val="0"/>
              </a:spcAft>
              <a:buSzPts val="1100"/>
              <a:buChar char="-"/>
            </a:pPr>
            <a:r>
              <a:rPr lang="en"/>
              <a:t>The fifth — complementary slackness — is the most important one. Think of it like a light switch — every point is either fully off, meaning alpha is zero and it plays no role, or fully on, meaning it sits exactly on the margin as a support vector. In our breast cancer dataset of 569 tumours, maybe only 20 or 30 end up as support vectors — the rest are simply switched off and contribute nothing to the boundary.</a:t>
            </a:r>
            <a:endParaRPr/>
          </a:p>
        </p:txBody>
      </p:sp>
      <p:sp>
        <p:nvSpPr>
          <p:cNvPr id="109" name="Google Shape;109;g3e5b16dc856_2_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b16dc856_2_9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e5b16dc856_2_9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This is the core of my section. We take the two stationarity conditions from the KKT checklist and substitute them back into the Lagrangian. Think of it like a recipe — we start with w, b, and alpha all mixed together, and by the end only alpha remains. The b term vanishes because the balance condition makes it multiply to zero. The w terms collapse into inner products between training points. What's left is the dual — a clean function of alpha only. </a:t>
            </a:r>
            <a:endParaRPr/>
          </a:p>
          <a:p>
            <a:pPr indent="-298450" lvl="0" marL="457200" rtl="0" algn="l">
              <a:spcBef>
                <a:spcPts val="0"/>
              </a:spcBef>
              <a:spcAft>
                <a:spcPts val="0"/>
              </a:spcAft>
              <a:buSzPts val="1100"/>
              <a:buChar char="-"/>
            </a:pPr>
            <a:r>
              <a:rPr lang="en"/>
              <a:t>**constraint 1: every training point either has no influence on the boundary — alpha is zero — or it pulls the boundary toward itself — alpha is positive. No point can push the boundary away.</a:t>
            </a:r>
            <a:endParaRPr/>
          </a:p>
          <a:p>
            <a:pPr indent="-298450" lvl="0" marL="457200" rtl="0" algn="l">
              <a:spcBef>
                <a:spcPts val="0"/>
              </a:spcBef>
              <a:spcAft>
                <a:spcPts val="0"/>
              </a:spcAft>
              <a:buSzPts val="1100"/>
              <a:buChar char="-"/>
            </a:pPr>
            <a:r>
              <a:rPr lang="en"/>
              <a:t>**constraint 2: the boundary must be balanced — the pull from one class must exactly cancel the pull from the other class. If one side pulled harder than the other the boundary would tip toward it and wouldn't be in the optimal position anymore.</a:t>
            </a:r>
            <a:endParaRPr/>
          </a:p>
          <a:p>
            <a:pPr indent="0" lvl="0" marL="457200" rtl="0" algn="l">
              <a:spcBef>
                <a:spcPts val="0"/>
              </a:spcBef>
              <a:spcAft>
                <a:spcPts val="0"/>
              </a:spcAft>
              <a:buNone/>
            </a:pPr>
            <a:r>
              <a:t/>
            </a:r>
            <a:endParaRPr/>
          </a:p>
        </p:txBody>
      </p:sp>
      <p:sp>
        <p:nvSpPr>
          <p:cNvPr id="147" name="Google Shape;147;g3e5b16dc856_2_9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5b16dc856_2_1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e5b16dc856_2_1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Three reasons this matters. First, sparsity — most alphas are zero so the boundary is defined by just a handful of support vectors, like a suspension bridge held up by a few cables. </a:t>
            </a:r>
            <a:endParaRPr/>
          </a:p>
          <a:p>
            <a:pPr indent="-298450" lvl="0" marL="457200" rtl="0" algn="l">
              <a:spcBef>
                <a:spcPts val="0"/>
              </a:spcBef>
              <a:spcAft>
                <a:spcPts val="0"/>
              </a:spcAft>
              <a:buSzPts val="1100"/>
              <a:buChar char="-"/>
            </a:pPr>
            <a:r>
              <a:rPr lang="en"/>
              <a:t>Second, the dual solves for n alpha values instead of d feature weights — making it computationally cheaper when features outnumber training points.</a:t>
            </a:r>
            <a:endParaRPr/>
          </a:p>
          <a:p>
            <a:pPr indent="-298450" lvl="0" marL="457200" rtl="0" algn="l">
              <a:spcBef>
                <a:spcPts val="0"/>
              </a:spcBef>
              <a:spcAft>
                <a:spcPts val="0"/>
              </a:spcAft>
              <a:buSzPts val="1100"/>
              <a:buChar char="-"/>
            </a:pPr>
            <a:r>
              <a:rPr lang="en"/>
              <a:t>Third — and this is the handoff to Siddharth — because the dual only uses inner products, we can swap them for a kernel function to find nonlinear boundaries. </a:t>
            </a:r>
            <a:endParaRPr/>
          </a:p>
          <a:p>
            <a:pPr indent="-298450" lvl="0" marL="457200" rtl="0" algn="l">
              <a:spcBef>
                <a:spcPts val="0"/>
              </a:spcBef>
              <a:spcAft>
                <a:spcPts val="0"/>
              </a:spcAft>
              <a:buSzPts val="1100"/>
              <a:buChar char="-"/>
            </a:pPr>
            <a:r>
              <a:rPr lang="en"/>
              <a:t>Scikit-learn handles all of this automatically — the Lagrangian, the dual, and the SMO solver all run the moment you call model.fit(). The theory we covered today is exactly what is happening inside that one line of code.</a:t>
            </a:r>
            <a:endParaRPr/>
          </a:p>
        </p:txBody>
      </p:sp>
      <p:sp>
        <p:nvSpPr>
          <p:cNvPr id="171" name="Google Shape;171;g3e5b16dc856_2_1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5b16dc856_0_10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e5b16dc856_0_10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
                <a:solidFill>
                  <a:schemeClr val="dk1"/>
                </a:solidFill>
              </a:rPr>
              <a:t>Connecting this to my research — the boundary between malignant and benign tumours might not be linear in that 30 dimensional feature space, but because the dual uses inner products we can apply a kernel to handle that.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After solving, only a handful of borderline tumour samples become support vectors — the genuinely ambiguous cases that define the boundary. And the choice of C directly controls how aggressively the model classifies every training tumour, which in a medical context has real clinical implications — misclassifying a malignant tumour as benign is far more dangerous than the other way around.</a:t>
            </a:r>
            <a:endParaRPr/>
          </a:p>
        </p:txBody>
      </p:sp>
      <p:sp>
        <p:nvSpPr>
          <p:cNvPr id="193" name="Google Shape;193;g3e5b16dc856_0_10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5b16dc856_4_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e5b16dc856_4_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e5b16dc856_4_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5b16dc856_0_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e5b16dc856_0_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SzPts val="1100"/>
              <a:buChar char="-"/>
            </a:pPr>
            <a:r>
              <a:rPr lang="en"/>
              <a:t>Pairs appear because squaring w — which is itself a sum over all training points — forces every training point to interact with every other training point. Squaring any sum always gives you pairs.</a:t>
            </a:r>
            <a:endParaRPr/>
          </a:p>
          <a:p>
            <a:pPr indent="-298450" lvl="0" marL="457200" rtl="0" algn="l">
              <a:spcBef>
                <a:spcPts val="0"/>
              </a:spcBef>
              <a:spcAft>
                <a:spcPts val="0"/>
              </a:spcAft>
              <a:buSzPts val="1100"/>
              <a:buChar char="-"/>
            </a:pPr>
            <a:r>
              <a:rPr lang="en"/>
              <a:t>For the lagrangian: This is called a minimax problem. You're simultaneously:</a:t>
            </a:r>
            <a:endParaRPr/>
          </a:p>
          <a:p>
            <a:pPr indent="-298450" lvl="0" marL="914400" rtl="0" algn="l">
              <a:lnSpc>
                <a:spcPct val="115000"/>
              </a:lnSpc>
              <a:spcBef>
                <a:spcPts val="0"/>
              </a:spcBef>
              <a:spcAft>
                <a:spcPts val="0"/>
              </a:spcAft>
              <a:buClr>
                <a:schemeClr val="dk1"/>
              </a:buClr>
              <a:buSzPts val="1100"/>
              <a:buChar char="●"/>
            </a:pPr>
            <a:r>
              <a:rPr lang="en"/>
              <a:t>Minimizing over w and b — finding the best boundary</a:t>
            </a:r>
            <a:endParaRPr/>
          </a:p>
          <a:p>
            <a:pPr indent="-298450" lvl="0" marL="914400" rtl="0" algn="l">
              <a:lnSpc>
                <a:spcPct val="115000"/>
              </a:lnSpc>
              <a:spcBef>
                <a:spcPts val="0"/>
              </a:spcBef>
              <a:spcAft>
                <a:spcPts val="0"/>
              </a:spcAft>
              <a:buClr>
                <a:schemeClr val="dk1"/>
              </a:buClr>
              <a:buSzPts val="1100"/>
              <a:buChar char="●"/>
            </a:pPr>
            <a:r>
              <a:rPr lang="en"/>
              <a:t>Maximizing over α — enforcing the constraints as tightly as possible</a:t>
            </a:r>
            <a:endParaRPr/>
          </a:p>
          <a:p>
            <a:pPr indent="-298450" lvl="0" marL="457200" rtl="0" algn="l">
              <a:spcBef>
                <a:spcPts val="0"/>
              </a:spcBef>
              <a:spcAft>
                <a:spcPts val="0"/>
              </a:spcAft>
              <a:buSzPts val="1100"/>
              <a:buChar char="-"/>
            </a:pPr>
            <a:r>
              <a:rPr b="1" lang="en"/>
              <a:t>For the dual:</a:t>
            </a:r>
            <a:endParaRPr b="1"/>
          </a:p>
          <a:p>
            <a:pPr indent="-298450" lvl="1" marL="914400" rtl="0" algn="l">
              <a:spcBef>
                <a:spcPts val="0"/>
              </a:spcBef>
              <a:spcAft>
                <a:spcPts val="0"/>
              </a:spcAft>
              <a:buSzPts val="1100"/>
              <a:buChar char="-"/>
            </a:pPr>
            <a:r>
              <a:rPr lang="en"/>
              <a:t>When we flip the order — maximizing over α first, then minimizing over w and b — that's what gives us the dual. And because SVM is convex, strong duality guarantees that flipping the order gives the exact same answer.</a:t>
            </a:r>
            <a:endParaRPr/>
          </a:p>
          <a:p>
            <a:pPr indent="-298450" lvl="0" marL="457200" rtl="0" algn="l">
              <a:spcBef>
                <a:spcPts val="0"/>
              </a:spcBef>
              <a:spcAft>
                <a:spcPts val="0"/>
              </a:spcAft>
              <a:buSzPts val="1100"/>
              <a:buChar char="-"/>
            </a:pPr>
            <a:r>
              <a:rPr b="1" lang="en"/>
              <a:t>Why we flip the order:</a:t>
            </a:r>
            <a:endParaRPr b="1"/>
          </a:p>
          <a:p>
            <a:pPr indent="-298450" lvl="1" marL="914400" rtl="0" algn="l">
              <a:lnSpc>
                <a:spcPct val="115000"/>
              </a:lnSpc>
              <a:spcBef>
                <a:spcPts val="0"/>
              </a:spcBef>
              <a:spcAft>
                <a:spcPts val="0"/>
              </a:spcAft>
              <a:buSzPts val="1100"/>
              <a:buChar char="-"/>
            </a:pPr>
            <a:r>
              <a:rPr lang="en"/>
              <a:t>When we do it in the primal order — minimize over w and b first, then maximize over α — we're stuck working with w and b directly. That's expensive and limits us to linear boundaries.</a:t>
            </a:r>
            <a:endParaRPr/>
          </a:p>
          <a:p>
            <a:pPr indent="-298450" lvl="1" marL="914400" rtl="0" algn="l">
              <a:lnSpc>
                <a:spcPct val="115000"/>
              </a:lnSpc>
              <a:spcBef>
                <a:spcPts val="0"/>
              </a:spcBef>
              <a:spcAft>
                <a:spcPts val="0"/>
              </a:spcAft>
              <a:buSzPts val="1100"/>
              <a:buChar char="-"/>
            </a:pPr>
            <a:r>
              <a:rPr lang="en"/>
              <a:t>But when we flip it — maximize over α first, then minimize over w and b — something magical happens. The inner minimization over w and b can be done analytically using the KKT conditions.</a:t>
            </a:r>
            <a:endParaRPr/>
          </a:p>
          <a:p>
            <a:pPr indent="-298450" lvl="0" marL="457200" rtl="0" algn="l">
              <a:spcBef>
                <a:spcPts val="0"/>
              </a:spcBef>
              <a:spcAft>
                <a:spcPts val="0"/>
              </a:spcAft>
              <a:buSzPts val="1100"/>
              <a:buChar char="-"/>
            </a:pPr>
            <a:r>
              <a:rPr b="1" lang="en"/>
              <a:t>Why its cheaper to solve using dual instead of primal: </a:t>
            </a:r>
            <a:endParaRPr b="1"/>
          </a:p>
          <a:p>
            <a:pPr indent="-298450" lvl="1" marL="914400" rtl="0" algn="l">
              <a:lnSpc>
                <a:spcPct val="115000"/>
              </a:lnSpc>
              <a:spcBef>
                <a:spcPts val="0"/>
              </a:spcBef>
              <a:spcAft>
                <a:spcPts val="0"/>
              </a:spcAft>
              <a:buSzPts val="1100"/>
              <a:buChar char="-"/>
            </a:pPr>
            <a:r>
              <a:rPr lang="en">
                <a:solidFill>
                  <a:schemeClr val="dk1"/>
                </a:solidFill>
              </a:rPr>
              <a:t>w is a vector with one entry per feature. So if your dataset has 30 features like your breast cancer dataset, w has 30 values to solve for. If you have a text classification dataset with 100,000 words as features, w has 100,000 values to solve for.</a:t>
            </a:r>
            <a:endParaRPr>
              <a:solidFill>
                <a:schemeClr val="dk1"/>
              </a:solidFill>
            </a:endParaRPr>
          </a:p>
          <a:p>
            <a:pPr indent="-298450" lvl="1" marL="914400" rtl="0" algn="l">
              <a:lnSpc>
                <a:spcPct val="115000"/>
              </a:lnSpc>
              <a:spcBef>
                <a:spcPts val="0"/>
              </a:spcBef>
              <a:spcAft>
                <a:spcPts val="0"/>
              </a:spcAft>
              <a:buSzPts val="1100"/>
              <a:buChar char="-"/>
            </a:pPr>
            <a:r>
              <a:rPr lang="en">
                <a:solidFill>
                  <a:schemeClr val="dk1"/>
                </a:solidFill>
              </a:rPr>
              <a:t>The computational cost of solving the primal scales with the number of features d. The more features you have, the bigger w is, and the more expensive it is to solve for directly.</a:t>
            </a:r>
            <a:endParaRPr>
              <a:solidFill>
                <a:schemeClr val="dk1"/>
              </a:solidFill>
            </a:endParaRPr>
          </a:p>
          <a:p>
            <a:pPr indent="-298450" lvl="1" marL="914400" rtl="0" algn="l">
              <a:lnSpc>
                <a:spcPct val="115000"/>
              </a:lnSpc>
              <a:spcBef>
                <a:spcPts val="0"/>
              </a:spcBef>
              <a:spcAft>
                <a:spcPts val="0"/>
              </a:spcAft>
              <a:buSzPts val="1100"/>
              <a:buChar char="-"/>
            </a:pPr>
            <a:r>
              <a:rPr b="1" lang="en">
                <a:solidFill>
                  <a:schemeClr val="dk1"/>
                </a:solidFill>
              </a:rPr>
              <a:t>The dual solves for α instead</a:t>
            </a:r>
            <a:endParaRPr b="1">
              <a:solidFill>
                <a:schemeClr val="dk1"/>
              </a:solidFill>
            </a:endParaRPr>
          </a:p>
          <a:p>
            <a:pPr indent="-298450" lvl="1" marL="914400" rtl="0" algn="l">
              <a:lnSpc>
                <a:spcPct val="115000"/>
              </a:lnSpc>
              <a:spcBef>
                <a:spcPts val="0"/>
              </a:spcBef>
              <a:spcAft>
                <a:spcPts val="0"/>
              </a:spcAft>
              <a:buSzPts val="1100"/>
              <a:buChar char="-"/>
            </a:pPr>
            <a:r>
              <a:rPr lang="en">
                <a:solidFill>
                  <a:schemeClr val="dk1"/>
                </a:solidFill>
              </a:rPr>
              <a:t>α has one entry per training point — not per feature. So if you have 569 tumour samples, you solve for 569 alpha values regardless of how many features each tumour has. The computational cost scales with the number of training points n, not the number of features 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spcBef>
                <a:spcPts val="1200"/>
              </a:spcBef>
              <a:spcAft>
                <a:spcPts val="0"/>
              </a:spcAft>
              <a:buNone/>
            </a:pPr>
            <a:r>
              <a:t/>
            </a:r>
            <a:endParaRPr/>
          </a:p>
        </p:txBody>
      </p:sp>
      <p:sp>
        <p:nvSpPr>
          <p:cNvPr id="239" name="Google Shape;239;g3e5b16dc856_0_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6" name="Shape 56"/>
        <p:cNvGrpSpPr/>
        <p:nvPr/>
      </p:nvGrpSpPr>
      <p:grpSpPr>
        <a:xfrm>
          <a:off x="0" y="0"/>
          <a:ext cx="0" cy="0"/>
          <a:chOff x="0" y="0"/>
          <a:chExt cx="0" cy="0"/>
        </a:xfrm>
      </p:grpSpPr>
      <p:sp>
        <p:nvSpPr>
          <p:cNvPr id="57" name="Google Shape;57;p15"/>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7498080" y="274320"/>
            <a:ext cx="201168" cy="201168"/>
          </a:xfrm>
          <a:prstGeom prst="ellipse">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p:nvPr/>
        </p:nvSpPr>
        <p:spPr>
          <a:xfrm>
            <a:off x="7863840" y="502920"/>
            <a:ext cx="128016" cy="128016"/>
          </a:xfrm>
          <a:prstGeom prst="ellipse">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8092440" y="256032"/>
            <a:ext cx="164592" cy="164592"/>
          </a:xfrm>
          <a:prstGeom prst="ellipse">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8321040" y="457200"/>
            <a:ext cx="91440" cy="91440"/>
          </a:xfrm>
          <a:prstGeom prst="ellipse">
            <a:avLst/>
          </a:prstGeom>
          <a:solidFill>
            <a:srgbClr val="8BAABF"/>
          </a:solidFill>
          <a:ln cap="flat" cmpd="sng" w="12700">
            <a:solidFill>
              <a:srgbClr val="8B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457200" y="1188720"/>
            <a:ext cx="2377440" cy="329184"/>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457200" y="1188720"/>
            <a:ext cx="2377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100"/>
              <a:buFont typeface="Calibri"/>
              <a:buNone/>
            </a:pPr>
            <a:r>
              <a:rPr b="1" i="0" lang="en" sz="1100" u="none" cap="none" strike="noStrike">
                <a:solidFill>
                  <a:srgbClr val="0D1B2A"/>
                </a:solidFill>
                <a:latin typeface="Calibri"/>
                <a:ea typeface="Calibri"/>
                <a:cs typeface="Calibri"/>
                <a:sym typeface="Calibri"/>
              </a:rPr>
              <a:t>Support Vector Machines</a:t>
            </a:r>
            <a:endParaRPr b="0" i="0" sz="1100" u="none" cap="none" strike="noStrike">
              <a:solidFill>
                <a:schemeClr val="dk1"/>
              </a:solidFill>
              <a:latin typeface="Calibri"/>
              <a:ea typeface="Calibri"/>
              <a:cs typeface="Calibri"/>
              <a:sym typeface="Calibri"/>
            </a:endParaRPr>
          </a:p>
        </p:txBody>
      </p:sp>
      <p:sp>
        <p:nvSpPr>
          <p:cNvPr id="64" name="Google Shape;64;p15"/>
          <p:cNvSpPr/>
          <p:nvPr/>
        </p:nvSpPr>
        <p:spPr>
          <a:xfrm>
            <a:off x="365760" y="1691640"/>
            <a:ext cx="685800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FFFFFF"/>
              </a:buClr>
              <a:buSzPts val="4400"/>
              <a:buFont typeface="Georgia"/>
              <a:buNone/>
            </a:pPr>
            <a:r>
              <a:rPr b="1" i="0" lang="en" sz="4400" u="none" cap="none" strike="noStrike">
                <a:solidFill>
                  <a:srgbClr val="FFFFFF"/>
                </a:solidFill>
                <a:latin typeface="Georgia"/>
                <a:ea typeface="Georgia"/>
                <a:cs typeface="Georgia"/>
                <a:sym typeface="Georgia"/>
              </a:rPr>
              <a:t>Lagrange Multipliers</a:t>
            </a:r>
            <a:endParaRPr b="0" i="0" sz="44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400"/>
              <a:buFont typeface="Georgia"/>
              <a:buNone/>
            </a:pPr>
            <a:r>
              <a:rPr b="1" i="0" lang="en" sz="4400" u="none" cap="none" strike="noStrike">
                <a:solidFill>
                  <a:srgbClr val="FFFFFF"/>
                </a:solidFill>
                <a:latin typeface="Georgia"/>
                <a:ea typeface="Georgia"/>
                <a:cs typeface="Georgia"/>
                <a:sym typeface="Georgia"/>
              </a:rPr>
              <a:t>&amp; The Dual Problem</a:t>
            </a:r>
            <a:endParaRPr b="0" i="0" sz="4400" u="none" cap="none" strike="noStrike">
              <a:solidFill>
                <a:schemeClr val="dk1"/>
              </a:solidFill>
              <a:latin typeface="Calibri"/>
              <a:ea typeface="Calibri"/>
              <a:cs typeface="Calibri"/>
              <a:sym typeface="Calibri"/>
            </a:endParaRPr>
          </a:p>
        </p:txBody>
      </p:sp>
      <p:sp>
        <p:nvSpPr>
          <p:cNvPr id="65" name="Google Shape;65;p15"/>
          <p:cNvSpPr/>
          <p:nvPr/>
        </p:nvSpPr>
        <p:spPr>
          <a:xfrm>
            <a:off x="365760" y="3566160"/>
            <a:ext cx="6400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ABF"/>
              </a:buClr>
              <a:buSzPts val="1600"/>
              <a:buFont typeface="Calibri"/>
              <a:buNone/>
            </a:pPr>
            <a:r>
              <a:rPr b="0" i="1" lang="en" sz="1600" u="none" cap="none" strike="noStrike">
                <a:solidFill>
                  <a:srgbClr val="8BAABF"/>
                </a:solidFill>
                <a:latin typeface="Calibri"/>
                <a:ea typeface="Calibri"/>
                <a:cs typeface="Calibri"/>
                <a:sym typeface="Calibri"/>
              </a:rPr>
              <a:t>From the primal formulation to the dual — step by step</a:t>
            </a:r>
            <a:endParaRPr b="0" i="0" sz="1600" u="none" cap="none" strike="noStrike">
              <a:solidFill>
                <a:schemeClr val="dk1"/>
              </a:solidFill>
              <a:latin typeface="Calibri"/>
              <a:ea typeface="Calibri"/>
              <a:cs typeface="Calibri"/>
              <a:sym typeface="Calibri"/>
            </a:endParaRPr>
          </a:p>
        </p:txBody>
      </p:sp>
      <p:sp>
        <p:nvSpPr>
          <p:cNvPr id="66" name="Google Shape;66;p15"/>
          <p:cNvSpPr/>
          <p:nvPr/>
        </p:nvSpPr>
        <p:spPr>
          <a:xfrm>
            <a:off x="365760" y="4663440"/>
            <a:ext cx="8412480" cy="18288"/>
          </a:xfrm>
          <a:prstGeom prst="rect">
            <a:avLst/>
          </a:prstGeom>
          <a:solidFill>
            <a:srgbClr val="0097A7"/>
          </a:solidFill>
          <a:ln cap="flat" cmpd="sng" w="12700">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365760" y="4736592"/>
            <a:ext cx="84124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BAABF"/>
              </a:buClr>
              <a:buSzPts val="1000"/>
              <a:buFont typeface="Calibri"/>
              <a:buNone/>
            </a:pPr>
            <a:r>
              <a:rPr lang="en" sz="1200">
                <a:solidFill>
                  <a:srgbClr val="8BAABF"/>
                </a:solidFill>
                <a:latin typeface="Calibri"/>
                <a:ea typeface="Calibri"/>
                <a:cs typeface="Calibri"/>
                <a:sym typeface="Calibri"/>
              </a:rPr>
              <a:t>DATASCI 224</a:t>
            </a:r>
            <a:r>
              <a:rPr b="0" i="0" lang="en" sz="1200" u="none" cap="none" strike="noStrike">
                <a:solidFill>
                  <a:srgbClr val="8BAABF"/>
                </a:solidFill>
                <a:latin typeface="Calibri"/>
                <a:ea typeface="Calibri"/>
                <a:cs typeface="Calibri"/>
                <a:sym typeface="Calibri"/>
              </a:rPr>
              <a:t>  | </a:t>
            </a:r>
            <a:r>
              <a:rPr lang="en" sz="1200">
                <a:solidFill>
                  <a:srgbClr val="8BAABF"/>
                </a:solidFill>
                <a:latin typeface="Calibri"/>
                <a:ea typeface="Calibri"/>
                <a:cs typeface="Calibri"/>
                <a:sym typeface="Calibri"/>
              </a:rPr>
              <a:t>Chrissie Lok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2" name="Shape 72"/>
        <p:cNvGrpSpPr/>
        <p:nvPr/>
      </p:nvGrpSpPr>
      <p:grpSpPr>
        <a:xfrm>
          <a:off x="0" y="0"/>
          <a:ext cx="0" cy="0"/>
          <a:chOff x="0" y="0"/>
          <a:chExt cx="0" cy="0"/>
        </a:xfrm>
      </p:grpSpPr>
      <p:sp>
        <p:nvSpPr>
          <p:cNvPr id="73" name="Google Shape;73;p16"/>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365760" y="27432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Where we left off</a:t>
            </a:r>
            <a:endParaRPr b="0" i="0" sz="3000" u="none" cap="none" strike="noStrike">
              <a:solidFill>
                <a:schemeClr val="dk1"/>
              </a:solidFill>
              <a:latin typeface="Calibri"/>
              <a:ea typeface="Calibri"/>
              <a:cs typeface="Calibri"/>
              <a:sym typeface="Calibri"/>
            </a:endParaRPr>
          </a:p>
        </p:txBody>
      </p:sp>
      <p:sp>
        <p:nvSpPr>
          <p:cNvPr id="75" name="Google Shape;75;p16"/>
          <p:cNvSpPr/>
          <p:nvPr/>
        </p:nvSpPr>
        <p:spPr>
          <a:xfrm>
            <a:off x="365760" y="960120"/>
            <a:ext cx="5303520" cy="1828800"/>
          </a:xfrm>
          <a:prstGeom prst="rect">
            <a:avLst/>
          </a:prstGeom>
          <a:solidFill>
            <a:srgbClr val="1B2A3B"/>
          </a:solidFill>
          <a:ln cap="flat" cmpd="sng" w="1905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a:off x="502920" y="105156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1300"/>
              <a:buFont typeface="Calibri"/>
              <a:buNone/>
            </a:pPr>
            <a:r>
              <a:rPr b="1" i="0" lang="en" sz="1300" u="none" cap="none" strike="noStrike">
                <a:solidFill>
                  <a:srgbClr val="00C2CB"/>
                </a:solidFill>
                <a:latin typeface="Calibri"/>
                <a:ea typeface="Calibri"/>
                <a:cs typeface="Calibri"/>
                <a:sym typeface="Calibri"/>
              </a:rPr>
              <a:t>The Primal Problem</a:t>
            </a:r>
            <a:endParaRPr b="0" i="0" sz="1300" u="none" cap="none" strike="noStrike">
              <a:solidFill>
                <a:schemeClr val="dk1"/>
              </a:solidFill>
              <a:latin typeface="Calibri"/>
              <a:ea typeface="Calibri"/>
              <a:cs typeface="Calibri"/>
              <a:sym typeface="Calibri"/>
            </a:endParaRPr>
          </a:p>
        </p:txBody>
      </p:sp>
      <p:sp>
        <p:nvSpPr>
          <p:cNvPr id="77" name="Google Shape;77;p16"/>
          <p:cNvSpPr/>
          <p:nvPr/>
        </p:nvSpPr>
        <p:spPr>
          <a:xfrm>
            <a:off x="502920" y="1463040"/>
            <a:ext cx="5029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AABF"/>
              </a:buClr>
              <a:buSzPts val="1300"/>
              <a:buFont typeface="Calibri"/>
              <a:buNone/>
            </a:pPr>
            <a:r>
              <a:rPr b="0" i="0" lang="en" sz="1300" u="none" cap="none" strike="noStrike">
                <a:solidFill>
                  <a:srgbClr val="8BAABF"/>
                </a:solidFill>
                <a:latin typeface="Calibri"/>
                <a:ea typeface="Calibri"/>
                <a:cs typeface="Calibri"/>
                <a:sym typeface="Calibri"/>
              </a:rPr>
              <a:t>Minimize   </a:t>
            </a:r>
            <a:r>
              <a:rPr b="1" i="0" lang="en" sz="1500" u="none" cap="none" strike="noStrike">
                <a:solidFill>
                  <a:srgbClr val="FFFFFF"/>
                </a:solidFill>
                <a:latin typeface="Calibri"/>
                <a:ea typeface="Calibri"/>
                <a:cs typeface="Calibri"/>
                <a:sym typeface="Calibri"/>
              </a:rPr>
              <a:t>½‖w‖²</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BAABF"/>
              </a:buClr>
              <a:buSzPts val="1300"/>
              <a:buFont typeface="Calibri"/>
              <a:buNone/>
            </a:pPr>
            <a:r>
              <a:rPr b="0" i="0" lang="en" sz="1300" u="none" cap="none" strike="noStrike">
                <a:solidFill>
                  <a:srgbClr val="8BAABF"/>
                </a:solidFill>
                <a:latin typeface="Calibri"/>
                <a:ea typeface="Calibri"/>
                <a:cs typeface="Calibri"/>
                <a:sym typeface="Calibri"/>
              </a:rPr>
              <a:t>Subject to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yᵢ(wᵀxᵢ + b) ≥ 1   </a:t>
            </a:r>
            <a:r>
              <a:rPr b="0" i="0" lang="en" sz="1300" u="none" cap="none" strike="noStrike">
                <a:solidFill>
                  <a:srgbClr val="8BAABF"/>
                </a:solidFill>
                <a:latin typeface="Calibri"/>
                <a:ea typeface="Calibri"/>
                <a:cs typeface="Calibri"/>
                <a:sym typeface="Calibri"/>
              </a:rPr>
              <a:t>for all i</a:t>
            </a:r>
            <a:endParaRPr b="0" i="0" sz="1300" u="none" cap="none" strike="noStrike">
              <a:solidFill>
                <a:schemeClr val="dk1"/>
              </a:solidFill>
              <a:latin typeface="Calibri"/>
              <a:ea typeface="Calibri"/>
              <a:cs typeface="Calibri"/>
              <a:sym typeface="Calibri"/>
            </a:endParaRPr>
          </a:p>
        </p:txBody>
      </p:sp>
      <p:sp>
        <p:nvSpPr>
          <p:cNvPr id="78" name="Google Shape;78;p16"/>
          <p:cNvSpPr/>
          <p:nvPr/>
        </p:nvSpPr>
        <p:spPr>
          <a:xfrm>
            <a:off x="365760" y="2971800"/>
            <a:ext cx="5303520" cy="27432"/>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365760" y="3520440"/>
            <a:ext cx="5303520" cy="123444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502920" y="3611880"/>
            <a:ext cx="502920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2CB"/>
              </a:buClr>
              <a:buSzPts val="1400"/>
              <a:buFont typeface="Calibri"/>
              <a:buNone/>
            </a:pPr>
            <a:r>
              <a:rPr b="1" i="0" lang="en" sz="1400" u="none" cap="none" strike="noStrike">
                <a:solidFill>
                  <a:srgbClr val="00C2CB"/>
                </a:solidFill>
                <a:latin typeface="Calibri"/>
                <a:ea typeface="Calibri"/>
                <a:cs typeface="Calibri"/>
                <a:sym typeface="Calibri"/>
              </a:rPr>
              <a:t>Lagrange Multipliers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F0F2"/>
              </a:buClr>
              <a:buSzPts val="1200"/>
              <a:buFont typeface="Calibri"/>
              <a:buNone/>
            </a:pPr>
            <a:r>
              <a:rPr b="0" i="0" lang="en" sz="1200" u="none" cap="none" strike="noStrike">
                <a:solidFill>
                  <a:srgbClr val="E8F0F2"/>
                </a:solidFill>
                <a:latin typeface="Calibri"/>
                <a:ea typeface="Calibri"/>
                <a:cs typeface="Calibri"/>
                <a:sym typeface="Calibri"/>
              </a:rPr>
              <a:t>Absorb constraints into the objective</a:t>
            </a:r>
            <a:br>
              <a:rPr b="0" i="0" lang="en" sz="1200" u="none" cap="none" strike="noStrike">
                <a:solidFill>
                  <a:srgbClr val="E8F0F2"/>
                </a:solidFill>
                <a:latin typeface="Calibri"/>
                <a:ea typeface="Calibri"/>
                <a:cs typeface="Calibri"/>
                <a:sym typeface="Calibri"/>
              </a:rPr>
            </a:b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CB"/>
              </a:buClr>
              <a:buSzPts val="1400"/>
              <a:buFont typeface="Calibri"/>
              <a:buNone/>
            </a:pPr>
            <a:r>
              <a:rPr b="1" i="0" lang="en" sz="1400" u="none" cap="none" strike="noStrike">
                <a:solidFill>
                  <a:srgbClr val="00C2CB"/>
                </a:solidFill>
                <a:latin typeface="Calibri"/>
                <a:ea typeface="Calibri"/>
                <a:cs typeface="Calibri"/>
                <a:sym typeface="Calibri"/>
              </a:rPr>
              <a:t>The Dual Problem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F0F2"/>
              </a:buClr>
              <a:buSzPts val="1200"/>
              <a:buFont typeface="Calibri"/>
              <a:buNone/>
            </a:pPr>
            <a:r>
              <a:rPr b="0" i="0" lang="en" sz="1200" u="none" cap="none" strike="noStrike">
                <a:solidFill>
                  <a:srgbClr val="E8F0F2"/>
                </a:solidFill>
                <a:latin typeface="Calibri"/>
                <a:ea typeface="Calibri"/>
                <a:cs typeface="Calibri"/>
                <a:sym typeface="Calibri"/>
              </a:rPr>
              <a:t>Eliminate w and b — solve for α only</a:t>
            </a:r>
            <a:endParaRPr b="0" i="0" sz="1400" u="none" cap="none" strike="noStrike">
              <a:solidFill>
                <a:schemeClr val="dk1"/>
              </a:solidFill>
              <a:latin typeface="Calibri"/>
              <a:ea typeface="Calibri"/>
              <a:cs typeface="Calibri"/>
              <a:sym typeface="Calibri"/>
            </a:endParaRPr>
          </a:p>
        </p:txBody>
      </p:sp>
      <p:sp>
        <p:nvSpPr>
          <p:cNvPr id="81" name="Google Shape;81;p16"/>
          <p:cNvSpPr/>
          <p:nvPr/>
        </p:nvSpPr>
        <p:spPr>
          <a:xfrm>
            <a:off x="5943600" y="960120"/>
            <a:ext cx="2834640" cy="379476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5943600" y="960120"/>
            <a:ext cx="73152" cy="379476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6080760" y="1920240"/>
            <a:ext cx="256032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"Which training</a:t>
            </a:r>
            <a:endParaRPr b="0" i="0" sz="1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points actually</a:t>
            </a:r>
            <a:endParaRPr b="0" i="0" sz="1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define the</a:t>
            </a:r>
            <a:endParaRPr b="0" i="0" sz="18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boundary?"</a:t>
            </a:r>
            <a:endParaRPr b="0" i="0" sz="1800" u="none" cap="none" strike="noStrike">
              <a:solidFill>
                <a:schemeClr val="dk1"/>
              </a:solidFill>
              <a:latin typeface="Calibri"/>
              <a:ea typeface="Calibri"/>
              <a:cs typeface="Calibri"/>
              <a:sym typeface="Calibri"/>
            </a:endParaRPr>
          </a:p>
        </p:txBody>
      </p:sp>
      <p:sp>
        <p:nvSpPr>
          <p:cNvPr id="84" name="Google Shape;84;p16"/>
          <p:cNvSpPr/>
          <p:nvPr/>
        </p:nvSpPr>
        <p:spPr>
          <a:xfrm>
            <a:off x="6080760" y="3840480"/>
            <a:ext cx="2560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C2CB"/>
              </a:buClr>
              <a:buSzPts val="1100"/>
              <a:buFont typeface="Calibri"/>
              <a:buNone/>
            </a:pPr>
            <a:r>
              <a:rPr b="0" i="1" lang="en" sz="1100" u="none" cap="none" strike="noStrike">
                <a:solidFill>
                  <a:srgbClr val="00C2CB"/>
                </a:solidFill>
                <a:latin typeface="Calibri"/>
                <a:ea typeface="Calibri"/>
                <a:cs typeface="Calibri"/>
                <a:sym typeface="Calibri"/>
              </a:rPr>
              <a:t>— The dual answers this precisely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89" name="Shape 89"/>
        <p:cNvGrpSpPr/>
        <p:nvPr/>
      </p:nvGrpSpPr>
      <p:grpSpPr>
        <a:xfrm>
          <a:off x="0" y="0"/>
          <a:ext cx="0" cy="0"/>
          <a:chOff x="0" y="0"/>
          <a:chExt cx="0" cy="0"/>
        </a:xfrm>
      </p:grpSpPr>
      <p:sp>
        <p:nvSpPr>
          <p:cNvPr id="90" name="Google Shape;90;p17"/>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365760" y="146295"/>
            <a:ext cx="8412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Lagrange Multipliers</a:t>
            </a:r>
            <a:endParaRPr b="0" i="0" sz="3000" u="none" cap="none" strike="noStrike">
              <a:solidFill>
                <a:schemeClr val="dk1"/>
              </a:solidFill>
              <a:latin typeface="Calibri"/>
              <a:ea typeface="Calibri"/>
              <a:cs typeface="Calibri"/>
              <a:sym typeface="Calibri"/>
            </a:endParaRPr>
          </a:p>
        </p:txBody>
      </p:sp>
      <p:sp>
        <p:nvSpPr>
          <p:cNvPr id="92" name="Google Shape;92;p17"/>
          <p:cNvSpPr/>
          <p:nvPr/>
        </p:nvSpPr>
        <p:spPr>
          <a:xfrm>
            <a:off x="365760" y="685797"/>
            <a:ext cx="84126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ABF"/>
              </a:buClr>
              <a:buSzPts val="1400"/>
              <a:buFont typeface="Calibri"/>
              <a:buNone/>
            </a:pPr>
            <a:r>
              <a:rPr b="0" i="1" lang="en" sz="1400" u="none" cap="none" strike="noStrike">
                <a:solidFill>
                  <a:srgbClr val="8BAABF"/>
                </a:solidFill>
                <a:latin typeface="Calibri"/>
                <a:ea typeface="Calibri"/>
                <a:cs typeface="Calibri"/>
                <a:sym typeface="Calibri"/>
              </a:rPr>
              <a:t>Turning a constrained problem into an unconstrained one</a:t>
            </a:r>
            <a:endParaRPr b="0" i="0" sz="1400" u="none" cap="none" strike="noStrike">
              <a:solidFill>
                <a:schemeClr val="dk1"/>
              </a:solidFill>
              <a:latin typeface="Calibri"/>
              <a:ea typeface="Calibri"/>
              <a:cs typeface="Calibri"/>
              <a:sym typeface="Calibri"/>
            </a:endParaRPr>
          </a:p>
        </p:txBody>
      </p:sp>
      <p:sp>
        <p:nvSpPr>
          <p:cNvPr id="93" name="Google Shape;93;p17"/>
          <p:cNvSpPr/>
          <p:nvPr/>
        </p:nvSpPr>
        <p:spPr>
          <a:xfrm>
            <a:off x="365750" y="1097150"/>
            <a:ext cx="4305300" cy="1737600"/>
          </a:xfrm>
          <a:prstGeom prst="rect">
            <a:avLst/>
          </a:prstGeom>
          <a:solidFill>
            <a:srgbClr val="1B2A3B"/>
          </a:solidFill>
          <a:ln cap="flat" cmpd="sng" w="1905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446295" y="1097138"/>
            <a:ext cx="3566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1200"/>
              <a:buFont typeface="Calibri"/>
              <a:buNone/>
            </a:pPr>
            <a:r>
              <a:rPr b="1" i="0" lang="en" sz="1500" u="none" cap="none" strike="noStrike">
                <a:solidFill>
                  <a:srgbClr val="F4C430"/>
                </a:solidFill>
                <a:latin typeface="Calibri"/>
                <a:ea typeface="Calibri"/>
                <a:cs typeface="Calibri"/>
                <a:sym typeface="Calibri"/>
              </a:rPr>
              <a:t>The Problem and the Fix </a:t>
            </a:r>
            <a:endParaRPr b="0" i="0" sz="1500" u="none" cap="none" strike="noStrike">
              <a:solidFill>
                <a:schemeClr val="dk1"/>
              </a:solidFill>
              <a:latin typeface="Calibri"/>
              <a:ea typeface="Calibri"/>
              <a:cs typeface="Calibri"/>
              <a:sym typeface="Calibri"/>
            </a:endParaRPr>
          </a:p>
        </p:txBody>
      </p:sp>
      <p:sp>
        <p:nvSpPr>
          <p:cNvPr id="95" name="Google Shape;95;p17"/>
          <p:cNvSpPr/>
          <p:nvPr/>
        </p:nvSpPr>
        <p:spPr>
          <a:xfrm>
            <a:off x="502920" y="1664208"/>
            <a:ext cx="356616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8F0F2"/>
              </a:buClr>
              <a:buSzPts val="1200"/>
              <a:buFont typeface="Calibri"/>
              <a:buNone/>
            </a:pPr>
            <a:r>
              <a:rPr b="0" i="0" lang="en" sz="1200" u="none" cap="none" strike="noStrike">
                <a:solidFill>
                  <a:srgbClr val="E8F0F2"/>
                </a:solidFill>
                <a:latin typeface="Calibri"/>
                <a:ea typeface="Calibri"/>
                <a:cs typeface="Calibri"/>
                <a:sym typeface="Calibri"/>
              </a:rPr>
              <a:t>We can't just take a derivative when constraints exist — the minimum might be on the constraint boundary, not where the gradient is zero.</a:t>
            </a:r>
            <a:endParaRPr b="0" i="0" sz="1200" u="none" cap="none" strike="noStrike">
              <a:solidFill>
                <a:srgbClr val="E8F0F2"/>
              </a:solidFill>
              <a:latin typeface="Calibri"/>
              <a:ea typeface="Calibri"/>
              <a:cs typeface="Calibri"/>
              <a:sym typeface="Calibri"/>
            </a:endParaRPr>
          </a:p>
          <a:p>
            <a:pPr indent="0" lvl="0" marL="0" rtl="0" algn="l">
              <a:lnSpc>
                <a:spcPct val="130000"/>
              </a:lnSpc>
              <a:spcBef>
                <a:spcPts val="0"/>
              </a:spcBef>
              <a:spcAft>
                <a:spcPts val="0"/>
              </a:spcAft>
              <a:buClr>
                <a:srgbClr val="E8F0F2"/>
              </a:buClr>
              <a:buSzPts val="1200"/>
              <a:buFont typeface="Calibri"/>
              <a:buNone/>
            </a:pPr>
            <a:r>
              <a:rPr lang="en" sz="1200">
                <a:solidFill>
                  <a:srgbClr val="E8F0F2"/>
                </a:solidFill>
                <a:latin typeface="Calibri"/>
                <a:ea typeface="Calibri"/>
                <a:cs typeface="Calibri"/>
                <a:sym typeface="Calibri"/>
              </a:rPr>
              <a:t>Introduce a multiplier αᵢ for each constraint and absorb the constraints into the objective — now we can optimize freely.</a:t>
            </a:r>
            <a:endParaRPr sz="1200">
              <a:solidFill>
                <a:srgbClr val="E8F0F2"/>
              </a:solidFill>
              <a:latin typeface="Calibri"/>
              <a:ea typeface="Calibri"/>
              <a:cs typeface="Calibri"/>
              <a:sym typeface="Calibri"/>
            </a:endParaRPr>
          </a:p>
        </p:txBody>
      </p:sp>
      <p:sp>
        <p:nvSpPr>
          <p:cNvPr id="96" name="Google Shape;96;p17"/>
          <p:cNvSpPr/>
          <p:nvPr/>
        </p:nvSpPr>
        <p:spPr>
          <a:xfrm>
            <a:off x="365760" y="3328340"/>
            <a:ext cx="8412600" cy="1554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7"/>
          <p:cNvSpPr/>
          <p:nvPr/>
        </p:nvSpPr>
        <p:spPr>
          <a:xfrm>
            <a:off x="400540" y="3360430"/>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1200"/>
              <a:buFont typeface="Calibri"/>
              <a:buNone/>
            </a:pPr>
            <a:r>
              <a:rPr b="1" i="0" lang="en" sz="1200" u="none" cap="none" strike="noStrike">
                <a:solidFill>
                  <a:srgbClr val="00C2CB"/>
                </a:solidFill>
                <a:latin typeface="Calibri"/>
                <a:ea typeface="Calibri"/>
                <a:cs typeface="Calibri"/>
                <a:sym typeface="Calibri"/>
              </a:rPr>
              <a:t>The SVM Lagrangian</a:t>
            </a:r>
            <a:endParaRPr b="0" i="0" sz="1200" u="none" cap="none" strike="noStrike">
              <a:solidFill>
                <a:schemeClr val="dk1"/>
              </a:solidFill>
              <a:latin typeface="Calibri"/>
              <a:ea typeface="Calibri"/>
              <a:cs typeface="Calibri"/>
              <a:sym typeface="Calibri"/>
            </a:endParaRPr>
          </a:p>
        </p:txBody>
      </p:sp>
      <p:sp>
        <p:nvSpPr>
          <p:cNvPr id="98" name="Google Shape;98;p17"/>
          <p:cNvSpPr/>
          <p:nvPr/>
        </p:nvSpPr>
        <p:spPr>
          <a:xfrm>
            <a:off x="548690" y="3741545"/>
            <a:ext cx="80466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ourier New"/>
              <a:buNone/>
            </a:pPr>
            <a:r>
              <a:rPr b="1" i="0" lang="en" sz="2000" u="none" cap="none" strike="noStrike">
                <a:solidFill>
                  <a:srgbClr val="FFFFFF"/>
                </a:solidFill>
                <a:latin typeface="Courier New"/>
                <a:ea typeface="Courier New"/>
                <a:cs typeface="Courier New"/>
                <a:sym typeface="Courier New"/>
              </a:rPr>
              <a:t>L(w, b, α)  =  ½‖w‖²  −  Σᵢ αᵢ [ yᵢ(wᵀxᵢ + b) − 1 ]</a:t>
            </a:r>
            <a:endParaRPr b="0" i="0" sz="2000" u="none" cap="none" strike="noStrike">
              <a:solidFill>
                <a:schemeClr val="dk1"/>
              </a:solidFill>
              <a:latin typeface="Calibri"/>
              <a:ea typeface="Calibri"/>
              <a:cs typeface="Calibri"/>
              <a:sym typeface="Calibri"/>
            </a:endParaRPr>
          </a:p>
        </p:txBody>
      </p:sp>
      <p:sp>
        <p:nvSpPr>
          <p:cNvPr id="99" name="Google Shape;99;p17"/>
          <p:cNvSpPr/>
          <p:nvPr/>
        </p:nvSpPr>
        <p:spPr>
          <a:xfrm>
            <a:off x="446290" y="4462282"/>
            <a:ext cx="2560200" cy="3840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p:nvPr/>
        </p:nvSpPr>
        <p:spPr>
          <a:xfrm>
            <a:off x="446290" y="4462207"/>
            <a:ext cx="2560200" cy="38400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4C430"/>
              </a:buClr>
              <a:buSzPts val="1100"/>
              <a:buFont typeface="Courier New"/>
              <a:buNone/>
            </a:pPr>
            <a:r>
              <a:rPr b="1" i="0" lang="en" sz="1100" u="none" cap="none" strike="noStrike">
                <a:solidFill>
                  <a:srgbClr val="F4C430"/>
                </a:solidFill>
                <a:latin typeface="Courier New"/>
                <a:ea typeface="Courier New"/>
                <a:cs typeface="Courier New"/>
                <a:sym typeface="Courier New"/>
              </a:rPr>
              <a:t>½‖w‖²  </a:t>
            </a:r>
            <a:r>
              <a:rPr b="0" i="0" lang="en" sz="1100" u="none" cap="none" strike="noStrike">
                <a:solidFill>
                  <a:srgbClr val="8BAABF"/>
                </a:solidFill>
                <a:latin typeface="Calibri"/>
                <a:ea typeface="Calibri"/>
                <a:cs typeface="Calibri"/>
                <a:sym typeface="Calibri"/>
              </a:rPr>
              <a:t>Original objective</a:t>
            </a:r>
            <a:endParaRPr b="0" i="0" sz="1100" u="none" cap="none" strike="noStrike">
              <a:solidFill>
                <a:schemeClr val="dk1"/>
              </a:solidFill>
              <a:latin typeface="Calibri"/>
              <a:ea typeface="Calibri"/>
              <a:cs typeface="Calibri"/>
              <a:sym typeface="Calibri"/>
            </a:endParaRPr>
          </a:p>
        </p:txBody>
      </p:sp>
      <p:sp>
        <p:nvSpPr>
          <p:cNvPr id="101" name="Google Shape;101;p17"/>
          <p:cNvSpPr/>
          <p:nvPr/>
        </p:nvSpPr>
        <p:spPr>
          <a:xfrm>
            <a:off x="3383280" y="4462282"/>
            <a:ext cx="2560200" cy="3840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3383280" y="4462207"/>
            <a:ext cx="2560200" cy="38400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4C430"/>
              </a:buClr>
              <a:buSzPts val="1100"/>
              <a:buFont typeface="Courier New"/>
              <a:buNone/>
            </a:pPr>
            <a:r>
              <a:rPr b="1" i="0" lang="en" sz="1100" u="none" cap="none" strike="noStrike">
                <a:solidFill>
                  <a:srgbClr val="F4C430"/>
                </a:solidFill>
                <a:latin typeface="Courier New"/>
                <a:ea typeface="Courier New"/>
                <a:cs typeface="Courier New"/>
                <a:sym typeface="Courier New"/>
              </a:rPr>
              <a:t>αᵢ ≥ 0  </a:t>
            </a:r>
            <a:r>
              <a:rPr b="0" i="0" lang="en" sz="1100" u="none" cap="none" strike="noStrike">
                <a:solidFill>
                  <a:srgbClr val="8BAABF"/>
                </a:solidFill>
                <a:latin typeface="Calibri"/>
                <a:ea typeface="Calibri"/>
                <a:cs typeface="Calibri"/>
                <a:sym typeface="Calibri"/>
              </a:rPr>
              <a:t>Multiplier per point</a:t>
            </a:r>
            <a:endParaRPr b="0" i="0" sz="1100" u="none" cap="none" strike="noStrike">
              <a:solidFill>
                <a:schemeClr val="dk1"/>
              </a:solidFill>
              <a:latin typeface="Calibri"/>
              <a:ea typeface="Calibri"/>
              <a:cs typeface="Calibri"/>
              <a:sym typeface="Calibri"/>
            </a:endParaRPr>
          </a:p>
        </p:txBody>
      </p:sp>
      <p:sp>
        <p:nvSpPr>
          <p:cNvPr id="103" name="Google Shape;103;p17"/>
          <p:cNvSpPr/>
          <p:nvPr/>
        </p:nvSpPr>
        <p:spPr>
          <a:xfrm>
            <a:off x="6217858" y="4462182"/>
            <a:ext cx="2560200" cy="3840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6217845" y="4462282"/>
            <a:ext cx="2560200" cy="384000"/>
          </a:xfrm>
          <a:prstGeom prst="rect">
            <a:avLst/>
          </a:prstGeom>
          <a:noFill/>
          <a:ln>
            <a:noFill/>
          </a:ln>
        </p:spPr>
        <p:txBody>
          <a:bodyPr anchorCtr="0" anchor="ctr" bIns="76200" lIns="76200" spcFirstLastPara="1" rIns="76200" wrap="square" tIns="76200">
            <a:noAutofit/>
          </a:bodyPr>
          <a:lstStyle/>
          <a:p>
            <a:pPr indent="0" lvl="0" marL="0" marR="0" rtl="0" algn="l">
              <a:spcBef>
                <a:spcPts val="0"/>
              </a:spcBef>
              <a:spcAft>
                <a:spcPts val="0"/>
              </a:spcAft>
              <a:buClr>
                <a:srgbClr val="F4C430"/>
              </a:buClr>
              <a:buSzPts val="1100"/>
              <a:buFont typeface="Courier New"/>
              <a:buNone/>
            </a:pPr>
            <a:r>
              <a:rPr b="1" i="0" lang="en" sz="1100" u="none" cap="none" strike="noStrike">
                <a:solidFill>
                  <a:srgbClr val="F4C430"/>
                </a:solidFill>
                <a:latin typeface="Courier New"/>
                <a:ea typeface="Courier New"/>
                <a:cs typeface="Courier New"/>
                <a:sym typeface="Courier New"/>
              </a:rPr>
              <a:t>yᵢ(wᵀxᵢ+b)−1  </a:t>
            </a:r>
            <a:r>
              <a:rPr b="0" i="0" lang="en" sz="1100" u="none" cap="none" strike="noStrike">
                <a:solidFill>
                  <a:srgbClr val="8BAABF"/>
                </a:solidFill>
                <a:latin typeface="Calibri"/>
                <a:ea typeface="Calibri"/>
                <a:cs typeface="Calibri"/>
                <a:sym typeface="Calibri"/>
              </a:rPr>
              <a:t>The constraint</a:t>
            </a:r>
            <a:endParaRPr b="0" i="0" sz="1100" u="none" cap="none" strike="noStrike">
              <a:solidFill>
                <a:schemeClr val="dk1"/>
              </a:solidFill>
              <a:latin typeface="Calibri"/>
              <a:ea typeface="Calibri"/>
              <a:cs typeface="Calibri"/>
              <a:sym typeface="Calibri"/>
            </a:endParaRPr>
          </a:p>
        </p:txBody>
      </p:sp>
      <p:pic>
        <p:nvPicPr>
          <p:cNvPr descr="preencoded.png" id="105" name="Google Shape;105;p17"/>
          <p:cNvPicPr preferRelativeResize="0"/>
          <p:nvPr/>
        </p:nvPicPr>
        <p:blipFill rotWithShape="1">
          <a:blip r:embed="rId3">
            <a:alphaModFix/>
          </a:blip>
          <a:srcRect b="0" l="0" r="0" t="0"/>
          <a:stretch/>
        </p:blipFill>
        <p:spPr>
          <a:xfrm>
            <a:off x="5136251" y="798073"/>
            <a:ext cx="3459041" cy="21711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10" name="Shape 110"/>
        <p:cNvGrpSpPr/>
        <p:nvPr/>
      </p:nvGrpSpPr>
      <p:grpSpPr>
        <a:xfrm>
          <a:off x="0" y="0"/>
          <a:ext cx="0" cy="0"/>
          <a:chOff x="0" y="0"/>
          <a:chExt cx="0" cy="0"/>
        </a:xfrm>
      </p:grpSpPr>
      <p:sp>
        <p:nvSpPr>
          <p:cNvPr id="111" name="Google Shape;111;p18"/>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365760" y="27432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KKT Conditions</a:t>
            </a:r>
            <a:endParaRPr b="0" i="0" sz="3000" u="none" cap="none" strike="noStrike">
              <a:solidFill>
                <a:schemeClr val="dk1"/>
              </a:solidFill>
              <a:latin typeface="Calibri"/>
              <a:ea typeface="Calibri"/>
              <a:cs typeface="Calibri"/>
              <a:sym typeface="Calibri"/>
            </a:endParaRPr>
          </a:p>
        </p:txBody>
      </p:sp>
      <p:sp>
        <p:nvSpPr>
          <p:cNvPr id="113" name="Google Shape;113;p18"/>
          <p:cNvSpPr/>
          <p:nvPr/>
        </p:nvSpPr>
        <p:spPr>
          <a:xfrm>
            <a:off x="365760" y="804672"/>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ABF"/>
              </a:buClr>
              <a:buSzPts val="1400"/>
              <a:buFont typeface="Calibri"/>
              <a:buNone/>
            </a:pPr>
            <a:r>
              <a:rPr b="0" i="1" lang="en" sz="1400" u="none" cap="none" strike="noStrike">
                <a:solidFill>
                  <a:srgbClr val="8BAABF"/>
                </a:solidFill>
                <a:latin typeface="Calibri"/>
                <a:ea typeface="Calibri"/>
                <a:cs typeface="Calibri"/>
                <a:sym typeface="Calibri"/>
              </a:rPr>
              <a:t>The 5 conditions that must hold at the optimal solution</a:t>
            </a:r>
            <a:endParaRPr b="0" i="0" sz="1400" u="none" cap="none" strike="noStrike">
              <a:solidFill>
                <a:schemeClr val="dk1"/>
              </a:solidFill>
              <a:latin typeface="Calibri"/>
              <a:ea typeface="Calibri"/>
              <a:cs typeface="Calibri"/>
              <a:sym typeface="Calibri"/>
            </a:endParaRPr>
          </a:p>
        </p:txBody>
      </p:sp>
      <p:sp>
        <p:nvSpPr>
          <p:cNvPr id="114" name="Google Shape;114;p18"/>
          <p:cNvSpPr/>
          <p:nvPr/>
        </p:nvSpPr>
        <p:spPr>
          <a:xfrm>
            <a:off x="365760" y="1207008"/>
            <a:ext cx="8412480" cy="6858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p:nvPr/>
        </p:nvSpPr>
        <p:spPr>
          <a:xfrm>
            <a:off x="365760" y="1207008"/>
            <a:ext cx="384048" cy="6858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365760" y="1207008"/>
            <a:ext cx="38404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17" name="Google Shape;117;p18"/>
          <p:cNvSpPr/>
          <p:nvPr/>
        </p:nvSpPr>
        <p:spPr>
          <a:xfrm>
            <a:off x="822960" y="1261872"/>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1100"/>
              <a:buFont typeface="Calibri"/>
              <a:buNone/>
            </a:pPr>
            <a:r>
              <a:rPr b="1" i="0" lang="en" u="none" cap="none" strike="noStrike">
                <a:solidFill>
                  <a:srgbClr val="00C2CB"/>
                </a:solidFill>
                <a:latin typeface="Calibri"/>
                <a:ea typeface="Calibri"/>
                <a:cs typeface="Calibri"/>
                <a:sym typeface="Calibri"/>
              </a:rPr>
              <a:t>Stationarity — w</a:t>
            </a:r>
            <a:endParaRPr b="0" i="0" u="none" cap="none" strike="noStrike">
              <a:solidFill>
                <a:schemeClr val="dk1"/>
              </a:solidFill>
              <a:latin typeface="Calibri"/>
              <a:ea typeface="Calibri"/>
              <a:cs typeface="Calibri"/>
              <a:sym typeface="Calibri"/>
            </a:endParaRPr>
          </a:p>
        </p:txBody>
      </p:sp>
      <p:sp>
        <p:nvSpPr>
          <p:cNvPr id="118" name="Google Shape;118;p18"/>
          <p:cNvSpPr/>
          <p:nvPr/>
        </p:nvSpPr>
        <p:spPr>
          <a:xfrm>
            <a:off x="3246120" y="125272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ourier New"/>
              <a:buNone/>
            </a:pPr>
            <a:r>
              <a:rPr b="1" i="0" lang="en" sz="1500" u="none" cap="none" strike="noStrike">
                <a:solidFill>
                  <a:srgbClr val="FFFFFF"/>
                </a:solidFill>
                <a:latin typeface="Courier New"/>
                <a:ea typeface="Courier New"/>
                <a:cs typeface="Courier New"/>
                <a:sym typeface="Courier New"/>
              </a:rPr>
              <a:t>∂L/∂w = 0  →  w = Σᵢ αᵢ yᵢ xᵢ</a:t>
            </a:r>
            <a:endParaRPr b="0" i="0" sz="1500" u="none" cap="none" strike="noStrike">
              <a:solidFill>
                <a:schemeClr val="dk1"/>
              </a:solidFill>
              <a:latin typeface="Calibri"/>
              <a:ea typeface="Calibri"/>
              <a:cs typeface="Calibri"/>
              <a:sym typeface="Calibri"/>
            </a:endParaRPr>
          </a:p>
        </p:txBody>
      </p:sp>
      <p:sp>
        <p:nvSpPr>
          <p:cNvPr id="119" name="Google Shape;119;p18"/>
          <p:cNvSpPr/>
          <p:nvPr/>
        </p:nvSpPr>
        <p:spPr>
          <a:xfrm>
            <a:off x="822960" y="1536192"/>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050"/>
              <a:buFont typeface="Calibri"/>
              <a:buNone/>
            </a:pPr>
            <a:r>
              <a:rPr b="0" i="0" lang="en" u="none" cap="none" strike="noStrike">
                <a:solidFill>
                  <a:srgbClr val="8BAABF"/>
                </a:solidFill>
                <a:latin typeface="Calibri"/>
                <a:ea typeface="Calibri"/>
                <a:cs typeface="Calibri"/>
                <a:sym typeface="Calibri"/>
              </a:rPr>
              <a:t>w is a sum of training points. Only support vectors contribute.</a:t>
            </a:r>
            <a:endParaRPr b="0" i="0" u="none" cap="none" strike="noStrike">
              <a:solidFill>
                <a:schemeClr val="dk1"/>
              </a:solidFill>
              <a:latin typeface="Calibri"/>
              <a:ea typeface="Calibri"/>
              <a:cs typeface="Calibri"/>
              <a:sym typeface="Calibri"/>
            </a:endParaRPr>
          </a:p>
        </p:txBody>
      </p:sp>
      <p:sp>
        <p:nvSpPr>
          <p:cNvPr id="120" name="Google Shape;120;p18"/>
          <p:cNvSpPr/>
          <p:nvPr/>
        </p:nvSpPr>
        <p:spPr>
          <a:xfrm>
            <a:off x="365760" y="1965960"/>
            <a:ext cx="8412480" cy="6858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a:off x="365760" y="1965960"/>
            <a:ext cx="384048" cy="6858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8"/>
          <p:cNvSpPr/>
          <p:nvPr/>
        </p:nvSpPr>
        <p:spPr>
          <a:xfrm>
            <a:off x="365760" y="1965960"/>
            <a:ext cx="38404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23" name="Google Shape;123;p18"/>
          <p:cNvSpPr/>
          <p:nvPr/>
        </p:nvSpPr>
        <p:spPr>
          <a:xfrm>
            <a:off x="822960" y="2020824"/>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1100"/>
              <a:buFont typeface="Calibri"/>
              <a:buNone/>
            </a:pPr>
            <a:r>
              <a:rPr b="1" i="0" lang="en" u="none" cap="none" strike="noStrike">
                <a:solidFill>
                  <a:srgbClr val="00C2CB"/>
                </a:solidFill>
                <a:latin typeface="Calibri"/>
                <a:ea typeface="Calibri"/>
                <a:cs typeface="Calibri"/>
                <a:sym typeface="Calibri"/>
              </a:rPr>
              <a:t>Stationarity — b</a:t>
            </a:r>
            <a:endParaRPr b="0" i="0" u="none" cap="none" strike="noStrike">
              <a:solidFill>
                <a:schemeClr val="dk1"/>
              </a:solidFill>
              <a:latin typeface="Calibri"/>
              <a:ea typeface="Calibri"/>
              <a:cs typeface="Calibri"/>
              <a:sym typeface="Calibri"/>
            </a:endParaRPr>
          </a:p>
        </p:txBody>
      </p:sp>
      <p:sp>
        <p:nvSpPr>
          <p:cNvPr id="124" name="Google Shape;124;p18"/>
          <p:cNvSpPr/>
          <p:nvPr/>
        </p:nvSpPr>
        <p:spPr>
          <a:xfrm>
            <a:off x="3246120" y="20116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ourier New"/>
              <a:buNone/>
            </a:pPr>
            <a:r>
              <a:rPr b="1" i="0" lang="en" sz="1500" u="none" cap="none" strike="noStrike">
                <a:solidFill>
                  <a:srgbClr val="FFFFFF"/>
                </a:solidFill>
                <a:latin typeface="Courier New"/>
                <a:ea typeface="Courier New"/>
                <a:cs typeface="Courier New"/>
                <a:sym typeface="Courier New"/>
              </a:rPr>
              <a:t>∂L/∂b = 0  →  Σᵢ αᵢ yᵢ = 0</a:t>
            </a:r>
            <a:endParaRPr b="0" i="0" sz="1500" u="none" cap="none" strike="noStrike">
              <a:solidFill>
                <a:schemeClr val="dk1"/>
              </a:solidFill>
              <a:latin typeface="Calibri"/>
              <a:ea typeface="Calibri"/>
              <a:cs typeface="Calibri"/>
              <a:sym typeface="Calibri"/>
            </a:endParaRPr>
          </a:p>
        </p:txBody>
      </p:sp>
      <p:sp>
        <p:nvSpPr>
          <p:cNvPr id="125" name="Google Shape;125;p18"/>
          <p:cNvSpPr/>
          <p:nvPr/>
        </p:nvSpPr>
        <p:spPr>
          <a:xfrm>
            <a:off x="822960" y="2295144"/>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050"/>
              <a:buFont typeface="Calibri"/>
              <a:buNone/>
            </a:pPr>
            <a:r>
              <a:rPr b="0" i="0" lang="en" u="none" cap="none" strike="noStrike">
                <a:solidFill>
                  <a:srgbClr val="8BAABF"/>
                </a:solidFill>
                <a:latin typeface="Calibri"/>
                <a:ea typeface="Calibri"/>
                <a:cs typeface="Calibri"/>
                <a:sym typeface="Calibri"/>
              </a:rPr>
              <a:t>Multipliers weighted by labels must balance to zero.</a:t>
            </a:r>
            <a:endParaRPr b="0" i="0" u="none" cap="none" strike="noStrike">
              <a:solidFill>
                <a:schemeClr val="dk1"/>
              </a:solidFill>
              <a:latin typeface="Calibri"/>
              <a:ea typeface="Calibri"/>
              <a:cs typeface="Calibri"/>
              <a:sym typeface="Calibri"/>
            </a:endParaRPr>
          </a:p>
        </p:txBody>
      </p:sp>
      <p:sp>
        <p:nvSpPr>
          <p:cNvPr id="126" name="Google Shape;126;p18"/>
          <p:cNvSpPr/>
          <p:nvPr/>
        </p:nvSpPr>
        <p:spPr>
          <a:xfrm>
            <a:off x="365760" y="2724912"/>
            <a:ext cx="8412480" cy="6858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8"/>
          <p:cNvSpPr/>
          <p:nvPr/>
        </p:nvSpPr>
        <p:spPr>
          <a:xfrm>
            <a:off x="365760" y="2724912"/>
            <a:ext cx="384048" cy="685800"/>
          </a:xfrm>
          <a:prstGeom prst="rect">
            <a:avLst/>
          </a:prstGeom>
          <a:solidFill>
            <a:srgbClr val="8BAABF"/>
          </a:solidFill>
          <a:ln cap="flat" cmpd="sng" w="12700">
            <a:solidFill>
              <a:srgbClr val="8B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8"/>
          <p:cNvSpPr/>
          <p:nvPr/>
        </p:nvSpPr>
        <p:spPr>
          <a:xfrm>
            <a:off x="365760" y="2724912"/>
            <a:ext cx="38404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29" name="Google Shape;129;p18"/>
          <p:cNvSpPr/>
          <p:nvPr/>
        </p:nvSpPr>
        <p:spPr>
          <a:xfrm>
            <a:off x="822960" y="2779776"/>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100"/>
              <a:buFont typeface="Calibri"/>
              <a:buNone/>
            </a:pPr>
            <a:r>
              <a:rPr b="1" i="0" lang="en" u="none" cap="none" strike="noStrike">
                <a:solidFill>
                  <a:srgbClr val="8BAABF"/>
                </a:solidFill>
                <a:latin typeface="Calibri"/>
                <a:ea typeface="Calibri"/>
                <a:cs typeface="Calibri"/>
                <a:sym typeface="Calibri"/>
              </a:rPr>
              <a:t>Primal feasibility</a:t>
            </a:r>
            <a:endParaRPr b="0" i="0" u="none" cap="none" strike="noStrike">
              <a:solidFill>
                <a:schemeClr val="dk1"/>
              </a:solidFill>
              <a:latin typeface="Calibri"/>
              <a:ea typeface="Calibri"/>
              <a:cs typeface="Calibri"/>
              <a:sym typeface="Calibri"/>
            </a:endParaRPr>
          </a:p>
        </p:txBody>
      </p:sp>
      <p:sp>
        <p:nvSpPr>
          <p:cNvPr id="130" name="Google Shape;130;p18"/>
          <p:cNvSpPr/>
          <p:nvPr/>
        </p:nvSpPr>
        <p:spPr>
          <a:xfrm>
            <a:off x="3246120" y="277063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ourier New"/>
              <a:buNone/>
            </a:pPr>
            <a:r>
              <a:rPr b="1" i="0" lang="en" sz="1500" u="none" cap="none" strike="noStrike">
                <a:solidFill>
                  <a:srgbClr val="FFFFFF"/>
                </a:solidFill>
                <a:latin typeface="Courier New"/>
                <a:ea typeface="Courier New"/>
                <a:cs typeface="Courier New"/>
                <a:sym typeface="Courier New"/>
              </a:rPr>
              <a:t>yᵢ(wᵀxᵢ + b) ≥ 1</a:t>
            </a:r>
            <a:endParaRPr b="0" i="0" sz="1500" u="none" cap="none" strike="noStrike">
              <a:solidFill>
                <a:schemeClr val="dk1"/>
              </a:solidFill>
              <a:latin typeface="Calibri"/>
              <a:ea typeface="Calibri"/>
              <a:cs typeface="Calibri"/>
              <a:sym typeface="Calibri"/>
            </a:endParaRPr>
          </a:p>
        </p:txBody>
      </p:sp>
      <p:sp>
        <p:nvSpPr>
          <p:cNvPr id="131" name="Google Shape;131;p18"/>
          <p:cNvSpPr/>
          <p:nvPr/>
        </p:nvSpPr>
        <p:spPr>
          <a:xfrm>
            <a:off x="822960" y="3054096"/>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050"/>
              <a:buFont typeface="Calibri"/>
              <a:buNone/>
            </a:pPr>
            <a:r>
              <a:rPr b="0" i="0" lang="en" u="none" cap="none" strike="noStrike">
                <a:solidFill>
                  <a:srgbClr val="8BAABF"/>
                </a:solidFill>
                <a:latin typeface="Calibri"/>
                <a:ea typeface="Calibri"/>
                <a:cs typeface="Calibri"/>
                <a:sym typeface="Calibri"/>
              </a:rPr>
              <a:t>Every point stays on the correct side of the margin.</a:t>
            </a:r>
            <a:endParaRPr b="0" i="0" u="none" cap="none" strike="noStrike">
              <a:solidFill>
                <a:schemeClr val="dk1"/>
              </a:solidFill>
              <a:latin typeface="Calibri"/>
              <a:ea typeface="Calibri"/>
              <a:cs typeface="Calibri"/>
              <a:sym typeface="Calibri"/>
            </a:endParaRPr>
          </a:p>
        </p:txBody>
      </p:sp>
      <p:sp>
        <p:nvSpPr>
          <p:cNvPr id="132" name="Google Shape;132;p18"/>
          <p:cNvSpPr/>
          <p:nvPr/>
        </p:nvSpPr>
        <p:spPr>
          <a:xfrm>
            <a:off x="365760" y="3483864"/>
            <a:ext cx="8412480" cy="6858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p:nvPr/>
        </p:nvSpPr>
        <p:spPr>
          <a:xfrm>
            <a:off x="365760" y="3483864"/>
            <a:ext cx="384048" cy="685800"/>
          </a:xfrm>
          <a:prstGeom prst="rect">
            <a:avLst/>
          </a:prstGeom>
          <a:solidFill>
            <a:srgbClr val="8BAABF"/>
          </a:solidFill>
          <a:ln cap="flat" cmpd="sng" w="12700">
            <a:solidFill>
              <a:srgbClr val="8BAA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p:nvPr/>
        </p:nvSpPr>
        <p:spPr>
          <a:xfrm>
            <a:off x="365760" y="3483864"/>
            <a:ext cx="38404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35" name="Google Shape;135;p18"/>
          <p:cNvSpPr/>
          <p:nvPr/>
        </p:nvSpPr>
        <p:spPr>
          <a:xfrm>
            <a:off x="822960" y="3538728"/>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100"/>
              <a:buFont typeface="Calibri"/>
              <a:buNone/>
            </a:pPr>
            <a:r>
              <a:rPr b="1" i="0" lang="en" u="none" cap="none" strike="noStrike">
                <a:solidFill>
                  <a:srgbClr val="8BAABF"/>
                </a:solidFill>
                <a:latin typeface="Calibri"/>
                <a:ea typeface="Calibri"/>
                <a:cs typeface="Calibri"/>
                <a:sym typeface="Calibri"/>
              </a:rPr>
              <a:t>Dual feasibility</a:t>
            </a:r>
            <a:endParaRPr b="0" i="0" u="none" cap="none" strike="noStrike">
              <a:solidFill>
                <a:schemeClr val="dk1"/>
              </a:solidFill>
              <a:latin typeface="Calibri"/>
              <a:ea typeface="Calibri"/>
              <a:cs typeface="Calibri"/>
              <a:sym typeface="Calibri"/>
            </a:endParaRPr>
          </a:p>
        </p:txBody>
      </p:sp>
      <p:sp>
        <p:nvSpPr>
          <p:cNvPr id="136" name="Google Shape;136;p18"/>
          <p:cNvSpPr/>
          <p:nvPr/>
        </p:nvSpPr>
        <p:spPr>
          <a:xfrm>
            <a:off x="3246120" y="352958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ourier New"/>
              <a:buNone/>
            </a:pPr>
            <a:r>
              <a:rPr b="1" i="0" lang="en" sz="1500" u="none" cap="none" strike="noStrike">
                <a:solidFill>
                  <a:srgbClr val="FFFFFF"/>
                </a:solidFill>
                <a:latin typeface="Courier New"/>
                <a:ea typeface="Courier New"/>
                <a:cs typeface="Courier New"/>
                <a:sym typeface="Courier New"/>
              </a:rPr>
              <a:t>αᵢ ≥ 0</a:t>
            </a:r>
            <a:endParaRPr b="0" i="0" sz="1500" u="none" cap="none" strike="noStrike">
              <a:solidFill>
                <a:schemeClr val="dk1"/>
              </a:solidFill>
              <a:latin typeface="Calibri"/>
              <a:ea typeface="Calibri"/>
              <a:cs typeface="Calibri"/>
              <a:sym typeface="Calibri"/>
            </a:endParaRPr>
          </a:p>
        </p:txBody>
      </p:sp>
      <p:sp>
        <p:nvSpPr>
          <p:cNvPr id="137" name="Google Shape;137;p18"/>
          <p:cNvSpPr/>
          <p:nvPr/>
        </p:nvSpPr>
        <p:spPr>
          <a:xfrm>
            <a:off x="822960" y="3813048"/>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050"/>
              <a:buFont typeface="Calibri"/>
              <a:buNone/>
            </a:pPr>
            <a:r>
              <a:rPr b="0" i="0" lang="en" u="none" cap="none" strike="noStrike">
                <a:solidFill>
                  <a:srgbClr val="8BAABF"/>
                </a:solidFill>
                <a:latin typeface="Calibri"/>
                <a:ea typeface="Calibri"/>
                <a:cs typeface="Calibri"/>
                <a:sym typeface="Calibri"/>
              </a:rPr>
              <a:t>Multipliers must be non-negative.</a:t>
            </a:r>
            <a:endParaRPr b="0" i="0" u="none" cap="none" strike="noStrike">
              <a:solidFill>
                <a:schemeClr val="dk1"/>
              </a:solidFill>
              <a:latin typeface="Calibri"/>
              <a:ea typeface="Calibri"/>
              <a:cs typeface="Calibri"/>
              <a:sym typeface="Calibri"/>
            </a:endParaRPr>
          </a:p>
        </p:txBody>
      </p:sp>
      <p:sp>
        <p:nvSpPr>
          <p:cNvPr id="138" name="Google Shape;138;p18"/>
          <p:cNvSpPr/>
          <p:nvPr/>
        </p:nvSpPr>
        <p:spPr>
          <a:xfrm>
            <a:off x="365760" y="4242816"/>
            <a:ext cx="8412480" cy="6858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8"/>
          <p:cNvSpPr/>
          <p:nvPr/>
        </p:nvSpPr>
        <p:spPr>
          <a:xfrm>
            <a:off x="365760" y="4242816"/>
            <a:ext cx="384048" cy="68580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8"/>
          <p:cNvSpPr/>
          <p:nvPr/>
        </p:nvSpPr>
        <p:spPr>
          <a:xfrm>
            <a:off x="365760" y="4242816"/>
            <a:ext cx="384048"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41" name="Google Shape;141;p18"/>
          <p:cNvSpPr/>
          <p:nvPr/>
        </p:nvSpPr>
        <p:spPr>
          <a:xfrm>
            <a:off x="822960" y="4297680"/>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1100"/>
              <a:buFont typeface="Calibri"/>
              <a:buNone/>
            </a:pPr>
            <a:r>
              <a:rPr b="1" i="0" lang="en" u="none" cap="none" strike="noStrike">
                <a:solidFill>
                  <a:srgbClr val="F4C430"/>
                </a:solidFill>
                <a:latin typeface="Calibri"/>
                <a:ea typeface="Calibri"/>
                <a:cs typeface="Calibri"/>
                <a:sym typeface="Calibri"/>
              </a:rPr>
              <a:t>Complementary slackness</a:t>
            </a:r>
            <a:endParaRPr b="0" i="0" u="none" cap="none" strike="noStrike">
              <a:solidFill>
                <a:schemeClr val="dk1"/>
              </a:solidFill>
              <a:latin typeface="Calibri"/>
              <a:ea typeface="Calibri"/>
              <a:cs typeface="Calibri"/>
              <a:sym typeface="Calibri"/>
            </a:endParaRPr>
          </a:p>
        </p:txBody>
      </p:sp>
      <p:sp>
        <p:nvSpPr>
          <p:cNvPr id="142" name="Google Shape;142;p18"/>
          <p:cNvSpPr/>
          <p:nvPr/>
        </p:nvSpPr>
        <p:spPr>
          <a:xfrm>
            <a:off x="3246120" y="4288536"/>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ourier New"/>
              <a:buNone/>
            </a:pPr>
            <a:r>
              <a:rPr b="1" i="0" lang="en" sz="1500" u="none" cap="none" strike="noStrike">
                <a:solidFill>
                  <a:srgbClr val="FFFFFF"/>
                </a:solidFill>
                <a:latin typeface="Courier New"/>
                <a:ea typeface="Courier New"/>
                <a:cs typeface="Courier New"/>
                <a:sym typeface="Courier New"/>
              </a:rPr>
              <a:t>αᵢ [ yᵢ(wᵀxᵢ + b) − 1 ] = 0</a:t>
            </a:r>
            <a:endParaRPr b="0" i="0" sz="1500" u="none" cap="none" strike="noStrike">
              <a:solidFill>
                <a:schemeClr val="dk1"/>
              </a:solidFill>
              <a:latin typeface="Calibri"/>
              <a:ea typeface="Calibri"/>
              <a:cs typeface="Calibri"/>
              <a:sym typeface="Calibri"/>
            </a:endParaRPr>
          </a:p>
        </p:txBody>
      </p:sp>
      <p:sp>
        <p:nvSpPr>
          <p:cNvPr id="143" name="Google Shape;143;p18"/>
          <p:cNvSpPr/>
          <p:nvPr/>
        </p:nvSpPr>
        <p:spPr>
          <a:xfrm>
            <a:off x="822960" y="457200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050"/>
              <a:buFont typeface="Calibri"/>
              <a:buNone/>
            </a:pPr>
            <a:r>
              <a:rPr b="0" i="0" lang="en" u="none" cap="none" strike="noStrike">
                <a:solidFill>
                  <a:srgbClr val="8BAABF"/>
                </a:solidFill>
                <a:latin typeface="Calibri"/>
                <a:ea typeface="Calibri"/>
                <a:cs typeface="Calibri"/>
                <a:sym typeface="Calibri"/>
              </a:rPr>
              <a:t>αᵢ = 0 (not a support vector)  OR  constraint is tight (support vector).</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48" name="Shape 148"/>
        <p:cNvGrpSpPr/>
        <p:nvPr/>
      </p:nvGrpSpPr>
      <p:grpSpPr>
        <a:xfrm>
          <a:off x="0" y="0"/>
          <a:ext cx="0" cy="0"/>
          <a:chOff x="0" y="0"/>
          <a:chExt cx="0" cy="0"/>
        </a:xfrm>
      </p:grpSpPr>
      <p:sp>
        <p:nvSpPr>
          <p:cNvPr id="149" name="Google Shape;149;p19"/>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365760" y="27432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Deriving the Dual</a:t>
            </a:r>
            <a:endParaRPr b="0" i="0" sz="3000" u="none" cap="none" strike="noStrike">
              <a:solidFill>
                <a:schemeClr val="dk1"/>
              </a:solidFill>
              <a:latin typeface="Calibri"/>
              <a:ea typeface="Calibri"/>
              <a:cs typeface="Calibri"/>
              <a:sym typeface="Calibri"/>
            </a:endParaRPr>
          </a:p>
        </p:txBody>
      </p:sp>
      <p:sp>
        <p:nvSpPr>
          <p:cNvPr id="151" name="Google Shape;151;p19"/>
          <p:cNvSpPr/>
          <p:nvPr/>
        </p:nvSpPr>
        <p:spPr>
          <a:xfrm>
            <a:off x="365760" y="804672"/>
            <a:ext cx="8412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BAABF"/>
              </a:buClr>
              <a:buSzPts val="1400"/>
              <a:buFont typeface="Calibri"/>
              <a:buNone/>
            </a:pPr>
            <a:r>
              <a:rPr b="0" i="1" lang="en" sz="1500" u="none" cap="none" strike="noStrike">
                <a:solidFill>
                  <a:srgbClr val="8BAABF"/>
                </a:solidFill>
                <a:latin typeface="Calibri"/>
                <a:ea typeface="Calibri"/>
                <a:cs typeface="Calibri"/>
                <a:sym typeface="Calibri"/>
              </a:rPr>
              <a:t>Substitute the KKT conditions back into L — w and b disappear completely</a:t>
            </a:r>
            <a:endParaRPr b="0" i="0" sz="1500" u="none" cap="none" strike="noStrike">
              <a:solidFill>
                <a:schemeClr val="dk1"/>
              </a:solidFill>
              <a:latin typeface="Calibri"/>
              <a:ea typeface="Calibri"/>
              <a:cs typeface="Calibri"/>
              <a:sym typeface="Calibri"/>
            </a:endParaRPr>
          </a:p>
        </p:txBody>
      </p:sp>
      <p:sp>
        <p:nvSpPr>
          <p:cNvPr id="152" name="Google Shape;152;p19"/>
          <p:cNvSpPr/>
          <p:nvPr/>
        </p:nvSpPr>
        <p:spPr>
          <a:xfrm>
            <a:off x="365760" y="1207008"/>
            <a:ext cx="320040" cy="82296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a:off x="365760" y="1207008"/>
            <a:ext cx="3200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54" name="Google Shape;154;p19"/>
          <p:cNvSpPr/>
          <p:nvPr/>
        </p:nvSpPr>
        <p:spPr>
          <a:xfrm>
            <a:off x="685800" y="1207008"/>
            <a:ext cx="8092440" cy="82296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822960" y="1261872"/>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1200"/>
              <a:buFont typeface="Calibri"/>
              <a:buNone/>
            </a:pPr>
            <a:r>
              <a:rPr b="0" i="0" lang="en" u="none" cap="none" strike="noStrike">
                <a:solidFill>
                  <a:srgbClr val="E8F0F2"/>
                </a:solidFill>
                <a:latin typeface="Calibri"/>
                <a:ea typeface="Calibri"/>
                <a:cs typeface="Calibri"/>
                <a:sym typeface="Calibri"/>
              </a:rPr>
              <a:t>Substitute w = Σᵢ αᵢ yᵢ xᵢ  →  the w terms collapse into inner products:</a:t>
            </a:r>
            <a:endParaRPr b="0" i="0" u="none" cap="none" strike="noStrike">
              <a:solidFill>
                <a:schemeClr val="dk1"/>
              </a:solidFill>
              <a:latin typeface="Calibri"/>
              <a:ea typeface="Calibri"/>
              <a:cs typeface="Calibri"/>
              <a:sym typeface="Calibri"/>
            </a:endParaRPr>
          </a:p>
        </p:txBody>
      </p:sp>
      <p:sp>
        <p:nvSpPr>
          <p:cNvPr id="156" name="Google Shape;156;p19"/>
          <p:cNvSpPr/>
          <p:nvPr/>
        </p:nvSpPr>
        <p:spPr>
          <a:xfrm>
            <a:off x="822960" y="157276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ourier New"/>
              <a:buNone/>
            </a:pPr>
            <a:r>
              <a:rPr b="1" i="0" lang="en" sz="1500" u="none" cap="none" strike="noStrike">
                <a:solidFill>
                  <a:srgbClr val="FFFFFF"/>
                </a:solidFill>
                <a:latin typeface="Courier New"/>
                <a:ea typeface="Courier New"/>
                <a:cs typeface="Courier New"/>
                <a:sym typeface="Courier New"/>
              </a:rPr>
              <a:t>½‖w‖²  becomes  ½ Σᵢ Σⱼ αᵢ αⱼ yᵢ yⱼ (xᵢᵀxⱼ)</a:t>
            </a:r>
            <a:endParaRPr b="0" i="0" sz="1500" u="none" cap="none" strike="noStrike">
              <a:solidFill>
                <a:schemeClr val="dk1"/>
              </a:solidFill>
              <a:latin typeface="Calibri"/>
              <a:ea typeface="Calibri"/>
              <a:cs typeface="Calibri"/>
              <a:sym typeface="Calibri"/>
            </a:endParaRPr>
          </a:p>
        </p:txBody>
      </p:sp>
      <p:sp>
        <p:nvSpPr>
          <p:cNvPr id="157" name="Google Shape;157;p19"/>
          <p:cNvSpPr/>
          <p:nvPr/>
        </p:nvSpPr>
        <p:spPr>
          <a:xfrm>
            <a:off x="365760" y="2148840"/>
            <a:ext cx="320040" cy="82296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365760" y="2148840"/>
            <a:ext cx="3200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59" name="Google Shape;159;p19"/>
          <p:cNvSpPr/>
          <p:nvPr/>
        </p:nvSpPr>
        <p:spPr>
          <a:xfrm>
            <a:off x="685800" y="2148840"/>
            <a:ext cx="8092440" cy="82296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822960" y="2203704"/>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1200"/>
              <a:buFont typeface="Calibri"/>
              <a:buNone/>
            </a:pPr>
            <a:r>
              <a:rPr b="0" i="0" lang="en" u="none" cap="none" strike="noStrike">
                <a:solidFill>
                  <a:srgbClr val="E8F0F2"/>
                </a:solidFill>
                <a:latin typeface="Calibri"/>
                <a:ea typeface="Calibri"/>
                <a:cs typeface="Calibri"/>
                <a:sym typeface="Calibri"/>
              </a:rPr>
              <a:t>Use Σᵢ αᵢ yᵢ = 0  →  the b term vanishes entirely</a:t>
            </a:r>
            <a:endParaRPr b="0" i="0" u="none" cap="none" strike="noStrike">
              <a:solidFill>
                <a:schemeClr val="dk1"/>
              </a:solidFill>
              <a:latin typeface="Calibri"/>
              <a:ea typeface="Calibri"/>
              <a:cs typeface="Calibri"/>
              <a:sym typeface="Calibri"/>
            </a:endParaRPr>
          </a:p>
        </p:txBody>
      </p:sp>
      <p:sp>
        <p:nvSpPr>
          <p:cNvPr id="161" name="Google Shape;161;p19"/>
          <p:cNvSpPr/>
          <p:nvPr/>
        </p:nvSpPr>
        <p:spPr>
          <a:xfrm>
            <a:off x="822960" y="2514600"/>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ourier New"/>
              <a:buNone/>
            </a:pPr>
            <a:r>
              <a:rPr b="1" i="0" lang="en" sz="1500" u="none" cap="none" strike="noStrike">
                <a:solidFill>
                  <a:srgbClr val="FFFFFF"/>
                </a:solidFill>
                <a:latin typeface="Courier New"/>
                <a:ea typeface="Courier New"/>
                <a:cs typeface="Courier New"/>
                <a:sym typeface="Courier New"/>
              </a:rPr>
              <a:t>b · Σᵢ αᵢ yᵢ  =  b · 0  =  0  ✓  (b is gone)</a:t>
            </a:r>
            <a:endParaRPr b="0" i="0" sz="1500" u="none" cap="none" strike="noStrike">
              <a:solidFill>
                <a:schemeClr val="dk1"/>
              </a:solidFill>
              <a:latin typeface="Calibri"/>
              <a:ea typeface="Calibri"/>
              <a:cs typeface="Calibri"/>
              <a:sym typeface="Calibri"/>
            </a:endParaRPr>
          </a:p>
        </p:txBody>
      </p:sp>
      <p:sp>
        <p:nvSpPr>
          <p:cNvPr id="162" name="Google Shape;162;p19"/>
          <p:cNvSpPr/>
          <p:nvPr/>
        </p:nvSpPr>
        <p:spPr>
          <a:xfrm>
            <a:off x="365760" y="3090672"/>
            <a:ext cx="320040" cy="82296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365760" y="3090672"/>
            <a:ext cx="3200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64" name="Google Shape;164;p19"/>
          <p:cNvSpPr/>
          <p:nvPr/>
        </p:nvSpPr>
        <p:spPr>
          <a:xfrm>
            <a:off x="685800" y="3090672"/>
            <a:ext cx="8092440" cy="822960"/>
          </a:xfrm>
          <a:prstGeom prst="rect">
            <a:avLst/>
          </a:prstGeom>
          <a:solidFill>
            <a:srgbClr val="243447"/>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822960" y="3145536"/>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1200"/>
              <a:buFont typeface="Calibri"/>
              <a:buNone/>
            </a:pPr>
            <a:r>
              <a:rPr b="1" i="0" lang="en" u="none" cap="none" strike="noStrike">
                <a:solidFill>
                  <a:srgbClr val="F4C430"/>
                </a:solidFill>
                <a:latin typeface="Calibri"/>
                <a:ea typeface="Calibri"/>
                <a:cs typeface="Calibri"/>
                <a:sym typeface="Calibri"/>
              </a:rPr>
              <a:t>What remains — the dual objective (α only, no w or b):</a:t>
            </a:r>
            <a:endParaRPr b="0" i="0" u="none" cap="none" strike="noStrike">
              <a:solidFill>
                <a:schemeClr val="dk1"/>
              </a:solidFill>
              <a:latin typeface="Calibri"/>
              <a:ea typeface="Calibri"/>
              <a:cs typeface="Calibri"/>
              <a:sym typeface="Calibri"/>
            </a:endParaRPr>
          </a:p>
        </p:txBody>
      </p:sp>
      <p:sp>
        <p:nvSpPr>
          <p:cNvPr id="166" name="Google Shape;166;p19"/>
          <p:cNvSpPr/>
          <p:nvPr/>
        </p:nvSpPr>
        <p:spPr>
          <a:xfrm>
            <a:off x="822960" y="345643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ourier New"/>
              <a:buNone/>
            </a:pPr>
            <a:r>
              <a:rPr b="1" i="0" lang="en" sz="1500" u="none" cap="none" strike="noStrike">
                <a:solidFill>
                  <a:srgbClr val="FFFFFF"/>
                </a:solidFill>
                <a:latin typeface="Courier New"/>
                <a:ea typeface="Courier New"/>
                <a:cs typeface="Courier New"/>
                <a:sym typeface="Courier New"/>
              </a:rPr>
              <a:t>W(α)  =  Σᵢ αᵢ  −  ½ Σᵢ Σⱼ αᵢ αⱼ yᵢ yⱼ (xᵢᵀxⱼ)</a:t>
            </a:r>
            <a:endParaRPr b="0" i="0" sz="1500" u="none" cap="none" strike="noStrike">
              <a:solidFill>
                <a:schemeClr val="dk1"/>
              </a:solidFill>
              <a:latin typeface="Calibri"/>
              <a:ea typeface="Calibri"/>
              <a:cs typeface="Calibri"/>
              <a:sym typeface="Calibri"/>
            </a:endParaRPr>
          </a:p>
        </p:txBody>
      </p:sp>
      <p:sp>
        <p:nvSpPr>
          <p:cNvPr id="167" name="Google Shape;167;p19"/>
          <p:cNvSpPr/>
          <p:nvPr/>
        </p:nvSpPr>
        <p:spPr>
          <a:xfrm>
            <a:off x="365760" y="4041648"/>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ABF"/>
              </a:buClr>
              <a:buSzPts val="1300"/>
              <a:buFont typeface="Calibri"/>
              <a:buNone/>
            </a:pPr>
            <a:r>
              <a:rPr b="0" i="0" lang="en" sz="1300" u="none" cap="none" strike="noStrike">
                <a:solidFill>
                  <a:srgbClr val="8BAABF"/>
                </a:solidFill>
                <a:latin typeface="Calibri"/>
                <a:ea typeface="Calibri"/>
                <a:cs typeface="Calibri"/>
                <a:sym typeface="Calibri"/>
              </a:rPr>
              <a:t>Constraints: </a:t>
            </a:r>
            <a:r>
              <a:rPr b="1" i="0" lang="en" sz="1300" u="none" cap="none" strike="noStrike">
                <a:solidFill>
                  <a:srgbClr val="00C2CB"/>
                </a:solidFill>
                <a:latin typeface="Courier New"/>
                <a:ea typeface="Courier New"/>
                <a:cs typeface="Courier New"/>
                <a:sym typeface="Courier New"/>
              </a:rPr>
              <a:t>αᵢ ≥ 0</a:t>
            </a:r>
            <a:r>
              <a:rPr b="0" i="0" lang="en" sz="1300" u="none" cap="none" strike="noStrike">
                <a:solidFill>
                  <a:srgbClr val="8BAABF"/>
                </a:solidFill>
                <a:latin typeface="Calibri"/>
                <a:ea typeface="Calibri"/>
                <a:cs typeface="Calibri"/>
                <a:sym typeface="Calibri"/>
              </a:rPr>
              <a:t>  and  </a:t>
            </a:r>
            <a:r>
              <a:rPr b="1" i="0" lang="en" sz="1300" u="none" cap="none" strike="noStrike">
                <a:solidFill>
                  <a:srgbClr val="00C2CB"/>
                </a:solidFill>
                <a:latin typeface="Courier New"/>
                <a:ea typeface="Courier New"/>
                <a:cs typeface="Courier New"/>
                <a:sym typeface="Courier New"/>
              </a:rPr>
              <a:t>Σᵢ αᵢ yᵢ = 0</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72" name="Shape 172"/>
        <p:cNvGrpSpPr/>
        <p:nvPr/>
      </p:nvGrpSpPr>
      <p:grpSpPr>
        <a:xfrm>
          <a:off x="0" y="0"/>
          <a:ext cx="0" cy="0"/>
          <a:chOff x="0" y="0"/>
          <a:chExt cx="0" cy="0"/>
        </a:xfrm>
      </p:grpSpPr>
      <p:sp>
        <p:nvSpPr>
          <p:cNvPr id="173" name="Google Shape;173;p20"/>
          <p:cNvSpPr/>
          <p:nvPr/>
        </p:nvSpPr>
        <p:spPr>
          <a:xfrm>
            <a:off x="0" y="0"/>
            <a:ext cx="164592"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365760" y="274320"/>
            <a:ext cx="8412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i="0" lang="en" sz="3000" u="none" cap="none" strike="noStrike">
                <a:solidFill>
                  <a:srgbClr val="FFFFFF"/>
                </a:solidFill>
                <a:latin typeface="Georgia"/>
                <a:ea typeface="Georgia"/>
                <a:cs typeface="Georgia"/>
                <a:sym typeface="Georgia"/>
              </a:rPr>
              <a:t>Why the Dual Matters</a:t>
            </a:r>
            <a:endParaRPr b="0" i="0" sz="3000" u="none" cap="none" strike="noStrike">
              <a:solidFill>
                <a:schemeClr val="dk1"/>
              </a:solidFill>
              <a:latin typeface="Calibri"/>
              <a:ea typeface="Calibri"/>
              <a:cs typeface="Calibri"/>
              <a:sym typeface="Calibri"/>
            </a:endParaRPr>
          </a:p>
        </p:txBody>
      </p:sp>
      <p:sp>
        <p:nvSpPr>
          <p:cNvPr id="175" name="Google Shape;175;p20"/>
          <p:cNvSpPr/>
          <p:nvPr/>
        </p:nvSpPr>
        <p:spPr>
          <a:xfrm>
            <a:off x="365760" y="960120"/>
            <a:ext cx="2743200" cy="301752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365760" y="960120"/>
            <a:ext cx="2743200" cy="73152"/>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p:nvPr/>
        </p:nvSpPr>
        <p:spPr>
          <a:xfrm>
            <a:off x="365760" y="1078992"/>
            <a:ext cx="2743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CB"/>
              </a:buClr>
              <a:buSzPts val="2200"/>
              <a:buFont typeface="Georgia"/>
              <a:buNone/>
            </a:pPr>
            <a:r>
              <a:rPr b="1" i="0" lang="en" sz="2200" u="none" cap="none" strike="noStrike">
                <a:solidFill>
                  <a:srgbClr val="00C2CB"/>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178" name="Google Shape;178;p20"/>
          <p:cNvSpPr/>
          <p:nvPr/>
        </p:nvSpPr>
        <p:spPr>
          <a:xfrm>
            <a:off x="502920" y="1481328"/>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 sz="1600" u="none" cap="none" strike="noStrike">
                <a:solidFill>
                  <a:srgbClr val="FFFFFF"/>
                </a:solidFill>
                <a:latin typeface="Calibri"/>
                <a:ea typeface="Calibri"/>
                <a:cs typeface="Calibri"/>
                <a:sym typeface="Calibri"/>
              </a:rPr>
              <a:t>Sparsity</a:t>
            </a:r>
            <a:endParaRPr b="0" i="0" sz="1600" u="none" cap="none" strike="noStrike">
              <a:solidFill>
                <a:schemeClr val="dk1"/>
              </a:solidFill>
              <a:latin typeface="Calibri"/>
              <a:ea typeface="Calibri"/>
              <a:cs typeface="Calibri"/>
              <a:sym typeface="Calibri"/>
            </a:endParaRPr>
          </a:p>
        </p:txBody>
      </p:sp>
      <p:sp>
        <p:nvSpPr>
          <p:cNvPr id="179" name="Google Shape;179;p20"/>
          <p:cNvSpPr/>
          <p:nvPr/>
        </p:nvSpPr>
        <p:spPr>
          <a:xfrm>
            <a:off x="502920" y="1847088"/>
            <a:ext cx="24688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E8F0F2"/>
              </a:buClr>
              <a:buSzPts val="1150"/>
              <a:buFont typeface="Calibri"/>
              <a:buNone/>
            </a:pPr>
            <a:r>
              <a:rPr b="0" i="0" lang="en" u="none" cap="none" strike="noStrike">
                <a:solidFill>
                  <a:srgbClr val="E8F0F2"/>
                </a:solidFill>
                <a:latin typeface="Calibri"/>
                <a:ea typeface="Calibri"/>
                <a:cs typeface="Calibri"/>
                <a:sym typeface="Calibri"/>
              </a:rPr>
              <a:t>Most αᵢ = 0. Only support vectors (αᵢ &gt; 0) define w. All other training points are irrelevant — delete them and nothing changes.</a:t>
            </a:r>
            <a:endParaRPr b="0" i="0" u="none" cap="none" strike="noStrike">
              <a:solidFill>
                <a:schemeClr val="dk1"/>
              </a:solidFill>
              <a:latin typeface="Calibri"/>
              <a:ea typeface="Calibri"/>
              <a:cs typeface="Calibri"/>
              <a:sym typeface="Calibri"/>
            </a:endParaRPr>
          </a:p>
        </p:txBody>
      </p:sp>
      <p:sp>
        <p:nvSpPr>
          <p:cNvPr id="180" name="Google Shape;180;p20"/>
          <p:cNvSpPr/>
          <p:nvPr/>
        </p:nvSpPr>
        <p:spPr>
          <a:xfrm>
            <a:off x="3310128" y="960120"/>
            <a:ext cx="2743200" cy="301752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3310128" y="960120"/>
            <a:ext cx="2743200" cy="73152"/>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3310128" y="1078992"/>
            <a:ext cx="2743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C430"/>
              </a:buClr>
              <a:buSzPts val="2200"/>
              <a:buFont typeface="Georgia"/>
              <a:buNone/>
            </a:pPr>
            <a:r>
              <a:rPr b="1" i="0" lang="en" sz="2200" u="none" cap="none" strike="noStrike">
                <a:solidFill>
                  <a:srgbClr val="F4C430"/>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183" name="Google Shape;183;p20"/>
          <p:cNvSpPr/>
          <p:nvPr/>
        </p:nvSpPr>
        <p:spPr>
          <a:xfrm>
            <a:off x="3447288" y="1481328"/>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 sz="1600" u="none" cap="none" strike="noStrike">
                <a:solidFill>
                  <a:srgbClr val="FFFFFF"/>
                </a:solidFill>
                <a:latin typeface="Calibri"/>
                <a:ea typeface="Calibri"/>
                <a:cs typeface="Calibri"/>
                <a:sym typeface="Calibri"/>
              </a:rPr>
              <a:t>Dimensionality</a:t>
            </a:r>
            <a:endParaRPr b="0" i="0" sz="1600" u="none" cap="none" strike="noStrike">
              <a:solidFill>
                <a:schemeClr val="dk1"/>
              </a:solidFill>
              <a:latin typeface="Calibri"/>
              <a:ea typeface="Calibri"/>
              <a:cs typeface="Calibri"/>
              <a:sym typeface="Calibri"/>
            </a:endParaRPr>
          </a:p>
        </p:txBody>
      </p:sp>
      <p:sp>
        <p:nvSpPr>
          <p:cNvPr id="184" name="Google Shape;184;p20"/>
          <p:cNvSpPr/>
          <p:nvPr/>
        </p:nvSpPr>
        <p:spPr>
          <a:xfrm>
            <a:off x="3447288" y="1847088"/>
            <a:ext cx="24688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E8F0F2"/>
              </a:buClr>
              <a:buSzPts val="1150"/>
              <a:buFont typeface="Calibri"/>
              <a:buNone/>
            </a:pPr>
            <a:r>
              <a:rPr b="0" i="0" lang="en" u="none" cap="none" strike="noStrike">
                <a:solidFill>
                  <a:srgbClr val="E8F0F2"/>
                </a:solidFill>
                <a:latin typeface="Calibri"/>
                <a:ea typeface="Calibri"/>
                <a:cs typeface="Calibri"/>
                <a:sym typeface="Calibri"/>
              </a:rPr>
              <a:t>Primal has d+1 variables (one per feature). Dual has n variables (one per point). </a:t>
            </a:r>
            <a:endParaRPr b="0" i="0" u="none" cap="none" strike="noStrike">
              <a:solidFill>
                <a:schemeClr val="dk1"/>
              </a:solidFill>
              <a:latin typeface="Calibri"/>
              <a:ea typeface="Calibri"/>
              <a:cs typeface="Calibri"/>
              <a:sym typeface="Calibri"/>
            </a:endParaRPr>
          </a:p>
        </p:txBody>
      </p:sp>
      <p:sp>
        <p:nvSpPr>
          <p:cNvPr id="185" name="Google Shape;185;p20"/>
          <p:cNvSpPr/>
          <p:nvPr/>
        </p:nvSpPr>
        <p:spPr>
          <a:xfrm>
            <a:off x="6254496" y="960120"/>
            <a:ext cx="2743200" cy="301752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6254496" y="960120"/>
            <a:ext cx="2743200" cy="7315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0"/>
          <p:cNvSpPr/>
          <p:nvPr/>
        </p:nvSpPr>
        <p:spPr>
          <a:xfrm>
            <a:off x="6254496" y="1078992"/>
            <a:ext cx="2743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6B6B"/>
              </a:buClr>
              <a:buSzPts val="2200"/>
              <a:buFont typeface="Georgia"/>
              <a:buNone/>
            </a:pPr>
            <a:r>
              <a:rPr b="1" i="0" lang="en" sz="2200" u="none" cap="none" strike="noStrike">
                <a:solidFill>
                  <a:srgbClr val="FF6B6B"/>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188" name="Google Shape;188;p20"/>
          <p:cNvSpPr/>
          <p:nvPr/>
        </p:nvSpPr>
        <p:spPr>
          <a:xfrm>
            <a:off x="6391656" y="1481328"/>
            <a:ext cx="2468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 sz="1600" u="none" cap="none" strike="noStrike">
                <a:solidFill>
                  <a:srgbClr val="FFFFFF"/>
                </a:solidFill>
                <a:latin typeface="Calibri"/>
                <a:ea typeface="Calibri"/>
                <a:cs typeface="Calibri"/>
                <a:sym typeface="Calibri"/>
              </a:rPr>
              <a:t>The Kernel Trick</a:t>
            </a:r>
            <a:endParaRPr b="0" i="0" sz="1600" u="none" cap="none" strike="noStrike">
              <a:solidFill>
                <a:schemeClr val="dk1"/>
              </a:solidFill>
              <a:latin typeface="Calibri"/>
              <a:ea typeface="Calibri"/>
              <a:cs typeface="Calibri"/>
              <a:sym typeface="Calibri"/>
            </a:endParaRPr>
          </a:p>
        </p:txBody>
      </p:sp>
      <p:sp>
        <p:nvSpPr>
          <p:cNvPr id="189" name="Google Shape;189;p20"/>
          <p:cNvSpPr/>
          <p:nvPr/>
        </p:nvSpPr>
        <p:spPr>
          <a:xfrm>
            <a:off x="6391656" y="1847088"/>
            <a:ext cx="24688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E8F0F2"/>
              </a:buClr>
              <a:buSzPts val="1150"/>
              <a:buFont typeface="Calibri"/>
              <a:buNone/>
            </a:pPr>
            <a:r>
              <a:rPr b="0" i="0" lang="en" u="none" cap="none" strike="noStrike">
                <a:solidFill>
                  <a:srgbClr val="E8F0F2"/>
                </a:solidFill>
                <a:latin typeface="Calibri"/>
                <a:ea typeface="Calibri"/>
                <a:cs typeface="Calibri"/>
                <a:sym typeface="Calibri"/>
              </a:rPr>
              <a:t>The dual only uses xᵢᵀxⱼ — inner products. Replace these with K(xᵢ, xⱼ) to find nonlinear boundaries without ever computing the features explicitly.</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94" name="Shape 194"/>
        <p:cNvGrpSpPr/>
        <p:nvPr/>
      </p:nvGrpSpPr>
      <p:grpSpPr>
        <a:xfrm>
          <a:off x="0" y="0"/>
          <a:ext cx="0" cy="0"/>
          <a:chOff x="0" y="0"/>
          <a:chExt cx="0" cy="0"/>
        </a:xfrm>
      </p:grpSpPr>
      <p:sp>
        <p:nvSpPr>
          <p:cNvPr id="195" name="Google Shape;195;p21"/>
          <p:cNvSpPr/>
          <p:nvPr/>
        </p:nvSpPr>
        <p:spPr>
          <a:xfrm>
            <a:off x="0" y="0"/>
            <a:ext cx="164700"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p:nvPr/>
        </p:nvSpPr>
        <p:spPr>
          <a:xfrm>
            <a:off x="365760" y="228600"/>
            <a:ext cx="8412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700"/>
              <a:buFont typeface="Georgia"/>
              <a:buNone/>
            </a:pPr>
            <a:r>
              <a:rPr b="1" i="0" lang="en" sz="2700" u="none" cap="none" strike="noStrike">
                <a:solidFill>
                  <a:srgbClr val="FFFFFF"/>
                </a:solidFill>
                <a:latin typeface="Georgia"/>
                <a:ea typeface="Georgia"/>
                <a:cs typeface="Georgia"/>
                <a:sym typeface="Georgia"/>
              </a:rPr>
              <a:t>Applying SVM to Breast Cancer Classification</a:t>
            </a:r>
            <a:endParaRPr b="0" i="0" sz="2700" u="none" cap="none" strike="noStrike">
              <a:solidFill>
                <a:schemeClr val="dk1"/>
              </a:solidFill>
              <a:latin typeface="Calibri"/>
              <a:ea typeface="Calibri"/>
              <a:cs typeface="Calibri"/>
              <a:sym typeface="Calibri"/>
            </a:endParaRPr>
          </a:p>
        </p:txBody>
      </p:sp>
      <p:sp>
        <p:nvSpPr>
          <p:cNvPr id="197" name="Google Shape;197;p21"/>
          <p:cNvSpPr/>
          <p:nvPr/>
        </p:nvSpPr>
        <p:spPr>
          <a:xfrm>
            <a:off x="365760" y="841248"/>
            <a:ext cx="8412600" cy="914400"/>
          </a:xfrm>
          <a:prstGeom prst="rect">
            <a:avLst/>
          </a:prstGeom>
          <a:solidFill>
            <a:srgbClr val="243447"/>
          </a:solidFill>
          <a:ln cap="flat" cmpd="sng" w="1905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365760" y="841248"/>
            <a:ext cx="164700" cy="91440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a:off x="594360" y="886968"/>
            <a:ext cx="2286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1000"/>
              <a:buFont typeface="Calibri"/>
              <a:buNone/>
            </a:pPr>
            <a:r>
              <a:rPr b="1" i="0" lang="en" sz="1200" u="none" cap="none" strike="noStrike">
                <a:solidFill>
                  <a:srgbClr val="F4C430"/>
                </a:solidFill>
                <a:latin typeface="Calibri"/>
                <a:ea typeface="Calibri"/>
                <a:cs typeface="Calibri"/>
                <a:sym typeface="Calibri"/>
              </a:rPr>
              <a:t>Research Question</a:t>
            </a:r>
            <a:endParaRPr b="0" i="0" sz="1200" u="none" cap="none" strike="noStrike">
              <a:solidFill>
                <a:schemeClr val="dk1"/>
              </a:solidFill>
              <a:latin typeface="Calibri"/>
              <a:ea typeface="Calibri"/>
              <a:cs typeface="Calibri"/>
              <a:sym typeface="Calibri"/>
            </a:endParaRPr>
          </a:p>
        </p:txBody>
      </p:sp>
      <p:sp>
        <p:nvSpPr>
          <p:cNvPr id="200" name="Google Shape;200;p21"/>
          <p:cNvSpPr/>
          <p:nvPr/>
        </p:nvSpPr>
        <p:spPr>
          <a:xfrm>
            <a:off x="594360" y="1115568"/>
            <a:ext cx="8046600" cy="530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8F0F2"/>
              </a:buClr>
              <a:buSzPts val="1300"/>
              <a:buFont typeface="Calibri"/>
              <a:buNone/>
            </a:pPr>
            <a:r>
              <a:rPr b="0" i="1" lang="en" u="none" cap="none" strike="noStrike">
                <a:solidFill>
                  <a:srgbClr val="E8F0F2"/>
                </a:solidFill>
                <a:latin typeface="Calibri"/>
                <a:ea typeface="Calibri"/>
                <a:cs typeface="Calibri"/>
                <a:sym typeface="Calibri"/>
              </a:rPr>
              <a:t>"Can a Support Vector Machine accurately classify breast tumours as malignant or benign, and how does the choice of C affect its performance?"</a:t>
            </a:r>
            <a:endParaRPr b="0" i="0" u="none" cap="none" strike="noStrike">
              <a:solidFill>
                <a:schemeClr val="dk1"/>
              </a:solidFill>
              <a:latin typeface="Calibri"/>
              <a:ea typeface="Calibri"/>
              <a:cs typeface="Calibri"/>
              <a:sym typeface="Calibri"/>
            </a:endParaRPr>
          </a:p>
        </p:txBody>
      </p:sp>
      <p:sp>
        <p:nvSpPr>
          <p:cNvPr id="201" name="Google Shape;201;p21"/>
          <p:cNvSpPr/>
          <p:nvPr/>
        </p:nvSpPr>
        <p:spPr>
          <a:xfrm>
            <a:off x="365760" y="1920240"/>
            <a:ext cx="2697600" cy="29262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
          <p:cNvSpPr/>
          <p:nvPr/>
        </p:nvSpPr>
        <p:spPr>
          <a:xfrm>
            <a:off x="365760" y="1920240"/>
            <a:ext cx="2697600" cy="639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1481328" y="2084832"/>
            <a:ext cx="457200" cy="457200"/>
          </a:xfrm>
          <a:prstGeom prst="ellipse">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a:off x="1481328" y="20848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05" name="Google Shape;205;p21"/>
          <p:cNvSpPr/>
          <p:nvPr/>
        </p:nvSpPr>
        <p:spPr>
          <a:xfrm>
            <a:off x="502920" y="2633472"/>
            <a:ext cx="2469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u="none" cap="none" strike="noStrike">
                <a:solidFill>
                  <a:srgbClr val="FFFFFF"/>
                </a:solidFill>
                <a:latin typeface="Calibri"/>
                <a:ea typeface="Calibri"/>
                <a:cs typeface="Calibri"/>
                <a:sym typeface="Calibri"/>
              </a:rPr>
              <a:t>Nonlinear Boundary</a:t>
            </a:r>
            <a:endParaRPr b="0" i="0" u="none" cap="none" strike="noStrike">
              <a:solidFill>
                <a:schemeClr val="dk1"/>
              </a:solidFill>
              <a:latin typeface="Calibri"/>
              <a:ea typeface="Calibri"/>
              <a:cs typeface="Calibri"/>
              <a:sym typeface="Calibri"/>
            </a:endParaRPr>
          </a:p>
        </p:txBody>
      </p:sp>
      <p:sp>
        <p:nvSpPr>
          <p:cNvPr id="206" name="Google Shape;206;p21"/>
          <p:cNvSpPr/>
          <p:nvPr/>
        </p:nvSpPr>
        <p:spPr>
          <a:xfrm>
            <a:off x="914400" y="2944368"/>
            <a:ext cx="1600200" cy="273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
          <p:cNvSpPr/>
          <p:nvPr/>
        </p:nvSpPr>
        <p:spPr>
          <a:xfrm>
            <a:off x="502920" y="3035808"/>
            <a:ext cx="2469000" cy="162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F0F2"/>
              </a:buClr>
              <a:buSzPts val="1150"/>
              <a:buFont typeface="Calibri"/>
              <a:buNone/>
            </a:pPr>
            <a:r>
              <a:rPr b="0" i="0" lang="en" sz="1300" u="none" cap="none" strike="noStrike">
                <a:solidFill>
                  <a:srgbClr val="E8F0F2"/>
                </a:solidFill>
                <a:latin typeface="Calibri"/>
                <a:ea typeface="Calibri"/>
                <a:cs typeface="Calibri"/>
                <a:sym typeface="Calibri"/>
              </a:rPr>
              <a:t>The boundary between malignant and benign tumours may not be linear in the 30-dimensional feature space. Because the dual uses inner products, a kernel can be applied</a:t>
            </a:r>
            <a:r>
              <a:rPr lang="en" sz="1300">
                <a:solidFill>
                  <a:srgbClr val="E8F0F2"/>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08" name="Google Shape;208;p21"/>
          <p:cNvSpPr/>
          <p:nvPr/>
        </p:nvSpPr>
        <p:spPr>
          <a:xfrm>
            <a:off x="3218688" y="1920240"/>
            <a:ext cx="2697600" cy="29262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1"/>
          <p:cNvSpPr/>
          <p:nvPr/>
        </p:nvSpPr>
        <p:spPr>
          <a:xfrm>
            <a:off x="3218688" y="1920240"/>
            <a:ext cx="2697600" cy="6390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
          <p:cNvSpPr/>
          <p:nvPr/>
        </p:nvSpPr>
        <p:spPr>
          <a:xfrm>
            <a:off x="4334256" y="2084832"/>
            <a:ext cx="457200" cy="457200"/>
          </a:xfrm>
          <a:prstGeom prst="ellipse">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
          <p:cNvSpPr/>
          <p:nvPr/>
        </p:nvSpPr>
        <p:spPr>
          <a:xfrm>
            <a:off x="4334256" y="20848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12" name="Google Shape;212;p21"/>
          <p:cNvSpPr/>
          <p:nvPr/>
        </p:nvSpPr>
        <p:spPr>
          <a:xfrm>
            <a:off x="3355848" y="2633472"/>
            <a:ext cx="2469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u="none" cap="none" strike="noStrike">
                <a:solidFill>
                  <a:srgbClr val="FFFFFF"/>
                </a:solidFill>
                <a:latin typeface="Calibri"/>
                <a:ea typeface="Calibri"/>
                <a:cs typeface="Calibri"/>
                <a:sym typeface="Calibri"/>
              </a:rPr>
              <a:t>Support Vectors</a:t>
            </a:r>
            <a:endParaRPr b="0" i="0" u="none" cap="none" strike="noStrike">
              <a:solidFill>
                <a:schemeClr val="dk1"/>
              </a:solidFill>
              <a:latin typeface="Calibri"/>
              <a:ea typeface="Calibri"/>
              <a:cs typeface="Calibri"/>
              <a:sym typeface="Calibri"/>
            </a:endParaRPr>
          </a:p>
        </p:txBody>
      </p:sp>
      <p:sp>
        <p:nvSpPr>
          <p:cNvPr id="213" name="Google Shape;213;p21"/>
          <p:cNvSpPr/>
          <p:nvPr/>
        </p:nvSpPr>
        <p:spPr>
          <a:xfrm>
            <a:off x="3767328" y="2944368"/>
            <a:ext cx="1600200" cy="2730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p:nvPr/>
        </p:nvSpPr>
        <p:spPr>
          <a:xfrm>
            <a:off x="3355848" y="3035808"/>
            <a:ext cx="2469000" cy="162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F0F2"/>
              </a:buClr>
              <a:buSzPts val="1150"/>
              <a:buFont typeface="Calibri"/>
              <a:buNone/>
            </a:pPr>
            <a:r>
              <a:rPr b="0" i="0" lang="en" sz="1300" u="none" cap="none" strike="noStrike">
                <a:solidFill>
                  <a:srgbClr val="E8F0F2"/>
                </a:solidFill>
                <a:latin typeface="Calibri"/>
                <a:ea typeface="Calibri"/>
                <a:cs typeface="Calibri"/>
                <a:sym typeface="Calibri"/>
              </a:rPr>
              <a:t>After solving, only a handful of borderline tumour samples become support vectors. These are the hardest cases to classify and define the entire decision boundary.</a:t>
            </a:r>
            <a:endParaRPr b="0" i="0" sz="1300" u="none" cap="none" strike="noStrike">
              <a:solidFill>
                <a:schemeClr val="dk1"/>
              </a:solidFill>
              <a:latin typeface="Calibri"/>
              <a:ea typeface="Calibri"/>
              <a:cs typeface="Calibri"/>
              <a:sym typeface="Calibri"/>
            </a:endParaRPr>
          </a:p>
        </p:txBody>
      </p:sp>
      <p:sp>
        <p:nvSpPr>
          <p:cNvPr id="215" name="Google Shape;215;p21"/>
          <p:cNvSpPr/>
          <p:nvPr/>
        </p:nvSpPr>
        <p:spPr>
          <a:xfrm>
            <a:off x="6071616" y="1920240"/>
            <a:ext cx="2697600" cy="29262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1"/>
          <p:cNvSpPr/>
          <p:nvPr/>
        </p:nvSpPr>
        <p:spPr>
          <a:xfrm>
            <a:off x="6071616" y="1920240"/>
            <a:ext cx="2697600" cy="6390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
          <p:cNvSpPr/>
          <p:nvPr/>
        </p:nvSpPr>
        <p:spPr>
          <a:xfrm>
            <a:off x="7187184" y="2084832"/>
            <a:ext cx="457200" cy="457200"/>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
          <p:cNvSpPr/>
          <p:nvPr/>
        </p:nvSpPr>
        <p:spPr>
          <a:xfrm>
            <a:off x="7187184" y="20848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600"/>
              <a:buFont typeface="Calibri"/>
              <a:buNone/>
            </a:pPr>
            <a:r>
              <a:rPr b="1" i="0" lang="en" sz="1600" u="none" cap="none" strike="noStrike">
                <a:solidFill>
                  <a:srgbClr val="0D1B2A"/>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19" name="Google Shape;219;p21"/>
          <p:cNvSpPr/>
          <p:nvPr/>
        </p:nvSpPr>
        <p:spPr>
          <a:xfrm>
            <a:off x="6208776" y="2633472"/>
            <a:ext cx="2469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 u="none" cap="none" strike="noStrike">
                <a:solidFill>
                  <a:srgbClr val="FFFFFF"/>
                </a:solidFill>
                <a:latin typeface="Calibri"/>
                <a:ea typeface="Calibri"/>
                <a:cs typeface="Calibri"/>
                <a:sym typeface="Calibri"/>
              </a:rPr>
              <a:t>Role of C</a:t>
            </a:r>
            <a:endParaRPr b="0" i="0" u="none" cap="none" strike="noStrike">
              <a:solidFill>
                <a:schemeClr val="dk1"/>
              </a:solidFill>
              <a:latin typeface="Calibri"/>
              <a:ea typeface="Calibri"/>
              <a:cs typeface="Calibri"/>
              <a:sym typeface="Calibri"/>
            </a:endParaRPr>
          </a:p>
        </p:txBody>
      </p:sp>
      <p:sp>
        <p:nvSpPr>
          <p:cNvPr id="220" name="Google Shape;220;p21"/>
          <p:cNvSpPr/>
          <p:nvPr/>
        </p:nvSpPr>
        <p:spPr>
          <a:xfrm>
            <a:off x="6620256" y="2944368"/>
            <a:ext cx="1600200" cy="2730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
          <p:cNvSpPr/>
          <p:nvPr/>
        </p:nvSpPr>
        <p:spPr>
          <a:xfrm>
            <a:off x="6208776" y="3035808"/>
            <a:ext cx="2469000" cy="1627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F0F2"/>
              </a:buClr>
              <a:buSzPts val="1150"/>
              <a:buFont typeface="Calibri"/>
              <a:buNone/>
            </a:pPr>
            <a:r>
              <a:rPr b="0" i="0" lang="en" sz="1300" u="none" cap="none" strike="noStrike">
                <a:solidFill>
                  <a:srgbClr val="E8F0F2"/>
                </a:solidFill>
                <a:latin typeface="Calibri"/>
                <a:ea typeface="Calibri"/>
                <a:cs typeface="Calibri"/>
                <a:sym typeface="Calibri"/>
              </a:rPr>
              <a:t>C directly controls how aggressively the model classifies every training tumour. In a medical context this has real clinical implications</a:t>
            </a:r>
            <a:r>
              <a:rPr lang="en" sz="1300">
                <a:solidFill>
                  <a:srgbClr val="E8F0F2"/>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26" name="Shape 226"/>
        <p:cNvGrpSpPr/>
        <p:nvPr/>
      </p:nvGrpSpPr>
      <p:grpSpPr>
        <a:xfrm>
          <a:off x="0" y="0"/>
          <a:ext cx="0" cy="0"/>
          <a:chOff x="0" y="0"/>
          <a:chExt cx="0" cy="0"/>
        </a:xfrm>
      </p:grpSpPr>
      <p:sp>
        <p:nvSpPr>
          <p:cNvPr id="227" name="Google Shape;227;p22"/>
          <p:cNvSpPr/>
          <p:nvPr/>
        </p:nvSpPr>
        <p:spPr>
          <a:xfrm>
            <a:off x="0" y="0"/>
            <a:ext cx="9144000" cy="164592"/>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
          <p:cNvSpPr/>
          <p:nvPr/>
        </p:nvSpPr>
        <p:spPr>
          <a:xfrm>
            <a:off x="0" y="4978908"/>
            <a:ext cx="9144000" cy="164592"/>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2"/>
          <p:cNvSpPr/>
          <p:nvPr/>
        </p:nvSpPr>
        <p:spPr>
          <a:xfrm>
            <a:off x="457200" y="548640"/>
            <a:ext cx="164592" cy="164592"/>
          </a:xfrm>
          <a:prstGeom prst="ellipse">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777240" y="411480"/>
            <a:ext cx="109728" cy="109728"/>
          </a:xfrm>
          <a:prstGeom prst="ellipse">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8229600" y="548640"/>
            <a:ext cx="164592" cy="164592"/>
          </a:xfrm>
          <a:prstGeom prst="ellipse">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8549640" y="411480"/>
            <a:ext cx="109728" cy="109728"/>
          </a:xfrm>
          <a:prstGeom prst="ellipse">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914400" y="960120"/>
            <a:ext cx="73152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6400"/>
              <a:buFont typeface="Georgia"/>
              <a:buNone/>
            </a:pPr>
            <a:r>
              <a:rPr b="1" i="0" lang="en" sz="6400" u="none" cap="none" strike="noStrike">
                <a:solidFill>
                  <a:srgbClr val="FFFFFF"/>
                </a:solidFill>
                <a:latin typeface="Georgia"/>
                <a:ea typeface="Georgia"/>
                <a:cs typeface="Georgia"/>
                <a:sym typeface="Georgia"/>
              </a:rPr>
              <a:t>Thank You</a:t>
            </a:r>
            <a:endParaRPr b="0" i="0" sz="6400" u="none" cap="none" strike="noStrike">
              <a:solidFill>
                <a:schemeClr val="dk1"/>
              </a:solidFill>
              <a:latin typeface="Calibri"/>
              <a:ea typeface="Calibri"/>
              <a:cs typeface="Calibri"/>
              <a:sym typeface="Calibri"/>
            </a:endParaRPr>
          </a:p>
        </p:txBody>
      </p:sp>
      <p:sp>
        <p:nvSpPr>
          <p:cNvPr id="234" name="Google Shape;234;p22"/>
          <p:cNvSpPr/>
          <p:nvPr/>
        </p:nvSpPr>
        <p:spPr>
          <a:xfrm>
            <a:off x="3200400" y="2423160"/>
            <a:ext cx="2743200" cy="4572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914400" y="2578608"/>
            <a:ext cx="7315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2CB"/>
              </a:buClr>
              <a:buSzPts val="2600"/>
              <a:buFont typeface="Georgia"/>
              <a:buNone/>
            </a:pPr>
            <a:r>
              <a:rPr b="0" i="1" lang="en" sz="2600" u="none" cap="none" strike="noStrike">
                <a:solidFill>
                  <a:srgbClr val="00C2CB"/>
                </a:solidFill>
                <a:latin typeface="Georgia"/>
                <a:ea typeface="Georgia"/>
                <a:cs typeface="Georgia"/>
                <a:sym typeface="Georgia"/>
              </a:rPr>
              <a:t>Any questions?</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40" name="Shape 240"/>
        <p:cNvGrpSpPr/>
        <p:nvPr/>
      </p:nvGrpSpPr>
      <p:grpSpPr>
        <a:xfrm>
          <a:off x="0" y="0"/>
          <a:ext cx="0" cy="0"/>
          <a:chOff x="0" y="0"/>
          <a:chExt cx="0" cy="0"/>
        </a:xfrm>
      </p:grpSpPr>
      <p:sp>
        <p:nvSpPr>
          <p:cNvPr id="241" name="Google Shape;241;p23"/>
          <p:cNvSpPr/>
          <p:nvPr/>
        </p:nvSpPr>
        <p:spPr>
          <a:xfrm>
            <a:off x="0" y="0"/>
            <a:ext cx="164700" cy="51435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a:off x="365760" y="109728"/>
            <a:ext cx="59436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Georgia"/>
              <a:buNone/>
            </a:pPr>
            <a:r>
              <a:rPr b="1" i="0" lang="en" sz="2600" u="none" cap="none" strike="noStrike">
                <a:solidFill>
                  <a:srgbClr val="FFFFFF"/>
                </a:solidFill>
                <a:latin typeface="Georgia"/>
                <a:ea typeface="Georgia"/>
                <a:cs typeface="Georgia"/>
                <a:sym typeface="Georgia"/>
              </a:rPr>
              <a:t>Variable Reference</a:t>
            </a:r>
            <a:endParaRPr b="0" i="0" sz="2600" u="none" cap="none" strike="noStrike">
              <a:solidFill>
                <a:schemeClr val="dk1"/>
              </a:solidFill>
              <a:latin typeface="Calibri"/>
              <a:ea typeface="Calibri"/>
              <a:cs typeface="Calibri"/>
              <a:sym typeface="Calibri"/>
            </a:endParaRPr>
          </a:p>
        </p:txBody>
      </p:sp>
      <p:sp>
        <p:nvSpPr>
          <p:cNvPr id="243" name="Google Shape;243;p23"/>
          <p:cNvSpPr/>
          <p:nvPr/>
        </p:nvSpPr>
        <p:spPr>
          <a:xfrm>
            <a:off x="256032" y="804672"/>
            <a:ext cx="4160400" cy="30174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
          <p:cNvSpPr/>
          <p:nvPr/>
        </p:nvSpPr>
        <p:spPr>
          <a:xfrm>
            <a:off x="256032" y="804672"/>
            <a:ext cx="63900" cy="30174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3"/>
          <p:cNvSpPr/>
          <p:nvPr/>
        </p:nvSpPr>
        <p:spPr>
          <a:xfrm>
            <a:off x="365760" y="859536"/>
            <a:ext cx="40233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950"/>
              <a:buFont typeface="Calibri"/>
              <a:buNone/>
            </a:pPr>
            <a:r>
              <a:rPr b="1" i="0" lang="en" sz="950" u="none" cap="none" strike="noStrike">
                <a:solidFill>
                  <a:srgbClr val="00C2CB"/>
                </a:solidFill>
                <a:latin typeface="Calibri"/>
                <a:ea typeface="Calibri"/>
                <a:cs typeface="Calibri"/>
                <a:sym typeface="Calibri"/>
              </a:rPr>
              <a:t>Lagrangian</a:t>
            </a:r>
            <a:endParaRPr b="0" i="0" sz="950" u="none" cap="none" strike="noStrike">
              <a:solidFill>
                <a:schemeClr val="dk1"/>
              </a:solidFill>
              <a:latin typeface="Calibri"/>
              <a:ea typeface="Calibri"/>
              <a:cs typeface="Calibri"/>
              <a:sym typeface="Calibri"/>
            </a:endParaRPr>
          </a:p>
        </p:txBody>
      </p:sp>
      <p:sp>
        <p:nvSpPr>
          <p:cNvPr id="246" name="Google Shape;246;p23"/>
          <p:cNvSpPr/>
          <p:nvPr/>
        </p:nvSpPr>
        <p:spPr>
          <a:xfrm>
            <a:off x="365760" y="1042416"/>
            <a:ext cx="4023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L(w,b,α) = ½‖w‖² − Σᵢ αᵢ[yᵢ(wᵀxᵢ+b)−1]</a:t>
            </a:r>
            <a:endParaRPr b="0" i="0" sz="850" u="none" cap="none" strike="noStrike">
              <a:solidFill>
                <a:schemeClr val="dk1"/>
              </a:solidFill>
              <a:latin typeface="Calibri"/>
              <a:ea typeface="Calibri"/>
              <a:cs typeface="Calibri"/>
              <a:sym typeface="Calibri"/>
            </a:endParaRPr>
          </a:p>
        </p:txBody>
      </p:sp>
      <p:sp>
        <p:nvSpPr>
          <p:cNvPr id="247" name="Google Shape;247;p23"/>
          <p:cNvSpPr/>
          <p:nvPr/>
        </p:nvSpPr>
        <p:spPr>
          <a:xfrm>
            <a:off x="365760" y="1261872"/>
            <a:ext cx="3977700" cy="138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
          <p:cNvSpPr/>
          <p:nvPr/>
        </p:nvSpPr>
        <p:spPr>
          <a:xfrm>
            <a:off x="365760" y="1280160"/>
            <a:ext cx="39777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3"/>
          <p:cNvSpPr/>
          <p:nvPr/>
        </p:nvSpPr>
        <p:spPr>
          <a:xfrm>
            <a:off x="393192" y="1307592"/>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½‖w‖²</a:t>
            </a:r>
            <a:endParaRPr b="0" i="0" sz="850" u="none" cap="none" strike="noStrike">
              <a:solidFill>
                <a:schemeClr val="dk1"/>
              </a:solidFill>
              <a:latin typeface="Calibri"/>
              <a:ea typeface="Calibri"/>
              <a:cs typeface="Calibri"/>
              <a:sym typeface="Calibri"/>
            </a:endParaRPr>
          </a:p>
        </p:txBody>
      </p:sp>
      <p:sp>
        <p:nvSpPr>
          <p:cNvPr id="250" name="Google Shape;250;p23"/>
          <p:cNvSpPr/>
          <p:nvPr/>
        </p:nvSpPr>
        <p:spPr>
          <a:xfrm>
            <a:off x="1399032" y="1307592"/>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Objective — minimize to maximize margin</a:t>
            </a:r>
            <a:endParaRPr b="0" i="0" sz="850" u="none" cap="none" strike="noStrike">
              <a:solidFill>
                <a:schemeClr val="dk1"/>
              </a:solidFill>
              <a:latin typeface="Calibri"/>
              <a:ea typeface="Calibri"/>
              <a:cs typeface="Calibri"/>
              <a:sym typeface="Calibri"/>
            </a:endParaRPr>
          </a:p>
        </p:txBody>
      </p:sp>
      <p:sp>
        <p:nvSpPr>
          <p:cNvPr id="251" name="Google Shape;251;p23"/>
          <p:cNvSpPr/>
          <p:nvPr/>
        </p:nvSpPr>
        <p:spPr>
          <a:xfrm>
            <a:off x="365760" y="1527048"/>
            <a:ext cx="39777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3"/>
          <p:cNvSpPr/>
          <p:nvPr/>
        </p:nvSpPr>
        <p:spPr>
          <a:xfrm>
            <a:off x="393192" y="1554480"/>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‖w‖</a:t>
            </a:r>
            <a:endParaRPr b="0" i="0" sz="850" u="none" cap="none" strike="noStrike">
              <a:solidFill>
                <a:schemeClr val="dk1"/>
              </a:solidFill>
              <a:latin typeface="Calibri"/>
              <a:ea typeface="Calibri"/>
              <a:cs typeface="Calibri"/>
              <a:sym typeface="Calibri"/>
            </a:endParaRPr>
          </a:p>
        </p:txBody>
      </p:sp>
      <p:sp>
        <p:nvSpPr>
          <p:cNvPr id="253" name="Google Shape;253;p23"/>
          <p:cNvSpPr/>
          <p:nvPr/>
        </p:nvSpPr>
        <p:spPr>
          <a:xfrm>
            <a:off x="1399032" y="1554480"/>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Length of the weight vector w</a:t>
            </a:r>
            <a:endParaRPr b="0" i="0" sz="850" u="none" cap="none" strike="noStrike">
              <a:solidFill>
                <a:schemeClr val="dk1"/>
              </a:solidFill>
              <a:latin typeface="Calibri"/>
              <a:ea typeface="Calibri"/>
              <a:cs typeface="Calibri"/>
              <a:sym typeface="Calibri"/>
            </a:endParaRPr>
          </a:p>
        </p:txBody>
      </p:sp>
      <p:sp>
        <p:nvSpPr>
          <p:cNvPr id="254" name="Google Shape;254;p23"/>
          <p:cNvSpPr/>
          <p:nvPr/>
        </p:nvSpPr>
        <p:spPr>
          <a:xfrm>
            <a:off x="365760" y="1773936"/>
            <a:ext cx="39777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a:off x="393192" y="1801368"/>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w</a:t>
            </a:r>
            <a:endParaRPr b="0" i="0" sz="850" u="none" cap="none" strike="noStrike">
              <a:solidFill>
                <a:schemeClr val="dk1"/>
              </a:solidFill>
              <a:latin typeface="Calibri"/>
              <a:ea typeface="Calibri"/>
              <a:cs typeface="Calibri"/>
              <a:sym typeface="Calibri"/>
            </a:endParaRPr>
          </a:p>
        </p:txBody>
      </p:sp>
      <p:sp>
        <p:nvSpPr>
          <p:cNvPr id="256" name="Google Shape;256;p23"/>
          <p:cNvSpPr/>
          <p:nvPr/>
        </p:nvSpPr>
        <p:spPr>
          <a:xfrm>
            <a:off x="1399032" y="1801368"/>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Weight vector — orientation of boundary</a:t>
            </a:r>
            <a:endParaRPr b="0" i="0" sz="850" u="none" cap="none" strike="noStrike">
              <a:solidFill>
                <a:schemeClr val="dk1"/>
              </a:solidFill>
              <a:latin typeface="Calibri"/>
              <a:ea typeface="Calibri"/>
              <a:cs typeface="Calibri"/>
              <a:sym typeface="Calibri"/>
            </a:endParaRPr>
          </a:p>
        </p:txBody>
      </p:sp>
      <p:sp>
        <p:nvSpPr>
          <p:cNvPr id="257" name="Google Shape;257;p23"/>
          <p:cNvSpPr/>
          <p:nvPr/>
        </p:nvSpPr>
        <p:spPr>
          <a:xfrm>
            <a:off x="365760" y="2020824"/>
            <a:ext cx="39777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3"/>
          <p:cNvSpPr/>
          <p:nvPr/>
        </p:nvSpPr>
        <p:spPr>
          <a:xfrm>
            <a:off x="393192" y="2048256"/>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b</a:t>
            </a:r>
            <a:endParaRPr b="0" i="0" sz="850" u="none" cap="none" strike="noStrike">
              <a:solidFill>
                <a:schemeClr val="dk1"/>
              </a:solidFill>
              <a:latin typeface="Calibri"/>
              <a:ea typeface="Calibri"/>
              <a:cs typeface="Calibri"/>
              <a:sym typeface="Calibri"/>
            </a:endParaRPr>
          </a:p>
        </p:txBody>
      </p:sp>
      <p:sp>
        <p:nvSpPr>
          <p:cNvPr id="259" name="Google Shape;259;p23"/>
          <p:cNvSpPr/>
          <p:nvPr/>
        </p:nvSpPr>
        <p:spPr>
          <a:xfrm>
            <a:off x="1399032" y="2048256"/>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Bias — where the boundary sits</a:t>
            </a:r>
            <a:endParaRPr b="0" i="0" sz="850" u="none" cap="none" strike="noStrike">
              <a:solidFill>
                <a:schemeClr val="dk1"/>
              </a:solidFill>
              <a:latin typeface="Calibri"/>
              <a:ea typeface="Calibri"/>
              <a:cs typeface="Calibri"/>
              <a:sym typeface="Calibri"/>
            </a:endParaRPr>
          </a:p>
        </p:txBody>
      </p:sp>
      <p:sp>
        <p:nvSpPr>
          <p:cNvPr id="260" name="Google Shape;260;p23"/>
          <p:cNvSpPr/>
          <p:nvPr/>
        </p:nvSpPr>
        <p:spPr>
          <a:xfrm>
            <a:off x="365760" y="2267712"/>
            <a:ext cx="39777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a:off x="393192" y="2295144"/>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Σᵢ</a:t>
            </a:r>
            <a:endParaRPr b="0" i="0" sz="850" u="none" cap="none" strike="noStrike">
              <a:solidFill>
                <a:schemeClr val="dk1"/>
              </a:solidFill>
              <a:latin typeface="Calibri"/>
              <a:ea typeface="Calibri"/>
              <a:cs typeface="Calibri"/>
              <a:sym typeface="Calibri"/>
            </a:endParaRPr>
          </a:p>
        </p:txBody>
      </p:sp>
      <p:sp>
        <p:nvSpPr>
          <p:cNvPr id="262" name="Google Shape;262;p23"/>
          <p:cNvSpPr/>
          <p:nvPr/>
        </p:nvSpPr>
        <p:spPr>
          <a:xfrm>
            <a:off x="1399032" y="2295144"/>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Sum over all n training points</a:t>
            </a:r>
            <a:endParaRPr b="0" i="0" sz="850" u="none" cap="none" strike="noStrike">
              <a:solidFill>
                <a:schemeClr val="dk1"/>
              </a:solidFill>
              <a:latin typeface="Calibri"/>
              <a:ea typeface="Calibri"/>
              <a:cs typeface="Calibri"/>
              <a:sym typeface="Calibri"/>
            </a:endParaRPr>
          </a:p>
        </p:txBody>
      </p:sp>
      <p:sp>
        <p:nvSpPr>
          <p:cNvPr id="263" name="Google Shape;263;p23"/>
          <p:cNvSpPr/>
          <p:nvPr/>
        </p:nvSpPr>
        <p:spPr>
          <a:xfrm>
            <a:off x="365760" y="2514600"/>
            <a:ext cx="39777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
          <p:cNvSpPr/>
          <p:nvPr/>
        </p:nvSpPr>
        <p:spPr>
          <a:xfrm>
            <a:off x="393192" y="2542032"/>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αᵢ</a:t>
            </a:r>
            <a:endParaRPr b="0" i="0" sz="850" u="none" cap="none" strike="noStrike">
              <a:solidFill>
                <a:schemeClr val="dk1"/>
              </a:solidFill>
              <a:latin typeface="Calibri"/>
              <a:ea typeface="Calibri"/>
              <a:cs typeface="Calibri"/>
              <a:sym typeface="Calibri"/>
            </a:endParaRPr>
          </a:p>
        </p:txBody>
      </p:sp>
      <p:sp>
        <p:nvSpPr>
          <p:cNvPr id="265" name="Google Shape;265;p23"/>
          <p:cNvSpPr/>
          <p:nvPr/>
        </p:nvSpPr>
        <p:spPr>
          <a:xfrm>
            <a:off x="1399032" y="2542032"/>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Lagrange multiplier — influence of point i</a:t>
            </a:r>
            <a:endParaRPr b="0" i="0" sz="850" u="none" cap="none" strike="noStrike">
              <a:solidFill>
                <a:schemeClr val="dk1"/>
              </a:solidFill>
              <a:latin typeface="Calibri"/>
              <a:ea typeface="Calibri"/>
              <a:cs typeface="Calibri"/>
              <a:sym typeface="Calibri"/>
            </a:endParaRPr>
          </a:p>
        </p:txBody>
      </p:sp>
      <p:sp>
        <p:nvSpPr>
          <p:cNvPr id="266" name="Google Shape;266;p23"/>
          <p:cNvSpPr/>
          <p:nvPr/>
        </p:nvSpPr>
        <p:spPr>
          <a:xfrm>
            <a:off x="365760" y="2761488"/>
            <a:ext cx="39777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p:nvPr/>
        </p:nvSpPr>
        <p:spPr>
          <a:xfrm>
            <a:off x="393192" y="2788920"/>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yᵢ</a:t>
            </a:r>
            <a:endParaRPr b="0" i="0" sz="850" u="none" cap="none" strike="noStrike">
              <a:solidFill>
                <a:schemeClr val="dk1"/>
              </a:solidFill>
              <a:latin typeface="Calibri"/>
              <a:ea typeface="Calibri"/>
              <a:cs typeface="Calibri"/>
              <a:sym typeface="Calibri"/>
            </a:endParaRPr>
          </a:p>
        </p:txBody>
      </p:sp>
      <p:sp>
        <p:nvSpPr>
          <p:cNvPr id="268" name="Google Shape;268;p23"/>
          <p:cNvSpPr/>
          <p:nvPr/>
        </p:nvSpPr>
        <p:spPr>
          <a:xfrm>
            <a:off x="1399032" y="2788920"/>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Label: +1 malignant, -1 benign</a:t>
            </a:r>
            <a:endParaRPr b="0" i="0" sz="850" u="none" cap="none" strike="noStrike">
              <a:solidFill>
                <a:schemeClr val="dk1"/>
              </a:solidFill>
              <a:latin typeface="Calibri"/>
              <a:ea typeface="Calibri"/>
              <a:cs typeface="Calibri"/>
              <a:sym typeface="Calibri"/>
            </a:endParaRPr>
          </a:p>
        </p:txBody>
      </p:sp>
      <p:sp>
        <p:nvSpPr>
          <p:cNvPr id="269" name="Google Shape;269;p23"/>
          <p:cNvSpPr/>
          <p:nvPr/>
        </p:nvSpPr>
        <p:spPr>
          <a:xfrm>
            <a:off x="365760" y="3008376"/>
            <a:ext cx="39777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a:off x="393192" y="3035808"/>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xᵢ</a:t>
            </a:r>
            <a:endParaRPr b="0" i="0" sz="850" u="none" cap="none" strike="noStrike">
              <a:solidFill>
                <a:schemeClr val="dk1"/>
              </a:solidFill>
              <a:latin typeface="Calibri"/>
              <a:ea typeface="Calibri"/>
              <a:cs typeface="Calibri"/>
              <a:sym typeface="Calibri"/>
            </a:endParaRPr>
          </a:p>
        </p:txBody>
      </p:sp>
      <p:sp>
        <p:nvSpPr>
          <p:cNvPr id="271" name="Google Shape;271;p23"/>
          <p:cNvSpPr/>
          <p:nvPr/>
        </p:nvSpPr>
        <p:spPr>
          <a:xfrm>
            <a:off x="1399032" y="3035808"/>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Training point i — vector of 30 features</a:t>
            </a:r>
            <a:endParaRPr b="0" i="0" sz="850" u="none" cap="none" strike="noStrike">
              <a:solidFill>
                <a:schemeClr val="dk1"/>
              </a:solidFill>
              <a:latin typeface="Calibri"/>
              <a:ea typeface="Calibri"/>
              <a:cs typeface="Calibri"/>
              <a:sym typeface="Calibri"/>
            </a:endParaRPr>
          </a:p>
        </p:txBody>
      </p:sp>
      <p:sp>
        <p:nvSpPr>
          <p:cNvPr id="272" name="Google Shape;272;p23"/>
          <p:cNvSpPr/>
          <p:nvPr/>
        </p:nvSpPr>
        <p:spPr>
          <a:xfrm>
            <a:off x="365760" y="3255264"/>
            <a:ext cx="39777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393192" y="3282696"/>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wᵀxᵢ + b</a:t>
            </a:r>
            <a:endParaRPr b="0" i="0" sz="850" u="none" cap="none" strike="noStrike">
              <a:solidFill>
                <a:schemeClr val="dk1"/>
              </a:solidFill>
              <a:latin typeface="Calibri"/>
              <a:ea typeface="Calibri"/>
              <a:cs typeface="Calibri"/>
              <a:sym typeface="Calibri"/>
            </a:endParaRPr>
          </a:p>
        </p:txBody>
      </p:sp>
      <p:sp>
        <p:nvSpPr>
          <p:cNvPr id="274" name="Google Shape;274;p23"/>
          <p:cNvSpPr/>
          <p:nvPr/>
        </p:nvSpPr>
        <p:spPr>
          <a:xfrm>
            <a:off x="1399032" y="3282696"/>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Score for point i — which side of boundary</a:t>
            </a:r>
            <a:endParaRPr b="0" i="0" sz="850" u="none" cap="none" strike="noStrike">
              <a:solidFill>
                <a:schemeClr val="dk1"/>
              </a:solidFill>
              <a:latin typeface="Calibri"/>
              <a:ea typeface="Calibri"/>
              <a:cs typeface="Calibri"/>
              <a:sym typeface="Calibri"/>
            </a:endParaRPr>
          </a:p>
        </p:txBody>
      </p:sp>
      <p:sp>
        <p:nvSpPr>
          <p:cNvPr id="275" name="Google Shape;275;p23"/>
          <p:cNvSpPr/>
          <p:nvPr/>
        </p:nvSpPr>
        <p:spPr>
          <a:xfrm>
            <a:off x="365760" y="3502152"/>
            <a:ext cx="39777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
          <p:cNvSpPr/>
          <p:nvPr/>
        </p:nvSpPr>
        <p:spPr>
          <a:xfrm>
            <a:off x="393192" y="3529584"/>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yᵢ(wᵀxᵢ+b)−1</a:t>
            </a:r>
            <a:endParaRPr b="0" i="0" sz="850" u="none" cap="none" strike="noStrike">
              <a:solidFill>
                <a:schemeClr val="dk1"/>
              </a:solidFill>
              <a:latin typeface="Calibri"/>
              <a:ea typeface="Calibri"/>
              <a:cs typeface="Calibri"/>
              <a:sym typeface="Calibri"/>
            </a:endParaRPr>
          </a:p>
        </p:txBody>
      </p:sp>
      <p:sp>
        <p:nvSpPr>
          <p:cNvPr id="277" name="Google Shape;277;p23"/>
          <p:cNvSpPr/>
          <p:nvPr/>
        </p:nvSpPr>
        <p:spPr>
          <a:xfrm>
            <a:off x="1399032" y="3529584"/>
            <a:ext cx="2834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Constraint rearranged to equal zero at margin</a:t>
            </a:r>
            <a:endParaRPr b="0" i="0" sz="850" u="none" cap="none" strike="noStrike">
              <a:solidFill>
                <a:schemeClr val="dk1"/>
              </a:solidFill>
              <a:latin typeface="Calibri"/>
              <a:ea typeface="Calibri"/>
              <a:cs typeface="Calibri"/>
              <a:sym typeface="Calibri"/>
            </a:endParaRPr>
          </a:p>
        </p:txBody>
      </p:sp>
      <p:sp>
        <p:nvSpPr>
          <p:cNvPr id="278" name="Google Shape;278;p23"/>
          <p:cNvSpPr/>
          <p:nvPr/>
        </p:nvSpPr>
        <p:spPr>
          <a:xfrm>
            <a:off x="4617720" y="804672"/>
            <a:ext cx="4206300" cy="17832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4617720" y="804672"/>
            <a:ext cx="63900" cy="1783200"/>
          </a:xfrm>
          <a:prstGeom prst="rect">
            <a:avLst/>
          </a:prstGeom>
          <a:solidFill>
            <a:srgbClr val="F4C430"/>
          </a:solidFill>
          <a:ln cap="flat" cmpd="sng" w="12700">
            <a:solidFill>
              <a:srgbClr val="F4C4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4727448" y="859536"/>
            <a:ext cx="4069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950"/>
              <a:buFont typeface="Calibri"/>
              <a:buNone/>
            </a:pPr>
            <a:r>
              <a:rPr b="1" i="0" lang="en" sz="950" u="none" cap="none" strike="noStrike">
                <a:solidFill>
                  <a:srgbClr val="F4C430"/>
                </a:solidFill>
                <a:latin typeface="Calibri"/>
                <a:ea typeface="Calibri"/>
                <a:cs typeface="Calibri"/>
                <a:sym typeface="Calibri"/>
              </a:rPr>
              <a:t>KKT Stationarity Conditions</a:t>
            </a:r>
            <a:endParaRPr b="0" i="0" sz="950" u="none" cap="none" strike="noStrike">
              <a:solidFill>
                <a:schemeClr val="dk1"/>
              </a:solidFill>
              <a:latin typeface="Calibri"/>
              <a:ea typeface="Calibri"/>
              <a:cs typeface="Calibri"/>
              <a:sym typeface="Calibri"/>
            </a:endParaRPr>
          </a:p>
        </p:txBody>
      </p:sp>
      <p:sp>
        <p:nvSpPr>
          <p:cNvPr id="281" name="Google Shape;281;p23"/>
          <p:cNvSpPr/>
          <p:nvPr/>
        </p:nvSpPr>
        <p:spPr>
          <a:xfrm>
            <a:off x="4727448" y="1042416"/>
            <a:ext cx="4069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w = Σᵢ αᵢ yᵢ xᵢ          Σᵢ αᵢ yᵢ = 0</a:t>
            </a:r>
            <a:endParaRPr b="0" i="0" sz="850" u="none" cap="none" strike="noStrike">
              <a:solidFill>
                <a:schemeClr val="dk1"/>
              </a:solidFill>
              <a:latin typeface="Calibri"/>
              <a:ea typeface="Calibri"/>
              <a:cs typeface="Calibri"/>
              <a:sym typeface="Calibri"/>
            </a:endParaRPr>
          </a:p>
        </p:txBody>
      </p:sp>
      <p:sp>
        <p:nvSpPr>
          <p:cNvPr id="282" name="Google Shape;282;p23"/>
          <p:cNvSpPr/>
          <p:nvPr/>
        </p:nvSpPr>
        <p:spPr>
          <a:xfrm>
            <a:off x="4727448" y="1261872"/>
            <a:ext cx="4023300" cy="138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
          <p:cNvSpPr/>
          <p:nvPr/>
        </p:nvSpPr>
        <p:spPr>
          <a:xfrm>
            <a:off x="4727448" y="1280160"/>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3"/>
          <p:cNvSpPr/>
          <p:nvPr/>
        </p:nvSpPr>
        <p:spPr>
          <a:xfrm>
            <a:off x="4754880" y="1307592"/>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850"/>
              <a:buFont typeface="Courier New"/>
              <a:buNone/>
            </a:pPr>
            <a:r>
              <a:rPr b="1" i="0" lang="en" sz="850" u="none" cap="none" strike="noStrike">
                <a:solidFill>
                  <a:srgbClr val="F4C430"/>
                </a:solidFill>
                <a:latin typeface="Courier New"/>
                <a:ea typeface="Courier New"/>
                <a:cs typeface="Courier New"/>
                <a:sym typeface="Courier New"/>
              </a:rPr>
              <a:t>w</a:t>
            </a:r>
            <a:endParaRPr b="0" i="0" sz="850" u="none" cap="none" strike="noStrike">
              <a:solidFill>
                <a:schemeClr val="dk1"/>
              </a:solidFill>
              <a:latin typeface="Calibri"/>
              <a:ea typeface="Calibri"/>
              <a:cs typeface="Calibri"/>
              <a:sym typeface="Calibri"/>
            </a:endParaRPr>
          </a:p>
        </p:txBody>
      </p:sp>
      <p:sp>
        <p:nvSpPr>
          <p:cNvPr id="285" name="Google Shape;285;p23"/>
          <p:cNvSpPr/>
          <p:nvPr/>
        </p:nvSpPr>
        <p:spPr>
          <a:xfrm>
            <a:off x="5760720" y="1307592"/>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Built entirely from support vectors</a:t>
            </a:r>
            <a:endParaRPr b="0" i="0" sz="850" u="none" cap="none" strike="noStrike">
              <a:solidFill>
                <a:schemeClr val="dk1"/>
              </a:solidFill>
              <a:latin typeface="Calibri"/>
              <a:ea typeface="Calibri"/>
              <a:cs typeface="Calibri"/>
              <a:sym typeface="Calibri"/>
            </a:endParaRPr>
          </a:p>
        </p:txBody>
      </p:sp>
      <p:sp>
        <p:nvSpPr>
          <p:cNvPr id="286" name="Google Shape;286;p23"/>
          <p:cNvSpPr/>
          <p:nvPr/>
        </p:nvSpPr>
        <p:spPr>
          <a:xfrm>
            <a:off x="4727448" y="1527048"/>
            <a:ext cx="40233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4754880" y="1554480"/>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850"/>
              <a:buFont typeface="Courier New"/>
              <a:buNone/>
            </a:pPr>
            <a:r>
              <a:rPr b="1" i="0" lang="en" sz="850" u="none" cap="none" strike="noStrike">
                <a:solidFill>
                  <a:srgbClr val="F4C430"/>
                </a:solidFill>
                <a:latin typeface="Courier New"/>
                <a:ea typeface="Courier New"/>
                <a:cs typeface="Courier New"/>
                <a:sym typeface="Courier New"/>
              </a:rPr>
              <a:t>αᵢ</a:t>
            </a:r>
            <a:endParaRPr b="0" i="0" sz="850" u="none" cap="none" strike="noStrike">
              <a:solidFill>
                <a:schemeClr val="dk1"/>
              </a:solidFill>
              <a:latin typeface="Calibri"/>
              <a:ea typeface="Calibri"/>
              <a:cs typeface="Calibri"/>
              <a:sym typeface="Calibri"/>
            </a:endParaRPr>
          </a:p>
        </p:txBody>
      </p:sp>
      <p:sp>
        <p:nvSpPr>
          <p:cNvPr id="288" name="Google Shape;288;p23"/>
          <p:cNvSpPr/>
          <p:nvPr/>
        </p:nvSpPr>
        <p:spPr>
          <a:xfrm>
            <a:off x="5760720" y="1554480"/>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Multiplier — zero if not a support vector</a:t>
            </a:r>
            <a:endParaRPr b="0" i="0" sz="850" u="none" cap="none" strike="noStrike">
              <a:solidFill>
                <a:schemeClr val="dk1"/>
              </a:solidFill>
              <a:latin typeface="Calibri"/>
              <a:ea typeface="Calibri"/>
              <a:cs typeface="Calibri"/>
              <a:sym typeface="Calibri"/>
            </a:endParaRPr>
          </a:p>
        </p:txBody>
      </p:sp>
      <p:sp>
        <p:nvSpPr>
          <p:cNvPr id="289" name="Google Shape;289;p23"/>
          <p:cNvSpPr/>
          <p:nvPr/>
        </p:nvSpPr>
        <p:spPr>
          <a:xfrm>
            <a:off x="4727448" y="1773936"/>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3"/>
          <p:cNvSpPr/>
          <p:nvPr/>
        </p:nvSpPr>
        <p:spPr>
          <a:xfrm>
            <a:off x="4754880" y="1801368"/>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850"/>
              <a:buFont typeface="Courier New"/>
              <a:buNone/>
            </a:pPr>
            <a:r>
              <a:rPr b="1" i="0" lang="en" sz="850" u="none" cap="none" strike="noStrike">
                <a:solidFill>
                  <a:srgbClr val="F4C430"/>
                </a:solidFill>
                <a:latin typeface="Courier New"/>
                <a:ea typeface="Courier New"/>
                <a:cs typeface="Courier New"/>
                <a:sym typeface="Courier New"/>
              </a:rPr>
              <a:t>yᵢ</a:t>
            </a:r>
            <a:endParaRPr b="0" i="0" sz="850" u="none" cap="none" strike="noStrike">
              <a:solidFill>
                <a:schemeClr val="dk1"/>
              </a:solidFill>
              <a:latin typeface="Calibri"/>
              <a:ea typeface="Calibri"/>
              <a:cs typeface="Calibri"/>
              <a:sym typeface="Calibri"/>
            </a:endParaRPr>
          </a:p>
        </p:txBody>
      </p:sp>
      <p:sp>
        <p:nvSpPr>
          <p:cNvPr id="291" name="Google Shape;291;p23"/>
          <p:cNvSpPr/>
          <p:nvPr/>
        </p:nvSpPr>
        <p:spPr>
          <a:xfrm>
            <a:off x="5760720" y="1801368"/>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Label — determines direction of pull</a:t>
            </a:r>
            <a:endParaRPr b="0" i="0" sz="850" u="none" cap="none" strike="noStrike">
              <a:solidFill>
                <a:schemeClr val="dk1"/>
              </a:solidFill>
              <a:latin typeface="Calibri"/>
              <a:ea typeface="Calibri"/>
              <a:cs typeface="Calibri"/>
              <a:sym typeface="Calibri"/>
            </a:endParaRPr>
          </a:p>
        </p:txBody>
      </p:sp>
      <p:sp>
        <p:nvSpPr>
          <p:cNvPr id="292" name="Google Shape;292;p23"/>
          <p:cNvSpPr/>
          <p:nvPr/>
        </p:nvSpPr>
        <p:spPr>
          <a:xfrm>
            <a:off x="4727448" y="2020824"/>
            <a:ext cx="40233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4754880" y="2048256"/>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850"/>
              <a:buFont typeface="Courier New"/>
              <a:buNone/>
            </a:pPr>
            <a:r>
              <a:rPr b="1" i="0" lang="en" sz="850" u="none" cap="none" strike="noStrike">
                <a:solidFill>
                  <a:srgbClr val="F4C430"/>
                </a:solidFill>
                <a:latin typeface="Courier New"/>
                <a:ea typeface="Courier New"/>
                <a:cs typeface="Courier New"/>
                <a:sym typeface="Courier New"/>
              </a:rPr>
              <a:t>xᵢ</a:t>
            </a:r>
            <a:endParaRPr b="0" i="0" sz="850" u="none" cap="none" strike="noStrike">
              <a:solidFill>
                <a:schemeClr val="dk1"/>
              </a:solidFill>
              <a:latin typeface="Calibri"/>
              <a:ea typeface="Calibri"/>
              <a:cs typeface="Calibri"/>
              <a:sym typeface="Calibri"/>
            </a:endParaRPr>
          </a:p>
        </p:txBody>
      </p:sp>
      <p:sp>
        <p:nvSpPr>
          <p:cNvPr id="294" name="Google Shape;294;p23"/>
          <p:cNvSpPr/>
          <p:nvPr/>
        </p:nvSpPr>
        <p:spPr>
          <a:xfrm>
            <a:off x="5760720" y="2048256"/>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Training point — feature vector</a:t>
            </a:r>
            <a:endParaRPr b="0" i="0" sz="850" u="none" cap="none" strike="noStrike">
              <a:solidFill>
                <a:schemeClr val="dk1"/>
              </a:solidFill>
              <a:latin typeface="Calibri"/>
              <a:ea typeface="Calibri"/>
              <a:cs typeface="Calibri"/>
              <a:sym typeface="Calibri"/>
            </a:endParaRPr>
          </a:p>
        </p:txBody>
      </p:sp>
      <p:sp>
        <p:nvSpPr>
          <p:cNvPr id="295" name="Google Shape;295;p23"/>
          <p:cNvSpPr/>
          <p:nvPr/>
        </p:nvSpPr>
        <p:spPr>
          <a:xfrm>
            <a:off x="4727448" y="2267712"/>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
          <p:cNvSpPr/>
          <p:nvPr/>
        </p:nvSpPr>
        <p:spPr>
          <a:xfrm>
            <a:off x="4754880" y="2295144"/>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C430"/>
              </a:buClr>
              <a:buSzPts val="850"/>
              <a:buFont typeface="Courier New"/>
              <a:buNone/>
            </a:pPr>
            <a:r>
              <a:rPr b="1" i="0" lang="en" sz="850" u="none" cap="none" strike="noStrike">
                <a:solidFill>
                  <a:srgbClr val="F4C430"/>
                </a:solidFill>
                <a:latin typeface="Courier New"/>
                <a:ea typeface="Courier New"/>
                <a:cs typeface="Courier New"/>
                <a:sym typeface="Courier New"/>
              </a:rPr>
              <a:t>Σᵢ αᵢ yᵢ</a:t>
            </a:r>
            <a:endParaRPr b="0" i="0" sz="850" u="none" cap="none" strike="noStrike">
              <a:solidFill>
                <a:schemeClr val="dk1"/>
              </a:solidFill>
              <a:latin typeface="Calibri"/>
              <a:ea typeface="Calibri"/>
              <a:cs typeface="Calibri"/>
              <a:sym typeface="Calibri"/>
            </a:endParaRPr>
          </a:p>
        </p:txBody>
      </p:sp>
      <p:sp>
        <p:nvSpPr>
          <p:cNvPr id="297" name="Google Shape;297;p23"/>
          <p:cNvSpPr/>
          <p:nvPr/>
        </p:nvSpPr>
        <p:spPr>
          <a:xfrm>
            <a:off x="5760720" y="2295144"/>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Must equal zero — two classes balance out</a:t>
            </a:r>
            <a:endParaRPr b="0" i="0" sz="850" u="none" cap="none" strike="noStrike">
              <a:solidFill>
                <a:schemeClr val="dk1"/>
              </a:solidFill>
              <a:latin typeface="Calibri"/>
              <a:ea typeface="Calibri"/>
              <a:cs typeface="Calibri"/>
              <a:sym typeface="Calibri"/>
            </a:endParaRPr>
          </a:p>
        </p:txBody>
      </p:sp>
      <p:sp>
        <p:nvSpPr>
          <p:cNvPr id="298" name="Google Shape;298;p23"/>
          <p:cNvSpPr/>
          <p:nvPr/>
        </p:nvSpPr>
        <p:spPr>
          <a:xfrm>
            <a:off x="4617720" y="2468880"/>
            <a:ext cx="4206300" cy="20301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4617720" y="2468880"/>
            <a:ext cx="63900" cy="2030100"/>
          </a:xfrm>
          <a:prstGeom prst="rect">
            <a:avLst/>
          </a:prstGeom>
          <a:solidFill>
            <a:srgbClr val="00C2CB"/>
          </a:solidFill>
          <a:ln cap="flat" cmpd="sng" w="12700">
            <a:solidFill>
              <a:srgbClr val="00C2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p:nvPr/>
        </p:nvSpPr>
        <p:spPr>
          <a:xfrm>
            <a:off x="4727448" y="2523744"/>
            <a:ext cx="4069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950"/>
              <a:buFont typeface="Calibri"/>
              <a:buNone/>
            </a:pPr>
            <a:r>
              <a:rPr b="1" i="0" lang="en" sz="950" u="none" cap="none" strike="noStrike">
                <a:solidFill>
                  <a:srgbClr val="00C2CB"/>
                </a:solidFill>
                <a:latin typeface="Calibri"/>
                <a:ea typeface="Calibri"/>
                <a:cs typeface="Calibri"/>
                <a:sym typeface="Calibri"/>
              </a:rPr>
              <a:t>Dual Objective</a:t>
            </a:r>
            <a:endParaRPr b="0" i="0" sz="950" u="none" cap="none" strike="noStrike">
              <a:solidFill>
                <a:schemeClr val="dk1"/>
              </a:solidFill>
              <a:latin typeface="Calibri"/>
              <a:ea typeface="Calibri"/>
              <a:cs typeface="Calibri"/>
              <a:sym typeface="Calibri"/>
            </a:endParaRPr>
          </a:p>
        </p:txBody>
      </p:sp>
      <p:sp>
        <p:nvSpPr>
          <p:cNvPr id="301" name="Google Shape;301;p23"/>
          <p:cNvSpPr/>
          <p:nvPr/>
        </p:nvSpPr>
        <p:spPr>
          <a:xfrm>
            <a:off x="4727448" y="2706624"/>
            <a:ext cx="4069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50"/>
              <a:buFont typeface="Courier New"/>
              <a:buNone/>
            </a:pPr>
            <a:r>
              <a:rPr b="1" i="0" lang="en" sz="850" u="none" cap="none" strike="noStrike">
                <a:solidFill>
                  <a:srgbClr val="FFFFFF"/>
                </a:solidFill>
                <a:latin typeface="Courier New"/>
                <a:ea typeface="Courier New"/>
                <a:cs typeface="Courier New"/>
                <a:sym typeface="Courier New"/>
              </a:rPr>
              <a:t>W(α) = Σᵢ αᵢ − ½ Σᵢ Σⱼ αᵢ αⱼ yᵢ yⱼ (xᵢᵀxⱼ)</a:t>
            </a:r>
            <a:endParaRPr b="0" i="0" sz="850" u="none" cap="none" strike="noStrike">
              <a:solidFill>
                <a:schemeClr val="dk1"/>
              </a:solidFill>
              <a:latin typeface="Calibri"/>
              <a:ea typeface="Calibri"/>
              <a:cs typeface="Calibri"/>
              <a:sym typeface="Calibri"/>
            </a:endParaRPr>
          </a:p>
        </p:txBody>
      </p:sp>
      <p:sp>
        <p:nvSpPr>
          <p:cNvPr id="302" name="Google Shape;302;p23"/>
          <p:cNvSpPr/>
          <p:nvPr/>
        </p:nvSpPr>
        <p:spPr>
          <a:xfrm>
            <a:off x="4727448" y="2926080"/>
            <a:ext cx="4023300" cy="138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
          <p:cNvSpPr/>
          <p:nvPr/>
        </p:nvSpPr>
        <p:spPr>
          <a:xfrm>
            <a:off x="4727448" y="2944368"/>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
          <p:cNvSpPr/>
          <p:nvPr/>
        </p:nvSpPr>
        <p:spPr>
          <a:xfrm>
            <a:off x="4754880" y="2971800"/>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W(α)</a:t>
            </a:r>
            <a:endParaRPr b="0" i="0" sz="850" u="none" cap="none" strike="noStrike">
              <a:solidFill>
                <a:schemeClr val="dk1"/>
              </a:solidFill>
              <a:latin typeface="Calibri"/>
              <a:ea typeface="Calibri"/>
              <a:cs typeface="Calibri"/>
              <a:sym typeface="Calibri"/>
            </a:endParaRPr>
          </a:p>
        </p:txBody>
      </p:sp>
      <p:sp>
        <p:nvSpPr>
          <p:cNvPr id="305" name="Google Shape;305;p23"/>
          <p:cNvSpPr/>
          <p:nvPr/>
        </p:nvSpPr>
        <p:spPr>
          <a:xfrm>
            <a:off x="5760720" y="2971800"/>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Dual objective function — what we maximize</a:t>
            </a:r>
            <a:endParaRPr b="0" i="0" sz="850" u="none" cap="none" strike="noStrike">
              <a:solidFill>
                <a:schemeClr val="dk1"/>
              </a:solidFill>
              <a:latin typeface="Calibri"/>
              <a:ea typeface="Calibri"/>
              <a:cs typeface="Calibri"/>
              <a:sym typeface="Calibri"/>
            </a:endParaRPr>
          </a:p>
        </p:txBody>
      </p:sp>
      <p:sp>
        <p:nvSpPr>
          <p:cNvPr id="306" name="Google Shape;306;p23"/>
          <p:cNvSpPr/>
          <p:nvPr/>
        </p:nvSpPr>
        <p:spPr>
          <a:xfrm>
            <a:off x="4727448" y="3191256"/>
            <a:ext cx="40233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3"/>
          <p:cNvSpPr/>
          <p:nvPr/>
        </p:nvSpPr>
        <p:spPr>
          <a:xfrm>
            <a:off x="4754880" y="3218688"/>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Σᵢ αᵢ</a:t>
            </a:r>
            <a:endParaRPr b="0" i="0" sz="850" u="none" cap="none" strike="noStrike">
              <a:solidFill>
                <a:schemeClr val="dk1"/>
              </a:solidFill>
              <a:latin typeface="Calibri"/>
              <a:ea typeface="Calibri"/>
              <a:cs typeface="Calibri"/>
              <a:sym typeface="Calibri"/>
            </a:endParaRPr>
          </a:p>
        </p:txBody>
      </p:sp>
      <p:sp>
        <p:nvSpPr>
          <p:cNvPr id="308" name="Google Shape;308;p23"/>
          <p:cNvSpPr/>
          <p:nvPr/>
        </p:nvSpPr>
        <p:spPr>
          <a:xfrm>
            <a:off x="5760720" y="3218688"/>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Sum of all multipliers — total influence</a:t>
            </a:r>
            <a:endParaRPr b="0" i="0" sz="850" u="none" cap="none" strike="noStrike">
              <a:solidFill>
                <a:schemeClr val="dk1"/>
              </a:solidFill>
              <a:latin typeface="Calibri"/>
              <a:ea typeface="Calibri"/>
              <a:cs typeface="Calibri"/>
              <a:sym typeface="Calibri"/>
            </a:endParaRPr>
          </a:p>
        </p:txBody>
      </p:sp>
      <p:sp>
        <p:nvSpPr>
          <p:cNvPr id="309" name="Google Shape;309;p23"/>
          <p:cNvSpPr/>
          <p:nvPr/>
        </p:nvSpPr>
        <p:spPr>
          <a:xfrm>
            <a:off x="4727448" y="3438144"/>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
          <p:cNvSpPr/>
          <p:nvPr/>
        </p:nvSpPr>
        <p:spPr>
          <a:xfrm>
            <a:off x="4754880" y="3465576"/>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Σᵢ Σⱼ</a:t>
            </a:r>
            <a:endParaRPr b="0" i="0" sz="850" u="none" cap="none" strike="noStrike">
              <a:solidFill>
                <a:schemeClr val="dk1"/>
              </a:solidFill>
              <a:latin typeface="Calibri"/>
              <a:ea typeface="Calibri"/>
              <a:cs typeface="Calibri"/>
              <a:sym typeface="Calibri"/>
            </a:endParaRPr>
          </a:p>
        </p:txBody>
      </p:sp>
      <p:sp>
        <p:nvSpPr>
          <p:cNvPr id="311" name="Google Shape;311;p23"/>
          <p:cNvSpPr/>
          <p:nvPr/>
        </p:nvSpPr>
        <p:spPr>
          <a:xfrm>
            <a:off x="5760720" y="3465576"/>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Double sum — every pair of training points</a:t>
            </a:r>
            <a:endParaRPr b="0" i="0" sz="850" u="none" cap="none" strike="noStrike">
              <a:solidFill>
                <a:schemeClr val="dk1"/>
              </a:solidFill>
              <a:latin typeface="Calibri"/>
              <a:ea typeface="Calibri"/>
              <a:cs typeface="Calibri"/>
              <a:sym typeface="Calibri"/>
            </a:endParaRPr>
          </a:p>
        </p:txBody>
      </p:sp>
      <p:sp>
        <p:nvSpPr>
          <p:cNvPr id="312" name="Google Shape;312;p23"/>
          <p:cNvSpPr/>
          <p:nvPr/>
        </p:nvSpPr>
        <p:spPr>
          <a:xfrm>
            <a:off x="4727448" y="3685032"/>
            <a:ext cx="40233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3"/>
          <p:cNvSpPr/>
          <p:nvPr/>
        </p:nvSpPr>
        <p:spPr>
          <a:xfrm>
            <a:off x="4754880" y="3712464"/>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αᵢ αⱼ</a:t>
            </a:r>
            <a:endParaRPr b="0" i="0" sz="850" u="none" cap="none" strike="noStrike">
              <a:solidFill>
                <a:schemeClr val="dk1"/>
              </a:solidFill>
              <a:latin typeface="Calibri"/>
              <a:ea typeface="Calibri"/>
              <a:cs typeface="Calibri"/>
              <a:sym typeface="Calibri"/>
            </a:endParaRPr>
          </a:p>
        </p:txBody>
      </p:sp>
      <p:sp>
        <p:nvSpPr>
          <p:cNvPr id="314" name="Google Shape;314;p23"/>
          <p:cNvSpPr/>
          <p:nvPr/>
        </p:nvSpPr>
        <p:spPr>
          <a:xfrm>
            <a:off x="5760720" y="3712464"/>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Zero if either point is not a support vector</a:t>
            </a:r>
            <a:endParaRPr b="0" i="0" sz="850" u="none" cap="none" strike="noStrike">
              <a:solidFill>
                <a:schemeClr val="dk1"/>
              </a:solidFill>
              <a:latin typeface="Calibri"/>
              <a:ea typeface="Calibri"/>
              <a:cs typeface="Calibri"/>
              <a:sym typeface="Calibri"/>
            </a:endParaRPr>
          </a:p>
        </p:txBody>
      </p:sp>
      <p:sp>
        <p:nvSpPr>
          <p:cNvPr id="315" name="Google Shape;315;p23"/>
          <p:cNvSpPr/>
          <p:nvPr/>
        </p:nvSpPr>
        <p:spPr>
          <a:xfrm>
            <a:off x="4727448" y="3931920"/>
            <a:ext cx="4023300" cy="228600"/>
          </a:xfrm>
          <a:prstGeom prst="rect">
            <a:avLst/>
          </a:prstGeom>
          <a:solidFill>
            <a:srgbClr val="243447"/>
          </a:solidFill>
          <a:ln cap="flat" cmpd="sng" w="12700">
            <a:solidFill>
              <a:srgbClr val="243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
          <p:cNvSpPr/>
          <p:nvPr/>
        </p:nvSpPr>
        <p:spPr>
          <a:xfrm>
            <a:off x="4754880" y="3959352"/>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yᵢ yⱼ</a:t>
            </a:r>
            <a:endParaRPr b="0" i="0" sz="850" u="none" cap="none" strike="noStrike">
              <a:solidFill>
                <a:schemeClr val="dk1"/>
              </a:solidFill>
              <a:latin typeface="Calibri"/>
              <a:ea typeface="Calibri"/>
              <a:cs typeface="Calibri"/>
              <a:sym typeface="Calibri"/>
            </a:endParaRPr>
          </a:p>
        </p:txBody>
      </p:sp>
      <p:sp>
        <p:nvSpPr>
          <p:cNvPr id="317" name="Google Shape;317;p23"/>
          <p:cNvSpPr/>
          <p:nvPr/>
        </p:nvSpPr>
        <p:spPr>
          <a:xfrm>
            <a:off x="5760720" y="3959352"/>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Same class = +1, opposite class = -1</a:t>
            </a:r>
            <a:endParaRPr b="0" i="0" sz="850" u="none" cap="none" strike="noStrike">
              <a:solidFill>
                <a:schemeClr val="dk1"/>
              </a:solidFill>
              <a:latin typeface="Calibri"/>
              <a:ea typeface="Calibri"/>
              <a:cs typeface="Calibri"/>
              <a:sym typeface="Calibri"/>
            </a:endParaRPr>
          </a:p>
        </p:txBody>
      </p:sp>
      <p:sp>
        <p:nvSpPr>
          <p:cNvPr id="318" name="Google Shape;318;p23"/>
          <p:cNvSpPr/>
          <p:nvPr/>
        </p:nvSpPr>
        <p:spPr>
          <a:xfrm>
            <a:off x="4727448" y="4178808"/>
            <a:ext cx="4023300" cy="228600"/>
          </a:xfrm>
          <a:prstGeom prst="rect">
            <a:avLst/>
          </a:prstGeom>
          <a:solidFill>
            <a:srgbClr val="1B2A3B"/>
          </a:solidFill>
          <a:ln cap="flat" cmpd="sng" w="12700">
            <a:solidFill>
              <a:srgbClr val="1B2A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p:nvPr/>
        </p:nvSpPr>
        <p:spPr>
          <a:xfrm>
            <a:off x="4754880" y="4206240"/>
            <a:ext cx="9600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CB"/>
              </a:buClr>
              <a:buSzPts val="850"/>
              <a:buFont typeface="Courier New"/>
              <a:buNone/>
            </a:pPr>
            <a:r>
              <a:rPr b="1" i="0" lang="en" sz="850" u="none" cap="none" strike="noStrike">
                <a:solidFill>
                  <a:srgbClr val="00C2CB"/>
                </a:solidFill>
                <a:latin typeface="Courier New"/>
                <a:ea typeface="Courier New"/>
                <a:cs typeface="Courier New"/>
                <a:sym typeface="Courier New"/>
              </a:rPr>
              <a:t>xᵢᵀxⱼ</a:t>
            </a:r>
            <a:endParaRPr b="0" i="0" sz="850" u="none" cap="none" strike="noStrike">
              <a:solidFill>
                <a:schemeClr val="dk1"/>
              </a:solidFill>
              <a:latin typeface="Calibri"/>
              <a:ea typeface="Calibri"/>
              <a:cs typeface="Calibri"/>
              <a:sym typeface="Calibri"/>
            </a:endParaRPr>
          </a:p>
        </p:txBody>
      </p:sp>
      <p:sp>
        <p:nvSpPr>
          <p:cNvPr id="320" name="Google Shape;320;p23"/>
          <p:cNvSpPr/>
          <p:nvPr/>
        </p:nvSpPr>
        <p:spPr>
          <a:xfrm>
            <a:off x="5760720" y="4206240"/>
            <a:ext cx="28803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0F2"/>
              </a:buClr>
              <a:buSzPts val="850"/>
              <a:buFont typeface="Calibri"/>
              <a:buNone/>
            </a:pPr>
            <a:r>
              <a:rPr b="0" i="0" lang="en" sz="850" u="none" cap="none" strike="noStrike">
                <a:solidFill>
                  <a:srgbClr val="E8F0F2"/>
                </a:solidFill>
                <a:latin typeface="Calibri"/>
                <a:ea typeface="Calibri"/>
                <a:cs typeface="Calibri"/>
                <a:sym typeface="Calibri"/>
              </a:rPr>
              <a:t>Similarity score — replaced by kernel K(xᵢ,xⱼ)</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