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lUr+x0R3vTNV9kzNSXOmnwgbY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78A166-ED70-4ADC-886B-1846344C16E2}">
  <a:tblStyle styleId="{C378A166-ED70-4ADC-886B-1846344C16E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everyone, I'm Emma. Today I'm going to talk about Support Vector Machines, specifically about primal formulations and the margins. then Ill show a quick application to predicting Parkinson's disease from brain health data."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the main idea of a SVM is simple. </a:t>
            </a:r>
            <a:r>
              <a:rPr lang="en-US"/>
              <a:t>We want to draw a line that separates two groups. In the parkinson example, PD patients on one side, no PD on the other. There are an infinite amount of lines that can do this. But SVM finds the line with the maximum margin. The margin is the gap between the boundary of the nearest points on each side. Those nearest points are called the support vectors. They're the only points that matter for defining where the hyperplane goes. The key idea is that a bigger margin means the model generalizes better to new patients it hasn't seen before.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maximum margin?n- it puts the boundary as far as possible from all the training patients on both sides, giving future patients the maximum amount of room to still be correctly classified.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b7d388cc5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eb7d388cc5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the main goal of SVM is: </a:t>
            </a:r>
            <a:r>
              <a:rPr lang="en-US" sz="1100">
                <a:latin typeface="Arial"/>
                <a:ea typeface="Arial"/>
                <a:cs typeface="Arial"/>
                <a:sym typeface="Arial"/>
              </a:rPr>
              <a:t>Find the w that minimizes ½||w||² </a:t>
            </a:r>
            <a:r>
              <a:rPr b="1" lang="en-US" sz="1100">
                <a:latin typeface="Arial"/>
                <a:ea typeface="Arial"/>
                <a:cs typeface="Arial"/>
                <a:sym typeface="Arial"/>
              </a:rPr>
              <a:t>with the condition that</a:t>
            </a:r>
            <a:r>
              <a:rPr lang="en-US" sz="1100">
                <a:latin typeface="Arial"/>
                <a:ea typeface="Arial"/>
                <a:cs typeface="Arial"/>
                <a:sym typeface="Arial"/>
              </a:rPr>
              <a:t> every single patient satisfies yᵢ(wᵀxᵢ − b) ≥ 1</a:t>
            </a:r>
            <a:r>
              <a:rPr lang="en-US"/>
              <a:t>I'm going to talk about the hard margin first, which assumes the classes are perfectly linearly separable. The </a:t>
            </a:r>
            <a:r>
              <a:rPr lang="en-US"/>
              <a:t>equation</a:t>
            </a:r>
            <a:r>
              <a:rPr lang="en-US"/>
              <a:t> for the hyperplane is wᵀx minus b equals zero. It’s the same as a line in 2D but extended to higher dimensions. We define the two margin boundaries on either side as wᵀx minus b equals plus one and minus one. These are the two dashed lines. The constraint is yᵢ times wᵀxᵢ minus b must be at least one for every patient.  this forces every patient to be on the correct side of their margin boundary, not just the correct side of the hyperplane. And the margin width works out to 2 over the length of w, which ill show you on the next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why +1, -1: </a:t>
            </a:r>
            <a:r>
              <a:rPr lang="en-US"/>
              <a:t>This is a convention, we're essentially choosing our units so the boundaries sit at plus and minus one, which we can always do by rescaling 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is wt? w and x are both column vectors — imagine a list of numbers standing upright. The issue is you can't directly multiply two column vectors in linear algebra, the dimensions don't line up. So we transpose w, which just means we tip it on its side into a row vector. Then wᵀx is a row times a column, which works out to a single number — w₁x₁ plus w₂x₂ plus w₃x₃ and so on for all features. It's identical to the dot product w·x that you might have seen before, just written in matrix notation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multiply so it becomes positive (y is the actual value, wx + b is the predicted value)..</a:t>
            </a:r>
            <a:endParaRPr/>
          </a:p>
          <a:p>
            <a:pPr indent="0" lvl="0" marL="0" rtl="0" algn="l">
              <a:spcBef>
                <a:spcPts val="0"/>
              </a:spcBef>
              <a:spcAft>
                <a:spcPts val="0"/>
              </a:spcAft>
              <a:buNone/>
            </a:pPr>
            <a:r>
              <a:rPr lang="en-US"/>
              <a:t>	if the value is + and our predictions + → then we git positive which is greater than 1</a:t>
            </a:r>
            <a:endParaRPr/>
          </a:p>
          <a:p>
            <a:pPr indent="0" lvl="0" marL="0" rtl="0" algn="l">
              <a:spcBef>
                <a:spcPts val="0"/>
              </a:spcBef>
              <a:spcAft>
                <a:spcPts val="0"/>
              </a:spcAft>
              <a:buNone/>
            </a:pPr>
            <a:r>
              <a:rPr lang="en-US"/>
              <a:t>	if the value is - and our prediction is - same as above</a:t>
            </a:r>
            <a:endParaRPr/>
          </a:p>
          <a:p>
            <a:pPr indent="0" lvl="0" marL="0" rtl="0" algn="l">
              <a:spcBef>
                <a:spcPts val="0"/>
              </a:spcBef>
              <a:spcAft>
                <a:spcPts val="0"/>
              </a:spcAft>
              <a:buNone/>
            </a:pPr>
            <a:r>
              <a:rPr lang="en-US"/>
              <a:t>	but if value is - and our predictions wrong → negative so it doesnt fit the constraint and we will ignore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 is the length of w = sqrt(w1^2 + w2^2….)</a:t>
            </a:r>
            <a:endParaRPr/>
          </a:p>
        </p:txBody>
      </p:sp>
      <p:sp>
        <p:nvSpPr>
          <p:cNvPr id="68" name="Google Shape;68;g3eb7d388cc5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b7d388cc5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eb7d388cc5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where does 2 / ||w|| actually come from? The two margin boundaries are wᵀx minus b equals plus one and minus one — those are our two parallel planes. There's a formula  (from geometry) that says the distance between two parallel planes is the absolute difference of their constants divided by the length of w. Plugging in plus one and minus one gives us the absolute value of plus one minus negative one over ||w||, which is 2 over ||w||. So to maximize the margin we want to maximize 2 over ||w||. Maximizing 2 over ||w|| is the same as minimizing ||w||  (the denominator) Then we square it to drop the square root, which makes it easier to differentiate. And we add a half so the derivative comes out cleanly as w instead of 2w. </a:t>
            </a:r>
            <a:endParaRPr/>
          </a:p>
        </p:txBody>
      </p:sp>
      <p:sp>
        <p:nvSpPr>
          <p:cNvPr id="125" name="Google Shape;125;g3eb7d388cc5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real life, data is messy. PD and no PD patients overlap and no perfect separating line exists. So we allow some violations and this is called the soft margin. For each patient we define a variable zeta using the hinge loss.  it equals either zero if the patient is correctly classified outside the margin, or it equals how far inside the margin they are if they're violating. We add a penalty C times the sum of all these violations to the objective. So now the solver is minimizing two competing costs , it wants to make the margin as large as possible while also keeping violations small. C controls the tradeoff.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Large C means violations are expensive — strict boundary, small margin, risk of overfitting. Small C means violations are cheap — relaxed boundary, larger margin. We used C equals one, the default middle ground."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slack </a:t>
            </a:r>
            <a:r>
              <a:rPr lang="en-US"/>
              <a:t>variable</a:t>
            </a:r>
            <a:r>
              <a:rPr lang="en-US"/>
              <a:t>: A slack variable ζᵢ is just a number that measures how much a specific patient is allowed to "slack off" from the hard margin constraint </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my application. Im using MrOS and my dataset consists of about 2,714 older men who had sleep studies done. 62 developed Parkinson's disease during follow up. Each patient also has a 1,024-dimensional last hidden layer vector from a deep learning brain health model. The BHS is a single number summarizing brain health, but the model internally produces that richer 1,024-dimensional representation. My question is: does the full embedding predict PD better than the single score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used a linear SVM specifically because with 1,024 features a linear boundary is usually sufficient and the margin acts as a regularizer for our small case count of 62. </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 SVM finds the maximum margin hyperplane between two classes. The hard margin primal gives us the clean mathematical formulation, and the soft margin extends it to real messy data using slack variables and the penalty C. Linear SVM is particularly well suited for high dimensional data like our 1,024 LHL brain embeddings. And in our application the full embedding modestly outperformed the scalar BHS score, suggesting information is lost in that compression. The main limitation is statistical power — 62 PD cases is small. Thank you, happy to take questions."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1"/>
          <p:cNvSpPr/>
          <p:nvPr/>
        </p:nvSpPr>
        <p:spPr>
          <a:xfrm>
            <a:off x="0" y="0"/>
            <a:ext cx="182880" cy="5148072"/>
          </a:xfrm>
          <a:prstGeom prst="rect">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02920" y="731520"/>
            <a:ext cx="8229600" cy="2194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Support Vector</a:t>
            </a:r>
            <a:endParaRPr b="0" i="0" sz="5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Machines</a:t>
            </a:r>
            <a:endParaRPr b="0" i="0" sz="5600" u="none" cap="none" strike="noStrike">
              <a:solidFill>
                <a:schemeClr val="dk1"/>
              </a:solidFill>
              <a:latin typeface="Calibri"/>
              <a:ea typeface="Calibri"/>
              <a:cs typeface="Calibri"/>
              <a:sym typeface="Calibri"/>
            </a:endParaRPr>
          </a:p>
        </p:txBody>
      </p:sp>
      <p:sp>
        <p:nvSpPr>
          <p:cNvPr id="18" name="Google Shape;18;p1"/>
          <p:cNvSpPr/>
          <p:nvPr/>
        </p:nvSpPr>
        <p:spPr>
          <a:xfrm>
            <a:off x="502920" y="301752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8F7"/>
              </a:buClr>
              <a:buSzPts val="1800"/>
              <a:buFont typeface="Calibri"/>
              <a:buNone/>
            </a:pPr>
            <a:r>
              <a:rPr lang="en-US" sz="1800">
                <a:solidFill>
                  <a:srgbClr val="D6E8F7"/>
                </a:solidFill>
                <a:latin typeface="Calibri"/>
                <a:ea typeface="Calibri"/>
                <a:cs typeface="Calibri"/>
                <a:sym typeface="Calibri"/>
              </a:rPr>
              <a:t>Primal Formulation, Margins, Application to Parkinson’s Disease</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629920" y="3589030"/>
            <a:ext cx="2011800" cy="45600"/>
          </a:xfrm>
          <a:prstGeom prst="rect">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502920" y="374904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9DBF"/>
              </a:buClr>
              <a:buSzPts val="1300"/>
              <a:buFont typeface="Calibri"/>
              <a:buNone/>
            </a:pPr>
            <a:r>
              <a:rPr b="0" i="0" lang="en-US" sz="1300" u="none" cap="none" strike="noStrike">
                <a:solidFill>
                  <a:srgbClr val="7A9DBF"/>
                </a:solidFill>
                <a:latin typeface="Calibri"/>
                <a:ea typeface="Calibri"/>
                <a:cs typeface="Calibri"/>
                <a:sym typeface="Calibri"/>
              </a:rPr>
              <a:t>Emma  Chang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86868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11480" y="73152"/>
            <a:ext cx="832104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What is a Support Vector Machine?</a:t>
            </a:r>
            <a:endParaRPr b="0" i="0" sz="2500" u="none" cap="none" strike="noStrike">
              <a:solidFill>
                <a:schemeClr val="dk1"/>
              </a:solidFill>
              <a:latin typeface="Calibri"/>
              <a:ea typeface="Calibri"/>
              <a:cs typeface="Calibri"/>
              <a:sym typeface="Calibri"/>
            </a:endParaRPr>
          </a:p>
        </p:txBody>
      </p:sp>
      <p:sp>
        <p:nvSpPr>
          <p:cNvPr id="28" name="Google Shape;28;p2"/>
          <p:cNvSpPr/>
          <p:nvPr/>
        </p:nvSpPr>
        <p:spPr>
          <a:xfrm>
            <a:off x="274320" y="960120"/>
            <a:ext cx="5486400" cy="3520500"/>
          </a:xfrm>
          <a:prstGeom prst="rect">
            <a:avLst/>
          </a:prstGeom>
          <a:solidFill>
            <a:srgbClr val="F4F7FB"/>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2752345" y="960120"/>
            <a:ext cx="1005900" cy="3520500"/>
          </a:xfrm>
          <a:prstGeom prst="rect">
            <a:avLst/>
          </a:prstGeom>
          <a:solidFill>
            <a:srgbClr val="D6E8F7">
              <a:alpha val="65098"/>
            </a:srgbClr>
          </a:solidFill>
          <a:ln cap="flat" cmpd="sng" w="12700">
            <a:solidFill>
              <a:srgbClr val="D6E8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 name="Google Shape;30;p2"/>
          <p:cNvCxnSpPr/>
          <p:nvPr/>
        </p:nvCxnSpPr>
        <p:spPr>
          <a:xfrm>
            <a:off x="2727570" y="960095"/>
            <a:ext cx="0" cy="3520500"/>
          </a:xfrm>
          <a:prstGeom prst="straightConnector1">
            <a:avLst/>
          </a:prstGeom>
          <a:noFill/>
          <a:ln cap="flat" cmpd="sng" w="19050">
            <a:solidFill>
              <a:srgbClr val="2D6A9F"/>
            </a:solidFill>
            <a:prstDash val="dash"/>
            <a:round/>
            <a:headEnd len="sm" w="sm" type="none"/>
            <a:tailEnd len="sm" w="sm" type="none"/>
          </a:ln>
        </p:spPr>
      </p:cxnSp>
      <p:cxnSp>
        <p:nvCxnSpPr>
          <p:cNvPr id="31" name="Google Shape;31;p2"/>
          <p:cNvCxnSpPr/>
          <p:nvPr/>
        </p:nvCxnSpPr>
        <p:spPr>
          <a:xfrm>
            <a:off x="3268315" y="960120"/>
            <a:ext cx="0" cy="3520500"/>
          </a:xfrm>
          <a:prstGeom prst="straightConnector1">
            <a:avLst/>
          </a:prstGeom>
          <a:noFill/>
          <a:ln cap="flat" cmpd="sng" w="38100">
            <a:solidFill>
              <a:srgbClr val="1B2A4A"/>
            </a:solidFill>
            <a:prstDash val="solid"/>
            <a:round/>
            <a:headEnd len="sm" w="sm" type="none"/>
            <a:tailEnd len="sm" w="sm" type="none"/>
          </a:ln>
        </p:spPr>
      </p:cxnSp>
      <p:cxnSp>
        <p:nvCxnSpPr>
          <p:cNvPr id="32" name="Google Shape;32;p2"/>
          <p:cNvCxnSpPr/>
          <p:nvPr/>
        </p:nvCxnSpPr>
        <p:spPr>
          <a:xfrm>
            <a:off x="3758610" y="992120"/>
            <a:ext cx="0" cy="3520500"/>
          </a:xfrm>
          <a:prstGeom prst="straightConnector1">
            <a:avLst/>
          </a:prstGeom>
          <a:noFill/>
          <a:ln cap="flat" cmpd="sng" w="19050">
            <a:solidFill>
              <a:srgbClr val="E05C2A"/>
            </a:solidFill>
            <a:prstDash val="dash"/>
            <a:round/>
            <a:headEnd len="sm" w="sm" type="none"/>
            <a:tailEnd len="sm" w="sm" type="none"/>
          </a:ln>
        </p:spPr>
      </p:cxnSp>
      <p:sp>
        <p:nvSpPr>
          <p:cNvPr id="33" name="Google Shape;33;p2"/>
          <p:cNvSpPr/>
          <p:nvPr/>
        </p:nvSpPr>
        <p:spPr>
          <a:xfrm>
            <a:off x="548640" y="128016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914400" y="192024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02920" y="256032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188720" y="310896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31520" y="365760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645920" y="164592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828800" y="3474720"/>
            <a:ext cx="201168" cy="201168"/>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2532955" y="2395803"/>
            <a:ext cx="237600" cy="237600"/>
          </a:xfrm>
          <a:prstGeom prst="ellipse">
            <a:avLst/>
          </a:prstGeom>
          <a:solidFill>
            <a:srgbClr val="2D6A9F"/>
          </a:solidFill>
          <a:ln cap="flat" cmpd="sng" w="254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2463084" y="2331745"/>
            <a:ext cx="365700" cy="365700"/>
          </a:xfrm>
          <a:prstGeom prst="ellipse">
            <a:avLst/>
          </a:prstGeom>
          <a:solidFill>
            <a:srgbClr val="FFFFFF">
              <a:alpha val="0"/>
            </a:srgbClr>
          </a:solidFill>
          <a:ln cap="flat" cmpd="sng" w="19050">
            <a:solidFill>
              <a:srgbClr val="2D6A9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4480560" y="128016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846320" y="201168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389120" y="265176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029200" y="329184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663440" y="384048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5394960" y="173736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486400" y="3474720"/>
            <a:ext cx="201168" cy="201168"/>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771922" y="2103095"/>
            <a:ext cx="237600" cy="237600"/>
          </a:xfrm>
          <a:prstGeom prst="ellipse">
            <a:avLst/>
          </a:prstGeom>
          <a:solidFill>
            <a:srgbClr val="E05C2A"/>
          </a:solidFill>
          <a:ln cap="flat" cmpd="sng" w="254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707864" y="2039050"/>
            <a:ext cx="365700" cy="365700"/>
          </a:xfrm>
          <a:prstGeom prst="ellipse">
            <a:avLst/>
          </a:prstGeom>
          <a:solidFill>
            <a:srgbClr val="FFFFFF">
              <a:alpha val="0"/>
            </a:srgbClr>
          </a:solidFill>
          <a:ln cap="flat" cmpd="sng" w="19050">
            <a:solidFill>
              <a:srgbClr val="E05C2A"/>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809238" y="4526205"/>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6A9F"/>
              </a:buClr>
              <a:buSzPts val="1100"/>
              <a:buFont typeface="Calibri"/>
              <a:buNone/>
            </a:pPr>
            <a:r>
              <a:rPr b="1" i="0" lang="en-US" sz="1100" u="none" cap="none" strike="noStrike">
                <a:solidFill>
                  <a:srgbClr val="2D6A9F"/>
                </a:solidFill>
                <a:latin typeface="Calibri"/>
                <a:ea typeface="Calibri"/>
                <a:cs typeface="Calibri"/>
                <a:sym typeface="Calibri"/>
              </a:rPr>
              <a:t>No PD</a:t>
            </a:r>
            <a:endParaRPr b="0" i="0" sz="1100" u="none" cap="none" strike="noStrike">
              <a:solidFill>
                <a:schemeClr val="dk1"/>
              </a:solidFill>
              <a:latin typeface="Calibri"/>
              <a:ea typeface="Calibri"/>
              <a:cs typeface="Calibri"/>
              <a:sym typeface="Calibri"/>
            </a:endParaRPr>
          </a:p>
        </p:txBody>
      </p:sp>
      <p:sp>
        <p:nvSpPr>
          <p:cNvPr id="52" name="Google Shape;52;p2"/>
          <p:cNvSpPr/>
          <p:nvPr/>
        </p:nvSpPr>
        <p:spPr>
          <a:xfrm>
            <a:off x="4355740" y="4526205"/>
            <a:ext cx="9144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2A"/>
              </a:buClr>
              <a:buSzPts val="1100"/>
              <a:buFont typeface="Calibri"/>
              <a:buNone/>
            </a:pPr>
            <a:r>
              <a:rPr b="1" i="0" lang="en-US" sz="1100" u="none" cap="none" strike="noStrike">
                <a:solidFill>
                  <a:srgbClr val="E05C2A"/>
                </a:solidFill>
                <a:latin typeface="Calibri"/>
                <a:ea typeface="Calibri"/>
                <a:cs typeface="Calibri"/>
                <a:sym typeface="Calibri"/>
              </a:rPr>
              <a:t>PD</a:t>
            </a:r>
            <a:endParaRPr b="0" i="0" sz="1100" u="none" cap="none" strike="noStrike">
              <a:solidFill>
                <a:schemeClr val="dk1"/>
              </a:solidFill>
              <a:latin typeface="Calibri"/>
              <a:ea typeface="Calibri"/>
              <a:cs typeface="Calibri"/>
              <a:sym typeface="Calibri"/>
            </a:endParaRPr>
          </a:p>
        </p:txBody>
      </p:sp>
      <p:sp>
        <p:nvSpPr>
          <p:cNvPr id="53" name="Google Shape;53;p2"/>
          <p:cNvSpPr/>
          <p:nvPr/>
        </p:nvSpPr>
        <p:spPr>
          <a:xfrm>
            <a:off x="2742545" y="4471477"/>
            <a:ext cx="10515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Calibri"/>
              <a:buNone/>
            </a:pPr>
            <a:r>
              <a:rPr b="0" i="0" lang="en-US" sz="900" u="none" cap="none" strike="noStrike">
                <a:solidFill>
                  <a:srgbClr val="1B2A4A"/>
                </a:solidFill>
                <a:latin typeface="Calibri"/>
                <a:ea typeface="Calibri"/>
                <a:cs typeface="Calibri"/>
                <a:sym typeface="Calibri"/>
              </a:rPr>
              <a:t>max margin</a:t>
            </a:r>
            <a:endParaRPr b="0" i="0" sz="900" u="none" cap="none" strike="noStrike">
              <a:solidFill>
                <a:schemeClr val="dk1"/>
              </a:solidFill>
              <a:latin typeface="Calibri"/>
              <a:ea typeface="Calibri"/>
              <a:cs typeface="Calibri"/>
              <a:sym typeface="Calibri"/>
            </a:endParaRPr>
          </a:p>
        </p:txBody>
      </p:sp>
      <p:sp>
        <p:nvSpPr>
          <p:cNvPr id="54" name="Google Shape;54;p2"/>
          <p:cNvSpPr/>
          <p:nvPr/>
        </p:nvSpPr>
        <p:spPr>
          <a:xfrm>
            <a:off x="1955033" y="2011645"/>
            <a:ext cx="10974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support</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vectors</a:t>
            </a:r>
            <a:endParaRPr b="0" i="0" sz="900" u="none" cap="none" strike="noStrike">
              <a:solidFill>
                <a:schemeClr val="dk1"/>
              </a:solidFill>
              <a:latin typeface="Calibri"/>
              <a:ea typeface="Calibri"/>
              <a:cs typeface="Calibri"/>
              <a:sym typeface="Calibri"/>
            </a:endParaRPr>
          </a:p>
        </p:txBody>
      </p:sp>
      <p:sp>
        <p:nvSpPr>
          <p:cNvPr id="55" name="Google Shape;55;p2"/>
          <p:cNvSpPr/>
          <p:nvPr/>
        </p:nvSpPr>
        <p:spPr>
          <a:xfrm>
            <a:off x="6035040" y="987552"/>
            <a:ext cx="2834640" cy="1024128"/>
          </a:xfrm>
          <a:prstGeom prst="roundRect">
            <a:avLst>
              <a:gd fmla="val 6250" name="adj"/>
            </a:avLst>
          </a:prstGeom>
          <a:solidFill>
            <a:srgbClr val="D6E8F7"/>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108192" y="1042416"/>
            <a:ext cx="384048" cy="8961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800"/>
              <a:buFont typeface="Calibri"/>
              <a:buNone/>
            </a:pPr>
            <a:r>
              <a:rPr b="1" i="0" lang="en-US" sz="1800" u="none" cap="none" strike="noStrike">
                <a:solidFill>
                  <a:srgbClr val="1B2A4A"/>
                </a:solidFill>
                <a:latin typeface="Calibri"/>
                <a:ea typeface="Calibri"/>
                <a:cs typeface="Calibri"/>
                <a:sym typeface="Calibri"/>
              </a:rPr>
              <a:t>①</a:t>
            </a:r>
            <a:endParaRPr b="0" i="0" sz="1800" u="none" cap="none" strike="noStrike">
              <a:solidFill>
                <a:schemeClr val="dk1"/>
              </a:solidFill>
              <a:latin typeface="Calibri"/>
              <a:ea typeface="Calibri"/>
              <a:cs typeface="Calibri"/>
              <a:sym typeface="Calibri"/>
            </a:endParaRPr>
          </a:p>
        </p:txBody>
      </p:sp>
      <p:sp>
        <p:nvSpPr>
          <p:cNvPr id="57" name="Google Shape;57;p2"/>
          <p:cNvSpPr/>
          <p:nvPr/>
        </p:nvSpPr>
        <p:spPr>
          <a:xfrm>
            <a:off x="6510528" y="1078992"/>
            <a:ext cx="22402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Find a hyperplane separating the two classes</a:t>
            </a:r>
            <a:endParaRPr b="0" i="0" sz="1200" u="none" cap="none" strike="noStrike">
              <a:solidFill>
                <a:schemeClr val="dk1"/>
              </a:solidFill>
              <a:latin typeface="Calibri"/>
              <a:ea typeface="Calibri"/>
              <a:cs typeface="Calibri"/>
              <a:sym typeface="Calibri"/>
            </a:endParaRPr>
          </a:p>
        </p:txBody>
      </p:sp>
      <p:sp>
        <p:nvSpPr>
          <p:cNvPr id="58" name="Google Shape;58;p2"/>
          <p:cNvSpPr/>
          <p:nvPr/>
        </p:nvSpPr>
        <p:spPr>
          <a:xfrm>
            <a:off x="6035040" y="2157984"/>
            <a:ext cx="2834640" cy="1024128"/>
          </a:xfrm>
          <a:prstGeom prst="roundRect">
            <a:avLst>
              <a:gd fmla="val 6250" name="adj"/>
            </a:avLst>
          </a:prstGeom>
          <a:solidFill>
            <a:srgbClr val="FFF0EA"/>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108192" y="2212848"/>
            <a:ext cx="384048" cy="8961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2A"/>
              </a:buClr>
              <a:buSzPts val="1800"/>
              <a:buFont typeface="Calibri"/>
              <a:buNone/>
            </a:pPr>
            <a:r>
              <a:rPr b="1" i="0" lang="en-US" sz="1800" u="none" cap="none" strike="noStrike">
                <a:solidFill>
                  <a:srgbClr val="E05C2A"/>
                </a:solidFill>
                <a:latin typeface="Calibri"/>
                <a:ea typeface="Calibri"/>
                <a:cs typeface="Calibri"/>
                <a:sym typeface="Calibri"/>
              </a:rPr>
              <a:t>②</a:t>
            </a:r>
            <a:endParaRPr b="0" i="0" sz="1800" u="none" cap="none" strike="noStrike">
              <a:solidFill>
                <a:schemeClr val="dk1"/>
              </a:solidFill>
              <a:latin typeface="Calibri"/>
              <a:ea typeface="Calibri"/>
              <a:cs typeface="Calibri"/>
              <a:sym typeface="Calibri"/>
            </a:endParaRPr>
          </a:p>
        </p:txBody>
      </p:sp>
      <p:sp>
        <p:nvSpPr>
          <p:cNvPr id="60" name="Google Shape;60;p2"/>
          <p:cNvSpPr/>
          <p:nvPr/>
        </p:nvSpPr>
        <p:spPr>
          <a:xfrm>
            <a:off x="6510528" y="2249424"/>
            <a:ext cx="22402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SVM picks the one with the maximum margin</a:t>
            </a:r>
            <a:endParaRPr b="0" i="0" sz="1200" u="none" cap="none" strike="noStrike">
              <a:solidFill>
                <a:schemeClr val="dk1"/>
              </a:solidFill>
              <a:latin typeface="Calibri"/>
              <a:ea typeface="Calibri"/>
              <a:cs typeface="Calibri"/>
              <a:sym typeface="Calibri"/>
            </a:endParaRPr>
          </a:p>
        </p:txBody>
      </p:sp>
      <p:sp>
        <p:nvSpPr>
          <p:cNvPr id="61" name="Google Shape;61;p2"/>
          <p:cNvSpPr/>
          <p:nvPr/>
        </p:nvSpPr>
        <p:spPr>
          <a:xfrm>
            <a:off x="6035040" y="3328416"/>
            <a:ext cx="2834640" cy="1024128"/>
          </a:xfrm>
          <a:prstGeom prst="roundRect">
            <a:avLst>
              <a:gd fmla="val 6250" name="adj"/>
            </a:avLst>
          </a:prstGeom>
          <a:solidFill>
            <a:srgbClr val="D6E8F7"/>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108192" y="3383280"/>
            <a:ext cx="384048" cy="8961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800"/>
              <a:buFont typeface="Calibri"/>
              <a:buNone/>
            </a:pPr>
            <a:r>
              <a:rPr b="1" i="0" lang="en-US" sz="1800" u="none" cap="none" strike="noStrike">
                <a:solidFill>
                  <a:srgbClr val="1B2A4A"/>
                </a:solidFill>
                <a:latin typeface="Calibri"/>
                <a:ea typeface="Calibri"/>
                <a:cs typeface="Calibri"/>
                <a:sym typeface="Calibri"/>
              </a:rPr>
              <a:t>③</a:t>
            </a:r>
            <a:endParaRPr b="0" i="0" sz="1800" u="none" cap="none" strike="noStrike">
              <a:solidFill>
                <a:schemeClr val="dk1"/>
              </a:solidFill>
              <a:latin typeface="Calibri"/>
              <a:ea typeface="Calibri"/>
              <a:cs typeface="Calibri"/>
              <a:sym typeface="Calibri"/>
            </a:endParaRPr>
          </a:p>
        </p:txBody>
      </p:sp>
      <p:sp>
        <p:nvSpPr>
          <p:cNvPr id="63" name="Google Shape;63;p2"/>
          <p:cNvSpPr/>
          <p:nvPr/>
        </p:nvSpPr>
        <p:spPr>
          <a:xfrm>
            <a:off x="6510528" y="3419856"/>
            <a:ext cx="22402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Support vectors = nearest points </a:t>
            </a:r>
            <a:endParaRPr b="0" i="0" sz="1200" u="none" cap="none" strike="noStrike">
              <a:solidFill>
                <a:schemeClr val="dk1"/>
              </a:solidFill>
              <a:latin typeface="Calibri"/>
              <a:ea typeface="Calibri"/>
              <a:cs typeface="Calibri"/>
              <a:sym typeface="Calibri"/>
            </a:endParaRPr>
          </a:p>
        </p:txBody>
      </p:sp>
      <p:sp>
        <p:nvSpPr>
          <p:cNvPr id="64" name="Google Shape;64;p2"/>
          <p:cNvSpPr/>
          <p:nvPr/>
        </p:nvSpPr>
        <p:spPr>
          <a:xfrm>
            <a:off x="6035040" y="4526280"/>
            <a:ext cx="2834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2A"/>
              </a:buClr>
              <a:buSzPts val="1000"/>
              <a:buFont typeface="Calibri"/>
              <a:buNone/>
            </a:pPr>
            <a:r>
              <a:rPr b="0" i="1" lang="en-US" sz="1000" u="none" cap="none" strike="noStrike">
                <a:solidFill>
                  <a:srgbClr val="E05C2A"/>
                </a:solidFill>
                <a:latin typeface="Calibri"/>
                <a:ea typeface="Calibri"/>
                <a:cs typeface="Calibri"/>
                <a:sym typeface="Calibri"/>
              </a:rPr>
              <a:t>Bigger margin → better generalization to new patients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g3eb7d388cc5_0_15"/>
          <p:cNvSpPr/>
          <p:nvPr/>
        </p:nvSpPr>
        <p:spPr>
          <a:xfrm>
            <a:off x="0" y="0"/>
            <a:ext cx="9144000" cy="10059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eb7d388cc5_0_15"/>
          <p:cNvSpPr/>
          <p:nvPr/>
        </p:nvSpPr>
        <p:spPr>
          <a:xfrm>
            <a:off x="411480" y="73152"/>
            <a:ext cx="83211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Primal Formulation — Hard Margin</a:t>
            </a:r>
            <a:endParaRPr b="0" i="0" sz="2500" u="none" cap="none" strike="noStrike">
              <a:solidFill>
                <a:schemeClr val="dk1"/>
              </a:solidFill>
              <a:latin typeface="Calibri"/>
              <a:ea typeface="Calibri"/>
              <a:cs typeface="Calibri"/>
              <a:sym typeface="Calibri"/>
            </a:endParaRPr>
          </a:p>
        </p:txBody>
      </p:sp>
      <p:sp>
        <p:nvSpPr>
          <p:cNvPr id="72" name="Google Shape;72;g3eb7d388cc5_0_15"/>
          <p:cNvSpPr/>
          <p:nvPr/>
        </p:nvSpPr>
        <p:spPr>
          <a:xfrm>
            <a:off x="411480" y="621792"/>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8F7"/>
              </a:buClr>
              <a:buSzPts val="1100"/>
              <a:buFont typeface="Calibri"/>
              <a:buNone/>
            </a:pPr>
            <a:r>
              <a:rPr b="0" i="1" lang="en-US" sz="1100" u="none" cap="none" strike="noStrike">
                <a:solidFill>
                  <a:srgbClr val="D6E8F7"/>
                </a:solidFill>
                <a:latin typeface="Calibri"/>
                <a:ea typeface="Calibri"/>
                <a:cs typeface="Calibri"/>
                <a:sym typeface="Calibri"/>
              </a:rPr>
              <a:t>Assumes classes are perfectly linearly separable</a:t>
            </a:r>
            <a:endParaRPr b="0" i="0" sz="1100" u="none" cap="none" strike="noStrike">
              <a:solidFill>
                <a:schemeClr val="dk1"/>
              </a:solidFill>
              <a:latin typeface="Calibri"/>
              <a:ea typeface="Calibri"/>
              <a:cs typeface="Calibri"/>
              <a:sym typeface="Calibri"/>
            </a:endParaRPr>
          </a:p>
        </p:txBody>
      </p:sp>
      <p:sp>
        <p:nvSpPr>
          <p:cNvPr id="73" name="Google Shape;73;g3eb7d388cc5_0_15"/>
          <p:cNvSpPr/>
          <p:nvPr/>
        </p:nvSpPr>
        <p:spPr>
          <a:xfrm>
            <a:off x="1554480" y="1024128"/>
            <a:ext cx="1188600" cy="3520500"/>
          </a:xfrm>
          <a:prstGeom prst="rect">
            <a:avLst/>
          </a:prstGeom>
          <a:solidFill>
            <a:srgbClr val="D6E8F7">
              <a:alpha val="65100"/>
            </a:srgbClr>
          </a:solidFill>
          <a:ln cap="flat" cmpd="sng" w="12700">
            <a:solidFill>
              <a:srgbClr val="D6E8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 name="Google Shape;74;g3eb7d388cc5_0_15"/>
          <p:cNvCxnSpPr/>
          <p:nvPr/>
        </p:nvCxnSpPr>
        <p:spPr>
          <a:xfrm>
            <a:off x="1554480" y="1024128"/>
            <a:ext cx="0" cy="3520500"/>
          </a:xfrm>
          <a:prstGeom prst="straightConnector1">
            <a:avLst/>
          </a:prstGeom>
          <a:noFill/>
          <a:ln cap="flat" cmpd="sng" w="22850">
            <a:solidFill>
              <a:srgbClr val="2D6A9F"/>
            </a:solidFill>
            <a:prstDash val="dash"/>
            <a:round/>
            <a:headEnd len="sm" w="sm" type="none"/>
            <a:tailEnd len="sm" w="sm" type="none"/>
          </a:ln>
        </p:spPr>
      </p:cxnSp>
      <p:cxnSp>
        <p:nvCxnSpPr>
          <p:cNvPr id="75" name="Google Shape;75;g3eb7d388cc5_0_15"/>
          <p:cNvCxnSpPr/>
          <p:nvPr/>
        </p:nvCxnSpPr>
        <p:spPr>
          <a:xfrm>
            <a:off x="2148840" y="1024128"/>
            <a:ext cx="0" cy="3520500"/>
          </a:xfrm>
          <a:prstGeom prst="straightConnector1">
            <a:avLst/>
          </a:prstGeom>
          <a:noFill/>
          <a:ln cap="flat" cmpd="sng" w="38100">
            <a:solidFill>
              <a:srgbClr val="1B2A4A"/>
            </a:solidFill>
            <a:prstDash val="solid"/>
            <a:round/>
            <a:headEnd len="sm" w="sm" type="none"/>
            <a:tailEnd len="sm" w="sm" type="none"/>
          </a:ln>
        </p:spPr>
      </p:cxnSp>
      <p:cxnSp>
        <p:nvCxnSpPr>
          <p:cNvPr id="76" name="Google Shape;76;g3eb7d388cc5_0_15"/>
          <p:cNvCxnSpPr/>
          <p:nvPr/>
        </p:nvCxnSpPr>
        <p:spPr>
          <a:xfrm>
            <a:off x="2743200" y="1024128"/>
            <a:ext cx="0" cy="3520500"/>
          </a:xfrm>
          <a:prstGeom prst="straightConnector1">
            <a:avLst/>
          </a:prstGeom>
          <a:noFill/>
          <a:ln cap="flat" cmpd="sng" w="22850">
            <a:solidFill>
              <a:srgbClr val="E05C2A"/>
            </a:solidFill>
            <a:prstDash val="dash"/>
            <a:round/>
            <a:headEnd len="sm" w="sm" type="none"/>
            <a:tailEnd len="sm" w="sm" type="none"/>
          </a:ln>
        </p:spPr>
      </p:cxnSp>
      <p:sp>
        <p:nvSpPr>
          <p:cNvPr id="77" name="Google Shape;77;g3eb7d388cc5_0_15"/>
          <p:cNvSpPr/>
          <p:nvPr/>
        </p:nvSpPr>
        <p:spPr>
          <a:xfrm>
            <a:off x="292608" y="1069848"/>
            <a:ext cx="12345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D6A9F"/>
              </a:buClr>
              <a:buSzPts val="900"/>
              <a:buFont typeface="Courier New"/>
              <a:buNone/>
            </a:pPr>
            <a:r>
              <a:rPr b="1" i="0" lang="en-US" sz="900" u="none" cap="none" strike="noStrike">
                <a:solidFill>
                  <a:srgbClr val="2D6A9F"/>
                </a:solidFill>
                <a:latin typeface="Courier New"/>
                <a:ea typeface="Courier New"/>
                <a:cs typeface="Courier New"/>
                <a:sym typeface="Courier New"/>
              </a:rPr>
              <a:t>wᵀx−b=−1</a:t>
            </a:r>
            <a:endParaRPr b="0" i="0" sz="900" u="none" cap="none" strike="noStrike">
              <a:solidFill>
                <a:schemeClr val="dk1"/>
              </a:solidFill>
              <a:latin typeface="Calibri"/>
              <a:ea typeface="Calibri"/>
              <a:cs typeface="Calibri"/>
              <a:sym typeface="Calibri"/>
            </a:endParaRPr>
          </a:p>
        </p:txBody>
      </p:sp>
      <p:sp>
        <p:nvSpPr>
          <p:cNvPr id="78" name="Google Shape;78;g3eb7d388cc5_0_15"/>
          <p:cNvSpPr/>
          <p:nvPr/>
        </p:nvSpPr>
        <p:spPr>
          <a:xfrm>
            <a:off x="1581912" y="1069848"/>
            <a:ext cx="11157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Courier New"/>
              <a:buNone/>
            </a:pPr>
            <a:r>
              <a:rPr b="1" i="0" lang="en-US" sz="900" u="none" cap="none" strike="noStrike">
                <a:solidFill>
                  <a:srgbClr val="1B2A4A"/>
                </a:solidFill>
                <a:latin typeface="Courier New"/>
                <a:ea typeface="Courier New"/>
                <a:cs typeface="Courier New"/>
                <a:sym typeface="Courier New"/>
              </a:rPr>
              <a:t>wᵀx−b= 0</a:t>
            </a:r>
            <a:endParaRPr b="0" i="0" sz="900" u="none" cap="none" strike="noStrike">
              <a:solidFill>
                <a:schemeClr val="dk1"/>
              </a:solidFill>
              <a:latin typeface="Calibri"/>
              <a:ea typeface="Calibri"/>
              <a:cs typeface="Calibri"/>
              <a:sym typeface="Calibri"/>
            </a:endParaRPr>
          </a:p>
        </p:txBody>
      </p:sp>
      <p:sp>
        <p:nvSpPr>
          <p:cNvPr id="79" name="Google Shape;79;g3eb7d388cc5_0_15"/>
          <p:cNvSpPr/>
          <p:nvPr/>
        </p:nvSpPr>
        <p:spPr>
          <a:xfrm>
            <a:off x="2761488" y="1069848"/>
            <a:ext cx="12345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900"/>
              <a:buFont typeface="Courier New"/>
              <a:buNone/>
            </a:pPr>
            <a:r>
              <a:rPr b="1" i="0" lang="en-US" sz="900" u="none" cap="none" strike="noStrike">
                <a:solidFill>
                  <a:srgbClr val="E05C2A"/>
                </a:solidFill>
                <a:latin typeface="Courier New"/>
                <a:ea typeface="Courier New"/>
                <a:cs typeface="Courier New"/>
                <a:sym typeface="Courier New"/>
              </a:rPr>
              <a:t>wᵀx−b=+1</a:t>
            </a:r>
            <a:endParaRPr b="0" i="0" sz="900" u="none" cap="none" strike="noStrike">
              <a:solidFill>
                <a:schemeClr val="dk1"/>
              </a:solidFill>
              <a:latin typeface="Calibri"/>
              <a:ea typeface="Calibri"/>
              <a:cs typeface="Calibri"/>
              <a:sym typeface="Calibri"/>
            </a:endParaRPr>
          </a:p>
        </p:txBody>
      </p:sp>
      <p:sp>
        <p:nvSpPr>
          <p:cNvPr id="80" name="Google Shape;80;g3eb7d388cc5_0_15"/>
          <p:cNvSpPr/>
          <p:nvPr/>
        </p:nvSpPr>
        <p:spPr>
          <a:xfrm>
            <a:off x="502920" y="1463040"/>
            <a:ext cx="183000" cy="183000"/>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eb7d388cc5_0_15"/>
          <p:cNvSpPr/>
          <p:nvPr/>
        </p:nvSpPr>
        <p:spPr>
          <a:xfrm>
            <a:off x="685800" y="2103120"/>
            <a:ext cx="183000" cy="183000"/>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b7d388cc5_0_15"/>
          <p:cNvSpPr/>
          <p:nvPr/>
        </p:nvSpPr>
        <p:spPr>
          <a:xfrm>
            <a:off x="457200" y="2743200"/>
            <a:ext cx="183000" cy="183000"/>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eb7d388cc5_0_15"/>
          <p:cNvSpPr/>
          <p:nvPr/>
        </p:nvSpPr>
        <p:spPr>
          <a:xfrm>
            <a:off x="960120" y="3291840"/>
            <a:ext cx="183000" cy="183000"/>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eb7d388cc5_0_15"/>
          <p:cNvSpPr/>
          <p:nvPr/>
        </p:nvSpPr>
        <p:spPr>
          <a:xfrm>
            <a:off x="1097280" y="1325880"/>
            <a:ext cx="183000" cy="183000"/>
          </a:xfrm>
          <a:prstGeom prst="ellipse">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eb7d388cc5_0_15"/>
          <p:cNvSpPr/>
          <p:nvPr/>
        </p:nvSpPr>
        <p:spPr>
          <a:xfrm>
            <a:off x="1453896" y="2423160"/>
            <a:ext cx="219600" cy="219600"/>
          </a:xfrm>
          <a:prstGeom prst="ellipse">
            <a:avLst/>
          </a:prstGeom>
          <a:solidFill>
            <a:srgbClr val="2D6A9F"/>
          </a:solidFill>
          <a:ln cap="flat" cmpd="sng" w="254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eb7d388cc5_0_15"/>
          <p:cNvSpPr/>
          <p:nvPr/>
        </p:nvSpPr>
        <p:spPr>
          <a:xfrm>
            <a:off x="1399032" y="2368296"/>
            <a:ext cx="329100" cy="329100"/>
          </a:xfrm>
          <a:prstGeom prst="ellipse">
            <a:avLst/>
          </a:prstGeom>
          <a:solidFill>
            <a:srgbClr val="FFFFFF">
              <a:alpha val="0"/>
            </a:srgbClr>
          </a:solidFill>
          <a:ln cap="flat" cmpd="sng" w="19050">
            <a:solidFill>
              <a:srgbClr val="2D6A9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eb7d388cc5_0_15"/>
          <p:cNvSpPr/>
          <p:nvPr/>
        </p:nvSpPr>
        <p:spPr>
          <a:xfrm>
            <a:off x="3246120" y="1417320"/>
            <a:ext cx="183000" cy="183000"/>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eb7d388cc5_0_15"/>
          <p:cNvSpPr/>
          <p:nvPr/>
        </p:nvSpPr>
        <p:spPr>
          <a:xfrm>
            <a:off x="3429000" y="2148840"/>
            <a:ext cx="183000" cy="183000"/>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eb7d388cc5_0_15"/>
          <p:cNvSpPr/>
          <p:nvPr/>
        </p:nvSpPr>
        <p:spPr>
          <a:xfrm>
            <a:off x="3200400" y="2834640"/>
            <a:ext cx="183000" cy="183000"/>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eb7d388cc5_0_15"/>
          <p:cNvSpPr/>
          <p:nvPr/>
        </p:nvSpPr>
        <p:spPr>
          <a:xfrm>
            <a:off x="3749040" y="3383280"/>
            <a:ext cx="183000" cy="183000"/>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eb7d388cc5_0_15"/>
          <p:cNvSpPr/>
          <p:nvPr/>
        </p:nvSpPr>
        <p:spPr>
          <a:xfrm>
            <a:off x="3931920" y="1828800"/>
            <a:ext cx="183000" cy="183000"/>
          </a:xfrm>
          <a:prstGeom prst="ellipse">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eb7d388cc5_0_15"/>
          <p:cNvSpPr/>
          <p:nvPr/>
        </p:nvSpPr>
        <p:spPr>
          <a:xfrm>
            <a:off x="2743200" y="2084832"/>
            <a:ext cx="219600" cy="219600"/>
          </a:xfrm>
          <a:prstGeom prst="ellipse">
            <a:avLst/>
          </a:prstGeom>
          <a:solidFill>
            <a:srgbClr val="E05C2A"/>
          </a:solidFill>
          <a:ln cap="flat" cmpd="sng" w="254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eb7d388cc5_0_15"/>
          <p:cNvSpPr/>
          <p:nvPr/>
        </p:nvSpPr>
        <p:spPr>
          <a:xfrm>
            <a:off x="2688336" y="2029968"/>
            <a:ext cx="329100" cy="329100"/>
          </a:xfrm>
          <a:prstGeom prst="ellipse">
            <a:avLst/>
          </a:prstGeom>
          <a:solidFill>
            <a:srgbClr val="FFFFFF">
              <a:alpha val="0"/>
            </a:srgbClr>
          </a:solidFill>
          <a:ln cap="flat" cmpd="sng" w="19050">
            <a:solidFill>
              <a:srgbClr val="E05C2A"/>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eb7d388cc5_0_15"/>
          <p:cNvSpPr/>
          <p:nvPr/>
        </p:nvSpPr>
        <p:spPr>
          <a:xfrm>
            <a:off x="1536192" y="4224528"/>
            <a:ext cx="6036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6A9F"/>
              </a:buClr>
              <a:buSzPts val="800"/>
              <a:buFont typeface="Calibri"/>
              <a:buNone/>
            </a:pPr>
            <a:r>
              <a:rPr b="0" i="0" lang="en-US" sz="800" u="none" cap="none" strike="noStrike">
                <a:solidFill>
                  <a:srgbClr val="2D6A9F"/>
                </a:solidFill>
                <a:latin typeface="Calibri"/>
                <a:ea typeface="Calibri"/>
                <a:cs typeface="Calibri"/>
                <a:sym typeface="Calibri"/>
              </a:rPr>
              <a:t>1/||w||</a:t>
            </a:r>
            <a:endParaRPr b="0" i="0" sz="800" u="none" cap="none" strike="noStrike">
              <a:solidFill>
                <a:schemeClr val="dk1"/>
              </a:solidFill>
              <a:latin typeface="Calibri"/>
              <a:ea typeface="Calibri"/>
              <a:cs typeface="Calibri"/>
              <a:sym typeface="Calibri"/>
            </a:endParaRPr>
          </a:p>
        </p:txBody>
      </p:sp>
      <p:sp>
        <p:nvSpPr>
          <p:cNvPr id="95" name="Google Shape;95;g3eb7d388cc5_0_15"/>
          <p:cNvSpPr/>
          <p:nvPr/>
        </p:nvSpPr>
        <p:spPr>
          <a:xfrm>
            <a:off x="2139696" y="4224528"/>
            <a:ext cx="6036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2A"/>
              </a:buClr>
              <a:buSzPts val="800"/>
              <a:buFont typeface="Calibri"/>
              <a:buNone/>
            </a:pPr>
            <a:r>
              <a:rPr b="0" i="0" lang="en-US" sz="800" u="none" cap="none" strike="noStrike">
                <a:solidFill>
                  <a:srgbClr val="E05C2A"/>
                </a:solidFill>
                <a:latin typeface="Calibri"/>
                <a:ea typeface="Calibri"/>
                <a:cs typeface="Calibri"/>
                <a:sym typeface="Calibri"/>
              </a:rPr>
              <a:t>1/||w||</a:t>
            </a:r>
            <a:endParaRPr b="0" i="0" sz="800" u="none" cap="none" strike="noStrike">
              <a:solidFill>
                <a:schemeClr val="dk1"/>
              </a:solidFill>
              <a:latin typeface="Calibri"/>
              <a:ea typeface="Calibri"/>
              <a:cs typeface="Calibri"/>
              <a:sym typeface="Calibri"/>
            </a:endParaRPr>
          </a:p>
        </p:txBody>
      </p:sp>
      <p:cxnSp>
        <p:nvCxnSpPr>
          <p:cNvPr id="96" name="Google Shape;96;g3eb7d388cc5_0_15"/>
          <p:cNvCxnSpPr/>
          <p:nvPr/>
        </p:nvCxnSpPr>
        <p:spPr>
          <a:xfrm>
            <a:off x="1554480" y="4389120"/>
            <a:ext cx="1188600" cy="0"/>
          </a:xfrm>
          <a:prstGeom prst="straightConnector1">
            <a:avLst/>
          </a:prstGeom>
          <a:noFill/>
          <a:ln cap="flat" cmpd="sng" w="15225">
            <a:solidFill>
              <a:srgbClr val="1B2A4A"/>
            </a:solidFill>
            <a:prstDash val="solid"/>
            <a:round/>
            <a:headEnd len="sm" w="sm" type="none"/>
            <a:tailEnd len="sm" w="sm" type="none"/>
          </a:ln>
        </p:spPr>
      </p:cxnSp>
      <p:sp>
        <p:nvSpPr>
          <p:cNvPr id="97" name="Google Shape;97;g3eb7d388cc5_0_15"/>
          <p:cNvSpPr/>
          <p:nvPr/>
        </p:nvSpPr>
        <p:spPr>
          <a:xfrm>
            <a:off x="1481328" y="4306824"/>
            <a:ext cx="1647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8" name="Google Shape;98;g3eb7d388cc5_0_15"/>
          <p:cNvSpPr/>
          <p:nvPr/>
        </p:nvSpPr>
        <p:spPr>
          <a:xfrm>
            <a:off x="2651760" y="4306824"/>
            <a:ext cx="1647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9" name="Google Shape;99;g3eb7d388cc5_0_15"/>
          <p:cNvSpPr/>
          <p:nvPr/>
        </p:nvSpPr>
        <p:spPr>
          <a:xfrm>
            <a:off x="1536192" y="4416552"/>
            <a:ext cx="12069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850"/>
              <a:buFont typeface="Calibri"/>
              <a:buNone/>
            </a:pPr>
            <a:r>
              <a:rPr b="1" i="0" lang="en-US" sz="850" u="none" cap="none" strike="noStrike">
                <a:solidFill>
                  <a:srgbClr val="1B2A4A"/>
                </a:solidFill>
                <a:latin typeface="Calibri"/>
                <a:ea typeface="Calibri"/>
                <a:cs typeface="Calibri"/>
                <a:sym typeface="Calibri"/>
              </a:rPr>
              <a:t>2/||w|| = margin</a:t>
            </a:r>
            <a:endParaRPr b="0" i="0" sz="850" u="none" cap="none" strike="noStrike">
              <a:solidFill>
                <a:schemeClr val="dk1"/>
              </a:solidFill>
              <a:latin typeface="Calibri"/>
              <a:ea typeface="Calibri"/>
              <a:cs typeface="Calibri"/>
              <a:sym typeface="Calibri"/>
            </a:endParaRPr>
          </a:p>
        </p:txBody>
      </p:sp>
      <p:sp>
        <p:nvSpPr>
          <p:cNvPr id="100" name="Google Shape;100;g3eb7d388cc5_0_15"/>
          <p:cNvSpPr/>
          <p:nvPr/>
        </p:nvSpPr>
        <p:spPr>
          <a:xfrm>
            <a:off x="274320" y="4617720"/>
            <a:ext cx="1188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6A9F"/>
              </a:buClr>
              <a:buSzPts val="1000"/>
              <a:buFont typeface="Calibri"/>
              <a:buNone/>
            </a:pPr>
            <a:r>
              <a:rPr b="1" i="0" lang="en-US" sz="1000" u="none" cap="none" strike="noStrike">
                <a:solidFill>
                  <a:srgbClr val="2D6A9F"/>
                </a:solidFill>
                <a:latin typeface="Calibri"/>
                <a:ea typeface="Calibri"/>
                <a:cs typeface="Calibri"/>
                <a:sym typeface="Calibri"/>
              </a:rPr>
              <a:t>No PD</a:t>
            </a:r>
            <a:endParaRPr b="0" i="0" sz="1000" u="none" cap="none" strike="noStrike">
              <a:solidFill>
                <a:schemeClr val="dk1"/>
              </a:solidFill>
              <a:latin typeface="Calibri"/>
              <a:ea typeface="Calibri"/>
              <a:cs typeface="Calibri"/>
              <a:sym typeface="Calibri"/>
            </a:endParaRPr>
          </a:p>
        </p:txBody>
      </p:sp>
      <p:sp>
        <p:nvSpPr>
          <p:cNvPr id="101" name="Google Shape;101;g3eb7d388cc5_0_15"/>
          <p:cNvSpPr/>
          <p:nvPr/>
        </p:nvSpPr>
        <p:spPr>
          <a:xfrm>
            <a:off x="3017520" y="4617720"/>
            <a:ext cx="822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2A"/>
              </a:buClr>
              <a:buSzPts val="1000"/>
              <a:buFont typeface="Calibri"/>
              <a:buNone/>
            </a:pPr>
            <a:r>
              <a:rPr b="1" i="0" lang="en-US" sz="1000" u="none" cap="none" strike="noStrike">
                <a:solidFill>
                  <a:srgbClr val="E05C2A"/>
                </a:solidFill>
                <a:latin typeface="Calibri"/>
                <a:ea typeface="Calibri"/>
                <a:cs typeface="Calibri"/>
                <a:sym typeface="Calibri"/>
              </a:rPr>
              <a:t>PD</a:t>
            </a:r>
            <a:endParaRPr b="0" i="0" sz="1000" u="none" cap="none" strike="noStrike">
              <a:solidFill>
                <a:schemeClr val="dk1"/>
              </a:solidFill>
              <a:latin typeface="Calibri"/>
              <a:ea typeface="Calibri"/>
              <a:cs typeface="Calibri"/>
              <a:sym typeface="Calibri"/>
            </a:endParaRPr>
          </a:p>
        </p:txBody>
      </p:sp>
      <p:sp>
        <p:nvSpPr>
          <p:cNvPr id="102" name="Google Shape;102;g3eb7d388cc5_0_15"/>
          <p:cNvSpPr/>
          <p:nvPr/>
        </p:nvSpPr>
        <p:spPr>
          <a:xfrm>
            <a:off x="4663450" y="1069725"/>
            <a:ext cx="4154100" cy="640200"/>
          </a:xfrm>
          <a:prstGeom prst="rect">
            <a:avLst/>
          </a:prstGeom>
          <a:solidFill>
            <a:srgbClr val="D6E8F7"/>
          </a:solidFill>
          <a:ln cap="flat" cmpd="sng" w="12700">
            <a:solidFill>
              <a:srgbClr val="D6E8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eb7d388cc5_0_15"/>
          <p:cNvSpPr/>
          <p:nvPr/>
        </p:nvSpPr>
        <p:spPr>
          <a:xfrm>
            <a:off x="4773168" y="1042416"/>
            <a:ext cx="14631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600"/>
              <a:buFont typeface="Courier New"/>
              <a:buNone/>
            </a:pPr>
            <a:r>
              <a:rPr b="1" i="0" lang="en-US" sz="1600" u="none" cap="none" strike="noStrike">
                <a:solidFill>
                  <a:srgbClr val="1B2A4A"/>
                </a:solidFill>
                <a:latin typeface="Courier New"/>
                <a:ea typeface="Courier New"/>
                <a:cs typeface="Courier New"/>
                <a:sym typeface="Courier New"/>
              </a:rPr>
              <a:t>minimize</a:t>
            </a:r>
            <a:endParaRPr b="0" i="0" sz="1600" u="none" cap="none" strike="noStrike">
              <a:solidFill>
                <a:schemeClr val="dk1"/>
              </a:solidFill>
              <a:latin typeface="Calibri"/>
              <a:ea typeface="Calibri"/>
              <a:cs typeface="Calibri"/>
              <a:sym typeface="Calibri"/>
            </a:endParaRPr>
          </a:p>
        </p:txBody>
      </p:sp>
      <p:sp>
        <p:nvSpPr>
          <p:cNvPr id="104" name="Google Shape;104;g3eb7d388cc5_0_15"/>
          <p:cNvSpPr/>
          <p:nvPr/>
        </p:nvSpPr>
        <p:spPr>
          <a:xfrm>
            <a:off x="6263640" y="1042416"/>
            <a:ext cx="2514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600"/>
              <a:buFont typeface="Courier New"/>
              <a:buNone/>
            </a:pPr>
            <a:r>
              <a:rPr b="0" i="0" lang="en-US" sz="1600" u="none" cap="none" strike="noStrike">
                <a:solidFill>
                  <a:srgbClr val="1B2A4A"/>
                </a:solidFill>
                <a:latin typeface="Courier New"/>
                <a:ea typeface="Courier New"/>
                <a:cs typeface="Courier New"/>
                <a:sym typeface="Courier New"/>
              </a:rPr>
              <a:t>½ ||w||²</a:t>
            </a:r>
            <a:endParaRPr b="0" i="0" sz="1600" u="none" cap="none" strike="noStrike">
              <a:solidFill>
                <a:schemeClr val="dk1"/>
              </a:solidFill>
              <a:latin typeface="Calibri"/>
              <a:ea typeface="Calibri"/>
              <a:cs typeface="Calibri"/>
              <a:sym typeface="Calibri"/>
            </a:endParaRPr>
          </a:p>
        </p:txBody>
      </p:sp>
      <p:sp>
        <p:nvSpPr>
          <p:cNvPr id="105" name="Google Shape;105;g3eb7d388cc5_0_15"/>
          <p:cNvSpPr/>
          <p:nvPr/>
        </p:nvSpPr>
        <p:spPr>
          <a:xfrm>
            <a:off x="4663440" y="1783080"/>
            <a:ext cx="4206300" cy="685800"/>
          </a:xfrm>
          <a:prstGeom prst="rect">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eb7d388cc5_0_15"/>
          <p:cNvSpPr/>
          <p:nvPr/>
        </p:nvSpPr>
        <p:spPr>
          <a:xfrm>
            <a:off x="4773168" y="1801368"/>
            <a:ext cx="160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8F7"/>
              </a:buClr>
              <a:buSzPts val="1400"/>
              <a:buFont typeface="Courier New"/>
              <a:buNone/>
            </a:pPr>
            <a:r>
              <a:rPr b="1" i="0" lang="en-US" sz="1400" u="none" cap="none" strike="noStrike">
                <a:solidFill>
                  <a:srgbClr val="D6E8F7"/>
                </a:solidFill>
                <a:latin typeface="Courier New"/>
                <a:ea typeface="Courier New"/>
                <a:cs typeface="Courier New"/>
                <a:sym typeface="Courier New"/>
              </a:rPr>
              <a:t>subject to</a:t>
            </a:r>
            <a:endParaRPr b="0" i="0" sz="1400" u="none" cap="none" strike="noStrike">
              <a:solidFill>
                <a:schemeClr val="dk1"/>
              </a:solidFill>
              <a:latin typeface="Calibri"/>
              <a:ea typeface="Calibri"/>
              <a:cs typeface="Calibri"/>
              <a:sym typeface="Calibri"/>
            </a:endParaRPr>
          </a:p>
        </p:txBody>
      </p:sp>
      <p:sp>
        <p:nvSpPr>
          <p:cNvPr id="107" name="Google Shape;107;g3eb7d388cc5_0_15"/>
          <p:cNvSpPr/>
          <p:nvPr/>
        </p:nvSpPr>
        <p:spPr>
          <a:xfrm>
            <a:off x="6400800" y="1801368"/>
            <a:ext cx="23775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ourier New"/>
              <a:buNone/>
            </a:pPr>
            <a:r>
              <a:rPr b="0" i="0" lang="en-US" sz="1400" u="none" cap="none" strike="noStrike">
                <a:solidFill>
                  <a:srgbClr val="FFFFFF"/>
                </a:solidFill>
                <a:latin typeface="Courier New"/>
                <a:ea typeface="Courier New"/>
                <a:cs typeface="Courier New"/>
                <a:sym typeface="Courier New"/>
              </a:rPr>
              <a:t>yᵢ(wᵀxᵢ−b) ≥ 1</a:t>
            </a:r>
            <a:endParaRPr b="0" i="0" sz="1400" u="none" cap="none" strike="noStrike">
              <a:solidFill>
                <a:schemeClr val="dk1"/>
              </a:solidFill>
              <a:latin typeface="Calibri"/>
              <a:ea typeface="Calibri"/>
              <a:cs typeface="Calibri"/>
              <a:sym typeface="Calibri"/>
            </a:endParaRPr>
          </a:p>
        </p:txBody>
      </p:sp>
      <p:sp>
        <p:nvSpPr>
          <p:cNvPr id="108" name="Google Shape;108;g3eb7d388cc5_0_15"/>
          <p:cNvSpPr/>
          <p:nvPr/>
        </p:nvSpPr>
        <p:spPr>
          <a:xfrm>
            <a:off x="4663440" y="2578608"/>
            <a:ext cx="4206300" cy="457200"/>
          </a:xfrm>
          <a:prstGeom prst="rect">
            <a:avLst/>
          </a:prstGeom>
          <a:solidFill>
            <a:srgbClr val="F4F7FB"/>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eb7d388cc5_0_15"/>
          <p:cNvSpPr/>
          <p:nvPr/>
        </p:nvSpPr>
        <p:spPr>
          <a:xfrm>
            <a:off x="4736592" y="2633472"/>
            <a:ext cx="1188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200"/>
              <a:buFont typeface="Courier New"/>
              <a:buNone/>
            </a:pPr>
            <a:r>
              <a:rPr b="1" i="0" lang="en-US" sz="1200" u="none" cap="none" strike="noStrike">
                <a:solidFill>
                  <a:srgbClr val="E05C2A"/>
                </a:solidFill>
                <a:latin typeface="Courier New"/>
                <a:ea typeface="Courier New"/>
                <a:cs typeface="Courier New"/>
                <a:sym typeface="Courier New"/>
              </a:rPr>
              <a:t>wᵀxᵢ−b</a:t>
            </a:r>
            <a:endParaRPr b="0" i="0" sz="1200" u="none" cap="none" strike="noStrike">
              <a:solidFill>
                <a:schemeClr val="dk1"/>
              </a:solidFill>
              <a:latin typeface="Calibri"/>
              <a:ea typeface="Calibri"/>
              <a:cs typeface="Calibri"/>
              <a:sym typeface="Calibri"/>
            </a:endParaRPr>
          </a:p>
        </p:txBody>
      </p:sp>
      <p:sp>
        <p:nvSpPr>
          <p:cNvPr id="110" name="Google Shape;110;g3eb7d388cc5_0_15"/>
          <p:cNvSpPr/>
          <p:nvPr/>
        </p:nvSpPr>
        <p:spPr>
          <a:xfrm>
            <a:off x="5989320" y="2633472"/>
            <a:ext cx="28347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hyperplane eq. for patient i</a:t>
            </a:r>
            <a:endParaRPr sz="11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positive = PD, negative = no PD</a:t>
            </a:r>
            <a:endParaRPr b="0" i="0" sz="1100" u="none" cap="none" strike="noStrike">
              <a:solidFill>
                <a:schemeClr val="dk1"/>
              </a:solidFill>
              <a:latin typeface="Calibri"/>
              <a:ea typeface="Calibri"/>
              <a:cs typeface="Calibri"/>
              <a:sym typeface="Calibri"/>
            </a:endParaRPr>
          </a:p>
        </p:txBody>
      </p:sp>
      <p:sp>
        <p:nvSpPr>
          <p:cNvPr id="111" name="Google Shape;111;g3eb7d388cc5_0_15"/>
          <p:cNvSpPr/>
          <p:nvPr/>
        </p:nvSpPr>
        <p:spPr>
          <a:xfrm>
            <a:off x="4663440" y="3072384"/>
            <a:ext cx="4206300" cy="457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eb7d388cc5_0_15"/>
          <p:cNvSpPr/>
          <p:nvPr/>
        </p:nvSpPr>
        <p:spPr>
          <a:xfrm>
            <a:off x="4736592" y="3127248"/>
            <a:ext cx="1188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200"/>
              <a:buFont typeface="Courier New"/>
              <a:buNone/>
            </a:pPr>
            <a:r>
              <a:rPr b="1" i="0" lang="en-US" sz="1200" u="none" cap="none" strike="noStrike">
                <a:solidFill>
                  <a:srgbClr val="E05C2A"/>
                </a:solidFill>
                <a:latin typeface="Courier New"/>
                <a:ea typeface="Courier New"/>
                <a:cs typeface="Courier New"/>
                <a:sym typeface="Courier New"/>
              </a:rPr>
              <a:t>yᵢ</a:t>
            </a:r>
            <a:endParaRPr b="0" i="0" sz="1200" u="none" cap="none" strike="noStrike">
              <a:solidFill>
                <a:schemeClr val="dk1"/>
              </a:solidFill>
              <a:latin typeface="Calibri"/>
              <a:ea typeface="Calibri"/>
              <a:cs typeface="Calibri"/>
              <a:sym typeface="Calibri"/>
            </a:endParaRPr>
          </a:p>
        </p:txBody>
      </p:sp>
      <p:sp>
        <p:nvSpPr>
          <p:cNvPr id="113" name="Google Shape;113;g3eb7d388cc5_0_15"/>
          <p:cNvSpPr/>
          <p:nvPr/>
        </p:nvSpPr>
        <p:spPr>
          <a:xfrm>
            <a:off x="5989320" y="3127248"/>
            <a:ext cx="28347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+1 if PD, −1 if no PD </a:t>
            </a:r>
            <a:endParaRPr b="0" i="0" sz="1100" u="none" cap="none" strike="noStrike">
              <a:solidFill>
                <a:schemeClr val="dk1"/>
              </a:solidFill>
              <a:latin typeface="Calibri"/>
              <a:ea typeface="Calibri"/>
              <a:cs typeface="Calibri"/>
              <a:sym typeface="Calibri"/>
            </a:endParaRPr>
          </a:p>
        </p:txBody>
      </p:sp>
      <p:sp>
        <p:nvSpPr>
          <p:cNvPr id="114" name="Google Shape;114;g3eb7d388cc5_0_15"/>
          <p:cNvSpPr/>
          <p:nvPr/>
        </p:nvSpPr>
        <p:spPr>
          <a:xfrm>
            <a:off x="4663440" y="3566160"/>
            <a:ext cx="4206300" cy="457200"/>
          </a:xfrm>
          <a:prstGeom prst="rect">
            <a:avLst/>
          </a:prstGeom>
          <a:solidFill>
            <a:srgbClr val="F4F7FB"/>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eb7d388cc5_0_15"/>
          <p:cNvSpPr/>
          <p:nvPr/>
        </p:nvSpPr>
        <p:spPr>
          <a:xfrm>
            <a:off x="4736592" y="3621024"/>
            <a:ext cx="1188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200"/>
              <a:buFont typeface="Courier New"/>
              <a:buNone/>
            </a:pPr>
            <a:r>
              <a:rPr b="1" i="0" lang="en-US" sz="1200" u="none" cap="none" strike="noStrike">
                <a:solidFill>
                  <a:srgbClr val="E05C2A"/>
                </a:solidFill>
                <a:latin typeface="Courier New"/>
                <a:ea typeface="Courier New"/>
                <a:cs typeface="Courier New"/>
                <a:sym typeface="Courier New"/>
              </a:rPr>
              <a:t>≥ 1</a:t>
            </a:r>
            <a:endParaRPr b="0" i="0" sz="1200" u="none" cap="none" strike="noStrike">
              <a:solidFill>
                <a:schemeClr val="dk1"/>
              </a:solidFill>
              <a:latin typeface="Calibri"/>
              <a:ea typeface="Calibri"/>
              <a:cs typeface="Calibri"/>
              <a:sym typeface="Calibri"/>
            </a:endParaRPr>
          </a:p>
        </p:txBody>
      </p:sp>
      <p:sp>
        <p:nvSpPr>
          <p:cNvPr id="116" name="Google Shape;116;g3eb7d388cc5_0_15"/>
          <p:cNvSpPr/>
          <p:nvPr/>
        </p:nvSpPr>
        <p:spPr>
          <a:xfrm>
            <a:off x="5989320" y="3621024"/>
            <a:ext cx="28347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forces patients outside the margin boundary, not just the correct side</a:t>
            </a:r>
            <a:endParaRPr b="0" i="0" sz="1100" u="none" cap="none" strike="noStrike">
              <a:solidFill>
                <a:schemeClr val="dk1"/>
              </a:solidFill>
              <a:latin typeface="Calibri"/>
              <a:ea typeface="Calibri"/>
              <a:cs typeface="Calibri"/>
              <a:sym typeface="Calibri"/>
            </a:endParaRPr>
          </a:p>
        </p:txBody>
      </p:sp>
      <p:sp>
        <p:nvSpPr>
          <p:cNvPr id="117" name="Google Shape;117;g3eb7d388cc5_0_15"/>
          <p:cNvSpPr/>
          <p:nvPr/>
        </p:nvSpPr>
        <p:spPr>
          <a:xfrm>
            <a:off x="4663440" y="4059936"/>
            <a:ext cx="4206300" cy="457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eb7d388cc5_0_15"/>
          <p:cNvSpPr/>
          <p:nvPr/>
        </p:nvSpPr>
        <p:spPr>
          <a:xfrm>
            <a:off x="4736592" y="4114800"/>
            <a:ext cx="1188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200"/>
              <a:buFont typeface="Courier New"/>
              <a:buNone/>
            </a:pPr>
            <a:r>
              <a:rPr b="1" lang="en-US" sz="1200">
                <a:solidFill>
                  <a:srgbClr val="E05C2A"/>
                </a:solidFill>
                <a:latin typeface="Courier New"/>
                <a:ea typeface="Courier New"/>
                <a:cs typeface="Courier New"/>
                <a:sym typeface="Courier New"/>
              </a:rPr>
              <a:t>2 / </a:t>
            </a:r>
            <a:r>
              <a:rPr b="1" i="0" lang="en-US" sz="1200" u="none" cap="none" strike="noStrike">
                <a:solidFill>
                  <a:srgbClr val="E05C2A"/>
                </a:solidFill>
                <a:latin typeface="Courier New"/>
                <a:ea typeface="Courier New"/>
                <a:cs typeface="Courier New"/>
                <a:sym typeface="Courier New"/>
              </a:rPr>
              <a:t>||w||</a:t>
            </a:r>
            <a:endParaRPr b="0" i="0" sz="1200" u="none" cap="none" strike="noStrike">
              <a:solidFill>
                <a:schemeClr val="dk1"/>
              </a:solidFill>
              <a:latin typeface="Calibri"/>
              <a:ea typeface="Calibri"/>
              <a:cs typeface="Calibri"/>
              <a:sym typeface="Calibri"/>
            </a:endParaRPr>
          </a:p>
        </p:txBody>
      </p:sp>
      <p:sp>
        <p:nvSpPr>
          <p:cNvPr id="119" name="Google Shape;119;g3eb7d388cc5_0_15"/>
          <p:cNvSpPr/>
          <p:nvPr/>
        </p:nvSpPr>
        <p:spPr>
          <a:xfrm>
            <a:off x="5989320" y="4114800"/>
            <a:ext cx="28347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Margin = 2/||w||  </a:t>
            </a:r>
            <a:endParaRPr b="0" i="0" sz="1100" u="none" cap="none" strike="noStrike">
              <a:solidFill>
                <a:schemeClr val="dk1"/>
              </a:solidFill>
              <a:latin typeface="Calibri"/>
              <a:ea typeface="Calibri"/>
              <a:cs typeface="Calibri"/>
              <a:sym typeface="Calibri"/>
            </a:endParaRPr>
          </a:p>
        </p:txBody>
      </p:sp>
      <p:sp>
        <p:nvSpPr>
          <p:cNvPr id="120" name="Google Shape;120;g3eb7d388cc5_0_15"/>
          <p:cNvSpPr/>
          <p:nvPr/>
        </p:nvSpPr>
        <p:spPr>
          <a:xfrm>
            <a:off x="4663440" y="4617720"/>
            <a:ext cx="4206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id="121" name="Google Shape;121;g3eb7d388cc5_0_15"/>
          <p:cNvPicPr preferRelativeResize="0"/>
          <p:nvPr/>
        </p:nvPicPr>
        <p:blipFill>
          <a:blip r:embed="rId3">
            <a:alphaModFix/>
          </a:blip>
          <a:stretch>
            <a:fillRect/>
          </a:stretch>
        </p:blipFill>
        <p:spPr>
          <a:xfrm>
            <a:off x="274325" y="1016799"/>
            <a:ext cx="4154025" cy="3802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g3eb7d388cc5_0_74"/>
          <p:cNvSpPr/>
          <p:nvPr/>
        </p:nvSpPr>
        <p:spPr>
          <a:xfrm>
            <a:off x="0" y="0"/>
            <a:ext cx="9144000" cy="8688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eb7d388cc5_0_74"/>
          <p:cNvSpPr/>
          <p:nvPr/>
        </p:nvSpPr>
        <p:spPr>
          <a:xfrm>
            <a:off x="411480" y="73152"/>
            <a:ext cx="83211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Where does Margin = 2 / ||w|| come from?</a:t>
            </a:r>
            <a:endParaRPr b="0" i="0" sz="2500" u="none" cap="none" strike="noStrike">
              <a:solidFill>
                <a:schemeClr val="dk1"/>
              </a:solidFill>
              <a:latin typeface="Calibri"/>
              <a:ea typeface="Calibri"/>
              <a:cs typeface="Calibri"/>
              <a:sym typeface="Calibri"/>
            </a:endParaRPr>
          </a:p>
        </p:txBody>
      </p:sp>
      <p:sp>
        <p:nvSpPr>
          <p:cNvPr id="129" name="Google Shape;129;g3eb7d388cc5_0_74"/>
          <p:cNvSpPr/>
          <p:nvPr/>
        </p:nvSpPr>
        <p:spPr>
          <a:xfrm>
            <a:off x="365760" y="1024128"/>
            <a:ext cx="8412600" cy="567000"/>
          </a:xfrm>
          <a:prstGeom prst="rect">
            <a:avLst/>
          </a:prstGeom>
          <a:solidFill>
            <a:srgbClr val="F4F7FB"/>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eb7d388cc5_0_74"/>
          <p:cNvSpPr/>
          <p:nvPr/>
        </p:nvSpPr>
        <p:spPr>
          <a:xfrm>
            <a:off x="475488" y="1060704"/>
            <a:ext cx="82296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Two margin planes (by convention ±1)</a:t>
            </a:r>
            <a:endParaRPr b="0" i="0" sz="1100" u="none" cap="none" strike="noStrike">
              <a:solidFill>
                <a:schemeClr val="dk1"/>
              </a:solidFill>
              <a:latin typeface="Calibri"/>
              <a:ea typeface="Calibri"/>
              <a:cs typeface="Calibri"/>
              <a:sym typeface="Calibri"/>
            </a:endParaRPr>
          </a:p>
        </p:txBody>
      </p:sp>
      <p:sp>
        <p:nvSpPr>
          <p:cNvPr id="131" name="Google Shape;131;g3eb7d388cc5_0_74"/>
          <p:cNvSpPr/>
          <p:nvPr/>
        </p:nvSpPr>
        <p:spPr>
          <a:xfrm>
            <a:off x="475488" y="1316736"/>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wᵀx−b = +1   and   wᵀx−b = −1</a:t>
            </a:r>
            <a:endParaRPr b="0" i="0" sz="1300" u="none" cap="none" strike="noStrike">
              <a:solidFill>
                <a:schemeClr val="dk1"/>
              </a:solidFill>
              <a:latin typeface="Calibri"/>
              <a:ea typeface="Calibri"/>
              <a:cs typeface="Calibri"/>
              <a:sym typeface="Calibri"/>
            </a:endParaRPr>
          </a:p>
        </p:txBody>
      </p:sp>
      <p:sp>
        <p:nvSpPr>
          <p:cNvPr id="132" name="Google Shape;132;g3eb7d388cc5_0_74"/>
          <p:cNvSpPr/>
          <p:nvPr/>
        </p:nvSpPr>
        <p:spPr>
          <a:xfrm>
            <a:off x="365760" y="1645920"/>
            <a:ext cx="8412600" cy="567000"/>
          </a:xfrm>
          <a:prstGeom prst="rect">
            <a:avLst/>
          </a:prstGeom>
          <a:solidFill>
            <a:srgbClr val="D6E8F7"/>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eb7d388cc5_0_74"/>
          <p:cNvSpPr/>
          <p:nvPr/>
        </p:nvSpPr>
        <p:spPr>
          <a:xfrm>
            <a:off x="475488" y="1682496"/>
            <a:ext cx="82296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Distance between two parallel planes</a:t>
            </a:r>
            <a:endParaRPr b="0" i="0" sz="1100" u="none" cap="none" strike="noStrike">
              <a:solidFill>
                <a:schemeClr val="dk1"/>
              </a:solidFill>
              <a:latin typeface="Calibri"/>
              <a:ea typeface="Calibri"/>
              <a:cs typeface="Calibri"/>
              <a:sym typeface="Calibri"/>
            </a:endParaRPr>
          </a:p>
        </p:txBody>
      </p:sp>
      <p:sp>
        <p:nvSpPr>
          <p:cNvPr id="134" name="Google Shape;134;g3eb7d388cc5_0_74"/>
          <p:cNvSpPr/>
          <p:nvPr/>
        </p:nvSpPr>
        <p:spPr>
          <a:xfrm>
            <a:off x="475488" y="1938528"/>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|c₁−c₂| / ||w||  =  |+1−(−1)| / ||w||  =  2/||w||</a:t>
            </a:r>
            <a:endParaRPr b="0" i="0" sz="1300" u="none" cap="none" strike="noStrike">
              <a:solidFill>
                <a:schemeClr val="dk1"/>
              </a:solidFill>
              <a:latin typeface="Calibri"/>
              <a:ea typeface="Calibri"/>
              <a:cs typeface="Calibri"/>
              <a:sym typeface="Calibri"/>
            </a:endParaRPr>
          </a:p>
        </p:txBody>
      </p:sp>
      <p:sp>
        <p:nvSpPr>
          <p:cNvPr id="135" name="Google Shape;135;g3eb7d388cc5_0_74"/>
          <p:cNvSpPr/>
          <p:nvPr/>
        </p:nvSpPr>
        <p:spPr>
          <a:xfrm>
            <a:off x="365760" y="2267712"/>
            <a:ext cx="8412600" cy="567000"/>
          </a:xfrm>
          <a:prstGeom prst="rect">
            <a:avLst/>
          </a:prstGeom>
          <a:solidFill>
            <a:srgbClr val="F4F7FB"/>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eb7d388cc5_0_74"/>
          <p:cNvSpPr/>
          <p:nvPr/>
        </p:nvSpPr>
        <p:spPr>
          <a:xfrm>
            <a:off x="475488" y="2304288"/>
            <a:ext cx="82296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We want to maximize the margin</a:t>
            </a:r>
            <a:endParaRPr b="0" i="0" sz="1100" u="none" cap="none" strike="noStrike">
              <a:solidFill>
                <a:schemeClr val="dk1"/>
              </a:solidFill>
              <a:latin typeface="Calibri"/>
              <a:ea typeface="Calibri"/>
              <a:cs typeface="Calibri"/>
              <a:sym typeface="Calibri"/>
            </a:endParaRPr>
          </a:p>
        </p:txBody>
      </p:sp>
      <p:sp>
        <p:nvSpPr>
          <p:cNvPr id="137" name="Google Shape;137;g3eb7d388cc5_0_74"/>
          <p:cNvSpPr/>
          <p:nvPr/>
        </p:nvSpPr>
        <p:spPr>
          <a:xfrm>
            <a:off x="475488" y="2560320"/>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maximize   2/||w||</a:t>
            </a:r>
            <a:endParaRPr b="0" i="0" sz="1300" u="none" cap="none" strike="noStrike">
              <a:solidFill>
                <a:schemeClr val="dk1"/>
              </a:solidFill>
              <a:latin typeface="Calibri"/>
              <a:ea typeface="Calibri"/>
              <a:cs typeface="Calibri"/>
              <a:sym typeface="Calibri"/>
            </a:endParaRPr>
          </a:p>
        </p:txBody>
      </p:sp>
      <p:sp>
        <p:nvSpPr>
          <p:cNvPr id="138" name="Google Shape;138;g3eb7d388cc5_0_74"/>
          <p:cNvSpPr/>
          <p:nvPr/>
        </p:nvSpPr>
        <p:spPr>
          <a:xfrm>
            <a:off x="365760" y="2889504"/>
            <a:ext cx="8412600" cy="567000"/>
          </a:xfrm>
          <a:prstGeom prst="rect">
            <a:avLst/>
          </a:prstGeom>
          <a:solidFill>
            <a:srgbClr val="F4F7FB"/>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eb7d388cc5_0_74"/>
          <p:cNvSpPr/>
          <p:nvPr/>
        </p:nvSpPr>
        <p:spPr>
          <a:xfrm>
            <a:off x="475488" y="2926080"/>
            <a:ext cx="82296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Flip the fraction (equivalent)</a:t>
            </a:r>
            <a:endParaRPr b="0" i="0" sz="1100" u="none" cap="none" strike="noStrike">
              <a:solidFill>
                <a:schemeClr val="dk1"/>
              </a:solidFill>
              <a:latin typeface="Calibri"/>
              <a:ea typeface="Calibri"/>
              <a:cs typeface="Calibri"/>
              <a:sym typeface="Calibri"/>
            </a:endParaRPr>
          </a:p>
        </p:txBody>
      </p:sp>
      <p:sp>
        <p:nvSpPr>
          <p:cNvPr id="140" name="Google Shape;140;g3eb7d388cc5_0_74"/>
          <p:cNvSpPr/>
          <p:nvPr/>
        </p:nvSpPr>
        <p:spPr>
          <a:xfrm>
            <a:off x="475488" y="3182112"/>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minimize   ||w||</a:t>
            </a:r>
            <a:endParaRPr b="0" i="0" sz="1300" u="none" cap="none" strike="noStrike">
              <a:solidFill>
                <a:schemeClr val="dk1"/>
              </a:solidFill>
              <a:latin typeface="Calibri"/>
              <a:ea typeface="Calibri"/>
              <a:cs typeface="Calibri"/>
              <a:sym typeface="Calibri"/>
            </a:endParaRPr>
          </a:p>
        </p:txBody>
      </p:sp>
      <p:sp>
        <p:nvSpPr>
          <p:cNvPr id="141" name="Google Shape;141;g3eb7d388cc5_0_74"/>
          <p:cNvSpPr/>
          <p:nvPr/>
        </p:nvSpPr>
        <p:spPr>
          <a:xfrm>
            <a:off x="365760" y="3511296"/>
            <a:ext cx="8412600" cy="567000"/>
          </a:xfrm>
          <a:prstGeom prst="rect">
            <a:avLst/>
          </a:prstGeom>
          <a:solidFill>
            <a:srgbClr val="F4F7FB"/>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eb7d388cc5_0_74"/>
          <p:cNvSpPr/>
          <p:nvPr/>
        </p:nvSpPr>
        <p:spPr>
          <a:xfrm>
            <a:off x="475488" y="3547872"/>
            <a:ext cx="82296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Drop the square root (equivalent)</a:t>
            </a:r>
            <a:endParaRPr b="0" i="0" sz="1100" u="none" cap="none" strike="noStrike">
              <a:solidFill>
                <a:schemeClr val="dk1"/>
              </a:solidFill>
              <a:latin typeface="Calibri"/>
              <a:ea typeface="Calibri"/>
              <a:cs typeface="Calibri"/>
              <a:sym typeface="Calibri"/>
            </a:endParaRPr>
          </a:p>
        </p:txBody>
      </p:sp>
      <p:sp>
        <p:nvSpPr>
          <p:cNvPr id="143" name="Google Shape;143;g3eb7d388cc5_0_74"/>
          <p:cNvSpPr/>
          <p:nvPr/>
        </p:nvSpPr>
        <p:spPr>
          <a:xfrm>
            <a:off x="475488" y="3803904"/>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minimize   ||w||²</a:t>
            </a:r>
            <a:endParaRPr b="0" i="0" sz="1300" u="none" cap="none" strike="noStrike">
              <a:solidFill>
                <a:schemeClr val="dk1"/>
              </a:solidFill>
              <a:latin typeface="Calibri"/>
              <a:ea typeface="Calibri"/>
              <a:cs typeface="Calibri"/>
              <a:sym typeface="Calibri"/>
            </a:endParaRPr>
          </a:p>
        </p:txBody>
      </p:sp>
      <p:sp>
        <p:nvSpPr>
          <p:cNvPr id="144" name="Google Shape;144;g3eb7d388cc5_0_74"/>
          <p:cNvSpPr/>
          <p:nvPr/>
        </p:nvSpPr>
        <p:spPr>
          <a:xfrm>
            <a:off x="365760" y="4133088"/>
            <a:ext cx="8412600" cy="567000"/>
          </a:xfrm>
          <a:prstGeom prst="rect">
            <a:avLst/>
          </a:prstGeom>
          <a:solidFill>
            <a:srgbClr val="FFF0EA"/>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eb7d388cc5_0_74"/>
          <p:cNvSpPr/>
          <p:nvPr/>
        </p:nvSpPr>
        <p:spPr>
          <a:xfrm>
            <a:off x="475488" y="4169664"/>
            <a:ext cx="82296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i="0" lang="en-US" sz="1100" u="none" cap="none" strike="noStrike">
                <a:solidFill>
                  <a:srgbClr val="1B2A4A"/>
                </a:solidFill>
                <a:latin typeface="Calibri"/>
                <a:ea typeface="Calibri"/>
                <a:cs typeface="Calibri"/>
                <a:sym typeface="Calibri"/>
              </a:rPr>
              <a:t>Add ½ for a clean derivative</a:t>
            </a:r>
            <a:endParaRPr b="0" i="0" sz="1100" u="none" cap="none" strike="noStrike">
              <a:solidFill>
                <a:schemeClr val="dk1"/>
              </a:solidFill>
              <a:latin typeface="Calibri"/>
              <a:ea typeface="Calibri"/>
              <a:cs typeface="Calibri"/>
              <a:sym typeface="Calibri"/>
            </a:endParaRPr>
          </a:p>
        </p:txBody>
      </p:sp>
      <p:sp>
        <p:nvSpPr>
          <p:cNvPr id="146" name="Google Shape;146;g3eb7d388cc5_0_74"/>
          <p:cNvSpPr/>
          <p:nvPr/>
        </p:nvSpPr>
        <p:spPr>
          <a:xfrm>
            <a:off x="475488" y="4425696"/>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minimize   ½||w||²   ✓</a:t>
            </a:r>
            <a:endParaRPr b="0" i="0" sz="1300" u="none" cap="none" strike="noStrike">
              <a:solidFill>
                <a:schemeClr val="dk1"/>
              </a:solidFill>
              <a:latin typeface="Calibri"/>
              <a:ea typeface="Calibri"/>
              <a:cs typeface="Calibri"/>
              <a:sym typeface="Calibri"/>
            </a:endParaRPr>
          </a:p>
        </p:txBody>
      </p:sp>
      <p:sp>
        <p:nvSpPr>
          <p:cNvPr id="147" name="Google Shape;147;g3eb7d388cc5_0_74"/>
          <p:cNvSpPr/>
          <p:nvPr/>
        </p:nvSpPr>
        <p:spPr>
          <a:xfrm>
            <a:off x="365760" y="4773168"/>
            <a:ext cx="8412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5"/>
          <p:cNvSpPr/>
          <p:nvPr/>
        </p:nvSpPr>
        <p:spPr>
          <a:xfrm>
            <a:off x="0" y="0"/>
            <a:ext cx="9144000" cy="10058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411480" y="73152"/>
            <a:ext cx="832104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Primal Formulation — Soft Margin</a:t>
            </a:r>
            <a:endParaRPr b="0" i="0" sz="2500" u="none" cap="none" strike="noStrike">
              <a:solidFill>
                <a:schemeClr val="dk1"/>
              </a:solidFill>
              <a:latin typeface="Calibri"/>
              <a:ea typeface="Calibri"/>
              <a:cs typeface="Calibri"/>
              <a:sym typeface="Calibri"/>
            </a:endParaRPr>
          </a:p>
        </p:txBody>
      </p:sp>
      <p:sp>
        <p:nvSpPr>
          <p:cNvPr id="155" name="Google Shape;155;p5"/>
          <p:cNvSpPr/>
          <p:nvPr/>
        </p:nvSpPr>
        <p:spPr>
          <a:xfrm>
            <a:off x="411480" y="621792"/>
            <a:ext cx="8321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8F7"/>
              </a:buClr>
              <a:buSzPts val="1100"/>
              <a:buFont typeface="Calibri"/>
              <a:buNone/>
            </a:pPr>
            <a:r>
              <a:rPr b="0" i="1" lang="en-US" sz="1100" u="none" cap="none" strike="noStrike">
                <a:solidFill>
                  <a:srgbClr val="D6E8F7"/>
                </a:solidFill>
                <a:latin typeface="Calibri"/>
                <a:ea typeface="Calibri"/>
                <a:cs typeface="Calibri"/>
                <a:sym typeface="Calibri"/>
              </a:rPr>
              <a:t>Real data is messy — classes overlap. Hard margin has no solution.</a:t>
            </a:r>
            <a:endParaRPr b="0" i="0" sz="1100" u="none" cap="none" strike="noStrike">
              <a:solidFill>
                <a:schemeClr val="dk1"/>
              </a:solidFill>
              <a:latin typeface="Calibri"/>
              <a:ea typeface="Calibri"/>
              <a:cs typeface="Calibri"/>
              <a:sym typeface="Calibri"/>
            </a:endParaRPr>
          </a:p>
        </p:txBody>
      </p:sp>
      <p:sp>
        <p:nvSpPr>
          <p:cNvPr id="156" name="Google Shape;156;p5"/>
          <p:cNvSpPr/>
          <p:nvPr/>
        </p:nvSpPr>
        <p:spPr>
          <a:xfrm>
            <a:off x="274320" y="1078992"/>
            <a:ext cx="4206240" cy="1920240"/>
          </a:xfrm>
          <a:prstGeom prst="rect">
            <a:avLst/>
          </a:prstGeom>
          <a:solidFill>
            <a:srgbClr val="F4F7FB"/>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11480" y="112471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Hinge loss  ζᵢ</a:t>
            </a:r>
            <a:endParaRPr b="0" i="0" sz="1400" u="none" cap="none" strike="noStrike">
              <a:solidFill>
                <a:schemeClr val="dk1"/>
              </a:solidFill>
              <a:latin typeface="Calibri"/>
              <a:ea typeface="Calibri"/>
              <a:cs typeface="Calibri"/>
              <a:sym typeface="Calibri"/>
            </a:endParaRPr>
          </a:p>
        </p:txBody>
      </p:sp>
      <p:sp>
        <p:nvSpPr>
          <p:cNvPr id="158" name="Google Shape;158;p5"/>
          <p:cNvSpPr/>
          <p:nvPr/>
        </p:nvSpPr>
        <p:spPr>
          <a:xfrm>
            <a:off x="411480" y="1481328"/>
            <a:ext cx="39319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ζᵢ = max(0,  1 − yᵢ(wᵀxᵢ − b))</a:t>
            </a:r>
            <a:endParaRPr b="0" i="0" sz="1300" u="none" cap="none" strike="noStrike">
              <a:solidFill>
                <a:schemeClr val="dk1"/>
              </a:solidFill>
              <a:latin typeface="Calibri"/>
              <a:ea typeface="Calibri"/>
              <a:cs typeface="Calibri"/>
              <a:sym typeface="Calibri"/>
            </a:endParaRPr>
          </a:p>
        </p:txBody>
      </p:sp>
      <p:sp>
        <p:nvSpPr>
          <p:cNvPr id="159" name="Google Shape;159;p5"/>
          <p:cNvSpPr/>
          <p:nvPr/>
        </p:nvSpPr>
        <p:spPr>
          <a:xfrm>
            <a:off x="411480" y="1874520"/>
            <a:ext cx="3931920" cy="256032"/>
          </a:xfrm>
          <a:prstGeom prst="rect">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75488" y="1883664"/>
            <a:ext cx="380390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ζᵢ = 0  →  correct, no penalty</a:t>
            </a:r>
            <a:endParaRPr b="0" i="0" sz="1100" u="none" cap="none" strike="noStrike">
              <a:solidFill>
                <a:schemeClr val="dk1"/>
              </a:solidFill>
              <a:latin typeface="Calibri"/>
              <a:ea typeface="Calibri"/>
              <a:cs typeface="Calibri"/>
              <a:sym typeface="Calibri"/>
            </a:endParaRPr>
          </a:p>
        </p:txBody>
      </p:sp>
      <p:sp>
        <p:nvSpPr>
          <p:cNvPr id="161" name="Google Shape;161;p5"/>
          <p:cNvSpPr/>
          <p:nvPr/>
        </p:nvSpPr>
        <p:spPr>
          <a:xfrm>
            <a:off x="411480" y="2167128"/>
            <a:ext cx="3931920" cy="256032"/>
          </a:xfrm>
          <a:prstGeom prst="rect">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475488" y="2176272"/>
            <a:ext cx="380390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ζᵢ &gt; 0  →  violation, penalty = distance inside margin</a:t>
            </a:r>
            <a:endParaRPr b="0" i="0" sz="1100" u="none" cap="none" strike="noStrike">
              <a:solidFill>
                <a:schemeClr val="dk1"/>
              </a:solidFill>
              <a:latin typeface="Calibri"/>
              <a:ea typeface="Calibri"/>
              <a:cs typeface="Calibri"/>
              <a:sym typeface="Calibri"/>
            </a:endParaRPr>
          </a:p>
        </p:txBody>
      </p:sp>
      <p:sp>
        <p:nvSpPr>
          <p:cNvPr id="163" name="Google Shape;163;p5"/>
          <p:cNvSpPr/>
          <p:nvPr/>
        </p:nvSpPr>
        <p:spPr>
          <a:xfrm>
            <a:off x="4754880" y="1078992"/>
            <a:ext cx="4114800" cy="1920240"/>
          </a:xfrm>
          <a:prstGeom prst="rect">
            <a:avLst/>
          </a:prstGeom>
          <a:solidFill>
            <a:srgbClr val="FFF0EA"/>
          </a:solidFill>
          <a:ln cap="flat" cmpd="sng" w="1905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4892040" y="1124712"/>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400"/>
              <a:buFont typeface="Calibri"/>
              <a:buNone/>
            </a:pPr>
            <a:r>
              <a:rPr b="1" i="0" lang="en-US" sz="1400" u="none" cap="none" strike="noStrike">
                <a:solidFill>
                  <a:srgbClr val="E05C2A"/>
                </a:solidFill>
                <a:latin typeface="Calibri"/>
                <a:ea typeface="Calibri"/>
                <a:cs typeface="Calibri"/>
                <a:sym typeface="Calibri"/>
              </a:rPr>
              <a:t>Soft margin objective</a:t>
            </a:r>
            <a:endParaRPr b="0" i="0" sz="1400" u="none" cap="none" strike="noStrike">
              <a:solidFill>
                <a:schemeClr val="dk1"/>
              </a:solidFill>
              <a:latin typeface="Calibri"/>
              <a:ea typeface="Calibri"/>
              <a:cs typeface="Calibri"/>
              <a:sym typeface="Calibri"/>
            </a:endParaRPr>
          </a:p>
        </p:txBody>
      </p:sp>
      <p:sp>
        <p:nvSpPr>
          <p:cNvPr id="165" name="Google Shape;165;p5"/>
          <p:cNvSpPr/>
          <p:nvPr/>
        </p:nvSpPr>
        <p:spPr>
          <a:xfrm>
            <a:off x="4892040" y="1481328"/>
            <a:ext cx="3840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ourier New"/>
              <a:buNone/>
            </a:pPr>
            <a:r>
              <a:rPr b="0" i="0" lang="en-US" sz="1300" u="none" cap="none" strike="noStrike">
                <a:solidFill>
                  <a:srgbClr val="1B2A4A"/>
                </a:solidFill>
                <a:latin typeface="Courier New"/>
                <a:ea typeface="Courier New"/>
                <a:cs typeface="Courier New"/>
                <a:sym typeface="Courier New"/>
              </a:rPr>
              <a:t>minimize  ||w||² + C·(1/n)Σζᵢ</a:t>
            </a:r>
            <a:endParaRPr b="0" i="0" sz="1300" u="none" cap="none" strike="noStrike">
              <a:solidFill>
                <a:schemeClr val="dk1"/>
              </a:solidFill>
              <a:latin typeface="Calibri"/>
              <a:ea typeface="Calibri"/>
              <a:cs typeface="Calibri"/>
              <a:sym typeface="Calibri"/>
            </a:endParaRPr>
          </a:p>
        </p:txBody>
      </p:sp>
      <p:sp>
        <p:nvSpPr>
          <p:cNvPr id="166" name="Google Shape;166;p5"/>
          <p:cNvSpPr/>
          <p:nvPr/>
        </p:nvSpPr>
        <p:spPr>
          <a:xfrm>
            <a:off x="4892040" y="1865376"/>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ourier New"/>
              <a:buNone/>
            </a:pPr>
            <a:r>
              <a:rPr b="0" i="0" lang="en-US" sz="1200" u="none" cap="none" strike="noStrike">
                <a:solidFill>
                  <a:srgbClr val="1B2A4A"/>
                </a:solidFill>
                <a:latin typeface="Courier New"/>
                <a:ea typeface="Courier New"/>
                <a:cs typeface="Courier New"/>
                <a:sym typeface="Courier New"/>
              </a:rPr>
              <a:t>subject to  yᵢ(wᵀxᵢ−b) ≥ 1−ζᵢ,  ζᵢ ≥ 0</a:t>
            </a:r>
            <a:endParaRPr b="0" i="0" sz="1200" u="none" cap="none" strike="noStrike">
              <a:solidFill>
                <a:schemeClr val="dk1"/>
              </a:solidFill>
              <a:latin typeface="Calibri"/>
              <a:ea typeface="Calibri"/>
              <a:cs typeface="Calibri"/>
              <a:sym typeface="Calibri"/>
            </a:endParaRPr>
          </a:p>
        </p:txBody>
      </p:sp>
      <p:sp>
        <p:nvSpPr>
          <p:cNvPr id="167" name="Google Shape;167;p5"/>
          <p:cNvSpPr/>
          <p:nvPr/>
        </p:nvSpPr>
        <p:spPr>
          <a:xfrm>
            <a:off x="4892040" y="2231136"/>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Two costs: big margin (shrink ||w||²)  vs  pay fines (C·Σζᵢ)</a:t>
            </a:r>
            <a:endParaRPr b="0" i="0" sz="1100" u="none" cap="none" strike="noStrike">
              <a:solidFill>
                <a:schemeClr val="dk1"/>
              </a:solidFill>
              <a:latin typeface="Calibri"/>
              <a:ea typeface="Calibri"/>
              <a:cs typeface="Calibri"/>
              <a:sym typeface="Calibri"/>
            </a:endParaRPr>
          </a:p>
        </p:txBody>
      </p:sp>
      <p:sp>
        <p:nvSpPr>
          <p:cNvPr id="168" name="Google Shape;168;p5"/>
          <p:cNvSpPr/>
          <p:nvPr/>
        </p:nvSpPr>
        <p:spPr>
          <a:xfrm>
            <a:off x="274320" y="3127248"/>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The C tradeoff</a:t>
            </a:r>
            <a:endParaRPr b="0" i="0" sz="1400" u="none" cap="none" strike="noStrike">
              <a:solidFill>
                <a:schemeClr val="dk1"/>
              </a:solidFill>
              <a:latin typeface="Calibri"/>
              <a:ea typeface="Calibri"/>
              <a:cs typeface="Calibri"/>
              <a:sym typeface="Calibri"/>
            </a:endParaRPr>
          </a:p>
        </p:txBody>
      </p:sp>
      <p:sp>
        <p:nvSpPr>
          <p:cNvPr id="169" name="Google Shape;169;p5"/>
          <p:cNvSpPr/>
          <p:nvPr/>
        </p:nvSpPr>
        <p:spPr>
          <a:xfrm>
            <a:off x="274320" y="3502152"/>
            <a:ext cx="8595360" cy="402336"/>
          </a:xfrm>
          <a:prstGeom prst="rect">
            <a:avLst/>
          </a:prstGeom>
          <a:solidFill>
            <a:srgbClr val="FAECEC"/>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365760" y="3557016"/>
            <a:ext cx="1371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1A1A"/>
              </a:buClr>
              <a:buSzPts val="1200"/>
              <a:buFont typeface="Courier New"/>
              <a:buNone/>
            </a:pPr>
            <a:r>
              <a:rPr b="1" i="0" lang="en-US" sz="1200" u="none" cap="none" strike="noStrike">
                <a:solidFill>
                  <a:srgbClr val="8B1A1A"/>
                </a:solidFill>
                <a:latin typeface="Courier New"/>
                <a:ea typeface="Courier New"/>
                <a:cs typeface="Courier New"/>
                <a:sym typeface="Courier New"/>
              </a:rPr>
              <a:t>C large</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1828800" y="3557016"/>
            <a:ext cx="69494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violations expensive → strict boundary, small margin → risk of overfitting</a:t>
            </a:r>
            <a:endParaRPr b="0" i="0" sz="1200" u="none" cap="none" strike="noStrike">
              <a:solidFill>
                <a:schemeClr val="dk1"/>
              </a:solidFill>
              <a:latin typeface="Calibri"/>
              <a:ea typeface="Calibri"/>
              <a:cs typeface="Calibri"/>
              <a:sym typeface="Calibri"/>
            </a:endParaRPr>
          </a:p>
        </p:txBody>
      </p:sp>
      <p:sp>
        <p:nvSpPr>
          <p:cNvPr id="172" name="Google Shape;172;p5"/>
          <p:cNvSpPr/>
          <p:nvPr/>
        </p:nvSpPr>
        <p:spPr>
          <a:xfrm>
            <a:off x="274320" y="3941064"/>
            <a:ext cx="8595360" cy="402336"/>
          </a:xfrm>
          <a:prstGeom prst="rect">
            <a:avLst/>
          </a:prstGeom>
          <a:solidFill>
            <a:srgbClr val="E6F4EC"/>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365760" y="3995928"/>
            <a:ext cx="1371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200"/>
              <a:buFont typeface="Courier New"/>
              <a:buNone/>
            </a:pPr>
            <a:r>
              <a:rPr b="1" i="0" lang="en-US" sz="1200" u="none" cap="none" strike="noStrike">
                <a:solidFill>
                  <a:srgbClr val="2A7A4A"/>
                </a:solidFill>
                <a:latin typeface="Courier New"/>
                <a:ea typeface="Courier New"/>
                <a:cs typeface="Courier New"/>
                <a:sym typeface="Courier New"/>
              </a:rPr>
              <a:t>C small</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1828800" y="3995928"/>
            <a:ext cx="69494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violations cheap → relaxed boundary, large margin → better generalization</a:t>
            </a:r>
            <a:endParaRPr b="0" i="0" sz="1200" u="none" cap="none" strike="noStrike">
              <a:solidFill>
                <a:schemeClr val="dk1"/>
              </a:solidFill>
              <a:latin typeface="Calibri"/>
              <a:ea typeface="Calibri"/>
              <a:cs typeface="Calibri"/>
              <a:sym typeface="Calibri"/>
            </a:endParaRPr>
          </a:p>
        </p:txBody>
      </p:sp>
      <p:sp>
        <p:nvSpPr>
          <p:cNvPr id="175" name="Google Shape;175;p5"/>
          <p:cNvSpPr/>
          <p:nvPr/>
        </p:nvSpPr>
        <p:spPr>
          <a:xfrm>
            <a:off x="274320" y="4379976"/>
            <a:ext cx="8595360" cy="402336"/>
          </a:xfrm>
          <a:prstGeom prst="rect">
            <a:avLst/>
          </a:prstGeom>
          <a:solidFill>
            <a:srgbClr val="D6E8F7"/>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365760" y="4434840"/>
            <a:ext cx="1371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ourier New"/>
              <a:buNone/>
            </a:pPr>
            <a:r>
              <a:rPr b="1" i="0" lang="en-US" sz="1200" u="none" cap="none" strike="noStrike">
                <a:solidFill>
                  <a:srgbClr val="1B2A4A"/>
                </a:solidFill>
                <a:latin typeface="Courier New"/>
                <a:ea typeface="Courier New"/>
                <a:cs typeface="Courier New"/>
                <a:sym typeface="Courier New"/>
              </a:rPr>
              <a:t>C = 1</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1828800" y="4434840"/>
            <a:ext cx="69494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default middle ground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7"/>
          <p:cNvSpPr/>
          <p:nvPr/>
        </p:nvSpPr>
        <p:spPr>
          <a:xfrm>
            <a:off x="0" y="0"/>
            <a:ext cx="9144000" cy="86868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411480" y="73152"/>
            <a:ext cx="832104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Application: Predicting Parkinson's Disease</a:t>
            </a:r>
            <a:endParaRPr b="0" i="0" sz="2500" u="none" cap="none" strike="noStrike">
              <a:solidFill>
                <a:schemeClr val="dk1"/>
              </a:solidFill>
              <a:latin typeface="Calibri"/>
              <a:ea typeface="Calibri"/>
              <a:cs typeface="Calibri"/>
              <a:sym typeface="Calibri"/>
            </a:endParaRPr>
          </a:p>
        </p:txBody>
      </p:sp>
      <p:sp>
        <p:nvSpPr>
          <p:cNvPr id="185" name="Google Shape;185;p7"/>
          <p:cNvSpPr/>
          <p:nvPr/>
        </p:nvSpPr>
        <p:spPr>
          <a:xfrm>
            <a:off x="274320" y="1051560"/>
            <a:ext cx="2724912" cy="123444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274320" y="1078992"/>
            <a:ext cx="2724912"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~2,714</a:t>
            </a:r>
            <a:endParaRPr b="0" i="0" sz="3000" u="none" cap="none" strike="noStrike">
              <a:solidFill>
                <a:schemeClr val="dk1"/>
              </a:solidFill>
              <a:latin typeface="Calibri"/>
              <a:ea typeface="Calibri"/>
              <a:cs typeface="Calibri"/>
              <a:sym typeface="Calibri"/>
            </a:endParaRPr>
          </a:p>
        </p:txBody>
      </p:sp>
      <p:sp>
        <p:nvSpPr>
          <p:cNvPr id="187" name="Google Shape;187;p7"/>
          <p:cNvSpPr/>
          <p:nvPr/>
        </p:nvSpPr>
        <p:spPr>
          <a:xfrm>
            <a:off x="274320" y="1719072"/>
            <a:ext cx="2724912" cy="53035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6E8F7"/>
              </a:buClr>
              <a:buSzPts val="1100"/>
              <a:buFont typeface="Calibri"/>
              <a:buNone/>
            </a:pPr>
            <a:r>
              <a:rPr b="0" i="0" lang="en-US" sz="1100" u="none" cap="none" strike="noStrike">
                <a:solidFill>
                  <a:srgbClr val="D6E8F7"/>
                </a:solidFill>
                <a:latin typeface="Calibri"/>
                <a:ea typeface="Calibri"/>
                <a:cs typeface="Calibri"/>
                <a:sym typeface="Calibri"/>
              </a:rPr>
              <a:t>patients (MrOS)</a:t>
            </a:r>
            <a:endParaRPr b="0" i="0" sz="1100" u="none" cap="none" strike="noStrike">
              <a:solidFill>
                <a:schemeClr val="dk1"/>
              </a:solidFill>
              <a:latin typeface="Calibri"/>
              <a:ea typeface="Calibri"/>
              <a:cs typeface="Calibri"/>
              <a:sym typeface="Calibri"/>
            </a:endParaRPr>
          </a:p>
        </p:txBody>
      </p:sp>
      <p:sp>
        <p:nvSpPr>
          <p:cNvPr id="188" name="Google Shape;188;p7"/>
          <p:cNvSpPr/>
          <p:nvPr/>
        </p:nvSpPr>
        <p:spPr>
          <a:xfrm>
            <a:off x="3182112" y="1051560"/>
            <a:ext cx="2724912" cy="1234440"/>
          </a:xfrm>
          <a:prstGeom prst="rect">
            <a:avLst/>
          </a:prstGeom>
          <a:solidFill>
            <a:srgbClr val="2D6A9F"/>
          </a:solidFill>
          <a:ln cap="flat" cmpd="sng" w="1270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3182112" y="1078992"/>
            <a:ext cx="2724912"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62</a:t>
            </a:r>
            <a:endParaRPr b="0" i="0" sz="3000" u="none" cap="none" strike="noStrike">
              <a:solidFill>
                <a:schemeClr val="dk1"/>
              </a:solidFill>
              <a:latin typeface="Calibri"/>
              <a:ea typeface="Calibri"/>
              <a:cs typeface="Calibri"/>
              <a:sym typeface="Calibri"/>
            </a:endParaRPr>
          </a:p>
        </p:txBody>
      </p:sp>
      <p:sp>
        <p:nvSpPr>
          <p:cNvPr id="190" name="Google Shape;190;p7"/>
          <p:cNvSpPr/>
          <p:nvPr/>
        </p:nvSpPr>
        <p:spPr>
          <a:xfrm>
            <a:off x="3182112" y="1719072"/>
            <a:ext cx="2724912" cy="53035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6E8F7"/>
              </a:buClr>
              <a:buSzPts val="1100"/>
              <a:buFont typeface="Calibri"/>
              <a:buNone/>
            </a:pPr>
            <a:r>
              <a:rPr b="0" i="0" lang="en-US" sz="1100" u="none" cap="none" strike="noStrike">
                <a:solidFill>
                  <a:srgbClr val="D6E8F7"/>
                </a:solidFill>
                <a:latin typeface="Calibri"/>
                <a:ea typeface="Calibri"/>
                <a:cs typeface="Calibri"/>
                <a:sym typeface="Calibri"/>
              </a:rPr>
              <a:t>incident PD cases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6E8F7"/>
              </a:buClr>
              <a:buSzPts val="1100"/>
              <a:buFont typeface="Calibri"/>
              <a:buNone/>
            </a:pPr>
            <a:r>
              <a:rPr b="0" i="0" lang="en-US" sz="1100" u="none" cap="none" strike="noStrike">
                <a:solidFill>
                  <a:srgbClr val="D6E8F7"/>
                </a:solidFill>
                <a:latin typeface="Calibri"/>
                <a:ea typeface="Calibri"/>
                <a:cs typeface="Calibri"/>
                <a:sym typeface="Calibri"/>
              </a:rPr>
              <a:t>(2.3% prevalence)</a:t>
            </a:r>
            <a:endParaRPr b="0" i="0" sz="1100" u="none" cap="none" strike="noStrike">
              <a:solidFill>
                <a:schemeClr val="dk1"/>
              </a:solidFill>
              <a:latin typeface="Calibri"/>
              <a:ea typeface="Calibri"/>
              <a:cs typeface="Calibri"/>
              <a:sym typeface="Calibri"/>
            </a:endParaRPr>
          </a:p>
        </p:txBody>
      </p:sp>
      <p:sp>
        <p:nvSpPr>
          <p:cNvPr id="191" name="Google Shape;191;p7"/>
          <p:cNvSpPr/>
          <p:nvPr/>
        </p:nvSpPr>
        <p:spPr>
          <a:xfrm>
            <a:off x="6089904" y="1051560"/>
            <a:ext cx="2724912" cy="1234440"/>
          </a:xfrm>
          <a:prstGeom prst="rect">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6089904" y="1078992"/>
            <a:ext cx="2724912"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1,024</a:t>
            </a:r>
            <a:endParaRPr b="0" i="0" sz="3000" u="none" cap="none" strike="noStrike">
              <a:solidFill>
                <a:schemeClr val="dk1"/>
              </a:solidFill>
              <a:latin typeface="Calibri"/>
              <a:ea typeface="Calibri"/>
              <a:cs typeface="Calibri"/>
              <a:sym typeface="Calibri"/>
            </a:endParaRPr>
          </a:p>
        </p:txBody>
      </p:sp>
      <p:sp>
        <p:nvSpPr>
          <p:cNvPr id="193" name="Google Shape;193;p7"/>
          <p:cNvSpPr/>
          <p:nvPr/>
        </p:nvSpPr>
        <p:spPr>
          <a:xfrm>
            <a:off x="6089904" y="1719072"/>
            <a:ext cx="2724912" cy="53035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6E8F7"/>
              </a:buClr>
              <a:buSzPts val="1100"/>
              <a:buFont typeface="Calibri"/>
              <a:buNone/>
            </a:pPr>
            <a:r>
              <a:rPr b="0" i="0" lang="en-US" sz="1100" u="none" cap="none" strike="noStrike">
                <a:solidFill>
                  <a:srgbClr val="D6E8F7"/>
                </a:solidFill>
                <a:latin typeface="Calibri"/>
                <a:ea typeface="Calibri"/>
                <a:cs typeface="Calibri"/>
                <a:sym typeface="Calibri"/>
              </a:rPr>
              <a:t>LHL brain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6E8F7"/>
              </a:buClr>
              <a:buSzPts val="1100"/>
              <a:buFont typeface="Calibri"/>
              <a:buNone/>
            </a:pPr>
            <a:r>
              <a:rPr b="0" i="0" lang="en-US" sz="1100" u="none" cap="none" strike="noStrike">
                <a:solidFill>
                  <a:srgbClr val="D6E8F7"/>
                </a:solidFill>
                <a:latin typeface="Calibri"/>
                <a:ea typeface="Calibri"/>
                <a:cs typeface="Calibri"/>
                <a:sym typeface="Calibri"/>
              </a:rPr>
              <a:t>embedding dims</a:t>
            </a:r>
            <a:endParaRPr b="0" i="0" sz="1100" u="none" cap="none" strike="noStrike">
              <a:solidFill>
                <a:schemeClr val="dk1"/>
              </a:solidFill>
              <a:latin typeface="Calibri"/>
              <a:ea typeface="Calibri"/>
              <a:cs typeface="Calibri"/>
              <a:sym typeface="Calibri"/>
            </a:endParaRPr>
          </a:p>
        </p:txBody>
      </p:sp>
      <p:sp>
        <p:nvSpPr>
          <p:cNvPr id="194" name="Google Shape;194;p7"/>
          <p:cNvSpPr/>
          <p:nvPr/>
        </p:nvSpPr>
        <p:spPr>
          <a:xfrm>
            <a:off x="274320" y="2423160"/>
            <a:ext cx="8595360" cy="530352"/>
          </a:xfrm>
          <a:prstGeom prst="rect">
            <a:avLst/>
          </a:prstGeom>
          <a:solidFill>
            <a:srgbClr val="FFF0EA"/>
          </a:solidFill>
          <a:ln cap="flat" cmpd="sng" w="1905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411480" y="2450592"/>
            <a:ext cx="832104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libri"/>
              <a:buNone/>
            </a:pPr>
            <a:r>
              <a:rPr b="0" i="1" lang="en-US" sz="1300" u="none" cap="none" strike="noStrike">
                <a:solidFill>
                  <a:srgbClr val="1B2A4A"/>
                </a:solidFill>
                <a:latin typeface="Calibri"/>
                <a:ea typeface="Calibri"/>
                <a:cs typeface="Calibri"/>
                <a:sym typeface="Calibri"/>
              </a:rPr>
              <a:t>Does the full 1,024-dim brain embedding predict PD better than the single Brain Health Score?</a:t>
            </a:r>
            <a:endParaRPr b="0" i="0" sz="1300" u="none" cap="none" strike="noStrike">
              <a:solidFill>
                <a:schemeClr val="dk1"/>
              </a:solidFill>
              <a:latin typeface="Calibri"/>
              <a:ea typeface="Calibri"/>
              <a:cs typeface="Calibri"/>
              <a:sym typeface="Calibri"/>
            </a:endParaRPr>
          </a:p>
        </p:txBody>
      </p:sp>
      <p:sp>
        <p:nvSpPr>
          <p:cNvPr id="196" name="Google Shape;196;p7"/>
          <p:cNvSpPr/>
          <p:nvPr/>
        </p:nvSpPr>
        <p:spPr>
          <a:xfrm>
            <a:off x="274320" y="3063240"/>
            <a:ext cx="4160520" cy="1078992"/>
          </a:xfrm>
          <a:prstGeom prst="rect">
            <a:avLst/>
          </a:prstGeom>
          <a:solidFill>
            <a:srgbClr val="F4F7FB"/>
          </a:solidFill>
          <a:ln cap="flat" cmpd="sng" w="19050">
            <a:solidFill>
              <a:srgbClr val="2D6A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411480" y="3108960"/>
            <a:ext cx="3886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6A9F"/>
              </a:buClr>
              <a:buSzPts val="1300"/>
              <a:buFont typeface="Calibri"/>
              <a:buNone/>
            </a:pPr>
            <a:r>
              <a:rPr b="1" i="0" lang="en-US" sz="1300" u="none" cap="none" strike="noStrike">
                <a:solidFill>
                  <a:srgbClr val="2D6A9F"/>
                </a:solidFill>
                <a:latin typeface="Calibri"/>
                <a:ea typeface="Calibri"/>
                <a:cs typeface="Calibri"/>
                <a:sym typeface="Calibri"/>
              </a:rPr>
              <a:t>Model 1 — Baseline</a:t>
            </a:r>
            <a:endParaRPr b="0" i="0" sz="1300" u="none" cap="none" strike="noStrike">
              <a:solidFill>
                <a:schemeClr val="dk1"/>
              </a:solidFill>
              <a:latin typeface="Calibri"/>
              <a:ea typeface="Calibri"/>
              <a:cs typeface="Calibri"/>
              <a:sym typeface="Calibri"/>
            </a:endParaRPr>
          </a:p>
        </p:txBody>
      </p:sp>
      <p:sp>
        <p:nvSpPr>
          <p:cNvPr id="198" name="Google Shape;198;p7"/>
          <p:cNvSpPr/>
          <p:nvPr/>
        </p:nvSpPr>
        <p:spPr>
          <a:xfrm>
            <a:off x="411480" y="3438144"/>
            <a:ext cx="3886200"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Covariates + BHS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(8 features)</a:t>
            </a:r>
            <a:endParaRPr b="0" i="0" sz="1200" u="none" cap="none" strike="noStrike">
              <a:solidFill>
                <a:schemeClr val="dk1"/>
              </a:solidFill>
              <a:latin typeface="Calibri"/>
              <a:ea typeface="Calibri"/>
              <a:cs typeface="Calibri"/>
              <a:sym typeface="Calibri"/>
            </a:endParaRPr>
          </a:p>
        </p:txBody>
      </p:sp>
      <p:sp>
        <p:nvSpPr>
          <p:cNvPr id="199" name="Google Shape;199;p7"/>
          <p:cNvSpPr/>
          <p:nvPr/>
        </p:nvSpPr>
        <p:spPr>
          <a:xfrm>
            <a:off x="4709160" y="3063240"/>
            <a:ext cx="4160520" cy="1078992"/>
          </a:xfrm>
          <a:prstGeom prst="rect">
            <a:avLst/>
          </a:prstGeom>
          <a:solidFill>
            <a:srgbClr val="FFF0EA"/>
          </a:solidFill>
          <a:ln cap="flat" cmpd="sng" w="1905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4846320" y="3108960"/>
            <a:ext cx="3886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300"/>
              <a:buFont typeface="Calibri"/>
              <a:buNone/>
            </a:pPr>
            <a:r>
              <a:rPr b="1" i="0" lang="en-US" sz="1300" u="none" cap="none" strike="noStrike">
                <a:solidFill>
                  <a:srgbClr val="E05C2A"/>
                </a:solidFill>
                <a:latin typeface="Calibri"/>
                <a:ea typeface="Calibri"/>
                <a:cs typeface="Calibri"/>
                <a:sym typeface="Calibri"/>
              </a:rPr>
              <a:t>Model 2 — LHL</a:t>
            </a:r>
            <a:endParaRPr b="0" i="0" sz="1300" u="none" cap="none" strike="noStrike">
              <a:solidFill>
                <a:schemeClr val="dk1"/>
              </a:solidFill>
              <a:latin typeface="Calibri"/>
              <a:ea typeface="Calibri"/>
              <a:cs typeface="Calibri"/>
              <a:sym typeface="Calibri"/>
            </a:endParaRPr>
          </a:p>
        </p:txBody>
      </p:sp>
      <p:sp>
        <p:nvSpPr>
          <p:cNvPr id="201" name="Google Shape;201;p7"/>
          <p:cNvSpPr/>
          <p:nvPr/>
        </p:nvSpPr>
        <p:spPr>
          <a:xfrm>
            <a:off x="4846320" y="3438144"/>
            <a:ext cx="3886200"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Covariates + 1,024 LHL features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(1,031 total)</a:t>
            </a:r>
            <a:endParaRPr b="0" i="0" sz="1200" u="none" cap="none" strike="noStrike">
              <a:solidFill>
                <a:schemeClr val="dk1"/>
              </a:solidFill>
              <a:latin typeface="Calibri"/>
              <a:ea typeface="Calibri"/>
              <a:cs typeface="Calibri"/>
              <a:sym typeface="Calibri"/>
            </a:endParaRPr>
          </a:p>
        </p:txBody>
      </p:sp>
      <p:sp>
        <p:nvSpPr>
          <p:cNvPr id="202" name="Google Shape;202;p7"/>
          <p:cNvSpPr/>
          <p:nvPr/>
        </p:nvSpPr>
        <p:spPr>
          <a:xfrm>
            <a:off x="274320" y="4251960"/>
            <a:ext cx="85953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100"/>
              <a:buFont typeface="Calibri"/>
              <a:buNone/>
            </a:pPr>
            <a:r>
              <a:t/>
            </a:r>
            <a:endParaRPr b="0" i="0" sz="1100" u="none" cap="none" strike="noStrike">
              <a:solidFill>
                <a:schemeClr val="dk1"/>
              </a:solidFill>
              <a:latin typeface="Calibri"/>
              <a:ea typeface="Calibri"/>
              <a:cs typeface="Calibri"/>
              <a:sym typeface="Calibri"/>
            </a:endParaRPr>
          </a:p>
        </p:txBody>
      </p:sp>
      <p:graphicFrame>
        <p:nvGraphicFramePr>
          <p:cNvPr id="203" name="Google Shape;203;p7"/>
          <p:cNvGraphicFramePr/>
          <p:nvPr/>
        </p:nvGraphicFramePr>
        <p:xfrm>
          <a:off x="1137908" y="4251977"/>
          <a:ext cx="3000000" cy="3000000"/>
        </p:xfrm>
        <a:graphic>
          <a:graphicData uri="http://schemas.openxmlformats.org/drawingml/2006/table">
            <a:tbl>
              <a:tblPr>
                <a:noFill/>
                <a:tableStyleId>{C378A166-ED70-4ADC-886B-1846344C16E2}</a:tableStyleId>
              </a:tblPr>
              <a:tblGrid>
                <a:gridCol w="3474725"/>
                <a:gridCol w="1371600"/>
                <a:gridCol w="2377450"/>
              </a:tblGrid>
              <a:tr h="1000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Model</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AUC</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B2A4A"/>
                    </a:solidFill>
                  </a:tcPr>
                </a:tc>
              </a:tr>
              <a:tr h="259075">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rPr>
                        <a:t>Covariates + BHS </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rPr>
                        <a:t>0.591</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64748B"/>
                        </a:buClr>
                        <a:buSzPts val="1100"/>
                        <a:buFont typeface="Calibri"/>
                        <a:buNone/>
                      </a:pPr>
                      <a:r>
                        <a:rPr i="1" lang="en-US" sz="1100" u="none" cap="none" strike="noStrike">
                          <a:solidFill>
                            <a:srgbClr val="64748B"/>
                          </a:solidFill>
                        </a:rPr>
                        <a:t>baseline</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B"/>
                    </a:solidFill>
                  </a:tcPr>
                </a:tc>
              </a:tr>
              <a:tr h="259075">
                <a:tc>
                  <a:txBody>
                    <a:bodyPr/>
                    <a:lstStyle/>
                    <a:p>
                      <a:pPr indent="0" lvl="0" marL="0" marR="0" rtl="0" algn="l">
                        <a:spcBef>
                          <a:spcPts val="0"/>
                        </a:spcBef>
                        <a:spcAft>
                          <a:spcPts val="0"/>
                        </a:spcAft>
                        <a:buClr>
                          <a:srgbClr val="E05C2A"/>
                        </a:buClr>
                        <a:buSzPts val="1200"/>
                        <a:buFont typeface="Calibri"/>
                        <a:buNone/>
                      </a:pPr>
                      <a:r>
                        <a:rPr b="1" lang="en-US" sz="1200" u="none" cap="none" strike="noStrike">
                          <a:solidFill>
                            <a:srgbClr val="E05C2A"/>
                          </a:solidFill>
                        </a:rPr>
                        <a:t>Covariates + 1,024 LHL</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0EA"/>
                    </a:solidFill>
                  </a:tcPr>
                </a:tc>
                <a:tc>
                  <a:txBody>
                    <a:bodyPr/>
                    <a:lstStyle/>
                    <a:p>
                      <a:pPr indent="0" lvl="0" marL="0" marR="0" rtl="0" algn="l">
                        <a:spcBef>
                          <a:spcPts val="0"/>
                        </a:spcBef>
                        <a:spcAft>
                          <a:spcPts val="0"/>
                        </a:spcAft>
                        <a:buClr>
                          <a:srgbClr val="E05C2A"/>
                        </a:buClr>
                        <a:buSzPts val="1200"/>
                        <a:buFont typeface="Calibri"/>
                        <a:buNone/>
                      </a:pPr>
                      <a:r>
                        <a:rPr b="1" lang="en-US" sz="1200" u="none" cap="none" strike="noStrike">
                          <a:solidFill>
                            <a:srgbClr val="E05C2A"/>
                          </a:solidFill>
                        </a:rPr>
                        <a:t>0.611</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0EA"/>
                    </a:solidFill>
                  </a:tcPr>
                </a:tc>
                <a:tc>
                  <a:txBody>
                    <a:bodyPr/>
                    <a:lstStyle/>
                    <a:p>
                      <a:pPr indent="0" lvl="0" marL="0" marR="0" rtl="0" algn="l">
                        <a:spcBef>
                          <a:spcPts val="0"/>
                        </a:spcBef>
                        <a:spcAft>
                          <a:spcPts val="0"/>
                        </a:spcAft>
                        <a:buClr>
                          <a:srgbClr val="E05C2A"/>
                        </a:buClr>
                        <a:buSzPts val="1100"/>
                        <a:buFont typeface="Calibri"/>
                        <a:buNone/>
                      </a:pPr>
                      <a:r>
                        <a:rPr b="1" lang="en-US" sz="1100" u="none" cap="none" strike="noStrike">
                          <a:solidFill>
                            <a:srgbClr val="E05C2A"/>
                          </a:solidFill>
                        </a:rPr>
                        <a:t>▲ +0.02 AUC</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0E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08" name="Shape 208"/>
        <p:cNvGrpSpPr/>
        <p:nvPr/>
      </p:nvGrpSpPr>
      <p:grpSpPr>
        <a:xfrm>
          <a:off x="0" y="0"/>
          <a:ext cx="0" cy="0"/>
          <a:chOff x="0" y="0"/>
          <a:chExt cx="0" cy="0"/>
        </a:xfrm>
      </p:grpSpPr>
      <p:sp>
        <p:nvSpPr>
          <p:cNvPr id="209" name="Google Shape;209;p9"/>
          <p:cNvSpPr/>
          <p:nvPr/>
        </p:nvSpPr>
        <p:spPr>
          <a:xfrm>
            <a:off x="0" y="0"/>
            <a:ext cx="182880" cy="5148072"/>
          </a:xfrm>
          <a:prstGeom prst="rect">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457200" y="274320"/>
            <a:ext cx="83210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Conclusion</a:t>
            </a:r>
            <a:endParaRPr b="0" i="0" sz="3200" u="none" cap="none" strike="noStrike">
              <a:solidFill>
                <a:schemeClr val="dk1"/>
              </a:solidFill>
              <a:latin typeface="Calibri"/>
              <a:ea typeface="Calibri"/>
              <a:cs typeface="Calibri"/>
              <a:sym typeface="Calibri"/>
            </a:endParaRPr>
          </a:p>
        </p:txBody>
      </p:sp>
      <p:sp>
        <p:nvSpPr>
          <p:cNvPr id="211" name="Google Shape;211;p9"/>
          <p:cNvSpPr/>
          <p:nvPr/>
        </p:nvSpPr>
        <p:spPr>
          <a:xfrm>
            <a:off x="457200" y="868680"/>
            <a:ext cx="2011680" cy="45720"/>
          </a:xfrm>
          <a:prstGeom prst="rect">
            <a:avLst/>
          </a:prstGeom>
          <a:solidFill>
            <a:srgbClr val="E05C2A"/>
          </a:solidFill>
          <a:ln cap="flat" cmpd="sng" w="12700">
            <a:solidFill>
              <a:srgbClr val="E05C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457200" y="1005840"/>
            <a:ext cx="8321040" cy="804672"/>
          </a:xfrm>
          <a:prstGeom prst="rect">
            <a:avLst/>
          </a:prstGeom>
          <a:solidFill>
            <a:srgbClr val="243557"/>
          </a:solidFill>
          <a:ln cap="flat" cmpd="sng" w="9525">
            <a:solidFill>
              <a:srgbClr val="2D4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400"/>
              <a:buFont typeface="Calibri"/>
              <a:buNone/>
            </a:pPr>
            <a:r>
              <a:rPr b="1" i="0" lang="en-US" sz="1400" u="none" cap="none" strike="noStrike">
                <a:solidFill>
                  <a:srgbClr val="E05C2A"/>
                </a:solidFill>
                <a:latin typeface="Calibri"/>
                <a:ea typeface="Calibri"/>
                <a:cs typeface="Calibri"/>
                <a:sym typeface="Calibri"/>
              </a:rPr>
              <a:t>SVM  </a:t>
            </a:r>
            <a:r>
              <a:rPr b="0" i="0" lang="en-US" sz="1400" u="none" cap="none" strike="noStrike">
                <a:solidFill>
                  <a:srgbClr val="C8D8E8"/>
                </a:solidFill>
                <a:latin typeface="Calibri"/>
                <a:ea typeface="Calibri"/>
                <a:cs typeface="Calibri"/>
                <a:sym typeface="Calibri"/>
              </a:rPr>
              <a:t>finds the maximum margin hyperplane — hard margin first, then soft margin (slack ζᵢ, penalty C) for real messy data.</a:t>
            </a:r>
            <a:endParaRPr b="0" i="0" sz="1400" u="none" cap="none" strike="noStrike">
              <a:solidFill>
                <a:schemeClr val="dk1"/>
              </a:solidFill>
              <a:latin typeface="Calibri"/>
              <a:ea typeface="Calibri"/>
              <a:cs typeface="Calibri"/>
              <a:sym typeface="Calibri"/>
            </a:endParaRPr>
          </a:p>
        </p:txBody>
      </p:sp>
      <p:sp>
        <p:nvSpPr>
          <p:cNvPr id="213" name="Google Shape;213;p9"/>
          <p:cNvSpPr/>
          <p:nvPr/>
        </p:nvSpPr>
        <p:spPr>
          <a:xfrm>
            <a:off x="457200" y="1938528"/>
            <a:ext cx="8321040" cy="804672"/>
          </a:xfrm>
          <a:prstGeom prst="rect">
            <a:avLst/>
          </a:prstGeom>
          <a:solidFill>
            <a:srgbClr val="243557"/>
          </a:solidFill>
          <a:ln cap="flat" cmpd="sng" w="9525">
            <a:solidFill>
              <a:srgbClr val="2D4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400"/>
              <a:buFont typeface="Calibri"/>
              <a:buNone/>
            </a:pPr>
            <a:r>
              <a:rPr b="1" i="0" lang="en-US" sz="1400" u="none" cap="none" strike="noStrike">
                <a:solidFill>
                  <a:srgbClr val="E05C2A"/>
                </a:solidFill>
                <a:latin typeface="Calibri"/>
                <a:ea typeface="Calibri"/>
                <a:cs typeface="Calibri"/>
                <a:sym typeface="Calibri"/>
              </a:rPr>
              <a:t>Linear SVM  </a:t>
            </a:r>
            <a:r>
              <a:rPr b="0" i="0" lang="en-US" sz="1400" u="none" cap="none" strike="noStrike">
                <a:solidFill>
                  <a:srgbClr val="C8D8E8"/>
                </a:solidFill>
                <a:latin typeface="Calibri"/>
                <a:ea typeface="Calibri"/>
                <a:cs typeface="Calibri"/>
                <a:sym typeface="Calibri"/>
              </a:rPr>
              <a:t>is well suited for 1,024-dim data — high dimensions make linear separation easier, and the margin acts as a regularizer.</a:t>
            </a:r>
            <a:endParaRPr b="0" i="0" sz="1400" u="none" cap="none" strike="noStrike">
              <a:solidFill>
                <a:schemeClr val="dk1"/>
              </a:solidFill>
              <a:latin typeface="Calibri"/>
              <a:ea typeface="Calibri"/>
              <a:cs typeface="Calibri"/>
              <a:sym typeface="Calibri"/>
            </a:endParaRPr>
          </a:p>
        </p:txBody>
      </p:sp>
      <p:sp>
        <p:nvSpPr>
          <p:cNvPr id="214" name="Google Shape;214;p9"/>
          <p:cNvSpPr/>
          <p:nvPr/>
        </p:nvSpPr>
        <p:spPr>
          <a:xfrm>
            <a:off x="457200" y="2871216"/>
            <a:ext cx="8321040" cy="804672"/>
          </a:xfrm>
          <a:prstGeom prst="rect">
            <a:avLst/>
          </a:prstGeom>
          <a:solidFill>
            <a:srgbClr val="243557"/>
          </a:solidFill>
          <a:ln cap="flat" cmpd="sng" w="9525">
            <a:solidFill>
              <a:srgbClr val="2D4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400"/>
              <a:buFont typeface="Calibri"/>
              <a:buNone/>
            </a:pPr>
            <a:r>
              <a:rPr b="1" i="0" lang="en-US" sz="1400" u="none" cap="none" strike="noStrike">
                <a:solidFill>
                  <a:srgbClr val="E05C2A"/>
                </a:solidFill>
                <a:latin typeface="Calibri"/>
                <a:ea typeface="Calibri"/>
                <a:cs typeface="Calibri"/>
                <a:sym typeface="Calibri"/>
              </a:rPr>
              <a:t>Result:  </a:t>
            </a:r>
            <a:r>
              <a:rPr b="0" i="0" lang="en-US" sz="1400" u="none" cap="none" strike="noStrike">
                <a:solidFill>
                  <a:srgbClr val="C8D8E8"/>
                </a:solidFill>
                <a:latin typeface="Calibri"/>
                <a:ea typeface="Calibri"/>
                <a:cs typeface="Calibri"/>
                <a:sym typeface="Calibri"/>
              </a:rPr>
              <a:t>LHL model (AUC 0.611) &gt; BHS scalar (AUC 0.591) — the full embedding retains signal lost when compressing to one number.</a:t>
            </a:r>
            <a:endParaRPr b="0" i="0" sz="1400" u="none" cap="none" strike="noStrike">
              <a:solidFill>
                <a:schemeClr val="dk1"/>
              </a:solidFill>
              <a:latin typeface="Calibri"/>
              <a:ea typeface="Calibri"/>
              <a:cs typeface="Calibri"/>
              <a:sym typeface="Calibri"/>
            </a:endParaRPr>
          </a:p>
        </p:txBody>
      </p:sp>
      <p:sp>
        <p:nvSpPr>
          <p:cNvPr id="215" name="Google Shape;215;p9"/>
          <p:cNvSpPr/>
          <p:nvPr/>
        </p:nvSpPr>
        <p:spPr>
          <a:xfrm>
            <a:off x="457200" y="3803904"/>
            <a:ext cx="8321040" cy="804672"/>
          </a:xfrm>
          <a:prstGeom prst="rect">
            <a:avLst/>
          </a:prstGeom>
          <a:solidFill>
            <a:srgbClr val="243557"/>
          </a:solidFill>
          <a:ln cap="flat" cmpd="sng" w="9525">
            <a:solidFill>
              <a:srgbClr val="2D4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E05C2A"/>
              </a:buClr>
              <a:buSzPts val="1400"/>
              <a:buFont typeface="Calibri"/>
              <a:buNone/>
            </a:pPr>
            <a:r>
              <a:rPr b="1" i="0" lang="en-US" sz="1400" u="none" cap="none" strike="noStrike">
                <a:solidFill>
                  <a:srgbClr val="E05C2A"/>
                </a:solidFill>
                <a:latin typeface="Calibri"/>
                <a:ea typeface="Calibri"/>
                <a:cs typeface="Calibri"/>
                <a:sym typeface="Calibri"/>
              </a:rPr>
              <a:t>Limitation:  </a:t>
            </a:r>
            <a:r>
              <a:rPr b="0" i="0" lang="en-US" sz="1400" u="none" cap="none" strike="noStrike">
                <a:solidFill>
                  <a:srgbClr val="C8D8E8"/>
                </a:solidFill>
                <a:latin typeface="Calibri"/>
                <a:ea typeface="Calibri"/>
                <a:cs typeface="Calibri"/>
                <a:sym typeface="Calibri"/>
              </a:rPr>
              <a:t>only 62 PD cases — results should be interpreted with caution.</a:t>
            </a:r>
            <a:endParaRPr b="0" i="0" sz="1400" u="none" cap="none" strike="noStrike">
              <a:solidFill>
                <a:schemeClr val="dk1"/>
              </a:solidFill>
              <a:latin typeface="Calibri"/>
              <a:ea typeface="Calibri"/>
              <a:cs typeface="Calibri"/>
              <a:sym typeface="Calibri"/>
            </a:endParaRPr>
          </a:p>
        </p:txBody>
      </p:sp>
      <p:sp>
        <p:nvSpPr>
          <p:cNvPr id="216" name="Google Shape;216;p9"/>
          <p:cNvSpPr/>
          <p:nvPr/>
        </p:nvSpPr>
        <p:spPr>
          <a:xfrm>
            <a:off x="457200" y="4828032"/>
            <a:ext cx="8321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9DBF"/>
              </a:buClr>
              <a:buSzPts val="1300"/>
              <a:buFont typeface="Calibri"/>
              <a:buNone/>
            </a:pPr>
            <a:r>
              <a:rPr b="0" i="1" lang="en-US" sz="1300" u="none" cap="none" strike="noStrike">
                <a:solidFill>
                  <a:srgbClr val="7A9DBF"/>
                </a:solidFill>
                <a:latin typeface="Calibri"/>
                <a:ea typeface="Calibri"/>
                <a:cs typeface="Calibri"/>
                <a:sym typeface="Calibri"/>
              </a:rPr>
              <a:t>Thank you</a:t>
            </a:r>
            <a:r>
              <a:rPr i="1" lang="en-US" sz="1300">
                <a:solidFill>
                  <a:srgbClr val="7A9DB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2026-05-30T22:31:11Z</dcterms:created>
  <dc:creator>PptxGenJS</dc:creator>
</cp:coreProperties>
</file>