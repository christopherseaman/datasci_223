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Average"/>
      <p:regular r:id="rId16"/>
    </p:embeddedFont>
    <p:embeddedFont>
      <p:font typeface="Oswal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swald-regular.fntdata"/><Relationship Id="rId16" Type="http://schemas.openxmlformats.org/officeDocument/2006/relationships/font" Target="fonts/Average-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59cf464c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59cf464c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59cf464c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59cf464c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59cf464c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59cf464c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59cf464c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59cf464c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59cf464c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59cf464c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59cf464c7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59cf464c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9cf464c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59cf464c7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59cf464c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59cf464c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59cf464c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59cf464c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SVMs: </a:t>
            </a:r>
            <a:r>
              <a:rPr lang="en"/>
              <a:t>Kernel Trick and RBF </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Siddharth Kaipa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on SVM</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Support Vector Machine: A supervised classification model</a:t>
            </a:r>
            <a:endParaRPr/>
          </a:p>
          <a:p>
            <a:pPr indent="-342900" lvl="0" marL="457200" rtl="0" algn="l">
              <a:spcBef>
                <a:spcPts val="0"/>
              </a:spcBef>
              <a:spcAft>
                <a:spcPts val="0"/>
              </a:spcAft>
              <a:buSzPts val="1800"/>
              <a:buChar char="-"/>
            </a:pPr>
            <a:r>
              <a:rPr lang="en"/>
              <a:t>Finds the boundary that maximizes the gap between classes </a:t>
            </a:r>
            <a:endParaRPr/>
          </a:p>
          <a:p>
            <a:pPr indent="-342900" lvl="0" marL="457200" rtl="0" algn="l">
              <a:spcBef>
                <a:spcPts val="0"/>
              </a:spcBef>
              <a:spcAft>
                <a:spcPts val="0"/>
              </a:spcAft>
              <a:buSzPts val="1800"/>
              <a:buChar char="-"/>
            </a:pPr>
            <a:r>
              <a:rPr lang="en"/>
              <a:t>Support vectors: the closest points to the decision boundary</a:t>
            </a:r>
            <a:endParaRPr/>
          </a:p>
          <a:p>
            <a:pPr indent="-342900" lvl="0" marL="457200" rtl="0" algn="l">
              <a:spcBef>
                <a:spcPts val="0"/>
              </a:spcBef>
              <a:spcAft>
                <a:spcPts val="0"/>
              </a:spcAft>
              <a:buSzPts val="1800"/>
              <a:buChar char="-"/>
            </a:pPr>
            <a:r>
              <a:rPr lang="en"/>
              <a:t>Uses dot products: </a:t>
            </a:r>
            <a:r>
              <a:rPr lang="en"/>
              <a:t>w·x</a:t>
            </a:r>
            <a:r>
              <a:rPr b="1" lang="en"/>
              <a:t> </a:t>
            </a:r>
            <a:r>
              <a:rPr lang="en"/>
              <a:t>+ b = 0 (calculates the line)</a:t>
            </a:r>
            <a:endParaRPr/>
          </a:p>
          <a:p>
            <a:pPr indent="-317500" lvl="1" marL="914400" rtl="0" algn="l">
              <a:spcBef>
                <a:spcPts val="0"/>
              </a:spcBef>
              <a:spcAft>
                <a:spcPts val="0"/>
              </a:spcAft>
              <a:buSzPts val="1400"/>
              <a:buChar char="-"/>
            </a:pPr>
            <a:r>
              <a:rPr lang="en"/>
              <a:t>w is the weights (how much each feature matters), x is the patients features, and b is the bias (shifts the boundary away from 0)</a:t>
            </a:r>
            <a:endParaRPr/>
          </a:p>
          <a:p>
            <a:pPr indent="-317500" lvl="1" marL="914400" rtl="0" algn="l">
              <a:spcBef>
                <a:spcPts val="0"/>
              </a:spcBef>
              <a:spcAft>
                <a:spcPts val="0"/>
              </a:spcAft>
              <a:buSzPts val="1400"/>
              <a:buChar char="-"/>
            </a:pPr>
            <a:r>
              <a:rPr lang="en"/>
              <a:t>Results in 1 score representing how strongly the patient’s features align with the learned weight</a:t>
            </a:r>
            <a:endParaRPr/>
          </a:p>
          <a:p>
            <a:pPr indent="-342900" lvl="0" marL="457200" rtl="0" algn="l">
              <a:spcBef>
                <a:spcPts val="0"/>
              </a:spcBef>
              <a:spcAft>
                <a:spcPts val="0"/>
              </a:spcAft>
              <a:buSzPts val="1800"/>
              <a:buChar char="-"/>
            </a:pPr>
            <a:r>
              <a:rPr lang="en"/>
              <a:t>Linear SVM:</a:t>
            </a:r>
            <a:endParaRPr/>
          </a:p>
        </p:txBody>
      </p:sp>
      <p:pic>
        <p:nvPicPr>
          <p:cNvPr id="67" name="Google Shape;67;p14"/>
          <p:cNvPicPr preferRelativeResize="0"/>
          <p:nvPr/>
        </p:nvPicPr>
        <p:blipFill>
          <a:blip r:embed="rId3">
            <a:alphaModFix/>
          </a:blip>
          <a:stretch>
            <a:fillRect/>
          </a:stretch>
        </p:blipFill>
        <p:spPr>
          <a:xfrm>
            <a:off x="3251174" y="3515225"/>
            <a:ext cx="2641650" cy="1570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If The Data Isn’t </a:t>
            </a:r>
            <a:r>
              <a:rPr lang="en"/>
              <a:t>Linearly</a:t>
            </a:r>
            <a:r>
              <a:rPr lang="en"/>
              <a:t> Separable?</a:t>
            </a:r>
            <a:endParaRPr/>
          </a:p>
        </p:txBody>
      </p:sp>
      <p:pic>
        <p:nvPicPr>
          <p:cNvPr id="73" name="Google Shape;73;p15" title="Screenshot 2026-05-30 at 1.56.06 PM.png"/>
          <p:cNvPicPr preferRelativeResize="0"/>
          <p:nvPr/>
        </p:nvPicPr>
        <p:blipFill>
          <a:blip r:embed="rId3">
            <a:alphaModFix/>
          </a:blip>
          <a:stretch>
            <a:fillRect/>
          </a:stretch>
        </p:blipFill>
        <p:spPr>
          <a:xfrm>
            <a:off x="3847824" y="1180275"/>
            <a:ext cx="4984476" cy="3745400"/>
          </a:xfrm>
          <a:prstGeom prst="rect">
            <a:avLst/>
          </a:prstGeom>
          <a:noFill/>
          <a:ln>
            <a:noFill/>
          </a:ln>
        </p:spPr>
      </p:pic>
      <p:sp>
        <p:nvSpPr>
          <p:cNvPr id="74" name="Google Shape;74;p15"/>
          <p:cNvSpPr txBox="1"/>
          <p:nvPr/>
        </p:nvSpPr>
        <p:spPr>
          <a:xfrm>
            <a:off x="124250" y="1217550"/>
            <a:ext cx="3590400" cy="37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Average"/>
                <a:ea typeface="Average"/>
                <a:cs typeface="Average"/>
                <a:sym typeface="Average"/>
              </a:rPr>
              <a:t>Naive solution:</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Imagine each point has one feature - distance from origin (x)</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Now add in another feature (x²) - the points now have one more coordinate - plotted on a higher dimensional space</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Keep adding features until the data becomes linearly separable </a:t>
            </a:r>
            <a:endParaRPr sz="16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Naive Solution</a:t>
            </a:r>
            <a:endParaRPr/>
          </a:p>
        </p:txBody>
      </p:sp>
      <p:pic>
        <p:nvPicPr>
          <p:cNvPr id="80" name="Google Shape;80;p16" title="Screenshot 2026-05-30 at 1.56.06 PM.png"/>
          <p:cNvPicPr preferRelativeResize="0"/>
          <p:nvPr/>
        </p:nvPicPr>
        <p:blipFill>
          <a:blip r:embed="rId3">
            <a:alphaModFix/>
          </a:blip>
          <a:stretch>
            <a:fillRect/>
          </a:stretch>
        </p:blipFill>
        <p:spPr>
          <a:xfrm>
            <a:off x="1281325" y="1098250"/>
            <a:ext cx="3254439" cy="2445420"/>
          </a:xfrm>
          <a:prstGeom prst="rect">
            <a:avLst/>
          </a:prstGeom>
          <a:noFill/>
          <a:ln>
            <a:noFill/>
          </a:ln>
        </p:spPr>
      </p:pic>
      <p:pic>
        <p:nvPicPr>
          <p:cNvPr id="81" name="Google Shape;81;p16" title="Screenshot 2026-05-30 at 2.06.10 PM.png"/>
          <p:cNvPicPr preferRelativeResize="0"/>
          <p:nvPr/>
        </p:nvPicPr>
        <p:blipFill>
          <a:blip r:embed="rId4">
            <a:alphaModFix/>
          </a:blip>
          <a:stretch>
            <a:fillRect/>
          </a:stretch>
        </p:blipFill>
        <p:spPr>
          <a:xfrm>
            <a:off x="4639642" y="1113334"/>
            <a:ext cx="3073960" cy="2415254"/>
          </a:xfrm>
          <a:prstGeom prst="rect">
            <a:avLst/>
          </a:prstGeom>
          <a:noFill/>
          <a:ln>
            <a:noFill/>
          </a:ln>
        </p:spPr>
      </p:pic>
      <p:sp>
        <p:nvSpPr>
          <p:cNvPr id="82" name="Google Shape;82;p16"/>
          <p:cNvSpPr txBox="1"/>
          <p:nvPr/>
        </p:nvSpPr>
        <p:spPr>
          <a:xfrm>
            <a:off x="434825" y="3624200"/>
            <a:ext cx="8397600" cy="13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Problems:</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Too computationally heavy</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Adding squares, cubes, and interactions between multiple features grows the number of features exponentially</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Simple calculations can take a lot of time</a:t>
            </a:r>
            <a:endParaRPr>
              <a:solidFill>
                <a:schemeClr val="accent3"/>
              </a:solidFill>
              <a:latin typeface="Average"/>
              <a:ea typeface="Average"/>
              <a:cs typeface="Average"/>
              <a:sym typeface="Average"/>
            </a:endParaRPr>
          </a:p>
          <a:p>
            <a:pPr indent="0" lvl="0" marL="0" rtl="0" algn="l">
              <a:spcBef>
                <a:spcPts val="0"/>
              </a:spcBef>
              <a:spcAft>
                <a:spcPts val="0"/>
              </a:spcAft>
              <a:buNone/>
            </a:pPr>
            <a:r>
              <a:t/>
            </a:r>
            <a:endParaRPr sz="800">
              <a:solidFill>
                <a:schemeClr val="accent3"/>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Kernel Trick</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shortcut function that calculates the dot products necessary for an SVM, assuming that the data is in the higher dimensional space</a:t>
            </a:r>
            <a:endParaRPr/>
          </a:p>
          <a:p>
            <a:pPr indent="-342900" lvl="0" marL="457200" rtl="0" algn="l">
              <a:spcBef>
                <a:spcPts val="0"/>
              </a:spcBef>
              <a:spcAft>
                <a:spcPts val="0"/>
              </a:spcAft>
              <a:buSzPts val="1800"/>
              <a:buChar char="-"/>
            </a:pPr>
            <a:r>
              <a:rPr lang="en"/>
              <a:t>Key: Bypasses the need to physically project the data in a higher dimensional space</a:t>
            </a:r>
            <a:endParaRPr/>
          </a:p>
          <a:p>
            <a:pPr indent="-342900" lvl="0" marL="457200" rtl="0" algn="l">
              <a:spcBef>
                <a:spcPts val="0"/>
              </a:spcBef>
              <a:spcAft>
                <a:spcPts val="0"/>
              </a:spcAft>
              <a:buSzPts val="1800"/>
              <a:buChar char="-"/>
            </a:pPr>
            <a:r>
              <a:rPr lang="en"/>
              <a:t>Instead of transforming the data and then computing dot products, we can call a kernel k and get the same answer</a:t>
            </a:r>
            <a:endParaRPr/>
          </a:p>
          <a:p>
            <a:pPr indent="-342900" lvl="0" marL="457200" rtl="0" algn="l">
              <a:spcBef>
                <a:spcPts val="0"/>
              </a:spcBef>
              <a:spcAft>
                <a:spcPts val="0"/>
              </a:spcAft>
              <a:buSzPts val="1800"/>
              <a:buChar char="-"/>
            </a:pPr>
            <a:r>
              <a:rPr lang="en"/>
              <a:t>E</a:t>
            </a:r>
            <a:r>
              <a:rPr lang="en"/>
              <a:t>xploits the fact that SVM only needs dot products by replacing those calculations with a kernel function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a:t>
            </a:r>
            <a:r>
              <a:rPr lang="en" sz="2860">
                <a:solidFill>
                  <a:schemeClr val="accent3"/>
                </a:solidFill>
              </a:rPr>
              <a:t>Have 2 points and want to see if they are separable</a:t>
            </a:r>
            <a:endParaRPr sz="4333"/>
          </a:p>
        </p:txBody>
      </p:sp>
      <p:sp>
        <p:nvSpPr>
          <p:cNvPr id="94" name="Google Shape;94;p18"/>
          <p:cNvSpPr txBox="1"/>
          <p:nvPr>
            <p:ph idx="1" type="body"/>
          </p:nvPr>
        </p:nvSpPr>
        <p:spPr>
          <a:xfrm>
            <a:off x="311700" y="2049950"/>
            <a:ext cx="4161000" cy="2956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275"/>
              <a:buNone/>
            </a:pPr>
            <a:r>
              <a:rPr lang="en" sz="1427"/>
              <a:t>Option 1: </a:t>
            </a:r>
            <a:r>
              <a:rPr lang="en" sz="1427"/>
              <a:t>Naive Solution - </a:t>
            </a:r>
            <a:r>
              <a:rPr lang="en" sz="1427"/>
              <a:t>Create 3 features out of 2</a:t>
            </a:r>
            <a:endParaRPr sz="1427"/>
          </a:p>
          <a:p>
            <a:pPr indent="0" lvl="0" marL="0" rtl="0" algn="l">
              <a:lnSpc>
                <a:spcPct val="105000"/>
              </a:lnSpc>
              <a:spcBef>
                <a:spcPts val="1200"/>
              </a:spcBef>
              <a:spcAft>
                <a:spcPts val="0"/>
              </a:spcAft>
              <a:buSzPts val="275"/>
              <a:buNone/>
            </a:pPr>
            <a:r>
              <a:rPr lang="en" sz="1427"/>
              <a:t>φ([x₁, x₂]) = [x₁², √2·x₁x₂, x₂²] - (These three values represent every possible way to combine two features by multiplying them together, </a:t>
            </a:r>
            <a:r>
              <a:rPr lang="en" sz="1427"/>
              <a:t>√2 is a scaling factor that makes sure the math works</a:t>
            </a:r>
            <a:r>
              <a:rPr lang="en" sz="1427"/>
              <a:t>)</a:t>
            </a:r>
            <a:endParaRPr sz="1427"/>
          </a:p>
          <a:p>
            <a:pPr indent="0" lvl="0" marL="0" rtl="0" algn="l">
              <a:lnSpc>
                <a:spcPct val="105000"/>
              </a:lnSpc>
              <a:spcBef>
                <a:spcPts val="1200"/>
              </a:spcBef>
              <a:spcAft>
                <a:spcPts val="0"/>
              </a:spcAft>
              <a:buSzPts val="275"/>
              <a:buNone/>
            </a:pPr>
            <a:r>
              <a:t/>
            </a:r>
            <a:endParaRPr sz="1427"/>
          </a:p>
          <a:p>
            <a:pPr indent="0" lvl="0" marL="0" rtl="0" algn="l">
              <a:lnSpc>
                <a:spcPct val="105000"/>
              </a:lnSpc>
              <a:spcBef>
                <a:spcPts val="1200"/>
              </a:spcBef>
              <a:spcAft>
                <a:spcPts val="0"/>
              </a:spcAft>
              <a:buSzPts val="275"/>
              <a:buNone/>
            </a:pPr>
            <a:r>
              <a:t/>
            </a:r>
            <a:endParaRPr sz="750"/>
          </a:p>
          <a:p>
            <a:pPr indent="0" lvl="0" marL="0" rtl="0" algn="l">
              <a:lnSpc>
                <a:spcPct val="105000"/>
              </a:lnSpc>
              <a:spcBef>
                <a:spcPts val="1200"/>
              </a:spcBef>
              <a:spcAft>
                <a:spcPts val="0"/>
              </a:spcAft>
              <a:buSzPts val="275"/>
              <a:buNone/>
            </a:pPr>
            <a:r>
              <a:t/>
            </a:r>
            <a:endParaRPr sz="750"/>
          </a:p>
          <a:p>
            <a:pPr indent="0" lvl="0" marL="0" rtl="0" algn="l">
              <a:lnSpc>
                <a:spcPct val="105000"/>
              </a:lnSpc>
              <a:spcBef>
                <a:spcPts val="1200"/>
              </a:spcBef>
              <a:spcAft>
                <a:spcPts val="1200"/>
              </a:spcAft>
              <a:buSzPts val="275"/>
              <a:buNone/>
            </a:pPr>
            <a:r>
              <a:t/>
            </a:r>
            <a:endParaRPr sz="750"/>
          </a:p>
        </p:txBody>
      </p:sp>
      <p:sp>
        <p:nvSpPr>
          <p:cNvPr id="95" name="Google Shape;95;p18"/>
          <p:cNvSpPr txBox="1"/>
          <p:nvPr/>
        </p:nvSpPr>
        <p:spPr>
          <a:xfrm>
            <a:off x="5019250" y="2049950"/>
            <a:ext cx="3913500" cy="272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608">
                <a:solidFill>
                  <a:schemeClr val="accent3"/>
                </a:solidFill>
                <a:latin typeface="Average"/>
                <a:ea typeface="Average"/>
                <a:cs typeface="Average"/>
                <a:sym typeface="Average"/>
              </a:rPr>
              <a:t>Option 2: Use a (polynomial) kernel </a:t>
            </a:r>
            <a:endParaRPr sz="1608">
              <a:solidFill>
                <a:schemeClr val="accent3"/>
              </a:solidFill>
              <a:latin typeface="Average"/>
              <a:ea typeface="Average"/>
              <a:cs typeface="Average"/>
              <a:sym typeface="Average"/>
            </a:endParaRPr>
          </a:p>
        </p:txBody>
      </p:sp>
      <p:sp>
        <p:nvSpPr>
          <p:cNvPr id="96" name="Google Shape;96;p18"/>
          <p:cNvSpPr txBox="1"/>
          <p:nvPr/>
        </p:nvSpPr>
        <p:spPr>
          <a:xfrm>
            <a:off x="3950850" y="1143000"/>
            <a:ext cx="1242300" cy="6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A = [1, 2]</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rPr lang="en" sz="1800">
                <a:solidFill>
                  <a:schemeClr val="accent3"/>
                </a:solidFill>
                <a:latin typeface="Average"/>
                <a:ea typeface="Average"/>
                <a:cs typeface="Average"/>
                <a:sym typeface="Average"/>
              </a:rPr>
              <a:t>B = [3, 4]</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pic>
        <p:nvPicPr>
          <p:cNvPr id="97" name="Google Shape;97;p18" title="Screenshot 2026-05-30 at 3.57.38 PM.png"/>
          <p:cNvPicPr preferRelativeResize="0"/>
          <p:nvPr/>
        </p:nvPicPr>
        <p:blipFill>
          <a:blip r:embed="rId3">
            <a:alphaModFix/>
          </a:blip>
          <a:stretch>
            <a:fillRect/>
          </a:stretch>
        </p:blipFill>
        <p:spPr>
          <a:xfrm>
            <a:off x="348162" y="3506500"/>
            <a:ext cx="4088074" cy="1562450"/>
          </a:xfrm>
          <a:prstGeom prst="rect">
            <a:avLst/>
          </a:prstGeom>
          <a:noFill/>
          <a:ln>
            <a:noFill/>
          </a:ln>
        </p:spPr>
      </p:pic>
      <p:pic>
        <p:nvPicPr>
          <p:cNvPr id="98" name="Google Shape;98;p18" title="Screenshot 2026-05-30 at 3.58.54 PM.png"/>
          <p:cNvPicPr preferRelativeResize="0"/>
          <p:nvPr/>
        </p:nvPicPr>
        <p:blipFill>
          <a:blip r:embed="rId4">
            <a:alphaModFix/>
          </a:blip>
          <a:stretch>
            <a:fillRect/>
          </a:stretch>
        </p:blipFill>
        <p:spPr>
          <a:xfrm>
            <a:off x="5093800" y="2598550"/>
            <a:ext cx="3524224" cy="185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They Match</a:t>
            </a:r>
            <a:endParaRPr/>
          </a:p>
        </p:txBody>
      </p:sp>
      <p:pic>
        <p:nvPicPr>
          <p:cNvPr id="104" name="Google Shape;104;p19" title="Screenshot 2026-05-31 at 9.18.19 PM.png"/>
          <p:cNvPicPr preferRelativeResize="0"/>
          <p:nvPr/>
        </p:nvPicPr>
        <p:blipFill>
          <a:blip r:embed="rId3">
            <a:alphaModFix/>
          </a:blip>
          <a:stretch>
            <a:fillRect/>
          </a:stretch>
        </p:blipFill>
        <p:spPr>
          <a:xfrm>
            <a:off x="152400" y="1515738"/>
            <a:ext cx="8839201" cy="21120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Radial Basis Function (RBF) </a:t>
            </a:r>
            <a:endParaRPr/>
          </a:p>
        </p:txBody>
      </p:sp>
      <p:sp>
        <p:nvSpPr>
          <p:cNvPr id="110" name="Google Shape;11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Formula: </a:t>
            </a:r>
            <a:r>
              <a:rPr lang="en"/>
              <a:t>K(A, B) = exp(-γ ||A - B||²) </a:t>
            </a:r>
            <a:endParaRPr/>
          </a:p>
          <a:p>
            <a:pPr indent="-334328" lvl="0" marL="457200" rtl="0" algn="l">
              <a:spcBef>
                <a:spcPts val="1200"/>
              </a:spcBef>
              <a:spcAft>
                <a:spcPts val="0"/>
              </a:spcAft>
              <a:buSzPct val="100000"/>
              <a:buChar char="-"/>
            </a:pPr>
            <a:r>
              <a:rPr lang="en"/>
              <a:t>Using the same points from the example:</a:t>
            </a:r>
            <a:endParaRPr/>
          </a:p>
          <a:p>
            <a:pPr indent="-336232" lvl="1" marL="914400" rtl="0" algn="l">
              <a:spcBef>
                <a:spcPts val="0"/>
              </a:spcBef>
              <a:spcAft>
                <a:spcPts val="0"/>
              </a:spcAft>
              <a:buSzPct val="100000"/>
              <a:buChar char="-"/>
            </a:pPr>
            <a:r>
              <a:rPr lang="en" sz="1832"/>
              <a:t>A - B = [1-3, 2-4] = [-2, -2]</a:t>
            </a:r>
            <a:endParaRPr sz="1832"/>
          </a:p>
          <a:p>
            <a:pPr indent="-336232" lvl="1" marL="914400" rtl="0" algn="l">
              <a:spcBef>
                <a:spcPts val="0"/>
              </a:spcBef>
              <a:spcAft>
                <a:spcPts val="0"/>
              </a:spcAft>
              <a:buSzPct val="100000"/>
              <a:buChar char="-"/>
            </a:pPr>
            <a:r>
              <a:rPr lang="en" sz="1832"/>
              <a:t>||A - B||² = (-2)² + (-2)² = 4 + 4 = 8</a:t>
            </a:r>
            <a:endParaRPr sz="1832"/>
          </a:p>
          <a:p>
            <a:pPr indent="-310832" lvl="1" marL="914400" rtl="0" algn="l">
              <a:spcBef>
                <a:spcPts val="0"/>
              </a:spcBef>
              <a:spcAft>
                <a:spcPts val="0"/>
              </a:spcAft>
              <a:buSzPct val="77778"/>
              <a:buChar char="-"/>
            </a:pPr>
            <a:r>
              <a:rPr lang="en" sz="1800"/>
              <a:t>-γ controls how quickly the similarity between points fades as the distance grows (we’ll choose 0.5). High gamma means only nearly identical points are considered similar, while low gamma means even fairly distant points can still be similar</a:t>
            </a:r>
            <a:endParaRPr sz="1800"/>
          </a:p>
          <a:p>
            <a:pPr indent="-334328" lvl="1" marL="914400" rtl="0" algn="l">
              <a:spcBef>
                <a:spcPts val="0"/>
              </a:spcBef>
              <a:spcAft>
                <a:spcPts val="0"/>
              </a:spcAft>
              <a:buSzPct val="100000"/>
              <a:buChar char="-"/>
            </a:pPr>
            <a:r>
              <a:rPr lang="en" sz="1800"/>
              <a:t>-γ × 8 = -0.5 × 8 = -4</a:t>
            </a:r>
            <a:endParaRPr sz="1800"/>
          </a:p>
          <a:p>
            <a:pPr indent="-334328" lvl="1" marL="914400" rtl="0" algn="l">
              <a:spcBef>
                <a:spcPts val="0"/>
              </a:spcBef>
              <a:spcAft>
                <a:spcPts val="0"/>
              </a:spcAft>
              <a:buSzPct val="100000"/>
              <a:buChar char="-"/>
            </a:pPr>
            <a:r>
              <a:rPr lang="en" sz="1800"/>
              <a:t>Final step is to exponentiate</a:t>
            </a:r>
            <a:endParaRPr sz="1800"/>
          </a:p>
          <a:p>
            <a:pPr indent="-334328" lvl="1" marL="914400" rtl="0" algn="l">
              <a:spcBef>
                <a:spcPts val="0"/>
              </a:spcBef>
              <a:spcAft>
                <a:spcPts val="0"/>
              </a:spcAft>
              <a:buSzPct val="100000"/>
              <a:buChar char="-"/>
            </a:pPr>
            <a:r>
              <a:rPr lang="en" sz="1800"/>
              <a:t>exp(-4) ≈ 0.018</a:t>
            </a:r>
            <a:endParaRPr sz="1800"/>
          </a:p>
          <a:p>
            <a:pPr indent="-334328" lvl="0" marL="457200" rtl="0" algn="l">
              <a:spcBef>
                <a:spcPts val="0"/>
              </a:spcBef>
              <a:spcAft>
                <a:spcPts val="0"/>
              </a:spcAft>
              <a:buSzPct val="100000"/>
              <a:buChar char="-"/>
            </a:pPr>
            <a:r>
              <a:rPr lang="en"/>
              <a:t>The output is always between 0 and 1, with closer to 0 being more different</a:t>
            </a:r>
            <a:endParaRPr/>
          </a:p>
          <a:p>
            <a:pPr indent="0" lvl="0" marL="914400" rtl="0" algn="l">
              <a:spcBef>
                <a:spcPts val="1200"/>
              </a:spcBef>
              <a:spcAft>
                <a:spcPts val="1200"/>
              </a:spcAft>
              <a:buNone/>
            </a:pPr>
            <a:r>
              <a:t/>
            </a:r>
            <a:endParaRPr/>
          </a:p>
        </p:txBody>
      </p:sp>
      <p:sp>
        <p:nvSpPr>
          <p:cNvPr id="111" name="Google Shape;111;p20"/>
          <p:cNvSpPr txBox="1"/>
          <p:nvPr/>
        </p:nvSpPr>
        <p:spPr>
          <a:xfrm>
            <a:off x="6385925" y="1152475"/>
            <a:ext cx="1242300" cy="6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A = [1, 2]</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rPr lang="en" sz="1800">
                <a:solidFill>
                  <a:schemeClr val="accent3"/>
                </a:solidFill>
                <a:latin typeface="Average"/>
                <a:ea typeface="Average"/>
                <a:cs typeface="Average"/>
                <a:sym typeface="Average"/>
              </a:rPr>
              <a:t>B = [3, 4]</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RBF is Useful</a:t>
            </a:r>
            <a:endParaRPr/>
          </a:p>
        </p:txBody>
      </p:sp>
      <p:sp>
        <p:nvSpPr>
          <p:cNvPr id="117" name="Google Shape;11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polynomial kernel we used before mapped 2 features into 3 </a:t>
            </a:r>
            <a:r>
              <a:rPr lang="en"/>
              <a:t>dimensions</a:t>
            </a:r>
            <a:r>
              <a:rPr lang="en"/>
              <a:t> by adding terms that are squared. To get more power, simply add in cubed terms, quartic terms, etc.</a:t>
            </a:r>
            <a:endParaRPr/>
          </a:p>
          <a:p>
            <a:pPr indent="-342900" lvl="0" marL="457200" rtl="0" algn="l">
              <a:spcBef>
                <a:spcPts val="0"/>
              </a:spcBef>
              <a:spcAft>
                <a:spcPts val="0"/>
              </a:spcAft>
              <a:buSzPts val="1800"/>
              <a:buChar char="-"/>
            </a:pPr>
            <a:r>
              <a:rPr lang="en"/>
              <a:t>Higher degree polynomials = higher dimensional space</a:t>
            </a:r>
            <a:endParaRPr/>
          </a:p>
          <a:p>
            <a:pPr indent="-342900" lvl="0" marL="457200" rtl="0" algn="l">
              <a:spcBef>
                <a:spcPts val="0"/>
              </a:spcBef>
              <a:spcAft>
                <a:spcPts val="0"/>
              </a:spcAft>
              <a:buSzPts val="1800"/>
              <a:buChar char="-"/>
            </a:pPr>
            <a:r>
              <a:rPr lang="en"/>
              <a:t>RBF does all these expansions at </a:t>
            </a:r>
            <a:r>
              <a:rPr lang="en"/>
              <a:t>once, by using an infinite series</a:t>
            </a:r>
            <a:endParaRPr/>
          </a:p>
          <a:p>
            <a:pPr indent="-317500" lvl="1" marL="914400" rtl="0" algn="l">
              <a:spcBef>
                <a:spcPts val="0"/>
              </a:spcBef>
              <a:spcAft>
                <a:spcPts val="0"/>
              </a:spcAft>
              <a:buSzPts val="1400"/>
              <a:buChar char="-"/>
            </a:pPr>
            <a:r>
              <a:rPr lang="en"/>
              <a:t>The exponentiation expands into exp(x) = 1 + x + x²/2! + x³/3! + x⁴/4! + …</a:t>
            </a:r>
            <a:endParaRPr/>
          </a:p>
          <a:p>
            <a:pPr indent="-317500" lvl="1" marL="914400" rtl="0" algn="l">
              <a:spcBef>
                <a:spcPts val="0"/>
              </a:spcBef>
              <a:spcAft>
                <a:spcPts val="0"/>
              </a:spcAft>
              <a:buSzPts val="1400"/>
              <a:buChar char="-"/>
            </a:pPr>
            <a:r>
              <a:rPr lang="en"/>
              <a:t>The RBF equation K(A, B) = exp(-γ||A - B||²) is actually summing up the dot products of all the polynomial spaces at once, meaning that it’s infinite dimensional</a:t>
            </a:r>
            <a:endParaRPr/>
          </a:p>
          <a:p>
            <a:pPr indent="-317500" lvl="1" marL="914400" rtl="0" algn="l">
              <a:spcBef>
                <a:spcPts val="0"/>
              </a:spcBef>
              <a:spcAft>
                <a:spcPts val="0"/>
              </a:spcAft>
              <a:buSzPts val="1400"/>
              <a:buChar char="-"/>
            </a:pPr>
            <a:r>
              <a:rPr lang="en"/>
              <a:t>In theory, this allows RBF to separate any two groups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751950" y="2285400"/>
            <a:ext cx="164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