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346"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7"/>
    <p:restoredTop sz="94671"/>
  </p:normalViewPr>
  <p:slideViewPr>
    <p:cSldViewPr snapToGrid="0">
      <p:cViewPr varScale="1">
        <p:scale>
          <a:sx n="104" d="100"/>
          <a:sy n="104" d="100"/>
        </p:scale>
        <p:origin x="68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CE4A35-4A5C-B74E-9EC0-C1723E6A8663}" type="datetimeFigureOut">
              <a:rPr lang="en-US" smtClean="0"/>
              <a:t>5/31/26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04F0DE-693D-2C41-B508-780F91E950B1}" type="slidenum">
              <a:rPr lang="en-US" smtClean="0"/>
              <a:t>‹#›</a:t>
            </a:fld>
            <a:endParaRPr lang="en-US"/>
          </a:p>
        </p:txBody>
      </p:sp>
    </p:spTree>
    <p:extLst>
      <p:ext uri="{BB962C8B-B14F-4D97-AF65-F5344CB8AC3E}">
        <p14:creationId xmlns:p14="http://schemas.microsoft.com/office/powerpoint/2010/main" val="2378684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Hey there everyone, my name is Thomas Blakely, and I'll be giving a quick presentation on causal forests, which is a machine-learning method that will allow us to estimate how treatment effects vary across patients.</a:t>
            </a:r>
          </a:p>
          <a:p>
            <a:endParaRPr lang="en-US" dirty="0"/>
          </a:p>
        </p:txBody>
      </p:sp>
      <p:sp>
        <p:nvSpPr>
          <p:cNvPr id="4" name="Slide Number Placeholder 3"/>
          <p:cNvSpPr>
            <a:spLocks noGrp="1"/>
          </p:cNvSpPr>
          <p:nvPr>
            <p:ph type="sldNum" sz="quarter" idx="5"/>
          </p:nvPr>
        </p:nvSpPr>
        <p:spPr/>
        <p:txBody>
          <a:bodyPr/>
          <a:lstStyle/>
          <a:p>
            <a:fld id="{7C04F0DE-693D-2C41-B508-780F91E950B1}" type="slidenum">
              <a:rPr lang="en-US" smtClean="0"/>
              <a:t>1</a:t>
            </a:fld>
            <a:endParaRPr lang="en-US"/>
          </a:p>
        </p:txBody>
      </p:sp>
    </p:spTree>
    <p:extLst>
      <p:ext uri="{BB962C8B-B14F-4D97-AF65-F5344CB8AC3E}">
        <p14:creationId xmlns:p14="http://schemas.microsoft.com/office/powerpoint/2010/main" val="8384158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My motivation for causal forests comes from my recent work on GLP-1s and their effects on blood pressure. When we deal with medications, one thing we always have to consider is the fact that the effect of a medication is not the same for everyone. In fact, this treatment effect can vary based on baseline characteristics like age, weight, if they have diabetes, and other comorbidities. This naturally leads to the idea of treatment-effect heterogeneity, where we're concerned not just with the average effect of a drug, but for which populations or subgroups it might affect more or less. </a:t>
            </a:r>
            <a:r>
              <a:rPr lang="en-US" dirty="0"/>
              <a:t>Formally, that per-patient effect is the conditional average treatment effect,  the CATE, and it's what the whole talk is trying to estimate. </a:t>
            </a:r>
            <a:r>
              <a:rPr lang="en-US" sz="1200" kern="1200" dirty="0">
                <a:solidFill>
                  <a:schemeClr val="tx1"/>
                </a:solidFill>
                <a:effectLst/>
                <a:latin typeface="+mn-lt"/>
                <a:ea typeface="+mn-ea"/>
                <a:cs typeface="+mn-cs"/>
              </a:rPr>
              <a:t>Now with research, we could pre-specify a specific subgroup analysis, like by obesity status. However, we can also address this through a machine learning approach where we let the data tell us which subgroups differ from one another. This is where causal forests come in.</a:t>
            </a:r>
          </a:p>
          <a:p>
            <a:endParaRPr lang="en-US" dirty="0"/>
          </a:p>
        </p:txBody>
      </p:sp>
      <p:sp>
        <p:nvSpPr>
          <p:cNvPr id="4" name="Slide Number Placeholder 3"/>
          <p:cNvSpPr>
            <a:spLocks noGrp="1"/>
          </p:cNvSpPr>
          <p:nvPr>
            <p:ph type="sldNum" sz="quarter" idx="5"/>
          </p:nvPr>
        </p:nvSpPr>
        <p:spPr/>
        <p:txBody>
          <a:bodyPr/>
          <a:lstStyle/>
          <a:p>
            <a:fld id="{7C04F0DE-693D-2C41-B508-780F91E950B1}" type="slidenum">
              <a:rPr lang="en-US" smtClean="0"/>
              <a:t>2</a:t>
            </a:fld>
            <a:endParaRPr lang="en-US"/>
          </a:p>
        </p:txBody>
      </p:sp>
    </p:spTree>
    <p:extLst>
      <p:ext uri="{BB962C8B-B14F-4D97-AF65-F5344CB8AC3E}">
        <p14:creationId xmlns:p14="http://schemas.microsoft.com/office/powerpoint/2010/main" val="792880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However, before getting to causal forests, we need to start with regression trees. Regression trees are similar to the classification trees we covered in week 4, except in this case, the outcome is continuous. With regression trees, the splits are recursive, binary, and greedy. This basically means the tree makes one True-False split at a time, taking the best split available at that step, usually chosen by minimizing the mean squared error, rather than planning far ahead. Here, each leaf predicts the average outcome among the observations in that leaf. Now the key thing to notice here is that regression trees focus on predicting the outcome itself, not estimating a treatment's causal effect. That is the part we are about to change.</a:t>
            </a:r>
          </a:p>
          <a:p>
            <a:endParaRPr lang="en-US" dirty="0"/>
          </a:p>
        </p:txBody>
      </p:sp>
      <p:sp>
        <p:nvSpPr>
          <p:cNvPr id="4" name="Slide Number Placeholder 3"/>
          <p:cNvSpPr>
            <a:spLocks noGrp="1"/>
          </p:cNvSpPr>
          <p:nvPr>
            <p:ph type="sldNum" sz="quarter" idx="5"/>
          </p:nvPr>
        </p:nvSpPr>
        <p:spPr/>
        <p:txBody>
          <a:bodyPr/>
          <a:lstStyle/>
          <a:p>
            <a:fld id="{7C04F0DE-693D-2C41-B508-780F91E950B1}" type="slidenum">
              <a:rPr lang="en-US" smtClean="0"/>
              <a:t>3</a:t>
            </a:fld>
            <a:endParaRPr lang="en-US"/>
          </a:p>
        </p:txBody>
      </p:sp>
    </p:spTree>
    <p:extLst>
      <p:ext uri="{BB962C8B-B14F-4D97-AF65-F5344CB8AC3E}">
        <p14:creationId xmlns:p14="http://schemas.microsoft.com/office/powerpoint/2010/main" val="5298993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With causal trees, we keep the same basic tree structure but change what each leaf represents. For this presentation, we will assume the same splits were chosen. Instead of a predicted outcome, each leaf contains an estimated treatment effect. For example, the average blood-pressure change for patients on a GLP-1 minus the average change for comparable patients not on one, within that subgroup. The splitting rule changes too. Since we never observe both potential outcomes for the same patient, minimizing error against the true individual effect is infeasible. So the tree optimizes an estimable version of that objective: it rewards splits that create meaningful differences in estimated effects across leaves, and penalizes noisy splits based on too little information. The result is a readable tree whose leaves represent candidate treatment-effect subgroups.</a:t>
            </a:r>
          </a:p>
          <a:p>
            <a:endParaRPr lang="en-US" dirty="0"/>
          </a:p>
        </p:txBody>
      </p:sp>
      <p:sp>
        <p:nvSpPr>
          <p:cNvPr id="4" name="Slide Number Placeholder 3"/>
          <p:cNvSpPr>
            <a:spLocks noGrp="1"/>
          </p:cNvSpPr>
          <p:nvPr>
            <p:ph type="sldNum" sz="quarter" idx="5"/>
          </p:nvPr>
        </p:nvSpPr>
        <p:spPr/>
        <p:txBody>
          <a:bodyPr/>
          <a:lstStyle/>
          <a:p>
            <a:fld id="{7C04F0DE-693D-2C41-B508-780F91E950B1}" type="slidenum">
              <a:rPr lang="en-US" smtClean="0"/>
              <a:t>4</a:t>
            </a:fld>
            <a:endParaRPr lang="en-US"/>
          </a:p>
        </p:txBody>
      </p:sp>
    </p:spTree>
    <p:extLst>
      <p:ext uri="{BB962C8B-B14F-4D97-AF65-F5344CB8AC3E}">
        <p14:creationId xmlns:p14="http://schemas.microsoft.com/office/powerpoint/2010/main" val="3718180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 far, based on last slide each leaf is just a difference in average blood-pressure change between treated and untreated patients. Why should we read that difference as the drug's causal effect, and not just a difference between two groups of people? It comes back to the counterfactual problem: since we only observe one treatment state for each patient, we are always comparing treated patients to different untreated patients, and that comparison is only valid under a few assumptions. We need </a:t>
            </a:r>
            <a:r>
              <a:rPr lang="en-US" sz="1200" kern="1200" dirty="0" err="1">
                <a:solidFill>
                  <a:schemeClr val="tx1"/>
                </a:solidFill>
                <a:effectLst/>
                <a:latin typeface="+mn-lt"/>
                <a:ea typeface="+mn-ea"/>
                <a:cs typeface="+mn-cs"/>
              </a:rPr>
              <a:t>unconfoundedness</a:t>
            </a:r>
            <a:r>
              <a:rPr lang="en-US" sz="1200" kern="1200" dirty="0">
                <a:solidFill>
                  <a:schemeClr val="tx1"/>
                </a:solidFill>
                <a:effectLst/>
                <a:latin typeface="+mn-lt"/>
                <a:ea typeface="+mn-ea"/>
                <a:cs typeface="+mn-cs"/>
              </a:rPr>
              <a:t>: after adjusting for observed covariates, treatment assignment is as good as random. We need overlap: for each kind of patient, there is a reasonable chance they could have been treated or untreated. And we need consistency: the observed change is the outcome under the treatment the patient actually received. There is also a fitting problem. Trees are greedy, so they tend to find subgroups where the effect looks extreme, and if we estimate that effect using those same patients, it can come out exaggerated. Honest estimation fixes this by splitting the sample: one part chooses the tree structure, and a separate part estimates the effects within the leaves. That is what makes the confidence intervals more trustworthy.</a:t>
            </a:r>
            <a:r>
              <a:rPr lang="en-US" dirty="0">
                <a:effectLst/>
              </a:rPr>
              <a:t> </a:t>
            </a:r>
            <a:endParaRPr lang="en-US" dirty="0"/>
          </a:p>
        </p:txBody>
      </p:sp>
      <p:sp>
        <p:nvSpPr>
          <p:cNvPr id="4" name="Slide Number Placeholder 3"/>
          <p:cNvSpPr>
            <a:spLocks noGrp="1"/>
          </p:cNvSpPr>
          <p:nvPr>
            <p:ph type="sldNum" sz="quarter" idx="5"/>
          </p:nvPr>
        </p:nvSpPr>
        <p:spPr/>
        <p:txBody>
          <a:bodyPr/>
          <a:lstStyle/>
          <a:p>
            <a:fld id="{7C04F0DE-693D-2C41-B508-780F91E950B1}" type="slidenum">
              <a:rPr lang="en-US" smtClean="0"/>
              <a:t>5</a:t>
            </a:fld>
            <a:endParaRPr lang="en-US"/>
          </a:p>
        </p:txBody>
      </p:sp>
    </p:spTree>
    <p:extLst>
      <p:ext uri="{BB962C8B-B14F-4D97-AF65-F5344CB8AC3E}">
        <p14:creationId xmlns:p14="http://schemas.microsoft.com/office/powerpoint/2010/main" val="33781902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we go from causal trees to causal forests. While a single tree is interpretable, it's unstable, as small changes in the data can lead to a completely different tree. A causal forest fixes this problem by growing many honest trees, each on a random subsample of the data, and averaging them. The intuition here is that for each patient, those who consistently end up in the same leaves have a greater influence on that patient’s estimated effect. So everyone’s estimate is built from the patients most like them. And because the forest is built from many honest trees on random subsamples, </a:t>
            </a:r>
            <a:r>
              <a:rPr lang="en-US" dirty="0"/>
              <a:t>the causal forest estimates behave approximately normally, so we can quantify uncertainty and construct confidence intervals. </a:t>
            </a:r>
            <a:r>
              <a:rPr lang="en-US" sz="1200" kern="1200" dirty="0">
                <a:solidFill>
                  <a:schemeClr val="tx1"/>
                </a:solidFill>
                <a:effectLst/>
                <a:latin typeface="+mn-lt"/>
                <a:ea typeface="+mn-ea"/>
                <a:cs typeface="+mn-cs"/>
              </a:rPr>
              <a:t>So by going from a causal tree to a causal forest, we give up a single readable tree for more stable estimates with uncertainty we can defend. And that's what we care about with causal inference anyway; we want reliable, trustworthy estimates, not massive predictive accuracy.</a:t>
            </a:r>
          </a:p>
          <a:p>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that is the causal forest: we start with data and a question about treatment-effect heterogeneity, and the forest estimates a conditional treatment effect for each patient, which we can use to identify clinically meaningful patterns. And that is my presentation, thank you!</a:t>
            </a:r>
            <a:r>
              <a:rPr lang="en-US" dirty="0">
                <a:effectLst/>
              </a:rPr>
              <a:t> </a:t>
            </a:r>
            <a:endParaRPr lang="en-US" dirty="0"/>
          </a:p>
        </p:txBody>
      </p:sp>
      <p:sp>
        <p:nvSpPr>
          <p:cNvPr id="4" name="Slide Number Placeholder 3"/>
          <p:cNvSpPr>
            <a:spLocks noGrp="1"/>
          </p:cNvSpPr>
          <p:nvPr>
            <p:ph type="sldNum" sz="quarter" idx="5"/>
          </p:nvPr>
        </p:nvSpPr>
        <p:spPr/>
        <p:txBody>
          <a:bodyPr/>
          <a:lstStyle/>
          <a:p>
            <a:fld id="{7C04F0DE-693D-2C41-B508-780F91E950B1}" type="slidenum">
              <a:rPr lang="en-US" smtClean="0"/>
              <a:t>6</a:t>
            </a:fld>
            <a:endParaRPr lang="en-US"/>
          </a:p>
        </p:txBody>
      </p:sp>
    </p:spTree>
    <p:extLst>
      <p:ext uri="{BB962C8B-B14F-4D97-AF65-F5344CB8AC3E}">
        <p14:creationId xmlns:p14="http://schemas.microsoft.com/office/powerpoint/2010/main" val="1265260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686DD-673A-C863-A228-C304AA24E0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BE9205-ABF4-2B81-360B-196A10E1E5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618A0C-F911-C6B1-E36D-EC675D8377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4F976D-E093-39DD-3DAE-BDAD028A4170}"/>
              </a:ext>
            </a:extLst>
          </p:cNvPr>
          <p:cNvSpPr>
            <a:spLocks noGrp="1"/>
          </p:cNvSpPr>
          <p:nvPr>
            <p:ph type="sldNum" sz="quarter" idx="5"/>
          </p:nvPr>
        </p:nvSpPr>
        <p:spPr/>
        <p:txBody>
          <a:bodyPr/>
          <a:lstStyle/>
          <a:p>
            <a:pPr algn="r"/>
            <a:fld id="{111E5896-917A-4035-A860-408E1EC3CD51}" type="slidenum">
              <a:rPr lang="en-US" smtClean="0">
                <a:solidFill>
                  <a:srgbClr val="052049"/>
                </a:solidFill>
              </a:rPr>
              <a:pPr algn="r"/>
              <a:t>7</a:t>
            </a:fld>
            <a:endParaRPr lang="en-US" dirty="0">
              <a:solidFill>
                <a:srgbClr val="052049"/>
              </a:solidFill>
            </a:endParaRPr>
          </a:p>
        </p:txBody>
      </p:sp>
      <p:sp>
        <p:nvSpPr>
          <p:cNvPr id="5" name="Footer Placeholder 4">
            <a:extLst>
              <a:ext uri="{FF2B5EF4-FFF2-40B4-BE49-F238E27FC236}">
                <a16:creationId xmlns:a16="http://schemas.microsoft.com/office/drawing/2014/main" id="{ABC9ADC5-3685-1517-FD76-3C0A862C5E75}"/>
              </a:ext>
            </a:extLst>
          </p:cNvPr>
          <p:cNvSpPr>
            <a:spLocks noGrp="1"/>
          </p:cNvSpPr>
          <p:nvPr>
            <p:ph type="ftr" sz="quarter" idx="4"/>
          </p:nvPr>
        </p:nvSpPr>
        <p:spPr/>
        <p:txBody>
          <a:bodyPr/>
          <a:lstStyle/>
          <a:p>
            <a:r>
              <a:rPr lang="en-US" sz="800">
                <a:solidFill>
                  <a:srgbClr val="052049"/>
                </a:solidFill>
              </a:rPr>
              <a:t>| [footer text here]</a:t>
            </a:r>
            <a:endParaRPr lang="en-US" sz="800" dirty="0">
              <a:solidFill>
                <a:srgbClr val="052049"/>
              </a:solidFill>
            </a:endParaRPr>
          </a:p>
        </p:txBody>
      </p:sp>
    </p:spTree>
    <p:extLst>
      <p:ext uri="{BB962C8B-B14F-4D97-AF65-F5344CB8AC3E}">
        <p14:creationId xmlns:p14="http://schemas.microsoft.com/office/powerpoint/2010/main" val="1374313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DB6C3-1B79-3F73-0084-8CFEB8B29B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EDAAD11-AD2B-7D68-F804-0EA3A106A6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62A8411-ED68-C357-31DB-BD4FB401CFED}"/>
              </a:ext>
            </a:extLst>
          </p:cNvPr>
          <p:cNvSpPr>
            <a:spLocks noGrp="1"/>
          </p:cNvSpPr>
          <p:nvPr>
            <p:ph type="dt" sz="half" idx="10"/>
          </p:nvPr>
        </p:nvSpPr>
        <p:spPr/>
        <p:txBody>
          <a:bodyPr/>
          <a:lstStyle/>
          <a:p>
            <a:fld id="{D2BCBDDD-FEA0-FC45-A679-EA56C75CFDA7}" type="datetimeFigureOut">
              <a:rPr lang="en-US" smtClean="0"/>
              <a:t>5/31/26</a:t>
            </a:fld>
            <a:endParaRPr lang="en-US"/>
          </a:p>
        </p:txBody>
      </p:sp>
      <p:sp>
        <p:nvSpPr>
          <p:cNvPr id="5" name="Footer Placeholder 4">
            <a:extLst>
              <a:ext uri="{FF2B5EF4-FFF2-40B4-BE49-F238E27FC236}">
                <a16:creationId xmlns:a16="http://schemas.microsoft.com/office/drawing/2014/main" id="{13B36809-FA89-E8C7-CD32-74F3AFA607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99B024-4094-BC65-763B-43729A6924DF}"/>
              </a:ext>
            </a:extLst>
          </p:cNvPr>
          <p:cNvSpPr>
            <a:spLocks noGrp="1"/>
          </p:cNvSpPr>
          <p:nvPr>
            <p:ph type="sldNum" sz="quarter" idx="12"/>
          </p:nvPr>
        </p:nvSpPr>
        <p:spPr/>
        <p:txBody>
          <a:bodyPr/>
          <a:lstStyle/>
          <a:p>
            <a:fld id="{BFFEFC50-533E-374A-B140-3E3E4A63C6DB}" type="slidenum">
              <a:rPr lang="en-US" smtClean="0"/>
              <a:t>‹#›</a:t>
            </a:fld>
            <a:endParaRPr lang="en-US"/>
          </a:p>
        </p:txBody>
      </p:sp>
    </p:spTree>
    <p:extLst>
      <p:ext uri="{BB962C8B-B14F-4D97-AF65-F5344CB8AC3E}">
        <p14:creationId xmlns:p14="http://schemas.microsoft.com/office/powerpoint/2010/main" val="1988230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8E411-015B-CB48-2029-858334A8A9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F28C36-ACAF-7847-3B91-5DE066F010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46EA85-72DA-58C5-A31B-B2D47882E568}"/>
              </a:ext>
            </a:extLst>
          </p:cNvPr>
          <p:cNvSpPr>
            <a:spLocks noGrp="1"/>
          </p:cNvSpPr>
          <p:nvPr>
            <p:ph type="dt" sz="half" idx="10"/>
          </p:nvPr>
        </p:nvSpPr>
        <p:spPr/>
        <p:txBody>
          <a:bodyPr/>
          <a:lstStyle/>
          <a:p>
            <a:fld id="{D2BCBDDD-FEA0-FC45-A679-EA56C75CFDA7}" type="datetimeFigureOut">
              <a:rPr lang="en-US" smtClean="0"/>
              <a:t>5/31/26</a:t>
            </a:fld>
            <a:endParaRPr lang="en-US"/>
          </a:p>
        </p:txBody>
      </p:sp>
      <p:sp>
        <p:nvSpPr>
          <p:cNvPr id="5" name="Footer Placeholder 4">
            <a:extLst>
              <a:ext uri="{FF2B5EF4-FFF2-40B4-BE49-F238E27FC236}">
                <a16:creationId xmlns:a16="http://schemas.microsoft.com/office/drawing/2014/main" id="{FF14BE78-317D-F716-2208-C7C3C2F82C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34D061-0F82-8963-FDE2-15398FE5B1E9}"/>
              </a:ext>
            </a:extLst>
          </p:cNvPr>
          <p:cNvSpPr>
            <a:spLocks noGrp="1"/>
          </p:cNvSpPr>
          <p:nvPr>
            <p:ph type="sldNum" sz="quarter" idx="12"/>
          </p:nvPr>
        </p:nvSpPr>
        <p:spPr/>
        <p:txBody>
          <a:bodyPr/>
          <a:lstStyle/>
          <a:p>
            <a:fld id="{BFFEFC50-533E-374A-B140-3E3E4A63C6DB}" type="slidenum">
              <a:rPr lang="en-US" smtClean="0"/>
              <a:t>‹#›</a:t>
            </a:fld>
            <a:endParaRPr lang="en-US"/>
          </a:p>
        </p:txBody>
      </p:sp>
    </p:spTree>
    <p:extLst>
      <p:ext uri="{BB962C8B-B14F-4D97-AF65-F5344CB8AC3E}">
        <p14:creationId xmlns:p14="http://schemas.microsoft.com/office/powerpoint/2010/main" val="2167550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DC727-04B4-EA6B-0FC4-D705EA476B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8B6FA2C-CD82-092D-66E1-824C11522D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A3E710-4E40-AF27-159F-A2B4E3EAB33B}"/>
              </a:ext>
            </a:extLst>
          </p:cNvPr>
          <p:cNvSpPr>
            <a:spLocks noGrp="1"/>
          </p:cNvSpPr>
          <p:nvPr>
            <p:ph type="dt" sz="half" idx="10"/>
          </p:nvPr>
        </p:nvSpPr>
        <p:spPr/>
        <p:txBody>
          <a:bodyPr/>
          <a:lstStyle/>
          <a:p>
            <a:fld id="{D2BCBDDD-FEA0-FC45-A679-EA56C75CFDA7}" type="datetimeFigureOut">
              <a:rPr lang="en-US" smtClean="0"/>
              <a:t>5/31/26</a:t>
            </a:fld>
            <a:endParaRPr lang="en-US"/>
          </a:p>
        </p:txBody>
      </p:sp>
      <p:sp>
        <p:nvSpPr>
          <p:cNvPr id="5" name="Footer Placeholder 4">
            <a:extLst>
              <a:ext uri="{FF2B5EF4-FFF2-40B4-BE49-F238E27FC236}">
                <a16:creationId xmlns:a16="http://schemas.microsoft.com/office/drawing/2014/main" id="{D3D772E6-4AFE-54A6-5DD0-C838B5549D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950726-A892-8BDC-4607-D5E766F116AF}"/>
              </a:ext>
            </a:extLst>
          </p:cNvPr>
          <p:cNvSpPr>
            <a:spLocks noGrp="1"/>
          </p:cNvSpPr>
          <p:nvPr>
            <p:ph type="sldNum" sz="quarter" idx="12"/>
          </p:nvPr>
        </p:nvSpPr>
        <p:spPr/>
        <p:txBody>
          <a:bodyPr/>
          <a:lstStyle/>
          <a:p>
            <a:fld id="{BFFEFC50-533E-374A-B140-3E3E4A63C6DB}" type="slidenum">
              <a:rPr lang="en-US" smtClean="0"/>
              <a:t>‹#›</a:t>
            </a:fld>
            <a:endParaRPr lang="en-US"/>
          </a:p>
        </p:txBody>
      </p:sp>
    </p:spTree>
    <p:extLst>
      <p:ext uri="{BB962C8B-B14F-4D97-AF65-F5344CB8AC3E}">
        <p14:creationId xmlns:p14="http://schemas.microsoft.com/office/powerpoint/2010/main" val="4049884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E7CFC-5567-0C0A-66B0-B87F254D02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43A779-BE13-CE97-7EF8-77B9D4C0F7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9FC3951-D15D-ED2B-D4E1-9F39D5BA24C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45AA9C-2180-27FF-F8CA-39FDE0B35F6E}"/>
              </a:ext>
            </a:extLst>
          </p:cNvPr>
          <p:cNvSpPr>
            <a:spLocks noGrp="1"/>
          </p:cNvSpPr>
          <p:nvPr>
            <p:ph type="dt" sz="half" idx="10"/>
          </p:nvPr>
        </p:nvSpPr>
        <p:spPr/>
        <p:txBody>
          <a:bodyPr/>
          <a:lstStyle/>
          <a:p>
            <a:fld id="{D2BCBDDD-FEA0-FC45-A679-EA56C75CFDA7}" type="datetimeFigureOut">
              <a:rPr lang="en-US" smtClean="0"/>
              <a:t>5/31/26</a:t>
            </a:fld>
            <a:endParaRPr lang="en-US"/>
          </a:p>
        </p:txBody>
      </p:sp>
      <p:sp>
        <p:nvSpPr>
          <p:cNvPr id="6" name="Footer Placeholder 5">
            <a:extLst>
              <a:ext uri="{FF2B5EF4-FFF2-40B4-BE49-F238E27FC236}">
                <a16:creationId xmlns:a16="http://schemas.microsoft.com/office/drawing/2014/main" id="{D2398307-24A1-A293-F281-AFA5E64BBA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937760-D731-46CA-2983-49EF9A5C4FE9}"/>
              </a:ext>
            </a:extLst>
          </p:cNvPr>
          <p:cNvSpPr>
            <a:spLocks noGrp="1"/>
          </p:cNvSpPr>
          <p:nvPr>
            <p:ph type="sldNum" sz="quarter" idx="12"/>
          </p:nvPr>
        </p:nvSpPr>
        <p:spPr/>
        <p:txBody>
          <a:bodyPr/>
          <a:lstStyle/>
          <a:p>
            <a:fld id="{BFFEFC50-533E-374A-B140-3E3E4A63C6DB}" type="slidenum">
              <a:rPr lang="en-US" smtClean="0"/>
              <a:t>‹#›</a:t>
            </a:fld>
            <a:endParaRPr lang="en-US"/>
          </a:p>
        </p:txBody>
      </p:sp>
    </p:spTree>
    <p:extLst>
      <p:ext uri="{BB962C8B-B14F-4D97-AF65-F5344CB8AC3E}">
        <p14:creationId xmlns:p14="http://schemas.microsoft.com/office/powerpoint/2010/main" val="6354926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806F9-710B-BE02-1612-FA167A369D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B4C67B2-D4C8-D270-0DDF-7644DE1BD6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8296CB-E1D6-09F4-4079-D1BF05294A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A83F243-31DB-1C53-DB1D-448FE3D03B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D80B6F-E457-78BD-7B04-F3DC8691F7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F1EBCB-10DC-AF8F-4C81-08075A105EBA}"/>
              </a:ext>
            </a:extLst>
          </p:cNvPr>
          <p:cNvSpPr>
            <a:spLocks noGrp="1"/>
          </p:cNvSpPr>
          <p:nvPr>
            <p:ph type="dt" sz="half" idx="10"/>
          </p:nvPr>
        </p:nvSpPr>
        <p:spPr/>
        <p:txBody>
          <a:bodyPr/>
          <a:lstStyle/>
          <a:p>
            <a:fld id="{D2BCBDDD-FEA0-FC45-A679-EA56C75CFDA7}" type="datetimeFigureOut">
              <a:rPr lang="en-US" smtClean="0"/>
              <a:t>5/31/26</a:t>
            </a:fld>
            <a:endParaRPr lang="en-US"/>
          </a:p>
        </p:txBody>
      </p:sp>
      <p:sp>
        <p:nvSpPr>
          <p:cNvPr id="8" name="Footer Placeholder 7">
            <a:extLst>
              <a:ext uri="{FF2B5EF4-FFF2-40B4-BE49-F238E27FC236}">
                <a16:creationId xmlns:a16="http://schemas.microsoft.com/office/drawing/2014/main" id="{E20FE33F-8553-ADE4-A292-F27A9851B12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3BB7103-2E00-08A9-AF90-766EA6C8B534}"/>
              </a:ext>
            </a:extLst>
          </p:cNvPr>
          <p:cNvSpPr>
            <a:spLocks noGrp="1"/>
          </p:cNvSpPr>
          <p:nvPr>
            <p:ph type="sldNum" sz="quarter" idx="12"/>
          </p:nvPr>
        </p:nvSpPr>
        <p:spPr/>
        <p:txBody>
          <a:bodyPr/>
          <a:lstStyle/>
          <a:p>
            <a:fld id="{BFFEFC50-533E-374A-B140-3E3E4A63C6DB}" type="slidenum">
              <a:rPr lang="en-US" smtClean="0"/>
              <a:t>‹#›</a:t>
            </a:fld>
            <a:endParaRPr lang="en-US"/>
          </a:p>
        </p:txBody>
      </p:sp>
    </p:spTree>
    <p:extLst>
      <p:ext uri="{BB962C8B-B14F-4D97-AF65-F5344CB8AC3E}">
        <p14:creationId xmlns:p14="http://schemas.microsoft.com/office/powerpoint/2010/main" val="686124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07339-4B6B-0D5D-4172-AF0B776408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1DBA007-7353-551E-7ED1-183397173C98}"/>
              </a:ext>
            </a:extLst>
          </p:cNvPr>
          <p:cNvSpPr>
            <a:spLocks noGrp="1"/>
          </p:cNvSpPr>
          <p:nvPr>
            <p:ph type="dt" sz="half" idx="10"/>
          </p:nvPr>
        </p:nvSpPr>
        <p:spPr/>
        <p:txBody>
          <a:bodyPr/>
          <a:lstStyle/>
          <a:p>
            <a:fld id="{D2BCBDDD-FEA0-FC45-A679-EA56C75CFDA7}" type="datetimeFigureOut">
              <a:rPr lang="en-US" smtClean="0"/>
              <a:t>5/31/26</a:t>
            </a:fld>
            <a:endParaRPr lang="en-US"/>
          </a:p>
        </p:txBody>
      </p:sp>
      <p:sp>
        <p:nvSpPr>
          <p:cNvPr id="4" name="Footer Placeholder 3">
            <a:extLst>
              <a:ext uri="{FF2B5EF4-FFF2-40B4-BE49-F238E27FC236}">
                <a16:creationId xmlns:a16="http://schemas.microsoft.com/office/drawing/2014/main" id="{A9D27EBC-A3E4-A1FC-35DF-1737F4959DE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6374F5-FDDC-0C2A-A290-AB2FF69F6052}"/>
              </a:ext>
            </a:extLst>
          </p:cNvPr>
          <p:cNvSpPr>
            <a:spLocks noGrp="1"/>
          </p:cNvSpPr>
          <p:nvPr>
            <p:ph type="sldNum" sz="quarter" idx="12"/>
          </p:nvPr>
        </p:nvSpPr>
        <p:spPr/>
        <p:txBody>
          <a:bodyPr/>
          <a:lstStyle/>
          <a:p>
            <a:fld id="{BFFEFC50-533E-374A-B140-3E3E4A63C6DB}" type="slidenum">
              <a:rPr lang="en-US" smtClean="0"/>
              <a:t>‹#›</a:t>
            </a:fld>
            <a:endParaRPr lang="en-US"/>
          </a:p>
        </p:txBody>
      </p:sp>
    </p:spTree>
    <p:extLst>
      <p:ext uri="{BB962C8B-B14F-4D97-AF65-F5344CB8AC3E}">
        <p14:creationId xmlns:p14="http://schemas.microsoft.com/office/powerpoint/2010/main" val="2900017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3D0835-C05E-3DD1-7D3B-4BF05D2BDC29}"/>
              </a:ext>
            </a:extLst>
          </p:cNvPr>
          <p:cNvSpPr>
            <a:spLocks noGrp="1"/>
          </p:cNvSpPr>
          <p:nvPr>
            <p:ph type="dt" sz="half" idx="10"/>
          </p:nvPr>
        </p:nvSpPr>
        <p:spPr/>
        <p:txBody>
          <a:bodyPr/>
          <a:lstStyle/>
          <a:p>
            <a:fld id="{D2BCBDDD-FEA0-FC45-A679-EA56C75CFDA7}" type="datetimeFigureOut">
              <a:rPr lang="en-US" smtClean="0"/>
              <a:t>5/31/26</a:t>
            </a:fld>
            <a:endParaRPr lang="en-US"/>
          </a:p>
        </p:txBody>
      </p:sp>
      <p:sp>
        <p:nvSpPr>
          <p:cNvPr id="3" name="Footer Placeholder 2">
            <a:extLst>
              <a:ext uri="{FF2B5EF4-FFF2-40B4-BE49-F238E27FC236}">
                <a16:creationId xmlns:a16="http://schemas.microsoft.com/office/drawing/2014/main" id="{56C503B4-6908-6013-D1DF-845903212B0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01FED2-1BE6-A3B6-9DAA-E68C4C14146F}"/>
              </a:ext>
            </a:extLst>
          </p:cNvPr>
          <p:cNvSpPr>
            <a:spLocks noGrp="1"/>
          </p:cNvSpPr>
          <p:nvPr>
            <p:ph type="sldNum" sz="quarter" idx="12"/>
          </p:nvPr>
        </p:nvSpPr>
        <p:spPr/>
        <p:txBody>
          <a:bodyPr/>
          <a:lstStyle/>
          <a:p>
            <a:fld id="{BFFEFC50-533E-374A-B140-3E3E4A63C6DB}" type="slidenum">
              <a:rPr lang="en-US" smtClean="0"/>
              <a:t>‹#›</a:t>
            </a:fld>
            <a:endParaRPr lang="en-US"/>
          </a:p>
        </p:txBody>
      </p:sp>
    </p:spTree>
    <p:extLst>
      <p:ext uri="{BB962C8B-B14F-4D97-AF65-F5344CB8AC3E}">
        <p14:creationId xmlns:p14="http://schemas.microsoft.com/office/powerpoint/2010/main" val="2378342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E7782-0DBE-08A1-1B74-86BF04994E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07A3C2E-E6B2-1FE8-C538-702A992B4C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AC8BD0-3436-FAD7-B945-6EA1E947D8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D1899E-2FAE-A9CE-85B5-D0A8CF7B40A7}"/>
              </a:ext>
            </a:extLst>
          </p:cNvPr>
          <p:cNvSpPr>
            <a:spLocks noGrp="1"/>
          </p:cNvSpPr>
          <p:nvPr>
            <p:ph type="dt" sz="half" idx="10"/>
          </p:nvPr>
        </p:nvSpPr>
        <p:spPr/>
        <p:txBody>
          <a:bodyPr/>
          <a:lstStyle/>
          <a:p>
            <a:fld id="{D2BCBDDD-FEA0-FC45-A679-EA56C75CFDA7}" type="datetimeFigureOut">
              <a:rPr lang="en-US" smtClean="0"/>
              <a:t>5/31/26</a:t>
            </a:fld>
            <a:endParaRPr lang="en-US"/>
          </a:p>
        </p:txBody>
      </p:sp>
      <p:sp>
        <p:nvSpPr>
          <p:cNvPr id="6" name="Footer Placeholder 5">
            <a:extLst>
              <a:ext uri="{FF2B5EF4-FFF2-40B4-BE49-F238E27FC236}">
                <a16:creationId xmlns:a16="http://schemas.microsoft.com/office/drawing/2014/main" id="{DDA0FFD7-3AA9-9AF1-AC33-62D3EDF5D4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A909D0-0B63-F2B1-3EBF-6F79820F8F15}"/>
              </a:ext>
            </a:extLst>
          </p:cNvPr>
          <p:cNvSpPr>
            <a:spLocks noGrp="1"/>
          </p:cNvSpPr>
          <p:nvPr>
            <p:ph type="sldNum" sz="quarter" idx="12"/>
          </p:nvPr>
        </p:nvSpPr>
        <p:spPr/>
        <p:txBody>
          <a:bodyPr/>
          <a:lstStyle/>
          <a:p>
            <a:fld id="{BFFEFC50-533E-374A-B140-3E3E4A63C6DB}" type="slidenum">
              <a:rPr lang="en-US" smtClean="0"/>
              <a:t>‹#›</a:t>
            </a:fld>
            <a:endParaRPr lang="en-US"/>
          </a:p>
        </p:txBody>
      </p:sp>
    </p:spTree>
    <p:extLst>
      <p:ext uri="{BB962C8B-B14F-4D97-AF65-F5344CB8AC3E}">
        <p14:creationId xmlns:p14="http://schemas.microsoft.com/office/powerpoint/2010/main" val="3304691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A72B2-C631-B81F-1DDF-95CDE190FC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2C293E-9907-6EF0-3115-81AD3F0512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FFBDF6C-4B81-BF43-E049-21D75F623A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40BE85-9B32-F201-3825-A6319506FF7F}"/>
              </a:ext>
            </a:extLst>
          </p:cNvPr>
          <p:cNvSpPr>
            <a:spLocks noGrp="1"/>
          </p:cNvSpPr>
          <p:nvPr>
            <p:ph type="dt" sz="half" idx="10"/>
          </p:nvPr>
        </p:nvSpPr>
        <p:spPr/>
        <p:txBody>
          <a:bodyPr/>
          <a:lstStyle/>
          <a:p>
            <a:fld id="{D2BCBDDD-FEA0-FC45-A679-EA56C75CFDA7}" type="datetimeFigureOut">
              <a:rPr lang="en-US" smtClean="0"/>
              <a:t>5/31/26</a:t>
            </a:fld>
            <a:endParaRPr lang="en-US"/>
          </a:p>
        </p:txBody>
      </p:sp>
      <p:sp>
        <p:nvSpPr>
          <p:cNvPr id="6" name="Footer Placeholder 5">
            <a:extLst>
              <a:ext uri="{FF2B5EF4-FFF2-40B4-BE49-F238E27FC236}">
                <a16:creationId xmlns:a16="http://schemas.microsoft.com/office/drawing/2014/main" id="{578CBACA-D884-EEED-9D1B-996D219753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5F5767-ACCB-5132-2A88-F888A5BB90E2}"/>
              </a:ext>
            </a:extLst>
          </p:cNvPr>
          <p:cNvSpPr>
            <a:spLocks noGrp="1"/>
          </p:cNvSpPr>
          <p:nvPr>
            <p:ph type="sldNum" sz="quarter" idx="12"/>
          </p:nvPr>
        </p:nvSpPr>
        <p:spPr/>
        <p:txBody>
          <a:bodyPr/>
          <a:lstStyle/>
          <a:p>
            <a:fld id="{BFFEFC50-533E-374A-B140-3E3E4A63C6DB}" type="slidenum">
              <a:rPr lang="en-US" smtClean="0"/>
              <a:t>‹#›</a:t>
            </a:fld>
            <a:endParaRPr lang="en-US"/>
          </a:p>
        </p:txBody>
      </p:sp>
    </p:spTree>
    <p:extLst>
      <p:ext uri="{BB962C8B-B14F-4D97-AF65-F5344CB8AC3E}">
        <p14:creationId xmlns:p14="http://schemas.microsoft.com/office/powerpoint/2010/main" val="2686133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EB4B-4B1D-2745-F8D5-66055063C2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EDB90E-2F48-905E-64EE-227DC747F7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1E1CFC-3438-A944-59FD-48FC6EA25CB6}"/>
              </a:ext>
            </a:extLst>
          </p:cNvPr>
          <p:cNvSpPr>
            <a:spLocks noGrp="1"/>
          </p:cNvSpPr>
          <p:nvPr>
            <p:ph type="dt" sz="half" idx="10"/>
          </p:nvPr>
        </p:nvSpPr>
        <p:spPr/>
        <p:txBody>
          <a:bodyPr/>
          <a:lstStyle/>
          <a:p>
            <a:fld id="{D2BCBDDD-FEA0-FC45-A679-EA56C75CFDA7}" type="datetimeFigureOut">
              <a:rPr lang="en-US" smtClean="0"/>
              <a:t>5/31/26</a:t>
            </a:fld>
            <a:endParaRPr lang="en-US"/>
          </a:p>
        </p:txBody>
      </p:sp>
      <p:sp>
        <p:nvSpPr>
          <p:cNvPr id="5" name="Footer Placeholder 4">
            <a:extLst>
              <a:ext uri="{FF2B5EF4-FFF2-40B4-BE49-F238E27FC236}">
                <a16:creationId xmlns:a16="http://schemas.microsoft.com/office/drawing/2014/main" id="{8D1C86D2-F52E-40FA-BA91-6E6D06B2B7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5376EF-89B1-9585-DC99-133724428732}"/>
              </a:ext>
            </a:extLst>
          </p:cNvPr>
          <p:cNvSpPr>
            <a:spLocks noGrp="1"/>
          </p:cNvSpPr>
          <p:nvPr>
            <p:ph type="sldNum" sz="quarter" idx="12"/>
          </p:nvPr>
        </p:nvSpPr>
        <p:spPr/>
        <p:txBody>
          <a:bodyPr/>
          <a:lstStyle/>
          <a:p>
            <a:fld id="{BFFEFC50-533E-374A-B140-3E3E4A63C6DB}" type="slidenum">
              <a:rPr lang="en-US" smtClean="0"/>
              <a:t>‹#›</a:t>
            </a:fld>
            <a:endParaRPr lang="en-US"/>
          </a:p>
        </p:txBody>
      </p:sp>
    </p:spTree>
    <p:extLst>
      <p:ext uri="{BB962C8B-B14F-4D97-AF65-F5344CB8AC3E}">
        <p14:creationId xmlns:p14="http://schemas.microsoft.com/office/powerpoint/2010/main" val="51586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B5A20A-80CD-0D8A-63E3-63D0AB60F6F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48CBFC5-F5FD-E503-0103-7BBA44E701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579B03-5694-2B91-8E46-1B56EF62484C}"/>
              </a:ext>
            </a:extLst>
          </p:cNvPr>
          <p:cNvSpPr>
            <a:spLocks noGrp="1"/>
          </p:cNvSpPr>
          <p:nvPr>
            <p:ph type="dt" sz="half" idx="10"/>
          </p:nvPr>
        </p:nvSpPr>
        <p:spPr/>
        <p:txBody>
          <a:bodyPr/>
          <a:lstStyle/>
          <a:p>
            <a:fld id="{D2BCBDDD-FEA0-FC45-A679-EA56C75CFDA7}" type="datetimeFigureOut">
              <a:rPr lang="en-US" smtClean="0"/>
              <a:t>5/31/26</a:t>
            </a:fld>
            <a:endParaRPr lang="en-US"/>
          </a:p>
        </p:txBody>
      </p:sp>
      <p:sp>
        <p:nvSpPr>
          <p:cNvPr id="5" name="Footer Placeholder 4">
            <a:extLst>
              <a:ext uri="{FF2B5EF4-FFF2-40B4-BE49-F238E27FC236}">
                <a16:creationId xmlns:a16="http://schemas.microsoft.com/office/drawing/2014/main" id="{480C2F14-B6E4-8964-9565-8154730ADD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C2E6B1-E12E-EA39-5B41-55A998A75F5E}"/>
              </a:ext>
            </a:extLst>
          </p:cNvPr>
          <p:cNvSpPr>
            <a:spLocks noGrp="1"/>
          </p:cNvSpPr>
          <p:nvPr>
            <p:ph type="sldNum" sz="quarter" idx="12"/>
          </p:nvPr>
        </p:nvSpPr>
        <p:spPr/>
        <p:txBody>
          <a:bodyPr/>
          <a:lstStyle/>
          <a:p>
            <a:fld id="{BFFEFC50-533E-374A-B140-3E3E4A63C6DB}" type="slidenum">
              <a:rPr lang="en-US" smtClean="0"/>
              <a:t>‹#›</a:t>
            </a:fld>
            <a:endParaRPr lang="en-US"/>
          </a:p>
        </p:txBody>
      </p:sp>
    </p:spTree>
    <p:extLst>
      <p:ext uri="{BB962C8B-B14F-4D97-AF65-F5344CB8AC3E}">
        <p14:creationId xmlns:p14="http://schemas.microsoft.com/office/powerpoint/2010/main" val="32833677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ullet Slide - White">
    <p:bg>
      <p:bgRef idx="1001">
        <a:schemeClr val="bg1"/>
      </p:bgRef>
    </p:bg>
    <p:spTree>
      <p:nvGrpSpPr>
        <p:cNvPr id="1" name=""/>
        <p:cNvGrpSpPr/>
        <p:nvPr/>
      </p:nvGrpSpPr>
      <p:grpSpPr>
        <a:xfrm>
          <a:off x="0" y="0"/>
          <a:ext cx="0" cy="0"/>
          <a:chOff x="0" y="0"/>
          <a:chExt cx="0" cy="0"/>
        </a:xfrm>
      </p:grpSpPr>
      <p:sp>
        <p:nvSpPr>
          <p:cNvPr id="7" name="Title 15"/>
          <p:cNvSpPr>
            <a:spLocks noGrp="1"/>
          </p:cNvSpPr>
          <p:nvPr>
            <p:ph type="title" hasCustomPrompt="1"/>
          </p:nvPr>
        </p:nvSpPr>
        <p:spPr>
          <a:xfrm>
            <a:off x="604780" y="425002"/>
            <a:ext cx="10898107" cy="611449"/>
          </a:xfrm>
          <a:prstGeom prst="rect">
            <a:avLst/>
          </a:prstGeom>
        </p:spPr>
        <p:txBody>
          <a:bodyPr anchor="b">
            <a:noAutofit/>
          </a:bodyPr>
          <a:lstStyle>
            <a:lvl1pPr>
              <a:defRPr sz="4800" b="0" i="0">
                <a:latin typeface="Garamond" panose="02020404030301010803" pitchFamily="18" charset="0"/>
                <a:ea typeface="Helvetica Neue" panose="02000503000000020004" pitchFamily="2" charset="0"/>
                <a:cs typeface="Arial" panose="020B0604020202020204" pitchFamily="34" charset="0"/>
              </a:defRPr>
            </a:lvl1pPr>
          </a:lstStyle>
          <a:p>
            <a:r>
              <a:rPr lang="en-US" dirty="0"/>
              <a:t>Slide Title Here</a:t>
            </a:r>
          </a:p>
        </p:txBody>
      </p:sp>
      <p:sp>
        <p:nvSpPr>
          <p:cNvPr id="9" name="Text Placeholder 3"/>
          <p:cNvSpPr>
            <a:spLocks noGrp="1"/>
          </p:cNvSpPr>
          <p:nvPr>
            <p:ph type="body" sz="quarter" idx="15" hasCustomPrompt="1"/>
          </p:nvPr>
        </p:nvSpPr>
        <p:spPr>
          <a:xfrm>
            <a:off x="609603" y="927656"/>
            <a:ext cx="10893285" cy="446529"/>
          </a:xfrm>
          <a:prstGeom prst="rect">
            <a:avLst/>
          </a:prstGeom>
        </p:spPr>
        <p:txBody>
          <a:bodyPr>
            <a:noAutofit/>
          </a:bodyPr>
          <a:lstStyle>
            <a:lvl1pPr marL="0" indent="0">
              <a:lnSpc>
                <a:spcPct val="100000"/>
              </a:lnSpc>
              <a:buNone/>
              <a:defRPr sz="2400" b="0" i="0">
                <a:latin typeface="+mn-lt"/>
              </a:defRPr>
            </a:lvl1pPr>
            <a:lvl2pPr marL="306900" indent="0">
              <a:lnSpc>
                <a:spcPct val="100000"/>
              </a:lnSpc>
              <a:buNone/>
              <a:defRPr i="1">
                <a:latin typeface="+mn-lt"/>
              </a:defRPr>
            </a:lvl2pPr>
            <a:lvl3pPr marL="687881" indent="0">
              <a:lnSpc>
                <a:spcPct val="100000"/>
              </a:lnSpc>
              <a:buNone/>
              <a:defRPr i="1">
                <a:latin typeface="+mn-lt"/>
              </a:defRPr>
            </a:lvl3pPr>
            <a:lvl4pPr marL="1066747" indent="0">
              <a:lnSpc>
                <a:spcPct val="100000"/>
              </a:lnSpc>
              <a:buNone/>
              <a:defRPr i="1">
                <a:latin typeface="+mn-lt"/>
              </a:defRPr>
            </a:lvl4pPr>
            <a:lvl5pPr marL="1447728" indent="0">
              <a:lnSpc>
                <a:spcPct val="100000"/>
              </a:lnSpc>
              <a:buNone/>
              <a:defRPr i="1">
                <a:latin typeface="+mn-lt"/>
              </a:defRPr>
            </a:lvl5pPr>
          </a:lstStyle>
          <a:p>
            <a:pPr lvl="0"/>
            <a:r>
              <a:rPr lang="en-US" dirty="0"/>
              <a:t>Optional Subhead here</a:t>
            </a:r>
          </a:p>
        </p:txBody>
      </p:sp>
      <p:sp>
        <p:nvSpPr>
          <p:cNvPr id="3" name="Text Placeholder 2">
            <a:extLst>
              <a:ext uri="{FF2B5EF4-FFF2-40B4-BE49-F238E27FC236}">
                <a16:creationId xmlns:a16="http://schemas.microsoft.com/office/drawing/2014/main" id="{4E262650-5940-5F1E-5FB4-EE73016D9047}"/>
              </a:ext>
            </a:extLst>
          </p:cNvPr>
          <p:cNvSpPr>
            <a:spLocks noGrp="1"/>
          </p:cNvSpPr>
          <p:nvPr>
            <p:ph type="body" sz="quarter" idx="16"/>
          </p:nvPr>
        </p:nvSpPr>
        <p:spPr>
          <a:xfrm>
            <a:off x="604780" y="1877485"/>
            <a:ext cx="10893285" cy="3956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Slide Number Placeholder 13"/>
          <p:cNvSpPr>
            <a:spLocks noGrp="1"/>
          </p:cNvSpPr>
          <p:nvPr>
            <p:ph type="sldNum" sz="quarter" idx="13"/>
          </p:nvPr>
        </p:nvSpPr>
        <p:spPr/>
        <p:txBody>
          <a:bodyPr/>
          <a:lstStyle>
            <a:lvl1pPr>
              <a:defRPr b="0" i="0"/>
            </a:lvl1pPr>
          </a:lstStyle>
          <a:p>
            <a:fld id="{7BCC8D0D-EAEC-449D-9161-023DFF90F2E2}" type="slidenum">
              <a:rPr lang="en-US" smtClean="0"/>
              <a:pPr/>
              <a:t>‹#›</a:t>
            </a:fld>
            <a:endParaRPr lang="en-US" dirty="0"/>
          </a:p>
        </p:txBody>
      </p:sp>
      <p:sp>
        <p:nvSpPr>
          <p:cNvPr id="10" name="Footer Placeholder 9"/>
          <p:cNvSpPr>
            <a:spLocks noGrp="1"/>
          </p:cNvSpPr>
          <p:nvPr>
            <p:ph type="ftr" sz="quarter" idx="12"/>
          </p:nvPr>
        </p:nvSpPr>
        <p:spPr/>
        <p:txBody>
          <a:bodyPr/>
          <a:lstStyle>
            <a:lvl1pPr>
              <a:defRPr b="0" i="0"/>
            </a:lvl1pPr>
          </a:lstStyle>
          <a:p>
            <a:r>
              <a:rPr lang="en-US"/>
              <a:t>Presentation Title</a:t>
            </a:r>
            <a:endParaRPr lang="en-US" dirty="0"/>
          </a:p>
        </p:txBody>
      </p:sp>
    </p:spTree>
    <p:extLst>
      <p:ext uri="{BB962C8B-B14F-4D97-AF65-F5344CB8AC3E}">
        <p14:creationId xmlns:p14="http://schemas.microsoft.com/office/powerpoint/2010/main" val="1229737443"/>
      </p:ext>
    </p:extLst>
  </p:cSld>
  <p:clrMapOvr>
    <a:overrideClrMapping bg1="lt1" tx1="dk1" bg2="lt2" tx2="dk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964180-E1A9-7C23-FF39-661978103F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5F14064-EADE-6289-7426-BBF2C432ED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7E641F-48E9-DD6B-E0D8-AF80C15313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2BCBDDD-FEA0-FC45-A679-EA56C75CFDA7}" type="datetimeFigureOut">
              <a:rPr lang="en-US" smtClean="0"/>
              <a:t>5/31/26</a:t>
            </a:fld>
            <a:endParaRPr lang="en-US"/>
          </a:p>
        </p:txBody>
      </p:sp>
      <p:sp>
        <p:nvSpPr>
          <p:cNvPr id="5" name="Footer Placeholder 4">
            <a:extLst>
              <a:ext uri="{FF2B5EF4-FFF2-40B4-BE49-F238E27FC236}">
                <a16:creationId xmlns:a16="http://schemas.microsoft.com/office/drawing/2014/main" id="{2267B2E7-0CCE-ACC0-883C-F082BC4882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775B135-7B5E-C31C-D6B1-704FB30250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FFEFC50-533E-374A-B140-3E3E4A63C6DB}" type="slidenum">
              <a:rPr lang="en-US" smtClean="0"/>
              <a:t>‹#›</a:t>
            </a:fld>
            <a:endParaRPr lang="en-US"/>
          </a:p>
        </p:txBody>
      </p:sp>
    </p:spTree>
    <p:extLst>
      <p:ext uri="{BB962C8B-B14F-4D97-AF65-F5344CB8AC3E}">
        <p14:creationId xmlns:p14="http://schemas.microsoft.com/office/powerpoint/2010/main" val="963307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ncbi.nlm.nih.gov/books/NBK126188/" TargetMode="External"/><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hyperlink" Target="https://www2.stat.duke.edu/~rcs46/lectures_2017/08-trees/08-tree-regression.pdf" TargetMode="External"/><Relationship Id="rId4" Type="http://schemas.openxmlformats.org/officeDocument/2006/relationships/hyperlink" Target="https://imai.fas.harvard.edu/teaching/files/hetero_effects.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2F480-2269-A633-C21E-DFD2EACE83C1}"/>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523D3957-9E52-B0EF-5DB6-397F6014D262}"/>
              </a:ext>
            </a:extLst>
          </p:cNvPr>
          <p:cNvSpPr>
            <a:spLocks noGrp="1"/>
          </p:cNvSpPr>
          <p:nvPr>
            <p:ph type="subTitle" idx="1"/>
          </p:nvPr>
        </p:nvSpPr>
        <p:spPr/>
        <p:txBody>
          <a:bodyPr/>
          <a:lstStyle/>
          <a:p>
            <a:endParaRPr lang="en-US"/>
          </a:p>
        </p:txBody>
      </p:sp>
      <p:pic>
        <p:nvPicPr>
          <p:cNvPr id="9" name="Picture 8">
            <a:extLst>
              <a:ext uri="{FF2B5EF4-FFF2-40B4-BE49-F238E27FC236}">
                <a16:creationId xmlns:a16="http://schemas.microsoft.com/office/drawing/2014/main" id="{2E3D58D4-5A6B-80BC-1FA5-826AE1AE4366}"/>
              </a:ext>
            </a:extLst>
          </p:cNvPr>
          <p:cNvPicPr>
            <a:picLocks noChangeAspect="1"/>
          </p:cNvPicPr>
          <p:nvPr/>
        </p:nvPicPr>
        <p:blipFill>
          <a:blip r:embed="rId3"/>
          <a:stretch>
            <a:fillRect/>
          </a:stretch>
        </p:blipFill>
        <p:spPr>
          <a:xfrm>
            <a:off x="8053" y="0"/>
            <a:ext cx="12175894" cy="6858000"/>
          </a:xfrm>
          <a:prstGeom prst="rect">
            <a:avLst/>
          </a:prstGeom>
        </p:spPr>
      </p:pic>
    </p:spTree>
    <p:extLst>
      <p:ext uri="{BB962C8B-B14F-4D97-AF65-F5344CB8AC3E}">
        <p14:creationId xmlns:p14="http://schemas.microsoft.com/office/powerpoint/2010/main" val="31097767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B33CE-5677-264D-A4D4-09C4BDC0BAB7}"/>
              </a:ext>
            </a:extLst>
          </p:cNvPr>
          <p:cNvSpPr>
            <a:spLocks noGrp="1"/>
          </p:cNvSpPr>
          <p:nvPr>
            <p:ph type="title"/>
          </p:nvPr>
        </p:nvSpPr>
        <p:spPr/>
        <p:txBody>
          <a:bodyPr/>
          <a:lstStyle/>
          <a:p>
            <a:endParaRPr lang="en-US"/>
          </a:p>
        </p:txBody>
      </p:sp>
      <p:pic>
        <p:nvPicPr>
          <p:cNvPr id="9" name="Content Placeholder 8">
            <a:extLst>
              <a:ext uri="{FF2B5EF4-FFF2-40B4-BE49-F238E27FC236}">
                <a16:creationId xmlns:a16="http://schemas.microsoft.com/office/drawing/2014/main" id="{09E129E5-A4F9-8B04-1AC8-2E3945C3CF9B}"/>
              </a:ext>
            </a:extLst>
          </p:cNvPr>
          <p:cNvPicPr>
            <a:picLocks noGrp="1" noChangeAspect="1"/>
          </p:cNvPicPr>
          <p:nvPr>
            <p:ph idx="1"/>
          </p:nvPr>
        </p:nvPicPr>
        <p:blipFill>
          <a:blip r:embed="rId3"/>
          <a:stretch>
            <a:fillRect/>
          </a:stretch>
        </p:blipFill>
        <p:spPr>
          <a:xfrm>
            <a:off x="0" y="0"/>
            <a:ext cx="12201070" cy="6858000"/>
          </a:xfrm>
          <a:prstGeom prst="rect">
            <a:avLst/>
          </a:prstGeom>
        </p:spPr>
      </p:pic>
    </p:spTree>
    <p:extLst>
      <p:ext uri="{BB962C8B-B14F-4D97-AF65-F5344CB8AC3E}">
        <p14:creationId xmlns:p14="http://schemas.microsoft.com/office/powerpoint/2010/main" val="1100913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7D7C3-8241-BB39-23A3-DEA8C1201B31}"/>
              </a:ext>
            </a:extLst>
          </p:cNvPr>
          <p:cNvSpPr>
            <a:spLocks noGrp="1"/>
          </p:cNvSpPr>
          <p:nvPr>
            <p:ph type="title"/>
          </p:nvPr>
        </p:nvSpPr>
        <p:spPr/>
        <p:txBody>
          <a:bodyPr/>
          <a:lstStyle/>
          <a:p>
            <a:endParaRPr lang="en-US" dirty="0"/>
          </a:p>
        </p:txBody>
      </p:sp>
      <p:pic>
        <p:nvPicPr>
          <p:cNvPr id="9" name="Content Placeholder 8">
            <a:extLst>
              <a:ext uri="{FF2B5EF4-FFF2-40B4-BE49-F238E27FC236}">
                <a16:creationId xmlns:a16="http://schemas.microsoft.com/office/drawing/2014/main" id="{4A3CF3A0-9CFB-7A35-7B58-6BD820D06E4D}"/>
              </a:ext>
            </a:extLst>
          </p:cNvPr>
          <p:cNvPicPr>
            <a:picLocks noGrp="1" noChangeAspect="1"/>
          </p:cNvPicPr>
          <p:nvPr>
            <p:ph idx="1"/>
          </p:nvPr>
        </p:nvPicPr>
        <p:blipFill>
          <a:blip r:embed="rId3"/>
          <a:stretch>
            <a:fillRect/>
          </a:stretch>
        </p:blipFill>
        <p:spPr>
          <a:xfrm>
            <a:off x="0" y="0"/>
            <a:ext cx="12184953" cy="6858000"/>
          </a:xfrm>
          <a:prstGeom prst="rect">
            <a:avLst/>
          </a:prstGeom>
        </p:spPr>
      </p:pic>
    </p:spTree>
    <p:extLst>
      <p:ext uri="{BB962C8B-B14F-4D97-AF65-F5344CB8AC3E}">
        <p14:creationId xmlns:p14="http://schemas.microsoft.com/office/powerpoint/2010/main" val="31858129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38678-FEB4-123C-8B40-70B8BA9D3A6F}"/>
              </a:ext>
            </a:extLst>
          </p:cNvPr>
          <p:cNvSpPr>
            <a:spLocks noGrp="1"/>
          </p:cNvSpPr>
          <p:nvPr>
            <p:ph type="title"/>
          </p:nvPr>
        </p:nvSpPr>
        <p:spPr/>
        <p:txBody>
          <a:bodyPr/>
          <a:lstStyle/>
          <a:p>
            <a:endParaRPr lang="en-US"/>
          </a:p>
        </p:txBody>
      </p:sp>
      <p:pic>
        <p:nvPicPr>
          <p:cNvPr id="13" name="Content Placeholder 12">
            <a:extLst>
              <a:ext uri="{FF2B5EF4-FFF2-40B4-BE49-F238E27FC236}">
                <a16:creationId xmlns:a16="http://schemas.microsoft.com/office/drawing/2014/main" id="{5C918B47-0481-50CC-5C41-258F7E79A0D2}"/>
              </a:ext>
            </a:extLst>
          </p:cNvPr>
          <p:cNvPicPr>
            <a:picLocks noGrp="1" noChangeAspect="1"/>
          </p:cNvPicPr>
          <p:nvPr>
            <p:ph idx="1"/>
          </p:nvPr>
        </p:nvPicPr>
        <p:blipFill>
          <a:blip r:embed="rId3"/>
          <a:stretch>
            <a:fillRect/>
          </a:stretch>
        </p:blipFill>
        <p:spPr>
          <a:xfrm>
            <a:off x="0" y="0"/>
            <a:ext cx="12201070" cy="6858000"/>
          </a:xfrm>
          <a:prstGeom prst="rect">
            <a:avLst/>
          </a:prstGeom>
        </p:spPr>
      </p:pic>
    </p:spTree>
    <p:extLst>
      <p:ext uri="{BB962C8B-B14F-4D97-AF65-F5344CB8AC3E}">
        <p14:creationId xmlns:p14="http://schemas.microsoft.com/office/powerpoint/2010/main" val="277640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F12DB-BAE7-F322-443A-E6A93098E120}"/>
              </a:ext>
            </a:extLst>
          </p:cNvPr>
          <p:cNvSpPr>
            <a:spLocks noGrp="1"/>
          </p:cNvSpPr>
          <p:nvPr>
            <p:ph type="title"/>
          </p:nvPr>
        </p:nvSpPr>
        <p:spPr/>
        <p:txBody>
          <a:bodyPr/>
          <a:lstStyle/>
          <a:p>
            <a:endParaRPr lang="en-US"/>
          </a:p>
        </p:txBody>
      </p:sp>
      <p:pic>
        <p:nvPicPr>
          <p:cNvPr id="9" name="Content Placeholder 8">
            <a:extLst>
              <a:ext uri="{FF2B5EF4-FFF2-40B4-BE49-F238E27FC236}">
                <a16:creationId xmlns:a16="http://schemas.microsoft.com/office/drawing/2014/main" id="{C09E1B54-C813-6C0D-7CBF-DF862699461B}"/>
              </a:ext>
            </a:extLst>
          </p:cNvPr>
          <p:cNvPicPr>
            <a:picLocks noGrp="1" noChangeAspect="1"/>
          </p:cNvPicPr>
          <p:nvPr>
            <p:ph idx="1"/>
          </p:nvPr>
        </p:nvPicPr>
        <p:blipFill>
          <a:blip r:embed="rId3"/>
          <a:stretch>
            <a:fillRect/>
          </a:stretch>
        </p:blipFill>
        <p:spPr>
          <a:xfrm>
            <a:off x="-1" y="0"/>
            <a:ext cx="12192001" cy="6867072"/>
          </a:xfrm>
          <a:prstGeom prst="rect">
            <a:avLst/>
          </a:prstGeom>
        </p:spPr>
      </p:pic>
    </p:spTree>
    <p:extLst>
      <p:ext uri="{BB962C8B-B14F-4D97-AF65-F5344CB8AC3E}">
        <p14:creationId xmlns:p14="http://schemas.microsoft.com/office/powerpoint/2010/main" val="2658201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1BFA5-CCD9-8549-A6E2-A01C609D42A8}"/>
              </a:ext>
            </a:extLst>
          </p:cNvPr>
          <p:cNvSpPr>
            <a:spLocks noGrp="1"/>
          </p:cNvSpPr>
          <p:nvPr>
            <p:ph type="title"/>
          </p:nvPr>
        </p:nvSpPr>
        <p:spPr/>
        <p:txBody>
          <a:bodyPr/>
          <a:lstStyle/>
          <a:p>
            <a:endParaRPr lang="en-US"/>
          </a:p>
        </p:txBody>
      </p:sp>
      <p:pic>
        <p:nvPicPr>
          <p:cNvPr id="9" name="Content Placeholder 8">
            <a:extLst>
              <a:ext uri="{FF2B5EF4-FFF2-40B4-BE49-F238E27FC236}">
                <a16:creationId xmlns:a16="http://schemas.microsoft.com/office/drawing/2014/main" id="{0FF0EDD5-B41B-9E57-F2CB-8E0AF7BD174A}"/>
              </a:ext>
            </a:extLst>
          </p:cNvPr>
          <p:cNvPicPr>
            <a:picLocks noGrp="1" noChangeAspect="1"/>
          </p:cNvPicPr>
          <p:nvPr>
            <p:ph idx="1"/>
          </p:nvPr>
        </p:nvPicPr>
        <p:blipFill>
          <a:blip r:embed="rId3"/>
          <a:stretch>
            <a:fillRect/>
          </a:stretch>
        </p:blipFill>
        <p:spPr>
          <a:xfrm>
            <a:off x="-1" y="0"/>
            <a:ext cx="12201071" cy="6858000"/>
          </a:xfrm>
          <a:prstGeom prst="rect">
            <a:avLst/>
          </a:prstGeom>
        </p:spPr>
      </p:pic>
    </p:spTree>
    <p:extLst>
      <p:ext uri="{BB962C8B-B14F-4D97-AF65-F5344CB8AC3E}">
        <p14:creationId xmlns:p14="http://schemas.microsoft.com/office/powerpoint/2010/main" val="378675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9B88A-89E3-7127-A4A1-00459908064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506B5B5-5D02-F886-7D6E-D0B1CA98790A}"/>
              </a:ext>
            </a:extLst>
          </p:cNvPr>
          <p:cNvSpPr>
            <a:spLocks noGrp="1"/>
          </p:cNvSpPr>
          <p:nvPr>
            <p:ph type="title"/>
          </p:nvPr>
        </p:nvSpPr>
        <p:spPr>
          <a:xfrm>
            <a:off x="604780" y="425002"/>
            <a:ext cx="10898107" cy="611449"/>
          </a:xfrm>
        </p:spPr>
        <p:txBody>
          <a:bodyPr/>
          <a:lstStyle/>
          <a:p>
            <a:r>
              <a:rPr lang="en-US" sz="2667" b="1" dirty="0">
                <a:latin typeface="Times New Roman" panose="02020603050405020304" pitchFamily="18" charset="0"/>
                <a:cs typeface="Times New Roman" panose="02020603050405020304" pitchFamily="18" charset="0"/>
              </a:rPr>
              <a:t>References</a:t>
            </a:r>
          </a:p>
        </p:txBody>
      </p:sp>
      <p:sp>
        <p:nvSpPr>
          <p:cNvPr id="6" name="Content Placeholder 5">
            <a:extLst>
              <a:ext uri="{FF2B5EF4-FFF2-40B4-BE49-F238E27FC236}">
                <a16:creationId xmlns:a16="http://schemas.microsoft.com/office/drawing/2014/main" id="{E18F4A7A-E1E3-BA46-AA01-C9F83FF97293}"/>
              </a:ext>
            </a:extLst>
          </p:cNvPr>
          <p:cNvSpPr>
            <a:spLocks noGrp="1"/>
          </p:cNvSpPr>
          <p:nvPr>
            <p:ph type="body" sz="quarter" idx="16"/>
          </p:nvPr>
        </p:nvSpPr>
        <p:spPr>
          <a:xfrm>
            <a:off x="604781" y="1023616"/>
            <a:ext cx="11423096" cy="5045879"/>
          </a:xfrm>
        </p:spPr>
        <p:txBody>
          <a:bodyPr>
            <a:normAutofit lnSpcReduction="10000"/>
          </a:bodyPr>
          <a:lstStyle/>
          <a:p>
            <a:pPr marL="0" lvl="1" indent="0">
              <a:buNone/>
            </a:pPr>
            <a:r>
              <a:rPr lang="en-US" sz="2000" b="1" u="sng" dirty="0">
                <a:latin typeface="Arial" panose="020B0604020202020204" pitchFamily="34" charset="0"/>
                <a:cs typeface="Arial" panose="020B0604020202020204" pitchFamily="34" charset="0"/>
              </a:rPr>
              <a:t>Causal Forests</a:t>
            </a:r>
          </a:p>
          <a:p>
            <a:pPr marL="0" lvl="1" indent="0">
              <a:buNone/>
            </a:pPr>
            <a:r>
              <a:rPr lang="en-US" sz="2000" dirty="0">
                <a:latin typeface="Arial" panose="020B0604020202020204" pitchFamily="34" charset="0"/>
                <a:cs typeface="Arial" panose="020B0604020202020204" pitchFamily="34" charset="0"/>
              </a:rPr>
              <a:t>[1] Wager, S., &amp; Athey, S. (2018). Estimation and inference of heterogeneous treatment effects using random forests. </a:t>
            </a:r>
            <a:r>
              <a:rPr lang="en-US" sz="2000" i="1" dirty="0">
                <a:latin typeface="Arial" panose="020B0604020202020204" pitchFamily="34" charset="0"/>
                <a:cs typeface="Arial" panose="020B0604020202020204" pitchFamily="34" charset="0"/>
              </a:rPr>
              <a:t>Journal of the American Statistical Association</a:t>
            </a:r>
            <a:r>
              <a:rPr lang="en-US" sz="2000" dirty="0">
                <a:latin typeface="Arial" panose="020B0604020202020204" pitchFamily="34" charset="0"/>
                <a:cs typeface="Arial" panose="020B0604020202020204" pitchFamily="34" charset="0"/>
              </a:rPr>
              <a:t>, </a:t>
            </a:r>
            <a:r>
              <a:rPr lang="en-US" sz="2000" i="1" dirty="0">
                <a:latin typeface="Arial" panose="020B0604020202020204" pitchFamily="34" charset="0"/>
                <a:cs typeface="Arial" panose="020B0604020202020204" pitchFamily="34" charset="0"/>
              </a:rPr>
              <a:t>113</a:t>
            </a:r>
            <a:r>
              <a:rPr lang="en-US" sz="2000" dirty="0">
                <a:latin typeface="Arial" panose="020B0604020202020204" pitchFamily="34" charset="0"/>
                <a:cs typeface="Arial" panose="020B0604020202020204" pitchFamily="34" charset="0"/>
              </a:rPr>
              <a:t>(523), 1228-1242.</a:t>
            </a:r>
          </a:p>
          <a:p>
            <a:pPr marL="0" lvl="1" indent="0">
              <a:buNone/>
            </a:pPr>
            <a:r>
              <a:rPr lang="en-US" sz="2000" dirty="0">
                <a:latin typeface="Arial" panose="020B0604020202020204" pitchFamily="34" charset="0"/>
                <a:cs typeface="Arial" panose="020B0604020202020204" pitchFamily="34" charset="0"/>
              </a:rPr>
              <a:t>[2] Athey, S., &amp; Wager, S. (2019). Estimating treatment effects with causal forests: An application. </a:t>
            </a:r>
            <a:r>
              <a:rPr lang="en-US" sz="2000" i="1" dirty="0">
                <a:latin typeface="Arial" panose="020B0604020202020204" pitchFamily="34" charset="0"/>
                <a:cs typeface="Arial" panose="020B0604020202020204" pitchFamily="34" charset="0"/>
              </a:rPr>
              <a:t>Observational studies</a:t>
            </a:r>
            <a:r>
              <a:rPr lang="en-US" sz="2000" dirty="0">
                <a:latin typeface="Arial" panose="020B0604020202020204" pitchFamily="34" charset="0"/>
                <a:cs typeface="Arial" panose="020B0604020202020204" pitchFamily="34" charset="0"/>
              </a:rPr>
              <a:t>, </a:t>
            </a:r>
            <a:r>
              <a:rPr lang="en-US" sz="2000" i="1" dirty="0">
                <a:latin typeface="Arial" panose="020B0604020202020204" pitchFamily="34" charset="0"/>
                <a:cs typeface="Arial" panose="020B0604020202020204" pitchFamily="34" charset="0"/>
              </a:rPr>
              <a:t>5</a:t>
            </a:r>
            <a:r>
              <a:rPr lang="en-US" sz="2000" dirty="0">
                <a:latin typeface="Arial" panose="020B0604020202020204" pitchFamily="34" charset="0"/>
                <a:cs typeface="Arial" panose="020B0604020202020204" pitchFamily="34" charset="0"/>
              </a:rPr>
              <a:t>(2), 37-51.</a:t>
            </a:r>
          </a:p>
          <a:p>
            <a:pPr marL="0" lvl="1" indent="0">
              <a:buNone/>
            </a:pPr>
            <a:r>
              <a:rPr lang="en-US" sz="2000" dirty="0">
                <a:latin typeface="Arial" panose="020B0604020202020204" pitchFamily="34" charset="0"/>
                <a:cs typeface="Arial" panose="020B0604020202020204" pitchFamily="34" charset="0"/>
              </a:rPr>
              <a:t>[3] Li, J., Ma, S., Le, T., Liu, L., &amp; Liu, J. (2016). Causal decision trees. </a:t>
            </a:r>
            <a:r>
              <a:rPr lang="en-US" sz="2000" i="1" dirty="0">
                <a:latin typeface="Arial" panose="020B0604020202020204" pitchFamily="34" charset="0"/>
                <a:cs typeface="Arial" panose="020B0604020202020204" pitchFamily="34" charset="0"/>
              </a:rPr>
              <a:t>IEEE Transactions on Knowledge and Data Engineering</a:t>
            </a:r>
            <a:r>
              <a:rPr lang="en-US" sz="2000" dirty="0">
                <a:latin typeface="Arial" panose="020B0604020202020204" pitchFamily="34" charset="0"/>
                <a:cs typeface="Arial" panose="020B0604020202020204" pitchFamily="34" charset="0"/>
              </a:rPr>
              <a:t>, </a:t>
            </a:r>
            <a:r>
              <a:rPr lang="en-US" sz="2000" i="1" dirty="0">
                <a:latin typeface="Arial" panose="020B0604020202020204" pitchFamily="34" charset="0"/>
                <a:cs typeface="Arial" panose="020B0604020202020204" pitchFamily="34" charset="0"/>
              </a:rPr>
              <a:t>29</a:t>
            </a:r>
            <a:r>
              <a:rPr lang="en-US" sz="2000" dirty="0">
                <a:latin typeface="Arial" panose="020B0604020202020204" pitchFamily="34" charset="0"/>
                <a:cs typeface="Arial" panose="020B0604020202020204" pitchFamily="34" charset="0"/>
              </a:rPr>
              <a:t>(2), 257-271.</a:t>
            </a:r>
          </a:p>
          <a:p>
            <a:pPr marL="0" lvl="1" indent="0">
              <a:buNone/>
            </a:pPr>
            <a:r>
              <a:rPr lang="en-US" sz="2000" b="1" u="sng" dirty="0">
                <a:latin typeface="Arial" panose="020B0604020202020204" pitchFamily="34" charset="0"/>
                <a:cs typeface="Arial" panose="020B0604020202020204" pitchFamily="34" charset="0"/>
              </a:rPr>
              <a:t>Heterogenous Treatment Effects</a:t>
            </a:r>
          </a:p>
          <a:p>
            <a:pPr marL="0" lvl="1" indent="0">
              <a:buNone/>
            </a:pPr>
            <a:r>
              <a:rPr lang="en-US" sz="2000" dirty="0">
                <a:latin typeface="Arial" panose="020B0604020202020204" pitchFamily="34" charset="0"/>
                <a:cs typeface="Arial" panose="020B0604020202020204" pitchFamily="34" charset="0"/>
              </a:rPr>
              <a:t>[4] Varadhan R, Seeger JD. Estimation and Reporting of Heterogeneity of Treatment Effects. In: </a:t>
            </a:r>
            <a:r>
              <a:rPr lang="en-US" sz="2000" dirty="0" err="1">
                <a:latin typeface="Arial" panose="020B0604020202020204" pitchFamily="34" charset="0"/>
                <a:cs typeface="Arial" panose="020B0604020202020204" pitchFamily="34" charset="0"/>
              </a:rPr>
              <a:t>Velentgas</a:t>
            </a:r>
            <a:r>
              <a:rPr lang="en-US" sz="2000" dirty="0">
                <a:latin typeface="Arial" panose="020B0604020202020204" pitchFamily="34" charset="0"/>
                <a:cs typeface="Arial" panose="020B0604020202020204" pitchFamily="34" charset="0"/>
              </a:rPr>
              <a:t> P, Dreyer NA, </a:t>
            </a:r>
            <a:r>
              <a:rPr lang="en-US" sz="2000" dirty="0" err="1">
                <a:latin typeface="Arial" panose="020B0604020202020204" pitchFamily="34" charset="0"/>
                <a:cs typeface="Arial" panose="020B0604020202020204" pitchFamily="34" charset="0"/>
              </a:rPr>
              <a:t>Nourjah</a:t>
            </a:r>
            <a:r>
              <a:rPr lang="en-US" sz="2000" dirty="0">
                <a:latin typeface="Arial" panose="020B0604020202020204" pitchFamily="34" charset="0"/>
                <a:cs typeface="Arial" panose="020B0604020202020204" pitchFamily="34" charset="0"/>
              </a:rPr>
              <a:t> P, et al., editors. Developing a Protocol for Observational Comparative Effectiveness Research: A User's Guide. Rockville (MD): Agency for Healthcare Research and Quality (US); 2013 Jan. Chapter 3. Available from: </a:t>
            </a:r>
            <a:r>
              <a:rPr lang="en-US" sz="2000" dirty="0">
                <a:latin typeface="Arial" panose="020B0604020202020204" pitchFamily="34" charset="0"/>
                <a:cs typeface="Arial" panose="020B0604020202020204" pitchFamily="34" charset="0"/>
                <a:hlinkClick r:id="rId3"/>
              </a:rPr>
              <a:t>https://www.ncbi.nlm.nih.gov/books/NBK126188/</a:t>
            </a:r>
            <a:endParaRPr lang="en-US" sz="2000" dirty="0">
              <a:latin typeface="Arial" panose="020B0604020202020204" pitchFamily="34" charset="0"/>
              <a:cs typeface="Arial" panose="020B0604020202020204" pitchFamily="34" charset="0"/>
            </a:endParaRPr>
          </a:p>
          <a:p>
            <a:pPr marL="0" lvl="1" indent="0">
              <a:buNone/>
            </a:pPr>
            <a:r>
              <a:rPr lang="en-US" sz="2000" dirty="0">
                <a:latin typeface="Arial" panose="020B0604020202020204" pitchFamily="34" charset="0"/>
                <a:cs typeface="Arial" panose="020B0604020202020204" pitchFamily="34" charset="0"/>
              </a:rPr>
              <a:t>[5] Imai, K. (2021). </a:t>
            </a:r>
            <a:r>
              <a:rPr lang="en-US" sz="2000" i="1" dirty="0">
                <a:latin typeface="Arial" panose="020B0604020202020204" pitchFamily="34" charset="0"/>
                <a:cs typeface="Arial" panose="020B0604020202020204" pitchFamily="34" charset="0"/>
              </a:rPr>
              <a:t>Heterogeneous treatment effects</a:t>
            </a:r>
            <a:r>
              <a:rPr lang="en-US" sz="2000" dirty="0">
                <a:latin typeface="Arial" panose="020B0604020202020204" pitchFamily="34" charset="0"/>
                <a:cs typeface="Arial" panose="020B0604020202020204" pitchFamily="34" charset="0"/>
              </a:rPr>
              <a:t>. Harvard University. </a:t>
            </a:r>
            <a:r>
              <a:rPr lang="en-US" sz="2000" dirty="0">
                <a:latin typeface="Arial" panose="020B0604020202020204" pitchFamily="34" charset="0"/>
                <a:cs typeface="Arial" panose="020B0604020202020204" pitchFamily="34" charset="0"/>
                <a:hlinkClick r:id="rId4"/>
              </a:rPr>
              <a:t>https://imai.fas.harvard.edu/teaching/files/hetero_effects.pdf</a:t>
            </a:r>
            <a:endParaRPr lang="en-US" sz="2000" dirty="0">
              <a:latin typeface="Arial" panose="020B0604020202020204" pitchFamily="34" charset="0"/>
              <a:cs typeface="Arial" panose="020B0604020202020204" pitchFamily="34" charset="0"/>
            </a:endParaRPr>
          </a:p>
          <a:p>
            <a:pPr marL="0" lvl="1" indent="0">
              <a:buNone/>
            </a:pPr>
            <a:r>
              <a:rPr lang="en-US" sz="2000" b="1" u="sng" dirty="0">
                <a:latin typeface="Arial" panose="020B0604020202020204" pitchFamily="34" charset="0"/>
                <a:cs typeface="Arial" panose="020B0604020202020204" pitchFamily="34" charset="0"/>
              </a:rPr>
              <a:t>Regression Trees</a:t>
            </a:r>
          </a:p>
          <a:p>
            <a:pPr marL="0" lvl="1" indent="0">
              <a:buNone/>
            </a:pPr>
            <a:r>
              <a:rPr lang="en-US" sz="2000" dirty="0">
                <a:latin typeface="Arial" panose="020B0604020202020204" pitchFamily="34" charset="0"/>
                <a:cs typeface="Arial" panose="020B0604020202020204" pitchFamily="34" charset="0"/>
              </a:rPr>
              <a:t>[6] Steorts, R. C. (2017). </a:t>
            </a:r>
            <a:r>
              <a:rPr lang="en-US" sz="2000" i="1" dirty="0">
                <a:latin typeface="Arial" panose="020B0604020202020204" pitchFamily="34" charset="0"/>
                <a:cs typeface="Arial" panose="020B0604020202020204" pitchFamily="34" charset="0"/>
              </a:rPr>
              <a:t>Tree Based Methods: Regression trees</a:t>
            </a:r>
            <a:r>
              <a:rPr lang="en-US" sz="2000" dirty="0">
                <a:latin typeface="Arial" panose="020B0604020202020204" pitchFamily="34" charset="0"/>
                <a:cs typeface="Arial" panose="020B0604020202020204" pitchFamily="34" charset="0"/>
              </a:rPr>
              <a:t>. Department of Statistical Science, Duke University. </a:t>
            </a:r>
            <a:r>
              <a:rPr lang="en-US" sz="2000" dirty="0">
                <a:latin typeface="Arial" panose="020B0604020202020204" pitchFamily="34" charset="0"/>
                <a:cs typeface="Arial" panose="020B0604020202020204" pitchFamily="34" charset="0"/>
                <a:hlinkClick r:id="rId5"/>
              </a:rPr>
              <a:t>https://www2.stat.duke.edu/~rcs46/lectures_2017/08-trees/08-tree-regression.pdf</a:t>
            </a:r>
            <a:endParaRPr lang="en-US" sz="2000" dirty="0">
              <a:latin typeface="Arial" panose="020B0604020202020204" pitchFamily="34" charset="0"/>
              <a:cs typeface="Arial" panose="020B0604020202020204" pitchFamily="34" charset="0"/>
            </a:endParaRPr>
          </a:p>
          <a:p>
            <a:pPr marL="0" lvl="1" indent="0">
              <a:buNone/>
            </a:pPr>
            <a:endParaRPr lang="en-US" sz="1333" dirty="0">
              <a:latin typeface="Arial" panose="020B0604020202020204" pitchFamily="34" charset="0"/>
            </a:endParaRPr>
          </a:p>
          <a:p>
            <a:pPr lvl="1"/>
            <a:endParaRPr lang="en-US" dirty="0"/>
          </a:p>
        </p:txBody>
      </p:sp>
      <p:sp>
        <p:nvSpPr>
          <p:cNvPr id="3" name="Slide Number Placeholder 2">
            <a:extLst>
              <a:ext uri="{FF2B5EF4-FFF2-40B4-BE49-F238E27FC236}">
                <a16:creationId xmlns:a16="http://schemas.microsoft.com/office/drawing/2014/main" id="{CD3A2BE8-FE77-F8FF-4E59-C9213D28D360}"/>
              </a:ext>
              <a:ext uri="{C183D7F6-B498-43B3-948B-1728B52AA6E4}">
                <adec:decorative xmlns:adec="http://schemas.microsoft.com/office/drawing/2017/decorative" val="1"/>
              </a:ext>
            </a:extLst>
          </p:cNvPr>
          <p:cNvSpPr>
            <a:spLocks noGrp="1"/>
          </p:cNvSpPr>
          <p:nvPr>
            <p:ph type="sldNum" sz="quarter" idx="13"/>
          </p:nvPr>
        </p:nvSpPr>
        <p:spPr>
          <a:xfrm>
            <a:off x="380741" y="6453506"/>
            <a:ext cx="328081" cy="155233"/>
          </a:xfrm>
        </p:spPr>
        <p:txBody>
          <a:bodyPr/>
          <a:lstStyle/>
          <a:p>
            <a:fld id="{7BCC8D0D-EAEC-449D-9161-023DFF90F2E2}" type="slidenum">
              <a:rPr lang="en-US" smtClean="0"/>
              <a:pPr/>
              <a:t>7</a:t>
            </a:fld>
            <a:endParaRPr lang="en-US" dirty="0"/>
          </a:p>
        </p:txBody>
      </p:sp>
    </p:spTree>
    <p:extLst>
      <p:ext uri="{BB962C8B-B14F-4D97-AF65-F5344CB8AC3E}">
        <p14:creationId xmlns:p14="http://schemas.microsoft.com/office/powerpoint/2010/main" val="2095342779"/>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287</TotalTime>
  <Words>1272</Words>
  <Application>Microsoft Macintosh PowerPoint</Application>
  <PresentationFormat>Widescreen</PresentationFormat>
  <Paragraphs>26</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Aptos Display</vt:lpstr>
      <vt:lpstr>Arial</vt:lpstr>
      <vt:lpstr>Garamond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Blakely</dc:creator>
  <cp:lastModifiedBy>Thomas Blakely</cp:lastModifiedBy>
  <cp:revision>6</cp:revision>
  <dcterms:created xsi:type="dcterms:W3CDTF">2026-05-31T20:26:41Z</dcterms:created>
  <dcterms:modified xsi:type="dcterms:W3CDTF">2026-06-01T01:14:57Z</dcterms:modified>
</cp:coreProperties>
</file>