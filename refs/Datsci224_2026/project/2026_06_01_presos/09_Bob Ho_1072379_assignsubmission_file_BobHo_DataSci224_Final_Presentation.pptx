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256" r:id="rId2"/>
    <p:sldId id="263" r:id="rId3"/>
    <p:sldId id="258" r:id="rId4"/>
    <p:sldId id="268" r:id="rId5"/>
    <p:sldId id="266" r:id="rId6"/>
    <p:sldId id="260" r:id="rId7"/>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7A87"/>
    <a:srgbClr val="D0EEF1"/>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9137AB6-4998-E8E3-19D2-E2192FFCE160}" v="94" dt="2026-05-31T23:30:27.615"/>
    <p1510:client id="{9707C2AF-5E79-E33F-7352-9DC1CC85CA79}" v="283" dt="2026-05-31T12:23:26.770"/>
    <p1510:client id="{A41C4502-12D2-ED99-1612-ED8E665194A3}" v="63" dt="2026-05-31T10:55:56.006"/>
    <p1510:client id="{ACE3657B-7734-D947-99D6-268397A389A9}" v="4" dt="2026-06-01T01:16:20.224"/>
    <p1510:client id="{B82A32B8-69B3-8161-A9C8-F6B6E8234969}" v="618" dt="2026-06-01T05:18:47.658"/>
    <p1510:client id="{BBB68AB8-C052-64DA-957F-DB124C98A737}" v="1771" dt="2026-05-31T10:47:01.665"/>
    <p1510:client id="{F53C433E-D38D-9BE0-9F5B-C1957F4E4C12}" v="24" dt="2026-05-31T23:53:41.848"/>
  </p1510:revLst>
</p1510:revInfo>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2880"/>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205CC7C-0DE9-4866-8A00-9026B4D69712}" type="datetimeFigureOut">
              <a:t>2026/5/31</a:t>
            </a:fld>
            <a:endParaRPr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B19CC5E-F25F-4437-B60F-78BF716E86DC}" type="slidenum">
              <a:t>‹#›</a:t>
            </a:fld>
            <a:endParaRPr lang="zh-TW" altLang="en-US"/>
          </a:p>
        </p:txBody>
      </p:sp>
    </p:spTree>
    <p:extLst>
      <p:ext uri="{BB962C8B-B14F-4D97-AF65-F5344CB8AC3E}">
        <p14:creationId xmlns:p14="http://schemas.microsoft.com/office/powerpoint/2010/main" val="5794912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a:ea typeface="新細明體"/>
              </a:rPr>
              <a:t>Today I'm going to walk you through Hidden Markov Models — focusing on its general structure, the Viterbi algorithm for decoding the sequence, and how it answer my research qustion.</a:t>
            </a:r>
            <a:endParaRPr lang="zh-TW">
              <a:ea typeface="新細明體"/>
            </a:endParaRPr>
          </a:p>
        </p:txBody>
      </p:sp>
      <p:sp>
        <p:nvSpPr>
          <p:cNvPr id="4" name="投影片編號版面配置區 3"/>
          <p:cNvSpPr>
            <a:spLocks noGrp="1"/>
          </p:cNvSpPr>
          <p:nvPr>
            <p:ph type="sldNum" sz="quarter" idx="5"/>
          </p:nvPr>
        </p:nvSpPr>
        <p:spPr/>
        <p:txBody>
          <a:bodyPr/>
          <a:lstStyle/>
          <a:p>
            <a:fld id="{FB19CC5E-F25F-4437-B60F-78BF716E86DC}" type="slidenum">
              <a:t>1</a:t>
            </a:fld>
            <a:endParaRPr lang="zh-TW" altLang="en-US"/>
          </a:p>
        </p:txBody>
      </p:sp>
    </p:spTree>
    <p:extLst>
      <p:ext uri="{BB962C8B-B14F-4D97-AF65-F5344CB8AC3E}">
        <p14:creationId xmlns:p14="http://schemas.microsoft.com/office/powerpoint/2010/main" val="344295558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t>The core idea behind is simple. </a:t>
            </a:r>
            <a:endParaRPr lang="zh-TW" altLang="en-US">
              <a:ea typeface="新細明體" panose="02020500000000000000" pitchFamily="18" charset="-120"/>
            </a:endParaRPr>
          </a:p>
          <a:p>
            <a:pPr marL="171450" indent="-171450">
              <a:buFont typeface="Calibri"/>
              <a:buChar char="-"/>
            </a:pPr>
            <a:r>
              <a:rPr lang="en-US"/>
              <a:t>First, the model assumes that at each timepoint, there is a hidden state, </a:t>
            </a:r>
            <a:r>
              <a:rPr lang="en-US" b="1"/>
              <a:t>something real that is happening but that we cannot directly see</a:t>
            </a:r>
            <a:r>
              <a:rPr lang="en-US"/>
              <a:t>. In this case, the hidden state represent the patient's true clinical situation</a:t>
            </a:r>
            <a:endParaRPr lang="en-US">
              <a:ea typeface="Calibri" panose="020F0502020204030204"/>
              <a:cs typeface="Calibri" panose="020F0502020204030204"/>
            </a:endParaRPr>
          </a:p>
          <a:p>
            <a:pPr marL="171450" indent="-171450">
              <a:buFont typeface="Calibri"/>
              <a:buChar char="-"/>
            </a:pPr>
            <a:r>
              <a:rPr lang="en-US" dirty="0"/>
              <a:t>What we can only see is what's in the EHR — the pain score and the opioid dose given. These are the </a:t>
            </a:r>
            <a:r>
              <a:rPr lang="en-US" dirty="0" err="1"/>
              <a:t>obs</a:t>
            </a:r>
            <a:r>
              <a:rPr lang="en-US" dirty="0"/>
              <a:t> </a:t>
            </a:r>
            <a:r>
              <a:rPr lang="en-US" dirty="0" err="1"/>
              <a:t>xt</a:t>
            </a:r>
            <a:endParaRPr lang="en-US" dirty="0" err="1">
              <a:ea typeface="Calibri"/>
              <a:cs typeface="Calibri"/>
            </a:endParaRPr>
          </a:p>
          <a:p>
            <a:pPr marL="171450" indent="-171450">
              <a:buFont typeface="Calibri"/>
              <a:buChar char="-"/>
            </a:pPr>
            <a:r>
              <a:rPr lang="en-US" dirty="0"/>
              <a:t>Another important assumption is the Markov property, </a:t>
            </a:r>
            <a:r>
              <a:rPr lang="en-US" b="1" dirty="0"/>
              <a:t>which just means the current state only depends on the previous state</a:t>
            </a:r>
            <a:r>
              <a:rPr lang="en-US" dirty="0"/>
              <a:t>, not on the entire history. </a:t>
            </a:r>
            <a:endParaRPr lang="en-US" dirty="0">
              <a:ea typeface="Calibri"/>
              <a:cs typeface="Calibri"/>
            </a:endParaRPr>
          </a:p>
          <a:p>
            <a:pPr marL="171450" indent="-171450">
              <a:buFont typeface="Calibri"/>
              <a:buChar char="-"/>
            </a:pPr>
            <a:r>
              <a:rPr lang="en-US" dirty="0"/>
              <a:t>So in the graph here, we can illustrate every pain assessment in an encounter as one step along this chain, and each step there is a hidden state generating an observation.</a:t>
            </a:r>
            <a:endParaRPr lang="en-US" dirty="0">
              <a:ea typeface="Calibri"/>
              <a:cs typeface="Calibri"/>
            </a:endParaRPr>
          </a:p>
        </p:txBody>
      </p:sp>
      <p:sp>
        <p:nvSpPr>
          <p:cNvPr id="4" name="投影片編號版面配置區 3"/>
          <p:cNvSpPr>
            <a:spLocks noGrp="1"/>
          </p:cNvSpPr>
          <p:nvPr>
            <p:ph type="sldNum" sz="quarter" idx="5"/>
          </p:nvPr>
        </p:nvSpPr>
        <p:spPr/>
        <p:txBody>
          <a:bodyPr/>
          <a:lstStyle/>
          <a:p>
            <a:fld id="{FB19CC5E-F25F-4437-B60F-78BF716E86DC}" type="slidenum">
              <a:t>2</a:t>
            </a:fld>
            <a:endParaRPr lang="zh-TW" altLang="en-US"/>
          </a:p>
        </p:txBody>
      </p:sp>
    </p:spTree>
    <p:extLst>
      <p:ext uri="{BB962C8B-B14F-4D97-AF65-F5344CB8AC3E}">
        <p14:creationId xmlns:p14="http://schemas.microsoft.com/office/powerpoint/2010/main" val="208169595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a:ea typeface="新細明體"/>
              </a:rPr>
              <a:t>Next, the model learns three </a:t>
            </a:r>
            <a:r>
              <a:rPr lang="en-US"/>
              <a:t>components</a:t>
            </a:r>
            <a:r>
              <a:rPr lang="en-US" altLang="zh-TW">
                <a:ea typeface="新細明體"/>
              </a:rPr>
              <a:t> from data. We don't need to label anything manually.</a:t>
            </a:r>
            <a:endParaRPr lang="zh-TW">
              <a:ea typeface="新細明體"/>
            </a:endParaRPr>
          </a:p>
          <a:p>
            <a:pPr marL="171450" indent="-171450">
              <a:buFont typeface="Calibri"/>
              <a:buChar char="-"/>
            </a:pPr>
            <a:r>
              <a:rPr lang="en-US"/>
              <a:t>The first is the starting state probability,</a:t>
            </a:r>
            <a:r>
              <a:rPr lang="en-US" altLang="zh-TW">
                <a:ea typeface="新細明體"/>
              </a:rPr>
              <a:t> π, which </a:t>
            </a:r>
            <a:r>
              <a:rPr lang="en-US" b="1"/>
              <a:t>tells the </a:t>
            </a:r>
            <a:r>
              <a:rPr lang="en-US" b="1">
                <a:ea typeface="Calibri"/>
              </a:rPr>
              <a:t>model </a:t>
            </a:r>
            <a:r>
              <a:rPr lang="en-US" altLang="zh-TW" b="1">
                <a:ea typeface="新細明體"/>
              </a:rPr>
              <a:t>how a sequence usually start</a:t>
            </a:r>
            <a:r>
              <a:rPr lang="en-US" altLang="zh-TW">
                <a:ea typeface="新細明體"/>
              </a:rPr>
              <a:t> </a:t>
            </a:r>
            <a:endParaRPr lang="zh-TW" altLang="en-US">
              <a:ea typeface="新細明體"/>
              <a:cs typeface="Calibri"/>
            </a:endParaRPr>
          </a:p>
          <a:p>
            <a:pPr lvl="1" indent="-171450">
              <a:buFont typeface="Courier New"/>
              <a:buChar char="o"/>
            </a:pPr>
            <a:r>
              <a:rPr lang="en-US" altLang="zh-TW">
                <a:ea typeface="新細明體"/>
              </a:rPr>
              <a:t>For example, we assume 30% of encounters begin with the patient in the undertreated state.</a:t>
            </a:r>
            <a:endParaRPr lang="zh-TW" altLang="en-US">
              <a:ea typeface="新細明體"/>
              <a:cs typeface="Calibri"/>
            </a:endParaRPr>
          </a:p>
          <a:p>
            <a:pPr marL="171450" indent="-171450">
              <a:buFont typeface="Calibri"/>
              <a:buChar char="-"/>
            </a:pPr>
            <a:r>
              <a:rPr lang="en-US"/>
              <a:t>The second is the </a:t>
            </a:r>
            <a:r>
              <a:rPr lang="en-US" b="1"/>
              <a:t>transition matrix</a:t>
            </a:r>
            <a:r>
              <a:rPr lang="en-US" altLang="zh-TW" b="1">
                <a:ea typeface="新細明體"/>
              </a:rPr>
              <a:t>, A,</a:t>
            </a:r>
            <a:r>
              <a:rPr lang="en-US" altLang="zh-TW">
                <a:ea typeface="新細明體"/>
              </a:rPr>
              <a:t> which </a:t>
            </a:r>
            <a:r>
              <a:rPr lang="en-US" altLang="zh-TW" b="1">
                <a:ea typeface="新細明體"/>
              </a:rPr>
              <a:t>describes how states change between steps</a:t>
            </a:r>
            <a:r>
              <a:rPr lang="en-US" altLang="zh-TW">
                <a:ea typeface="新細明體"/>
              </a:rPr>
              <a:t>. </a:t>
            </a:r>
            <a:endParaRPr lang="zh-TW" altLang="en-US">
              <a:ea typeface="新細明體"/>
            </a:endParaRPr>
          </a:p>
          <a:p>
            <a:pPr lvl="1" indent="-171450">
              <a:buFont typeface="Courier New"/>
              <a:buChar char="o"/>
            </a:pPr>
            <a:r>
              <a:rPr lang="en-US" altLang="zh-TW">
                <a:ea typeface="新細明體"/>
              </a:rPr>
              <a:t>For example, for a patient in the U state, there's 75% chances they are </a:t>
            </a:r>
            <a:r>
              <a:rPr lang="en-US" altLang="zh-TW" err="1">
                <a:ea typeface="新細明體"/>
              </a:rPr>
              <a:t>gonna</a:t>
            </a:r>
            <a:r>
              <a:rPr lang="en-US" altLang="zh-TW">
                <a:ea typeface="新細明體"/>
              </a:rPr>
              <a:t> remain undertreated for their next assessment, or there's a 25% their pain become managed.</a:t>
            </a:r>
            <a:endParaRPr lang="zh-TW" altLang="en-US">
              <a:ea typeface="新細明體"/>
              <a:cs typeface="Calibri"/>
            </a:endParaRPr>
          </a:p>
          <a:p>
            <a:pPr marL="171450" indent="-171450">
              <a:buFont typeface="Calibri"/>
              <a:buChar char="-"/>
            </a:pPr>
            <a:r>
              <a:rPr lang="en-US" altLang="zh-TW">
                <a:ea typeface="新細明體"/>
              </a:rPr>
              <a:t>Lastly, we have</a:t>
            </a:r>
            <a:r>
              <a:rPr lang="en-US" altLang="zh-TW" b="1">
                <a:ea typeface="新細明體"/>
              </a:rPr>
              <a:t> the emission distribution, B,</a:t>
            </a:r>
            <a:r>
              <a:rPr lang="en-US" altLang="zh-TW">
                <a:ea typeface="新細明體"/>
              </a:rPr>
              <a:t> which </a:t>
            </a:r>
            <a:r>
              <a:rPr lang="en-US" altLang="zh-TW" b="1">
                <a:ea typeface="新細明體"/>
              </a:rPr>
              <a:t>describes given a hidden state, what observations would we expect to see?</a:t>
            </a:r>
            <a:endParaRPr lang="zh-TW" altLang="en-US" b="1">
              <a:ea typeface="新細明體"/>
            </a:endParaRPr>
          </a:p>
          <a:p>
            <a:pPr lvl="1" indent="-171450">
              <a:buFont typeface="Courier New"/>
              <a:buChar char="o"/>
            </a:pPr>
            <a:r>
              <a:rPr lang="en-US"/>
              <a:t>For example, the model would learn that an U state means we are likely to observe a high pain score centered around 7 and near-zero opioids centered around 1.</a:t>
            </a:r>
          </a:p>
          <a:p>
            <a:pPr lvl="1" indent="-171450">
              <a:buFont typeface="Courier New"/>
              <a:buChar char="o"/>
            </a:pPr>
            <a:r>
              <a:rPr lang="en-US"/>
              <a:t>(Here, because pain and MME are continuous, we assume B follows a normal distribution)</a:t>
            </a:r>
            <a:endParaRPr lang="zh-TW" altLang="en-US">
              <a:ea typeface="新細明體"/>
              <a:cs typeface="Calibri"/>
            </a:endParaRPr>
          </a:p>
          <a:p>
            <a:r>
              <a:rPr lang="en-US" altLang="zh-TW" b="1">
                <a:ea typeface="新細明體"/>
              </a:rPr>
              <a:t>All three parameters are learned using an algorithm called Baum-Welch EM, which I believe a fellow classmate will cover that in more detail later.</a:t>
            </a:r>
            <a:endParaRPr lang="zh-TW" b="1">
              <a:ea typeface="新細明體"/>
              <a:cs typeface="Calibri"/>
            </a:endParaRPr>
          </a:p>
        </p:txBody>
      </p:sp>
      <p:sp>
        <p:nvSpPr>
          <p:cNvPr id="4" name="投影片編號版面配置區 3"/>
          <p:cNvSpPr>
            <a:spLocks noGrp="1"/>
          </p:cNvSpPr>
          <p:nvPr>
            <p:ph type="sldNum" sz="quarter" idx="5"/>
          </p:nvPr>
        </p:nvSpPr>
        <p:spPr/>
        <p:txBody>
          <a:bodyPr/>
          <a:lstStyle/>
          <a:p>
            <a:fld id="{FB19CC5E-F25F-4437-B60F-78BF716E86DC}" type="slidenum">
              <a:t>3</a:t>
            </a:fld>
            <a:endParaRPr lang="zh-TW" altLang="en-US"/>
          </a:p>
        </p:txBody>
      </p:sp>
    </p:spTree>
    <p:extLst>
      <p:ext uri="{BB962C8B-B14F-4D97-AF65-F5344CB8AC3E}">
        <p14:creationId xmlns:p14="http://schemas.microsoft.com/office/powerpoint/2010/main" val="41157041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AAEB87-F5D2-F3F1-48B1-9C70CDD2ECF8}"/>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C0015A32-04BC-0A5A-A44C-56CB14BE8D67}"/>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092C449D-12D9-D139-90D3-21F85257456C}"/>
              </a:ext>
            </a:extLst>
          </p:cNvPr>
          <p:cNvSpPr>
            <a:spLocks noGrp="1"/>
          </p:cNvSpPr>
          <p:nvPr>
            <p:ph type="body" idx="1"/>
          </p:nvPr>
        </p:nvSpPr>
        <p:spPr/>
        <p:txBody>
          <a:bodyPr/>
          <a:lstStyle/>
          <a:p>
            <a:r>
              <a:rPr lang="en-US" altLang="zh-TW" dirty="0">
                <a:ea typeface="新細明體"/>
              </a:rPr>
              <a:t>Once the model has learned the parameters, </a:t>
            </a:r>
            <a:r>
              <a:rPr lang="en-US" dirty="0"/>
              <a:t>we now need to decode the sequence</a:t>
            </a:r>
            <a:r>
              <a:rPr lang="en-US" dirty="0">
                <a:ea typeface="Calibri"/>
              </a:rPr>
              <a:t>, meaning</a:t>
            </a:r>
            <a:r>
              <a:rPr lang="en-US" altLang="zh-TW" dirty="0">
                <a:ea typeface="新細明體"/>
              </a:rPr>
              <a:t> </a:t>
            </a:r>
            <a:r>
              <a:rPr lang="en-US" b="1" dirty="0"/>
              <a:t>given a patient's actual sequence of observations, what is the most likely sequence of hidden states?</a:t>
            </a:r>
            <a:r>
              <a:rPr lang="en-US" altLang="zh-TW" dirty="0">
                <a:ea typeface="新細明體"/>
              </a:rPr>
              <a:t> </a:t>
            </a:r>
            <a:endParaRPr lang="zh-TW" altLang="en-US" dirty="0">
              <a:ea typeface="新細明體"/>
              <a:cs typeface="Calibri" panose="020F0502020204030204"/>
            </a:endParaRPr>
          </a:p>
          <a:p>
            <a:pPr marL="228600" indent="-228600">
              <a:buAutoNum type="arabicPeriod"/>
            </a:pPr>
            <a:r>
              <a:rPr lang="en-US" altLang="zh-TW">
                <a:ea typeface="新細明體"/>
              </a:rPr>
              <a:t>The naive approach would be to look through every possible hidden path — but i</a:t>
            </a:r>
            <a:r>
              <a:rPr lang="en-US"/>
              <a:t>f we try that, the number of possibilities grows very quickly.</a:t>
            </a:r>
            <a:endParaRPr lang="zh-TW" altLang="en-US">
              <a:ea typeface="新細明體"/>
            </a:endParaRPr>
          </a:p>
          <a:p>
            <a:pPr marL="228600" indent="-228600">
              <a:buFontTx/>
              <a:buAutoNum type="arabicPeriod"/>
            </a:pPr>
            <a:r>
              <a:rPr lang="en-US" altLang="zh-TW">
                <a:ea typeface="新細明體"/>
              </a:rPr>
              <a:t>Instead, we solve it by using the </a:t>
            </a:r>
            <a:r>
              <a:rPr lang="en-US" altLang="zh-TW" b="1">
                <a:ea typeface="新細明體"/>
              </a:rPr>
              <a:t>Viterbi algorithm</a:t>
            </a:r>
            <a:r>
              <a:rPr lang="en-US" altLang="zh-TW">
                <a:ea typeface="新細明體"/>
              </a:rPr>
              <a:t>.</a:t>
            </a:r>
          </a:p>
          <a:p>
            <a:pPr lvl="1" indent="-228600">
              <a:buFont typeface="Courier New"/>
              <a:buChar char="o"/>
            </a:pPr>
            <a:r>
              <a:rPr lang="en-US" altLang="zh-TW" dirty="0">
                <a:ea typeface="新細明體"/>
              </a:rPr>
              <a:t>And the key idea is that. At each timepoint, we only keep the best arriving path at each state. We immediately throw away the rest because the Markov property guarantees a losing path can never optimal. </a:t>
            </a:r>
            <a:endParaRPr lang="en-US" altLang="zh-TW" dirty="0">
              <a:ea typeface="新細明體"/>
              <a:cs typeface="Calibri"/>
            </a:endParaRPr>
          </a:p>
          <a:p>
            <a:pPr lvl="1" indent="-228600">
              <a:buFont typeface="Courier New"/>
              <a:buChar char="o"/>
            </a:pPr>
            <a:r>
              <a:rPr lang="en-US"/>
              <a:t>This makes the computation much more efficient.</a:t>
            </a:r>
            <a:endParaRPr lang="en-US" altLang="zh-TW">
              <a:ea typeface="新細明體"/>
            </a:endParaRPr>
          </a:p>
          <a:p>
            <a:pPr indent="-228600">
              <a:buAutoNum type="arabicPeriod"/>
            </a:pPr>
            <a:r>
              <a:rPr lang="en-US" dirty="0"/>
              <a:t>The equations here formalize that: delta is what we used to track the best path probability arriving at each state, and psi records which previous state it came from so traceback later.</a:t>
            </a:r>
            <a:endParaRPr lang="en-US" dirty="0">
              <a:ea typeface="Calibri"/>
              <a:cs typeface="Calibri"/>
            </a:endParaRPr>
          </a:p>
          <a:p>
            <a:pPr indent="-228600">
              <a:buAutoNum type="arabicPeriod"/>
            </a:pPr>
            <a:r>
              <a:rPr lang="en-US" dirty="0">
                <a:ea typeface="Calibri"/>
                <a:cs typeface="Calibri"/>
              </a:rPr>
              <a:t>Once we reach the end, we just trace the </a:t>
            </a:r>
            <a:r>
              <a:rPr lang="en-US" dirty="0" err="1">
                <a:ea typeface="Calibri"/>
                <a:cs typeface="Calibri"/>
              </a:rPr>
              <a:t>backpointer</a:t>
            </a:r>
            <a:r>
              <a:rPr lang="en-US" dirty="0">
                <a:ea typeface="Calibri"/>
                <a:cs typeface="Calibri"/>
              </a:rPr>
              <a:t> </a:t>
            </a:r>
            <a:r>
              <a:rPr lang="en-US" dirty="0"/>
              <a:t>from highest delta to find the full sequence.</a:t>
            </a:r>
            <a:endParaRPr lang="en-US" dirty="0">
              <a:ea typeface="Calibri"/>
              <a:cs typeface="Calibri"/>
            </a:endParaRPr>
          </a:p>
          <a:p>
            <a:endParaRPr lang="en-US" altLang="zh-TW">
              <a:ea typeface="新細明體"/>
              <a:cs typeface="Calibri" panose="020F0502020204030204"/>
            </a:endParaRPr>
          </a:p>
        </p:txBody>
      </p:sp>
      <p:sp>
        <p:nvSpPr>
          <p:cNvPr id="4" name="投影片編號版面配置區 3">
            <a:extLst>
              <a:ext uri="{FF2B5EF4-FFF2-40B4-BE49-F238E27FC236}">
                <a16:creationId xmlns:a16="http://schemas.microsoft.com/office/drawing/2014/main" id="{CAED10FC-E743-FB21-B15C-DFE1EB59C615}"/>
              </a:ext>
            </a:extLst>
          </p:cNvPr>
          <p:cNvSpPr>
            <a:spLocks noGrp="1"/>
          </p:cNvSpPr>
          <p:nvPr>
            <p:ph type="sldNum" sz="quarter" idx="5"/>
          </p:nvPr>
        </p:nvSpPr>
        <p:spPr/>
        <p:txBody>
          <a:bodyPr/>
          <a:lstStyle/>
          <a:p>
            <a:fld id="{FB19CC5E-F25F-4437-B60F-78BF716E86DC}" type="slidenum">
              <a:t>4</a:t>
            </a:fld>
            <a:endParaRPr lang="zh-TW" altLang="en-US"/>
          </a:p>
        </p:txBody>
      </p:sp>
    </p:spTree>
    <p:extLst>
      <p:ext uri="{BB962C8B-B14F-4D97-AF65-F5344CB8AC3E}">
        <p14:creationId xmlns:p14="http://schemas.microsoft.com/office/powerpoint/2010/main" val="150183199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0BA566-A134-CF28-4B10-E585D5F21DD1}"/>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45520C7C-28C8-BC20-FB2E-38FE9FF5620A}"/>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24F6C50D-CBD5-9718-4F83-BE239C4590B7}"/>
              </a:ext>
            </a:extLst>
          </p:cNvPr>
          <p:cNvSpPr>
            <a:spLocks noGrp="1"/>
          </p:cNvSpPr>
          <p:nvPr>
            <p:ph type="body" idx="1"/>
          </p:nvPr>
        </p:nvSpPr>
        <p:spPr/>
        <p:txBody>
          <a:bodyPr/>
          <a:lstStyle/>
          <a:p>
            <a:r>
              <a:rPr lang="en-US"/>
              <a:t>Here is a simple example. </a:t>
            </a:r>
            <a:endParaRPr lang="en-US">
              <a:ea typeface="Calibri"/>
              <a:cs typeface="Calibri"/>
            </a:endParaRPr>
          </a:p>
          <a:p>
            <a:pPr marL="171450" indent="-171450">
              <a:buFont typeface="Arial"/>
              <a:buChar char="•"/>
            </a:pPr>
            <a:r>
              <a:rPr lang="en-US" dirty="0"/>
              <a:t>At t=1, </a:t>
            </a:r>
            <a:endParaRPr lang="en-US" dirty="0">
              <a:ea typeface="Calibri" panose="020F0502020204030204"/>
              <a:cs typeface="Calibri" panose="020F0502020204030204"/>
            </a:endParaRPr>
          </a:p>
          <a:p>
            <a:pPr lvl="1" indent="-171450">
              <a:buFont typeface="Courier New"/>
              <a:buChar char="o"/>
            </a:pPr>
            <a:r>
              <a:rPr lang="en-US" dirty="0"/>
              <a:t>There is no previous state, so δ is just the prob of starting at the state, times how likely we are to see this observation given the state </a:t>
            </a:r>
            <a:endParaRPr lang="en-US" dirty="0">
              <a:ea typeface="Calibri"/>
              <a:cs typeface="Calibri"/>
            </a:endParaRPr>
          </a:p>
          <a:p>
            <a:pPr lvl="1" indent="-171450">
              <a:buFont typeface="Courier New"/>
              <a:buChar char="o"/>
            </a:pPr>
            <a:r>
              <a:rPr lang="en-US"/>
              <a:t>pain is 7 and MME is 0 — that fits Undertreated well, so delta of U is higher while Delta of M is lower, (and so the best path starts there.)</a:t>
            </a:r>
            <a:endParaRPr lang="en-US">
              <a:ea typeface="Calibri"/>
              <a:cs typeface="Calibri"/>
            </a:endParaRPr>
          </a:p>
          <a:p>
            <a:pPr marL="171450" indent="-171450">
              <a:buFont typeface="Arial"/>
              <a:buChar char="•"/>
            </a:pPr>
            <a:r>
              <a:rPr lang="en-US"/>
              <a:t>At t=2 and onward,</a:t>
            </a:r>
            <a:endParaRPr lang="en-US">
              <a:ea typeface="Calibri" panose="020F0502020204030204"/>
              <a:cs typeface="Calibri" panose="020F0502020204030204"/>
            </a:endParaRPr>
          </a:p>
          <a:p>
            <a:pPr marL="914400" lvl="1" indent="-171450">
              <a:buFont typeface="Courier New"/>
              <a:buChar char="o"/>
            </a:pPr>
            <a:r>
              <a:rPr lang="en-US" dirty="0"/>
              <a:t>the recursion finds the delta by combining the best incoming path from the previous step, the transition probability into the current state, and times the likelihood of the current observation given the state </a:t>
            </a:r>
            <a:endParaRPr lang="en-US">
              <a:ea typeface="Calibri" panose="020F0502020204030204"/>
              <a:cs typeface="Calibri" panose="020F0502020204030204"/>
            </a:endParaRPr>
          </a:p>
          <a:p>
            <a:pPr marL="914400" lvl="1" indent="-171450">
              <a:buFont typeface="Courier New"/>
              <a:buChar char="o"/>
            </a:pPr>
            <a:r>
              <a:rPr lang="en-US" dirty="0"/>
              <a:t>Here, MME is still only 2 — still more consistent with U. The best path into U came from U, so psi is U. and the delta is </a:t>
            </a:r>
            <a:r>
              <a:rPr lang="en-US" dirty="0" err="1"/>
              <a:t>ju</a:t>
            </a:r>
            <a:r>
              <a:rPr lang="en-US" dirty="0"/>
              <a:t>st</a:t>
            </a:r>
            <a:endParaRPr lang="zh-TW" dirty="0">
              <a:ea typeface="新細明體"/>
              <a:cs typeface="Calibri" panose="020F0502020204030204"/>
            </a:endParaRPr>
          </a:p>
          <a:p>
            <a:pPr marL="171450" indent="-171450">
              <a:buFont typeface="Arial"/>
              <a:buChar char="•"/>
            </a:pPr>
            <a:r>
              <a:rPr lang="en-US" dirty="0"/>
              <a:t>At t=3, MME jumps to 9 — more likely to observe it in M. We do the same calculations, and delta of U collapses to near zero while delta of M become higher. As a result, the best path transitions from U to M</a:t>
            </a:r>
            <a:endParaRPr lang="zh-TW" altLang="en-US" dirty="0">
              <a:ea typeface="新細明體" panose="02020500000000000000" pitchFamily="18" charset="-120"/>
              <a:cs typeface="Calibri" panose="020F0502020204030204"/>
            </a:endParaRPr>
          </a:p>
          <a:p>
            <a:pPr marL="171450" indent="-171450">
              <a:buFont typeface="Arial"/>
              <a:buChar char="•"/>
            </a:pPr>
            <a:r>
              <a:rPr lang="en-US" dirty="0"/>
              <a:t>Once we reach the end, we traceback from the highest delta at t=3, which is M. Following psi backwards gives us full sequence: U </a:t>
            </a:r>
            <a:r>
              <a:rPr lang="en-US" dirty="0" err="1"/>
              <a:t>U</a:t>
            </a:r>
            <a:r>
              <a:rPr lang="en-US" dirty="0"/>
              <a:t> M.</a:t>
            </a:r>
            <a:endParaRPr lang="zh-TW" altLang="en-US">
              <a:ea typeface="新細明體" panose="02020500000000000000" pitchFamily="18" charset="-120"/>
              <a:cs typeface="Calibri" panose="020F0502020204030204"/>
            </a:endParaRPr>
          </a:p>
        </p:txBody>
      </p:sp>
      <p:sp>
        <p:nvSpPr>
          <p:cNvPr id="4" name="投影片編號版面配置區 3">
            <a:extLst>
              <a:ext uri="{FF2B5EF4-FFF2-40B4-BE49-F238E27FC236}">
                <a16:creationId xmlns:a16="http://schemas.microsoft.com/office/drawing/2014/main" id="{A30FADA4-1A3F-0B6E-1B49-91BE8FCBE55F}"/>
              </a:ext>
            </a:extLst>
          </p:cNvPr>
          <p:cNvSpPr>
            <a:spLocks noGrp="1"/>
          </p:cNvSpPr>
          <p:nvPr>
            <p:ph type="sldNum" sz="quarter" idx="5"/>
          </p:nvPr>
        </p:nvSpPr>
        <p:spPr/>
        <p:txBody>
          <a:bodyPr/>
          <a:lstStyle/>
          <a:p>
            <a:fld id="{FB19CC5E-F25F-4437-B60F-78BF716E86DC}" type="slidenum">
              <a:t>5</a:t>
            </a:fld>
            <a:endParaRPr lang="zh-TW" altLang="en-US"/>
          </a:p>
        </p:txBody>
      </p:sp>
    </p:spTree>
    <p:extLst>
      <p:ext uri="{BB962C8B-B14F-4D97-AF65-F5344CB8AC3E}">
        <p14:creationId xmlns:p14="http://schemas.microsoft.com/office/powerpoint/2010/main" val="390359891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solidFill>
                  <a:schemeClr val="tx1">
                    <a:lumMod val="76000"/>
                    <a:lumOff val="24000"/>
                  </a:schemeClr>
                </a:solidFill>
                <a:ea typeface="新細明體"/>
              </a:rPr>
              <a:t>Finally, how </a:t>
            </a:r>
            <a:r>
              <a:rPr lang="en-US" altLang="zh-TW">
                <a:solidFill>
                  <a:schemeClr val="tx1">
                    <a:lumMod val="76000"/>
                    <a:lumOff val="24000"/>
                  </a:schemeClr>
                </a:solidFill>
                <a:ea typeface="新細明體"/>
              </a:rPr>
              <a:t>does</a:t>
            </a:r>
            <a:r>
              <a:rPr lang="zh-TW">
                <a:solidFill>
                  <a:schemeClr val="tx1">
                    <a:lumMod val="76000"/>
                    <a:lumOff val="24000"/>
                  </a:schemeClr>
                </a:solidFill>
                <a:ea typeface="新細明體"/>
              </a:rPr>
              <a:t> </a:t>
            </a:r>
            <a:r>
              <a:rPr lang="en-US" altLang="zh-TW">
                <a:solidFill>
                  <a:schemeClr val="tx1">
                    <a:lumMod val="76000"/>
                    <a:lumOff val="24000"/>
                  </a:schemeClr>
                </a:solidFill>
                <a:ea typeface="新細明體"/>
              </a:rPr>
              <a:t>the</a:t>
            </a:r>
            <a:r>
              <a:rPr lang="zh-TW">
                <a:solidFill>
                  <a:schemeClr val="tx1">
                    <a:lumMod val="76000"/>
                    <a:lumOff val="24000"/>
                  </a:schemeClr>
                </a:solidFill>
                <a:ea typeface="新細明體"/>
              </a:rPr>
              <a:t> </a:t>
            </a:r>
            <a:r>
              <a:rPr lang="en-US" altLang="zh-TW">
                <a:solidFill>
                  <a:schemeClr val="tx1">
                    <a:lumMod val="76000"/>
                    <a:lumOff val="24000"/>
                  </a:schemeClr>
                </a:solidFill>
                <a:ea typeface="新細明體"/>
              </a:rPr>
              <a:t>model</a:t>
            </a:r>
            <a:r>
              <a:rPr lang="zh-TW" altLang="en-US">
                <a:solidFill>
                  <a:schemeClr val="tx1">
                    <a:lumMod val="76000"/>
                    <a:lumOff val="24000"/>
                  </a:schemeClr>
                </a:solidFill>
                <a:ea typeface="新細明體"/>
              </a:rPr>
              <a:t> </a:t>
            </a:r>
            <a:r>
              <a:rPr lang="zh-TW">
                <a:solidFill>
                  <a:schemeClr val="tx1">
                    <a:lumMod val="76000"/>
                    <a:lumOff val="24000"/>
                  </a:schemeClr>
                </a:solidFill>
                <a:ea typeface="新細明體"/>
              </a:rPr>
              <a:t>help answer our research question.</a:t>
            </a:r>
            <a:endParaRPr lang="zh-TW" altLang="en-US">
              <a:solidFill>
                <a:srgbClr val="000000"/>
              </a:solidFill>
              <a:ea typeface="新細明體" panose="02020500000000000000" pitchFamily="18" charset="-120"/>
            </a:endParaRPr>
          </a:p>
          <a:p>
            <a:pPr marL="171450" indent="-171450">
              <a:buFont typeface="Calibri"/>
              <a:buChar char="-"/>
            </a:pPr>
            <a:r>
              <a:rPr lang="zh-TW">
                <a:solidFill>
                  <a:schemeClr val="tx1">
                    <a:lumMod val="76000"/>
                    <a:lumOff val="24000"/>
                  </a:schemeClr>
                </a:solidFill>
                <a:ea typeface="新細明體"/>
              </a:rPr>
              <a:t>The two examples shown here have similar pain trajectories.</a:t>
            </a:r>
            <a:endParaRPr lang="zh-TW" altLang="en-US">
              <a:solidFill>
                <a:srgbClr val="000000"/>
              </a:solidFill>
              <a:ea typeface="新細明體" panose="02020500000000000000" pitchFamily="18" charset="-120"/>
            </a:endParaRPr>
          </a:p>
          <a:p>
            <a:pPr marL="171450" indent="-171450">
              <a:buFont typeface="Calibri"/>
              <a:buChar char="-"/>
            </a:pPr>
            <a:r>
              <a:rPr lang="zh-TW">
                <a:solidFill>
                  <a:schemeClr val="tx1">
                    <a:lumMod val="76000"/>
                    <a:lumOff val="24000"/>
                  </a:schemeClr>
                </a:solidFill>
                <a:ea typeface="新細明體"/>
              </a:rPr>
              <a:t>However, the treatment patterns are different.</a:t>
            </a:r>
            <a:endParaRPr lang="zh-TW" altLang="en-US">
              <a:solidFill>
                <a:srgbClr val="000000"/>
              </a:solidFill>
              <a:ea typeface="新細明體" panose="02020500000000000000" pitchFamily="18" charset="-120"/>
            </a:endParaRPr>
          </a:p>
          <a:p>
            <a:pPr lvl="1" indent="-171450">
              <a:buFont typeface="Courier New"/>
              <a:buChar char="o"/>
            </a:pPr>
            <a:r>
              <a:rPr lang="zh-TW">
                <a:solidFill>
                  <a:schemeClr val="tx1">
                    <a:lumMod val="76000"/>
                    <a:lumOff val="24000"/>
                  </a:schemeClr>
                </a:solidFill>
                <a:ea typeface="新細明體"/>
              </a:rPr>
              <a:t>In the first example, pain increases but treatment remains very low, so the patient remains in the undertreated state.</a:t>
            </a:r>
            <a:endParaRPr lang="zh-TW" altLang="en-US">
              <a:solidFill>
                <a:srgbClr val="000000"/>
              </a:solidFill>
              <a:ea typeface="新細明體"/>
              <a:cs typeface="Calibri" panose="020F0502020204030204"/>
            </a:endParaRPr>
          </a:p>
          <a:p>
            <a:pPr lvl="1" indent="-171450">
              <a:buFont typeface="Courier New"/>
              <a:buChar char="o"/>
            </a:pPr>
            <a:r>
              <a:rPr lang="zh-TW">
                <a:solidFill>
                  <a:schemeClr val="tx1">
                    <a:lumMod val="76000"/>
                    <a:lumOff val="24000"/>
                  </a:schemeClr>
                </a:solidFill>
                <a:ea typeface="新細明體"/>
              </a:rPr>
              <a:t>In the second example, treatment increases as pain increases, </a:t>
            </a:r>
            <a:r>
              <a:rPr lang="en-US" altLang="zh-TW">
                <a:solidFill>
                  <a:schemeClr val="tx1">
                    <a:lumMod val="76000"/>
                    <a:lumOff val="24000"/>
                  </a:schemeClr>
                </a:solidFill>
                <a:ea typeface="新細明體"/>
              </a:rPr>
              <a:t>so</a:t>
            </a:r>
            <a:r>
              <a:rPr lang="zh-TW">
                <a:solidFill>
                  <a:schemeClr val="tx1">
                    <a:lumMod val="76000"/>
                    <a:lumOff val="24000"/>
                  </a:schemeClr>
                </a:solidFill>
                <a:ea typeface="新細明體"/>
              </a:rPr>
              <a:t> the patient transitions into the managed state.</a:t>
            </a:r>
            <a:endParaRPr lang="zh-TW" altLang="en-US">
              <a:solidFill>
                <a:srgbClr val="000000"/>
              </a:solidFill>
              <a:ea typeface="新細明體" panose="02020500000000000000" pitchFamily="18" charset="-120"/>
              <a:cs typeface="Calibri" panose="020F0502020204030204"/>
            </a:endParaRPr>
          </a:p>
          <a:p>
            <a:pPr marL="171450" indent="-171450">
              <a:buFont typeface="Calibri"/>
              <a:buChar char="-"/>
            </a:pPr>
            <a:r>
              <a:rPr lang="zh-TW">
                <a:solidFill>
                  <a:schemeClr val="tx1">
                    <a:lumMod val="76000"/>
                    <a:lumOff val="24000"/>
                  </a:schemeClr>
                </a:solidFill>
                <a:ea typeface="新細明體"/>
              </a:rPr>
              <a:t>The advantage of HMM is that it looks at the entire trajectory rather than a single observation.</a:t>
            </a:r>
            <a:endParaRPr lang="zh-TW" altLang="en-US">
              <a:solidFill>
                <a:srgbClr val="000000"/>
              </a:solidFill>
              <a:ea typeface="新細明體"/>
            </a:endParaRPr>
          </a:p>
          <a:p>
            <a:pPr marL="171450" indent="-171450">
              <a:buFont typeface="Calibri"/>
              <a:buChar char="-"/>
            </a:pPr>
            <a:r>
              <a:rPr lang="en-US" altLang="zh-TW">
                <a:solidFill>
                  <a:schemeClr val="tx1">
                    <a:lumMod val="76000"/>
                    <a:lumOff val="24000"/>
                  </a:schemeClr>
                </a:solidFill>
                <a:ea typeface="新細明體"/>
              </a:rPr>
              <a:t>T</a:t>
            </a:r>
            <a:r>
              <a:rPr lang="zh-TW">
                <a:solidFill>
                  <a:schemeClr val="tx1">
                    <a:lumMod val="76000"/>
                    <a:lumOff val="24000"/>
                  </a:schemeClr>
                </a:solidFill>
                <a:ea typeface="新細明體"/>
              </a:rPr>
              <a:t>his allows us to s</a:t>
            </a:r>
            <a:r>
              <a:rPr lang="en-US" altLang="zh-TW">
                <a:solidFill>
                  <a:schemeClr val="tx1">
                    <a:lumMod val="76000"/>
                    <a:lumOff val="24000"/>
                  </a:schemeClr>
                </a:solidFill>
                <a:ea typeface="新細明體"/>
              </a:rPr>
              <a:t>ee</a:t>
            </a:r>
            <a:r>
              <a:rPr lang="zh-TW">
                <a:solidFill>
                  <a:schemeClr val="tx1">
                    <a:lumMod val="76000"/>
                    <a:lumOff val="24000"/>
                  </a:schemeClr>
                </a:solidFill>
                <a:ea typeface="新細明體"/>
              </a:rPr>
              <a:t> whether patients with limited English proficiency are more likely to remain undertreated over time.</a:t>
            </a:r>
            <a:endParaRPr lang="zh-TW">
              <a:ea typeface="新細明體" panose="02020500000000000000" pitchFamily="18" charset="-120"/>
              <a:cs typeface="Calibri" panose="020F0502020204030204"/>
            </a:endParaRPr>
          </a:p>
          <a:p>
            <a:pPr marL="171450" indent="-171450">
              <a:buFont typeface="Calibri,Sans-Serif"/>
              <a:buChar char="-"/>
            </a:pPr>
            <a:r>
              <a:rPr lang="en-US" altLang="zh-TW">
                <a:solidFill>
                  <a:schemeClr val="tx1">
                    <a:lumMod val="76000"/>
                    <a:lumOff val="24000"/>
                  </a:schemeClr>
                </a:solidFill>
                <a:ea typeface="新細明體"/>
              </a:rPr>
              <a:t>The</a:t>
            </a:r>
            <a:r>
              <a:rPr lang="zh-TW">
                <a:solidFill>
                  <a:schemeClr val="tx1">
                    <a:lumMod val="76000"/>
                    <a:lumOff val="24000"/>
                  </a:schemeClr>
                </a:solidFill>
                <a:ea typeface="新細明體"/>
              </a:rPr>
              <a:t> </a:t>
            </a:r>
            <a:r>
              <a:rPr lang="en-US" altLang="zh-TW">
                <a:solidFill>
                  <a:schemeClr val="tx1">
                    <a:lumMod val="76000"/>
                    <a:lumOff val="24000"/>
                  </a:schemeClr>
                </a:solidFill>
                <a:ea typeface="新細明體"/>
              </a:rPr>
              <a:t>model </a:t>
            </a:r>
            <a:r>
              <a:rPr lang="zh-TW">
                <a:solidFill>
                  <a:schemeClr val="tx1">
                    <a:lumMod val="76000"/>
                    <a:lumOff val="24000"/>
                  </a:schemeClr>
                </a:solidFill>
                <a:ea typeface="新細明體"/>
              </a:rPr>
              <a:t>can discover hidden clinical states without requiring manually labeled data.</a:t>
            </a:r>
            <a:endParaRPr lang="zh-TW">
              <a:solidFill>
                <a:srgbClr val="444444"/>
              </a:solidFill>
              <a:ea typeface="新細明體"/>
            </a:endParaRPr>
          </a:p>
          <a:p>
            <a:pPr marL="171450" indent="-171450">
              <a:buFont typeface="Calibri"/>
              <a:buChar char="-"/>
            </a:pPr>
            <a:r>
              <a:rPr lang="en-US" altLang="zh-TW">
                <a:solidFill>
                  <a:schemeClr val="tx1">
                    <a:lumMod val="76000"/>
                    <a:lumOff val="24000"/>
                  </a:schemeClr>
                </a:solidFill>
                <a:ea typeface="新細明體"/>
              </a:rPr>
              <a:t>For a dataset with around 180 thousands repeated</a:t>
            </a:r>
            <a:r>
              <a:rPr lang="zh-TW" altLang="en-US">
                <a:solidFill>
                  <a:schemeClr val="tx1">
                    <a:lumMod val="76000"/>
                    <a:lumOff val="24000"/>
                  </a:schemeClr>
                </a:solidFill>
                <a:ea typeface="新細明體"/>
              </a:rPr>
              <a:t> </a:t>
            </a:r>
            <a:r>
              <a:rPr lang="en-US" altLang="zh-TW">
                <a:solidFill>
                  <a:schemeClr val="tx1">
                    <a:lumMod val="76000"/>
                    <a:lumOff val="24000"/>
                  </a:schemeClr>
                </a:solidFill>
                <a:ea typeface="新細明體"/>
              </a:rPr>
              <a:t>pain</a:t>
            </a:r>
            <a:r>
              <a:rPr lang="zh-TW" altLang="en-US">
                <a:solidFill>
                  <a:schemeClr val="tx1">
                    <a:lumMod val="76000"/>
                    <a:lumOff val="24000"/>
                  </a:schemeClr>
                </a:solidFill>
                <a:ea typeface="新細明體"/>
              </a:rPr>
              <a:t> </a:t>
            </a:r>
            <a:r>
              <a:rPr lang="en-US" altLang="zh-TW">
                <a:solidFill>
                  <a:schemeClr val="tx1">
                    <a:lumMod val="76000"/>
                    <a:lumOff val="24000"/>
                  </a:schemeClr>
                </a:solidFill>
                <a:ea typeface="新細明體"/>
              </a:rPr>
              <a:t>assessments</a:t>
            </a:r>
            <a:r>
              <a:rPr lang="zh-TW" altLang="en-US">
                <a:solidFill>
                  <a:schemeClr val="tx1">
                    <a:lumMod val="76000"/>
                    <a:lumOff val="24000"/>
                  </a:schemeClr>
                </a:solidFill>
                <a:ea typeface="新細明體"/>
              </a:rPr>
              <a:t> </a:t>
            </a:r>
            <a:r>
              <a:rPr lang="en-US" altLang="zh-TW">
                <a:solidFill>
                  <a:schemeClr val="tx1">
                    <a:lumMod val="76000"/>
                    <a:lumOff val="24000"/>
                  </a:schemeClr>
                </a:solidFill>
                <a:ea typeface="新細明體"/>
              </a:rPr>
              <a:t>(NRS</a:t>
            </a:r>
            <a:r>
              <a:rPr lang="zh-TW" altLang="en-US">
                <a:solidFill>
                  <a:schemeClr val="tx1">
                    <a:lumMod val="76000"/>
                    <a:lumOff val="24000"/>
                  </a:schemeClr>
                </a:solidFill>
                <a:ea typeface="新細明體"/>
              </a:rPr>
              <a:t> </a:t>
            </a:r>
            <a:r>
              <a:rPr lang="en-US" altLang="zh-TW">
                <a:solidFill>
                  <a:schemeClr val="tx1">
                    <a:lumMod val="76000"/>
                    <a:lumOff val="24000"/>
                  </a:schemeClr>
                </a:solidFill>
                <a:ea typeface="新細明體"/>
              </a:rPr>
              <a:t>score</a:t>
            </a:r>
            <a:r>
              <a:rPr lang="zh-TW" altLang="en-US">
                <a:solidFill>
                  <a:schemeClr val="tx1">
                    <a:lumMod val="76000"/>
                    <a:lumOff val="24000"/>
                  </a:schemeClr>
                </a:solidFill>
                <a:ea typeface="新細明體"/>
              </a:rPr>
              <a:t> </a:t>
            </a:r>
            <a:r>
              <a:rPr lang="en-US" altLang="zh-TW">
                <a:solidFill>
                  <a:schemeClr val="tx1">
                    <a:lumMod val="76000"/>
                    <a:lumOff val="24000"/>
                  </a:schemeClr>
                </a:solidFill>
                <a:ea typeface="新細明體"/>
              </a:rPr>
              <a:t>+</a:t>
            </a:r>
            <a:r>
              <a:rPr lang="zh-TW" altLang="en-US">
                <a:solidFill>
                  <a:schemeClr val="tx1">
                    <a:lumMod val="76000"/>
                    <a:lumOff val="24000"/>
                  </a:schemeClr>
                </a:solidFill>
                <a:ea typeface="新細明體"/>
              </a:rPr>
              <a:t> </a:t>
            </a:r>
            <a:r>
              <a:rPr lang="en-US" altLang="zh-TW">
                <a:solidFill>
                  <a:schemeClr val="tx1">
                    <a:lumMod val="76000"/>
                    <a:lumOff val="24000"/>
                  </a:schemeClr>
                </a:solidFill>
                <a:ea typeface="新細明體"/>
              </a:rPr>
              <a:t>opioid</a:t>
            </a:r>
            <a:r>
              <a:rPr lang="zh-TW" altLang="en-US">
                <a:solidFill>
                  <a:schemeClr val="tx1">
                    <a:lumMod val="76000"/>
                    <a:lumOff val="24000"/>
                  </a:schemeClr>
                </a:solidFill>
                <a:ea typeface="新細明體"/>
              </a:rPr>
              <a:t> </a:t>
            </a:r>
            <a:r>
              <a:rPr lang="en-US" altLang="zh-TW">
                <a:solidFill>
                  <a:schemeClr val="tx1">
                    <a:lumMod val="76000"/>
                    <a:lumOff val="24000"/>
                  </a:schemeClr>
                </a:solidFill>
                <a:ea typeface="新細明體"/>
              </a:rPr>
              <a:t>MME)</a:t>
            </a:r>
            <a:r>
              <a:rPr lang="zh-TW" altLang="en-US">
                <a:solidFill>
                  <a:schemeClr val="tx1">
                    <a:lumMod val="76000"/>
                    <a:lumOff val="24000"/>
                  </a:schemeClr>
                </a:solidFill>
                <a:ea typeface="新細明體"/>
              </a:rPr>
              <a:t> </a:t>
            </a:r>
            <a:r>
              <a:rPr lang="en-US" altLang="zh-TW">
                <a:solidFill>
                  <a:schemeClr val="tx1">
                    <a:lumMod val="76000"/>
                    <a:lumOff val="24000"/>
                  </a:schemeClr>
                </a:solidFill>
                <a:ea typeface="新細明體"/>
              </a:rPr>
              <a:t>nested</a:t>
            </a:r>
            <a:r>
              <a:rPr lang="zh-TW" altLang="en-US">
                <a:solidFill>
                  <a:schemeClr val="tx1">
                    <a:lumMod val="76000"/>
                    <a:lumOff val="24000"/>
                  </a:schemeClr>
                </a:solidFill>
                <a:ea typeface="新細明體"/>
              </a:rPr>
              <a:t> </a:t>
            </a:r>
            <a:r>
              <a:rPr lang="en-US" altLang="zh-TW">
                <a:solidFill>
                  <a:schemeClr val="tx1">
                    <a:lumMod val="76000"/>
                    <a:lumOff val="24000"/>
                  </a:schemeClr>
                </a:solidFill>
                <a:ea typeface="新細明體"/>
              </a:rPr>
              <a:t>within</a:t>
            </a:r>
            <a:r>
              <a:rPr lang="zh-TW" altLang="en-US">
                <a:solidFill>
                  <a:schemeClr val="tx1">
                    <a:lumMod val="76000"/>
                    <a:lumOff val="24000"/>
                  </a:schemeClr>
                </a:solidFill>
                <a:ea typeface="新細明體"/>
              </a:rPr>
              <a:t> </a:t>
            </a:r>
            <a:r>
              <a:rPr lang="en-US" altLang="zh-TW">
                <a:solidFill>
                  <a:schemeClr val="tx1">
                    <a:lumMod val="76000"/>
                    <a:lumOff val="24000"/>
                  </a:schemeClr>
                </a:solidFill>
                <a:ea typeface="新細明體"/>
              </a:rPr>
              <a:t>12</a:t>
            </a:r>
            <a:r>
              <a:rPr lang="zh-TW" altLang="en-US">
                <a:solidFill>
                  <a:schemeClr val="tx1">
                    <a:lumMod val="76000"/>
                    <a:lumOff val="24000"/>
                  </a:schemeClr>
                </a:solidFill>
                <a:ea typeface="新細明體"/>
              </a:rPr>
              <a:t> </a:t>
            </a:r>
            <a:r>
              <a:rPr lang="en-US" altLang="zh-TW">
                <a:solidFill>
                  <a:schemeClr val="tx1">
                    <a:lumMod val="76000"/>
                    <a:lumOff val="24000"/>
                  </a:schemeClr>
                </a:solidFill>
                <a:ea typeface="新細明體"/>
              </a:rPr>
              <a:t>thousand</a:t>
            </a:r>
            <a:r>
              <a:rPr lang="zh-TW" altLang="en-US">
                <a:solidFill>
                  <a:schemeClr val="tx1">
                    <a:lumMod val="76000"/>
                    <a:lumOff val="24000"/>
                  </a:schemeClr>
                </a:solidFill>
                <a:ea typeface="新細明體"/>
              </a:rPr>
              <a:t> </a:t>
            </a:r>
            <a:r>
              <a:rPr lang="en-US" altLang="zh-TW">
                <a:solidFill>
                  <a:schemeClr val="tx1">
                    <a:lumMod val="76000"/>
                    <a:lumOff val="24000"/>
                  </a:schemeClr>
                </a:solidFill>
                <a:ea typeface="新細明體"/>
              </a:rPr>
              <a:t>encounters→</a:t>
            </a:r>
            <a:r>
              <a:rPr lang="zh-TW" altLang="en-US">
                <a:solidFill>
                  <a:schemeClr val="tx1">
                    <a:lumMod val="76000"/>
                    <a:lumOff val="24000"/>
                  </a:schemeClr>
                </a:solidFill>
                <a:ea typeface="新細明體"/>
              </a:rPr>
              <a:t> </a:t>
            </a:r>
            <a:r>
              <a:rPr lang="en-US" altLang="zh-TW">
                <a:solidFill>
                  <a:schemeClr val="tx1">
                    <a:lumMod val="76000"/>
                    <a:lumOff val="24000"/>
                  </a:schemeClr>
                </a:solidFill>
                <a:ea typeface="新細明體"/>
              </a:rPr>
              <a:t>ideal structure</a:t>
            </a:r>
            <a:r>
              <a:rPr lang="zh-TW" altLang="en-US">
                <a:solidFill>
                  <a:schemeClr val="tx1">
                    <a:lumMod val="76000"/>
                    <a:lumOff val="24000"/>
                  </a:schemeClr>
                </a:solidFill>
                <a:ea typeface="新細明體"/>
              </a:rPr>
              <a:t> </a:t>
            </a:r>
            <a:r>
              <a:rPr lang="en-US" altLang="zh-TW">
                <a:solidFill>
                  <a:schemeClr val="tx1">
                    <a:lumMod val="76000"/>
                    <a:lumOff val="24000"/>
                  </a:schemeClr>
                </a:solidFill>
                <a:ea typeface="新細明體"/>
              </a:rPr>
              <a:t>for</a:t>
            </a:r>
            <a:r>
              <a:rPr lang="zh-TW" altLang="en-US">
                <a:solidFill>
                  <a:schemeClr val="tx1">
                    <a:lumMod val="76000"/>
                    <a:lumOff val="24000"/>
                  </a:schemeClr>
                </a:solidFill>
                <a:ea typeface="新細明體"/>
              </a:rPr>
              <a:t> </a:t>
            </a:r>
            <a:r>
              <a:rPr lang="en-US" altLang="zh-TW">
                <a:solidFill>
                  <a:schemeClr val="tx1">
                    <a:lumMod val="76000"/>
                    <a:lumOff val="24000"/>
                  </a:schemeClr>
                </a:solidFill>
                <a:ea typeface="新細明體"/>
              </a:rPr>
              <a:t>sequence</a:t>
            </a:r>
            <a:r>
              <a:rPr lang="zh-TW" altLang="en-US">
                <a:solidFill>
                  <a:schemeClr val="tx1">
                    <a:lumMod val="76000"/>
                    <a:lumOff val="24000"/>
                  </a:schemeClr>
                </a:solidFill>
                <a:ea typeface="新細明體"/>
              </a:rPr>
              <a:t> </a:t>
            </a:r>
            <a:r>
              <a:rPr lang="en-US" altLang="zh-TW">
                <a:solidFill>
                  <a:schemeClr val="tx1">
                    <a:lumMod val="76000"/>
                    <a:lumOff val="24000"/>
                  </a:schemeClr>
                </a:solidFill>
                <a:ea typeface="新細明體"/>
              </a:rPr>
              <a:t>modeling like HMM</a:t>
            </a:r>
            <a:endParaRPr lang="zh-TW">
              <a:solidFill>
                <a:schemeClr val="tx1">
                  <a:lumMod val="76000"/>
                  <a:lumOff val="24000"/>
                </a:schemeClr>
              </a:solidFill>
              <a:ea typeface="新細明體"/>
              <a:cs typeface="Calibri"/>
            </a:endParaRPr>
          </a:p>
          <a:p>
            <a:endParaRPr lang="zh-TW" altLang="en-US">
              <a:solidFill>
                <a:schemeClr val="tx1">
                  <a:lumMod val="76000"/>
                  <a:lumOff val="24000"/>
                </a:schemeClr>
              </a:solidFill>
              <a:ea typeface="新細明體"/>
              <a:cs typeface="Calibri"/>
            </a:endParaRPr>
          </a:p>
          <a:p>
            <a:pPr marL="285750" lvl="1"/>
            <a:endParaRPr lang="en-US" altLang="zh-TW">
              <a:solidFill>
                <a:srgbClr val="3D3D3D"/>
              </a:solidFill>
              <a:ea typeface="新細明體"/>
              <a:cs typeface="Calibri"/>
            </a:endParaRPr>
          </a:p>
          <a:p>
            <a:pPr marL="171450" indent="-171450">
              <a:buFont typeface="Calibri"/>
              <a:buChar char="-"/>
            </a:pPr>
            <a:r>
              <a:rPr lang="en-US">
                <a:solidFill>
                  <a:srgbClr val="000000"/>
                </a:solidFill>
              </a:rPr>
              <a:t>How K is selected: </a:t>
            </a:r>
            <a:endParaRPr lang="en-US">
              <a:solidFill>
                <a:srgbClr val="444444"/>
              </a:solidFill>
              <a:ea typeface="Calibri" panose="020F0502020204030204"/>
              <a:cs typeface="Calibri" panose="020F0502020204030204"/>
            </a:endParaRPr>
          </a:p>
          <a:p>
            <a:pPr marL="628650" lvl="1" indent="-171450">
              <a:buFont typeface="Courier New"/>
              <a:buChar char="o"/>
            </a:pPr>
            <a:r>
              <a:rPr lang="en-US">
                <a:solidFill>
                  <a:srgbClr val="000000"/>
                </a:solidFill>
              </a:rPr>
              <a:t>run different models with </a:t>
            </a:r>
            <a:r>
              <a:rPr lang="en-US" err="1">
                <a:solidFill>
                  <a:srgbClr val="000000"/>
                </a:solidFill>
              </a:rPr>
              <a:t>differnet</a:t>
            </a:r>
            <a:r>
              <a:rPr lang="en-US">
                <a:solidFill>
                  <a:srgbClr val="000000"/>
                </a:solidFill>
              </a:rPr>
              <a:t> K and compare The Bayesian Information Criterion (BIC)</a:t>
            </a:r>
            <a:endParaRPr lang="en-US">
              <a:solidFill>
                <a:srgbClr val="444444"/>
              </a:solidFill>
            </a:endParaRPr>
          </a:p>
          <a:p>
            <a:pPr lvl="2" indent="-171450">
              <a:buFont typeface="Wingdings"/>
              <a:buChar char="§"/>
            </a:pPr>
            <a:r>
              <a:rPr lang="en-US">
                <a:solidFill>
                  <a:srgbClr val="000000"/>
                </a:solidFill>
              </a:rPr>
              <a:t>a statistical metric that evaluates a model's goodness of fit while penalizing for model complexity</a:t>
            </a:r>
            <a:endParaRPr lang="en-US">
              <a:solidFill>
                <a:srgbClr val="444444"/>
              </a:solidFill>
              <a:ea typeface="Calibri" panose="020F0502020204030204"/>
              <a:cs typeface="Calibri" panose="020F0502020204030204"/>
            </a:endParaRPr>
          </a:p>
          <a:p>
            <a:pPr lvl="2" indent="-171450">
              <a:buFont typeface="Wingdings"/>
              <a:buChar char="§"/>
            </a:pPr>
            <a:r>
              <a:rPr lang="en-US">
                <a:solidFill>
                  <a:srgbClr val="000000"/>
                </a:solidFill>
              </a:rPr>
              <a:t>Choose the lowest</a:t>
            </a:r>
            <a:endParaRPr lang="en-US">
              <a:solidFill>
                <a:srgbClr val="444444"/>
              </a:solidFill>
              <a:ea typeface="Calibri" panose="020F0502020204030204"/>
              <a:cs typeface="Calibri" panose="020F0502020204030204"/>
            </a:endParaRPr>
          </a:p>
          <a:p>
            <a:pPr marL="628650" lvl="1" indent="-171450">
              <a:buFont typeface="Courier New"/>
              <a:buChar char="o"/>
            </a:pPr>
            <a:r>
              <a:rPr lang="en-US">
                <a:solidFill>
                  <a:srgbClr val="000000"/>
                </a:solidFill>
              </a:rPr>
              <a:t>Determine by domain knowledge</a:t>
            </a:r>
            <a:endParaRPr lang="en-US">
              <a:solidFill>
                <a:srgbClr val="444444"/>
              </a:solidFill>
              <a:ea typeface="Calibri" panose="020F0502020204030204"/>
              <a:cs typeface="Calibri" panose="020F0502020204030204"/>
            </a:endParaRPr>
          </a:p>
          <a:p>
            <a:pPr lvl="1" indent="-171450">
              <a:buFont typeface="Courier New"/>
              <a:buChar char="o"/>
            </a:pPr>
            <a:endParaRPr lang="en-US" altLang="zh-TW">
              <a:solidFill>
                <a:srgbClr val="3D3D3D"/>
              </a:solidFill>
              <a:ea typeface="新細明體" panose="02020500000000000000" pitchFamily="18" charset="-120"/>
              <a:cs typeface="Calibri"/>
            </a:endParaRPr>
          </a:p>
          <a:p>
            <a:endParaRPr lang="zh-TW" altLang="en-US">
              <a:solidFill>
                <a:srgbClr val="000000"/>
              </a:solidFill>
              <a:ea typeface="新細明體" panose="02020500000000000000" pitchFamily="18" charset="-120"/>
              <a:cs typeface="Calibri"/>
            </a:endParaRPr>
          </a:p>
        </p:txBody>
      </p:sp>
      <p:sp>
        <p:nvSpPr>
          <p:cNvPr id="4" name="投影片編號版面配置區 3"/>
          <p:cNvSpPr>
            <a:spLocks noGrp="1"/>
          </p:cNvSpPr>
          <p:nvPr>
            <p:ph type="sldNum" sz="quarter" idx="5"/>
          </p:nvPr>
        </p:nvSpPr>
        <p:spPr/>
        <p:txBody>
          <a:bodyPr/>
          <a:lstStyle/>
          <a:p>
            <a:fld id="{FB19CC5E-F25F-4437-B60F-78BF716E86DC}" type="slidenum">
              <a:t>6</a:t>
            </a:fld>
            <a:endParaRPr lang="zh-TW" altLang="en-US"/>
          </a:p>
        </p:txBody>
      </p:sp>
    </p:spTree>
    <p:extLst>
      <p:ext uri="{BB962C8B-B14F-4D97-AF65-F5344CB8AC3E}">
        <p14:creationId xmlns:p14="http://schemas.microsoft.com/office/powerpoint/2010/main" val="399050504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5/31/2026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5/31/2026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5/31/2026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5/31/2026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5/31/2026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5/31/2026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7.xml"/><Relationship Id="rId5" Type="http://schemas.openxmlformats.org/officeDocument/2006/relationships/image" Target="../media/image2.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0"/>
            <a:ext cx="502920" cy="6858000"/>
          </a:xfrm>
          <a:prstGeom prst="rect">
            <a:avLst/>
          </a:prstGeom>
          <a:solidFill>
            <a:schemeClr val="accent1">
              <a:lumMod val="7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77240" y="1280160"/>
            <a:ext cx="10515600" cy="892552"/>
          </a:xfrm>
          <a:prstGeom prst="rect">
            <a:avLst/>
          </a:prstGeom>
          <a:noFill/>
        </p:spPr>
        <p:txBody>
          <a:bodyPr wrap="square" lIns="91440" tIns="45720" rIns="91440" bIns="45720" anchor="t">
            <a:spAutoFit/>
          </a:bodyPr>
          <a:lstStyle/>
          <a:p>
            <a:pPr algn="l"/>
            <a:r>
              <a:rPr sz="5200" b="1" i="0">
                <a:solidFill>
                  <a:srgbClr val="1A2B47"/>
                </a:solidFill>
                <a:latin typeface="Calibri"/>
                <a:ea typeface="Calibri"/>
                <a:cs typeface="Calibri"/>
              </a:rPr>
              <a:t>Hidden Markov Models</a:t>
            </a:r>
            <a:endParaRPr lang="zh-TW" altLang="en-US" sz="5200" b="1" i="0">
              <a:solidFill>
                <a:srgbClr val="1A2B47"/>
              </a:solidFill>
              <a:latin typeface="Calibri"/>
              <a:cs typeface="Calibri"/>
            </a:endParaRPr>
          </a:p>
        </p:txBody>
      </p:sp>
      <p:grpSp>
        <p:nvGrpSpPr>
          <p:cNvPr id="5" name="群組 4">
            <a:extLst>
              <a:ext uri="{FF2B5EF4-FFF2-40B4-BE49-F238E27FC236}">
                <a16:creationId xmlns:a16="http://schemas.microsoft.com/office/drawing/2014/main" id="{5644D742-D8BB-BD7D-45BC-EF6B875911BE}"/>
              </a:ext>
            </a:extLst>
          </p:cNvPr>
          <p:cNvGrpSpPr/>
          <p:nvPr/>
        </p:nvGrpSpPr>
        <p:grpSpPr>
          <a:xfrm>
            <a:off x="777240" y="2565363"/>
            <a:ext cx="9601200" cy="594360"/>
            <a:chOff x="777240" y="2565363"/>
            <a:chExt cx="9601200" cy="594360"/>
          </a:xfrm>
        </p:grpSpPr>
        <p:sp>
          <p:nvSpPr>
            <p:cNvPr id="6" name="Rectangle 5"/>
            <p:cNvSpPr/>
            <p:nvPr/>
          </p:nvSpPr>
          <p:spPr>
            <a:xfrm>
              <a:off x="777240" y="2565363"/>
              <a:ext cx="9601200" cy="594360"/>
            </a:xfrm>
            <a:prstGeom prst="rect">
              <a:avLst/>
            </a:prstGeom>
            <a:solidFill>
              <a:schemeClr val="accent1">
                <a:lumMod val="20000"/>
                <a:lumOff val="80000"/>
              </a:schemeClr>
            </a:solidFill>
            <a:ln w="12700">
              <a:solidFill>
                <a:schemeClr val="accent1">
                  <a:lumMod val="7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33694" y="2691370"/>
              <a:ext cx="9326880" cy="338554"/>
            </a:xfrm>
            <a:prstGeom prst="rect">
              <a:avLst/>
            </a:prstGeom>
            <a:solidFill>
              <a:schemeClr val="accent1">
                <a:lumMod val="20000"/>
                <a:lumOff val="80000"/>
              </a:schemeClr>
            </a:solidFill>
          </p:spPr>
          <p:txBody>
            <a:bodyPr wrap="square" lIns="91440" tIns="45720" rIns="91440" bIns="45720" anchor="t">
              <a:spAutoFit/>
            </a:bodyPr>
            <a:lstStyle/>
            <a:p>
              <a:pPr algn="l"/>
              <a:r>
                <a:rPr sz="1600" b="1" i="0">
                  <a:solidFill>
                    <a:schemeClr val="tx2">
                      <a:lumMod val="49000"/>
                    </a:schemeClr>
                  </a:solidFill>
                  <a:latin typeface="Calibri"/>
                </a:rPr>
                <a:t>Applied to: Pain </a:t>
              </a:r>
              <a:r>
                <a:rPr lang="af-ZA" sz="1600" b="1">
                  <a:solidFill>
                    <a:schemeClr val="tx2">
                      <a:lumMod val="49000"/>
                    </a:schemeClr>
                  </a:solidFill>
                  <a:latin typeface="Calibri"/>
                </a:rPr>
                <a:t>management</a:t>
              </a:r>
              <a:r>
                <a:rPr sz="1600" b="1" i="0">
                  <a:solidFill>
                    <a:schemeClr val="tx2">
                      <a:lumMod val="49000"/>
                    </a:schemeClr>
                  </a:solidFill>
                  <a:latin typeface="Calibri"/>
                </a:rPr>
                <a:t> disparities in LEP vs. English-proficient </a:t>
              </a:r>
              <a:r>
                <a:rPr lang="af-ZA" sz="1600" b="1">
                  <a:solidFill>
                    <a:schemeClr val="tx2">
                      <a:lumMod val="49000"/>
                    </a:schemeClr>
                  </a:solidFill>
                  <a:latin typeface="Calibri"/>
                </a:rPr>
                <a:t>patients</a:t>
              </a:r>
              <a:endParaRPr lang="zh-TW" altLang="en-US" sz="1600" b="1" i="0">
                <a:solidFill>
                  <a:schemeClr val="tx2">
                    <a:lumMod val="49000"/>
                  </a:schemeClr>
                </a:solidFill>
                <a:latin typeface="Calibri"/>
                <a:ea typeface="新細明體"/>
                <a:cs typeface="Calibri"/>
              </a:endParaRPr>
            </a:p>
          </p:txBody>
        </p:sp>
      </p:grpSp>
      <p:sp>
        <p:nvSpPr>
          <p:cNvPr id="8" name="Rectangle 7"/>
          <p:cNvSpPr/>
          <p:nvPr/>
        </p:nvSpPr>
        <p:spPr>
          <a:xfrm>
            <a:off x="777240" y="3434043"/>
            <a:ext cx="3566160" cy="868680"/>
          </a:xfrm>
          <a:prstGeom prst="rect">
            <a:avLst/>
          </a:prstGeom>
          <a:solidFill>
            <a:srgbClr val="F4F7FB"/>
          </a:solidFill>
          <a:ln w="9525">
            <a:solidFill>
              <a:srgbClr val="CCD9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34219" y="3656617"/>
            <a:ext cx="528821" cy="430887"/>
          </a:xfrm>
          <a:prstGeom prst="rect">
            <a:avLst/>
          </a:prstGeom>
          <a:noFill/>
        </p:spPr>
        <p:txBody>
          <a:bodyPr wrap="square" lIns="91440" tIns="45720" rIns="91440" bIns="45720" anchor="t">
            <a:spAutoFit/>
          </a:bodyPr>
          <a:lstStyle/>
          <a:p>
            <a:pPr algn="ctr"/>
            <a:r>
              <a:rPr sz="2200" b="1" i="0">
                <a:solidFill>
                  <a:schemeClr val="tx2">
                    <a:lumMod val="76000"/>
                  </a:schemeClr>
                </a:solidFill>
                <a:latin typeface="Calibri"/>
                <a:ea typeface="Calibri"/>
                <a:cs typeface="Calibri"/>
              </a:rPr>
              <a:t>①</a:t>
            </a:r>
            <a:endParaRPr lang="zh-TW" altLang="en-US" sz="2200" b="1" i="0">
              <a:solidFill>
                <a:schemeClr val="tx2">
                  <a:lumMod val="76000"/>
                </a:schemeClr>
              </a:solidFill>
              <a:latin typeface="Calibri"/>
              <a:ea typeface="新細明體"/>
              <a:cs typeface="Calibri"/>
            </a:endParaRPr>
          </a:p>
        </p:txBody>
      </p:sp>
      <p:sp>
        <p:nvSpPr>
          <p:cNvPr id="10" name="TextBox 9"/>
          <p:cNvSpPr txBox="1"/>
          <p:nvPr/>
        </p:nvSpPr>
        <p:spPr>
          <a:xfrm>
            <a:off x="1463040" y="3681988"/>
            <a:ext cx="2743200" cy="369332"/>
          </a:xfrm>
          <a:prstGeom prst="rect">
            <a:avLst/>
          </a:prstGeom>
          <a:noFill/>
        </p:spPr>
        <p:txBody>
          <a:bodyPr wrap="square" lIns="91440" tIns="45720" rIns="91440" bIns="45720" anchor="t">
            <a:spAutoFit/>
          </a:bodyPr>
          <a:lstStyle/>
          <a:p>
            <a:r>
              <a:rPr b="1" i="0">
                <a:solidFill>
                  <a:srgbClr val="1A2B47"/>
                </a:solidFill>
                <a:latin typeface="Calibri"/>
              </a:rPr>
              <a:t>HMM</a:t>
            </a:r>
            <a:r>
              <a:rPr lang="zh-TW" b="1">
                <a:solidFill>
                  <a:srgbClr val="1A2B47"/>
                </a:solidFill>
                <a:latin typeface="Calibri"/>
                <a:ea typeface="新細明體"/>
              </a:rPr>
              <a:t> </a:t>
            </a:r>
            <a:r>
              <a:rPr lang="en-US" altLang="zh-TW" b="1">
                <a:solidFill>
                  <a:srgbClr val="1A2B47"/>
                </a:solidFill>
                <a:latin typeface="Calibri"/>
                <a:ea typeface="新細明體"/>
              </a:rPr>
              <a:t>Structure</a:t>
            </a:r>
            <a:endParaRPr lang="zh-TW" altLang="en-US" b="1" i="0">
              <a:solidFill>
                <a:srgbClr val="1A2B47"/>
              </a:solidFill>
              <a:latin typeface="Calibri"/>
              <a:ea typeface="新細明體"/>
              <a:cs typeface="Calibri"/>
            </a:endParaRPr>
          </a:p>
        </p:txBody>
      </p:sp>
      <p:sp>
        <p:nvSpPr>
          <p:cNvPr id="11" name="Rectangle 10"/>
          <p:cNvSpPr/>
          <p:nvPr/>
        </p:nvSpPr>
        <p:spPr>
          <a:xfrm>
            <a:off x="4617720" y="3434043"/>
            <a:ext cx="3566160" cy="868680"/>
          </a:xfrm>
          <a:prstGeom prst="rect">
            <a:avLst/>
          </a:prstGeom>
          <a:solidFill>
            <a:srgbClr val="F4F7FB"/>
          </a:solidFill>
          <a:ln w="9525">
            <a:solidFill>
              <a:srgbClr val="CCD9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754880" y="3650011"/>
            <a:ext cx="548640" cy="430887"/>
          </a:xfrm>
          <a:prstGeom prst="rect">
            <a:avLst/>
          </a:prstGeom>
          <a:noFill/>
        </p:spPr>
        <p:txBody>
          <a:bodyPr wrap="square" lIns="91440" tIns="45720" rIns="91440" bIns="45720" anchor="t">
            <a:spAutoFit/>
          </a:bodyPr>
          <a:lstStyle/>
          <a:p>
            <a:pPr algn="ctr"/>
            <a:r>
              <a:rPr sz="2200" b="1" i="0">
                <a:solidFill>
                  <a:schemeClr val="tx2">
                    <a:lumMod val="76000"/>
                  </a:schemeClr>
                </a:solidFill>
                <a:latin typeface="Calibri"/>
                <a:ea typeface="Calibri"/>
                <a:cs typeface="Calibri"/>
              </a:rPr>
              <a:t>②</a:t>
            </a:r>
            <a:endParaRPr lang="zh-TW" altLang="en-US" sz="2200" b="1" i="0">
              <a:solidFill>
                <a:schemeClr val="tx2">
                  <a:lumMod val="76000"/>
                </a:schemeClr>
              </a:solidFill>
              <a:latin typeface="Calibri"/>
              <a:ea typeface="新細明體"/>
              <a:cs typeface="Calibri"/>
            </a:endParaRPr>
          </a:p>
        </p:txBody>
      </p:sp>
      <p:sp>
        <p:nvSpPr>
          <p:cNvPr id="13" name="TextBox 12"/>
          <p:cNvSpPr txBox="1"/>
          <p:nvPr/>
        </p:nvSpPr>
        <p:spPr>
          <a:xfrm>
            <a:off x="5303520" y="3681988"/>
            <a:ext cx="2743200" cy="369332"/>
          </a:xfrm>
          <a:prstGeom prst="rect">
            <a:avLst/>
          </a:prstGeom>
          <a:noFill/>
        </p:spPr>
        <p:txBody>
          <a:bodyPr wrap="square" lIns="91440" tIns="45720" rIns="91440" bIns="45720" anchor="t">
            <a:spAutoFit/>
          </a:bodyPr>
          <a:lstStyle/>
          <a:p>
            <a:r>
              <a:rPr lang="af-ZA" b="1">
                <a:solidFill>
                  <a:srgbClr val="1A2B47"/>
                </a:solidFill>
                <a:latin typeface="Calibri"/>
              </a:rPr>
              <a:t>Viterbi Algorithm</a:t>
            </a:r>
            <a:endParaRPr lang="zh-TW" altLang="en-US"/>
          </a:p>
        </p:txBody>
      </p:sp>
      <p:sp>
        <p:nvSpPr>
          <p:cNvPr id="14" name="Rectangle 13"/>
          <p:cNvSpPr/>
          <p:nvPr/>
        </p:nvSpPr>
        <p:spPr>
          <a:xfrm>
            <a:off x="8458200" y="3434043"/>
            <a:ext cx="3566160" cy="868680"/>
          </a:xfrm>
          <a:prstGeom prst="rect">
            <a:avLst/>
          </a:prstGeom>
          <a:solidFill>
            <a:srgbClr val="F4F7FB"/>
          </a:solidFill>
          <a:ln w="9525">
            <a:solidFill>
              <a:srgbClr val="CCD9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595360" y="3650010"/>
            <a:ext cx="548640" cy="430887"/>
          </a:xfrm>
          <a:prstGeom prst="rect">
            <a:avLst/>
          </a:prstGeom>
          <a:noFill/>
        </p:spPr>
        <p:txBody>
          <a:bodyPr wrap="square" lIns="91440" tIns="45720" rIns="91440" bIns="45720" anchor="t">
            <a:spAutoFit/>
          </a:bodyPr>
          <a:lstStyle/>
          <a:p>
            <a:pPr algn="ctr"/>
            <a:r>
              <a:rPr sz="2200" b="1" i="0">
                <a:solidFill>
                  <a:schemeClr val="tx2">
                    <a:lumMod val="76000"/>
                  </a:schemeClr>
                </a:solidFill>
                <a:latin typeface="Calibri"/>
                <a:ea typeface="Calibri"/>
                <a:cs typeface="Calibri"/>
              </a:rPr>
              <a:t>③</a:t>
            </a:r>
            <a:endParaRPr lang="zh-TW" altLang="en-US" sz="2200" b="1" i="0">
              <a:solidFill>
                <a:schemeClr val="tx2">
                  <a:lumMod val="76000"/>
                </a:schemeClr>
              </a:solidFill>
              <a:latin typeface="Calibri"/>
              <a:ea typeface="新細明體"/>
              <a:cs typeface="Calibri"/>
            </a:endParaRPr>
          </a:p>
        </p:txBody>
      </p:sp>
      <p:sp>
        <p:nvSpPr>
          <p:cNvPr id="16" name="TextBox 15"/>
          <p:cNvSpPr txBox="1"/>
          <p:nvPr/>
        </p:nvSpPr>
        <p:spPr>
          <a:xfrm>
            <a:off x="9144000" y="3543242"/>
            <a:ext cx="2743200" cy="646331"/>
          </a:xfrm>
          <a:prstGeom prst="rect">
            <a:avLst/>
          </a:prstGeom>
          <a:noFill/>
        </p:spPr>
        <p:txBody>
          <a:bodyPr wrap="square" lIns="91440" tIns="45720" rIns="91440" bIns="45720" anchor="t">
            <a:spAutoFit/>
          </a:bodyPr>
          <a:lstStyle/>
          <a:p>
            <a:r>
              <a:rPr b="1" i="0">
                <a:solidFill>
                  <a:srgbClr val="1A2B47"/>
                </a:solidFill>
                <a:latin typeface="Calibri"/>
              </a:rPr>
              <a:t>How does </a:t>
            </a:r>
            <a:r>
              <a:rPr lang="af-ZA" b="1">
                <a:solidFill>
                  <a:srgbClr val="1A2B47"/>
                </a:solidFill>
                <a:latin typeface="Calibri"/>
              </a:rPr>
              <a:t>HMM</a:t>
            </a:r>
            <a:r>
              <a:rPr lang="af-ZA" altLang="zh-TW" b="1">
                <a:solidFill>
                  <a:srgbClr val="1A2B47"/>
                </a:solidFill>
                <a:latin typeface="Calibri"/>
                <a:ea typeface="新細明體"/>
              </a:rPr>
              <a:t> </a:t>
            </a:r>
            <a:r>
              <a:rPr lang="af-ZA" b="1">
                <a:solidFill>
                  <a:srgbClr val="1A2B47"/>
                </a:solidFill>
                <a:latin typeface="Calibri"/>
              </a:rPr>
              <a:t>answer</a:t>
            </a:r>
            <a:r>
              <a:rPr b="1" i="0">
                <a:solidFill>
                  <a:srgbClr val="1A2B47"/>
                </a:solidFill>
                <a:latin typeface="Calibri"/>
              </a:rPr>
              <a:t> </a:t>
            </a:r>
            <a:r>
              <a:rPr lang="af-ZA" b="1">
                <a:solidFill>
                  <a:srgbClr val="1A2B47"/>
                </a:solidFill>
                <a:latin typeface="Calibri"/>
              </a:rPr>
              <a:t>the</a:t>
            </a:r>
            <a:r>
              <a:rPr b="1" i="0">
                <a:solidFill>
                  <a:srgbClr val="1A2B47"/>
                </a:solidFill>
                <a:latin typeface="Calibri"/>
              </a:rPr>
              <a:t> question</a:t>
            </a:r>
            <a:endParaRPr lang="zh-TW" altLang="en-US" b="1" i="0">
              <a:solidFill>
                <a:srgbClr val="1A2B47"/>
              </a:solidFill>
              <a:latin typeface="Calibri"/>
              <a:cs typeface="Calibri"/>
            </a:endParaRPr>
          </a:p>
        </p:txBody>
      </p:sp>
      <p:grpSp>
        <p:nvGrpSpPr>
          <p:cNvPr id="2" name="群組 1">
            <a:extLst>
              <a:ext uri="{FF2B5EF4-FFF2-40B4-BE49-F238E27FC236}">
                <a16:creationId xmlns:a16="http://schemas.microsoft.com/office/drawing/2014/main" id="{21BA732A-6A85-C5D0-1CD6-905B9E95C82B}"/>
              </a:ext>
            </a:extLst>
          </p:cNvPr>
          <p:cNvGrpSpPr/>
          <p:nvPr/>
        </p:nvGrpSpPr>
        <p:grpSpPr>
          <a:xfrm>
            <a:off x="516319" y="6096580"/>
            <a:ext cx="11686032" cy="476607"/>
            <a:chOff x="502920" y="6309360"/>
            <a:chExt cx="11686032" cy="476607"/>
          </a:xfrm>
        </p:grpSpPr>
        <p:sp>
          <p:nvSpPr>
            <p:cNvPr id="17" name="Rectangle 16"/>
            <p:cNvSpPr/>
            <p:nvPr/>
          </p:nvSpPr>
          <p:spPr>
            <a:xfrm>
              <a:off x="502920" y="6309360"/>
              <a:ext cx="11686032" cy="457200"/>
            </a:xfrm>
            <a:prstGeom prst="rect">
              <a:avLst/>
            </a:prstGeom>
            <a:solidFill>
              <a:srgbClr val="F4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85800" y="6355080"/>
              <a:ext cx="10972800" cy="430887"/>
            </a:xfrm>
            <a:prstGeom prst="rect">
              <a:avLst/>
            </a:prstGeom>
            <a:noFill/>
          </p:spPr>
          <p:txBody>
            <a:bodyPr wrap="square" lIns="91440" tIns="45720" rIns="91440" bIns="45720" anchor="t">
              <a:spAutoFit/>
            </a:bodyPr>
            <a:lstStyle/>
            <a:p>
              <a:pPr algn="l"/>
              <a:r>
                <a:rPr lang="af-ZA" sz="2200">
                  <a:solidFill>
                    <a:schemeClr val="tx2">
                      <a:lumMod val="76000"/>
                    </a:schemeClr>
                  </a:solidFill>
                  <a:latin typeface="Calibri"/>
                </a:rPr>
                <a:t>Bob</a:t>
              </a:r>
              <a:r>
                <a:rPr sz="2200" b="0" i="0">
                  <a:solidFill>
                    <a:schemeClr val="tx2">
                      <a:lumMod val="76000"/>
                    </a:schemeClr>
                  </a:solidFill>
                  <a:latin typeface="Calibri"/>
                </a:rPr>
                <a:t> Ho · DATASCI 224</a:t>
              </a:r>
              <a:endParaRPr lang="zh-TW" altLang="en-US" sz="2200" b="0" i="0">
                <a:solidFill>
                  <a:schemeClr val="tx2">
                    <a:lumMod val="76000"/>
                  </a:schemeClr>
                </a:solidFill>
                <a:latin typeface="Calibri"/>
                <a:ea typeface="新細明體"/>
                <a:cs typeface="Calibri"/>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48E87D-EFA7-C275-891B-BB48BAFDE8BF}"/>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93158D62-DAFC-52D7-81DC-892AC11BFA81}"/>
              </a:ext>
            </a:extLst>
          </p:cNvPr>
          <p:cNvSpPr txBox="1"/>
          <p:nvPr/>
        </p:nvSpPr>
        <p:spPr>
          <a:xfrm>
            <a:off x="502920" y="228600"/>
            <a:ext cx="11155680" cy="615553"/>
          </a:xfrm>
          <a:prstGeom prst="rect">
            <a:avLst/>
          </a:prstGeom>
          <a:noFill/>
        </p:spPr>
        <p:txBody>
          <a:bodyPr wrap="square" lIns="91440" tIns="45720" rIns="91440" bIns="45720" anchor="t">
            <a:spAutoFit/>
          </a:bodyPr>
          <a:lstStyle/>
          <a:p>
            <a:pPr algn="l"/>
            <a:r>
              <a:rPr sz="3400" b="1" i="0">
                <a:solidFill>
                  <a:srgbClr val="1A2B47"/>
                </a:solidFill>
                <a:latin typeface="Calibri"/>
                <a:ea typeface="Calibri"/>
                <a:cs typeface="Calibri"/>
              </a:rPr>
              <a:t>HMM Model Structure</a:t>
            </a:r>
            <a:endParaRPr lang="zh-TW" altLang="en-US" sz="3400" b="1" i="0">
              <a:solidFill>
                <a:srgbClr val="1A2B47"/>
              </a:solidFill>
              <a:latin typeface="Calibri"/>
              <a:cs typeface="Calibri"/>
            </a:endParaRPr>
          </a:p>
        </p:txBody>
      </p:sp>
      <p:sp>
        <p:nvSpPr>
          <p:cNvPr id="4" name="TextBox 3">
            <a:extLst>
              <a:ext uri="{FF2B5EF4-FFF2-40B4-BE49-F238E27FC236}">
                <a16:creationId xmlns:a16="http://schemas.microsoft.com/office/drawing/2014/main" id="{7F8A60A4-7B05-474F-7714-6F4C055FD979}"/>
              </a:ext>
            </a:extLst>
          </p:cNvPr>
          <p:cNvSpPr txBox="1"/>
          <p:nvPr/>
        </p:nvSpPr>
        <p:spPr>
          <a:xfrm>
            <a:off x="502920" y="841248"/>
            <a:ext cx="11155680" cy="323165"/>
          </a:xfrm>
          <a:prstGeom prst="rect">
            <a:avLst/>
          </a:prstGeom>
          <a:noFill/>
        </p:spPr>
        <p:txBody>
          <a:bodyPr wrap="square" lIns="91440" tIns="45720" rIns="91440" bIns="45720" anchor="t">
            <a:spAutoFit/>
          </a:bodyPr>
          <a:lstStyle/>
          <a:p>
            <a:pPr algn="l"/>
            <a:r>
              <a:rPr sz="1500" b="0" i="1">
                <a:solidFill>
                  <a:srgbClr val="7A96B2"/>
                </a:solidFill>
                <a:latin typeface="Calibri"/>
              </a:rPr>
              <a:t>A sequence of hidden states generates the observations we </a:t>
            </a:r>
            <a:r>
              <a:rPr lang="af-ZA" sz="1500" i="1">
                <a:solidFill>
                  <a:srgbClr val="7A96B2"/>
                </a:solidFill>
                <a:latin typeface="Calibri"/>
              </a:rPr>
              <a:t>measured</a:t>
            </a:r>
            <a:endParaRPr sz="1500" b="0" i="1">
              <a:solidFill>
                <a:srgbClr val="7A96B2"/>
              </a:solidFill>
              <a:latin typeface="Calibri"/>
            </a:endParaRPr>
          </a:p>
        </p:txBody>
      </p:sp>
      <p:cxnSp>
        <p:nvCxnSpPr>
          <p:cNvPr id="5" name="Connector 4">
            <a:extLst>
              <a:ext uri="{FF2B5EF4-FFF2-40B4-BE49-F238E27FC236}">
                <a16:creationId xmlns:a16="http://schemas.microsoft.com/office/drawing/2014/main" id="{E5A8E21F-11E2-3756-9466-6DA34CD249F9}"/>
              </a:ext>
            </a:extLst>
          </p:cNvPr>
          <p:cNvCxnSpPr/>
          <p:nvPr/>
        </p:nvCxnSpPr>
        <p:spPr>
          <a:xfrm>
            <a:off x="502920" y="1234440"/>
            <a:ext cx="11183112" cy="0"/>
          </a:xfrm>
          <a:prstGeom prst="line">
            <a:avLst/>
          </a:prstGeom>
          <a:ln w="9525">
            <a:solidFill>
              <a:srgbClr val="CCD9E8"/>
            </a:solidFill>
          </a:ln>
        </p:spPr>
        <p:style>
          <a:lnRef idx="2">
            <a:schemeClr val="accent1"/>
          </a:lnRef>
          <a:fillRef idx="0">
            <a:schemeClr val="accent1"/>
          </a:fillRef>
          <a:effectRef idx="1">
            <a:schemeClr val="accent1"/>
          </a:effectRef>
          <a:fontRef idx="minor">
            <a:schemeClr val="tx1"/>
          </a:fontRef>
        </p:style>
      </p:cxnSp>
      <p:grpSp>
        <p:nvGrpSpPr>
          <p:cNvPr id="2" name="群組 1">
            <a:extLst>
              <a:ext uri="{FF2B5EF4-FFF2-40B4-BE49-F238E27FC236}">
                <a16:creationId xmlns:a16="http://schemas.microsoft.com/office/drawing/2014/main" id="{8F307153-5A17-A992-6AEA-6C60C9712756}"/>
              </a:ext>
            </a:extLst>
          </p:cNvPr>
          <p:cNvGrpSpPr/>
          <p:nvPr/>
        </p:nvGrpSpPr>
        <p:grpSpPr>
          <a:xfrm>
            <a:off x="411480" y="1371600"/>
            <a:ext cx="3703320" cy="1558860"/>
            <a:chOff x="411480" y="1371600"/>
            <a:chExt cx="3703320" cy="1450679"/>
          </a:xfrm>
        </p:grpSpPr>
        <p:sp>
          <p:nvSpPr>
            <p:cNvPr id="6" name="Rectangle 5">
              <a:extLst>
                <a:ext uri="{FF2B5EF4-FFF2-40B4-BE49-F238E27FC236}">
                  <a16:creationId xmlns:a16="http://schemas.microsoft.com/office/drawing/2014/main" id="{DDF39ACB-31B4-984D-1F99-B826BDF5A4AF}"/>
                </a:ext>
              </a:extLst>
            </p:cNvPr>
            <p:cNvSpPr/>
            <p:nvPr/>
          </p:nvSpPr>
          <p:spPr>
            <a:xfrm>
              <a:off x="411480" y="1371600"/>
              <a:ext cx="3703320" cy="1450679"/>
            </a:xfrm>
            <a:prstGeom prst="rect">
              <a:avLst/>
            </a:prstGeom>
            <a:solidFill>
              <a:srgbClr val="F4F7FB"/>
            </a:solidFill>
            <a:ln w="9525">
              <a:solidFill>
                <a:srgbClr val="CCD9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a:extLst>
                <a:ext uri="{FF2B5EF4-FFF2-40B4-BE49-F238E27FC236}">
                  <a16:creationId xmlns:a16="http://schemas.microsoft.com/office/drawing/2014/main" id="{4643846F-E8A0-A71D-FE8C-48CD3D950968}"/>
                </a:ext>
              </a:extLst>
            </p:cNvPr>
            <p:cNvSpPr txBox="1"/>
            <p:nvPr/>
          </p:nvSpPr>
          <p:spPr>
            <a:xfrm>
              <a:off x="526596" y="1548945"/>
              <a:ext cx="585216" cy="400110"/>
            </a:xfrm>
            <a:prstGeom prst="rect">
              <a:avLst/>
            </a:prstGeom>
            <a:noFill/>
          </p:spPr>
          <p:txBody>
            <a:bodyPr wrap="square" lIns="91440" tIns="45720" rIns="91440" bIns="45720" anchor="ctr">
              <a:spAutoFit/>
            </a:bodyPr>
            <a:lstStyle/>
            <a:p>
              <a:pPr algn="ctr"/>
              <a:r>
                <a:rPr sz="2000" b="1" i="0">
                  <a:solidFill>
                    <a:srgbClr val="000000"/>
                  </a:solidFill>
                  <a:latin typeface="Calibri"/>
                  <a:ea typeface="Calibri"/>
                  <a:cs typeface="Calibri"/>
                </a:rPr>
                <a:t>①</a:t>
              </a:r>
              <a:endParaRPr lang="zh-TW" altLang="en-US" sz="2000" b="1" i="0">
                <a:solidFill>
                  <a:srgbClr val="000000"/>
                </a:solidFill>
                <a:latin typeface="Calibri"/>
                <a:ea typeface="新細明體"/>
                <a:cs typeface="Calibri"/>
              </a:endParaRPr>
            </a:p>
          </p:txBody>
        </p:sp>
        <p:sp>
          <p:nvSpPr>
            <p:cNvPr id="9" name="TextBox 8">
              <a:extLst>
                <a:ext uri="{FF2B5EF4-FFF2-40B4-BE49-F238E27FC236}">
                  <a16:creationId xmlns:a16="http://schemas.microsoft.com/office/drawing/2014/main" id="{7A3FA060-7BA9-938D-6350-ECE50E9ED731}"/>
                </a:ext>
              </a:extLst>
            </p:cNvPr>
            <p:cNvSpPr txBox="1"/>
            <p:nvPr/>
          </p:nvSpPr>
          <p:spPr>
            <a:xfrm>
              <a:off x="1117642" y="1545642"/>
              <a:ext cx="2743200" cy="400110"/>
            </a:xfrm>
            <a:prstGeom prst="rect">
              <a:avLst/>
            </a:prstGeom>
            <a:noFill/>
          </p:spPr>
          <p:txBody>
            <a:bodyPr wrap="square" lIns="91440" tIns="45720" rIns="91440" bIns="45720" anchor="t">
              <a:spAutoFit/>
            </a:bodyPr>
            <a:lstStyle/>
            <a:p>
              <a:pPr algn="l"/>
              <a:r>
                <a:rPr sz="2000" b="1" i="0">
                  <a:solidFill>
                    <a:srgbClr val="000000"/>
                  </a:solidFill>
                  <a:latin typeface="Calibri"/>
                  <a:ea typeface="Calibri"/>
                  <a:cs typeface="Calibri"/>
                </a:rPr>
                <a:t>Hidden states  </a:t>
              </a:r>
              <a:r>
                <a:rPr lang="af-ZA" sz="2000" b="1">
                  <a:solidFill>
                    <a:srgbClr val="000000"/>
                  </a:solidFill>
                  <a:latin typeface="Calibri"/>
                  <a:ea typeface="Calibri"/>
                  <a:cs typeface="Calibri"/>
                </a:rPr>
                <a:t>S</a:t>
              </a:r>
              <a:r>
                <a:rPr sz="2000" b="1" i="0">
                  <a:solidFill>
                    <a:srgbClr val="000000"/>
                  </a:solidFill>
                  <a:latin typeface="Calibri"/>
                  <a:ea typeface="Calibri"/>
                  <a:cs typeface="Calibri"/>
                </a:rPr>
                <a:t>ₜ</a:t>
              </a:r>
              <a:endParaRPr lang="zh-TW" altLang="en-US" sz="2000" b="1" i="0">
                <a:solidFill>
                  <a:srgbClr val="000000"/>
                </a:solidFill>
                <a:latin typeface="Calibri"/>
                <a:ea typeface="Calibri"/>
                <a:cs typeface="Calibri"/>
              </a:endParaRPr>
            </a:p>
          </p:txBody>
        </p:sp>
        <p:sp>
          <p:nvSpPr>
            <p:cNvPr id="10" name="TextBox 9">
              <a:extLst>
                <a:ext uri="{FF2B5EF4-FFF2-40B4-BE49-F238E27FC236}">
                  <a16:creationId xmlns:a16="http://schemas.microsoft.com/office/drawing/2014/main" id="{26D6A374-CFA2-FB76-7824-20D084232202}"/>
                </a:ext>
              </a:extLst>
            </p:cNvPr>
            <p:cNvSpPr txBox="1"/>
            <p:nvPr/>
          </p:nvSpPr>
          <p:spPr>
            <a:xfrm>
              <a:off x="576072" y="1976465"/>
              <a:ext cx="3383280" cy="830997"/>
            </a:xfrm>
            <a:prstGeom prst="rect">
              <a:avLst/>
            </a:prstGeom>
            <a:noFill/>
          </p:spPr>
          <p:txBody>
            <a:bodyPr wrap="square" lIns="91440" tIns="45720" rIns="91440" bIns="45720" anchor="t">
              <a:spAutoFit/>
            </a:bodyPr>
            <a:lstStyle/>
            <a:p>
              <a:r>
                <a:rPr sz="1600" b="0" i="0">
                  <a:solidFill>
                    <a:schemeClr val="tx2">
                      <a:lumMod val="76000"/>
                    </a:schemeClr>
                  </a:solidFill>
                  <a:latin typeface="Calibri"/>
                </a:rPr>
                <a:t>The true clinical situation at each </a:t>
              </a:r>
              <a:r>
                <a:rPr lang="af-ZA" sz="1600">
                  <a:solidFill>
                    <a:schemeClr val="tx2">
                      <a:lumMod val="76000"/>
                    </a:schemeClr>
                  </a:solidFill>
                  <a:latin typeface="Calibri"/>
                </a:rPr>
                <a:t>observation</a:t>
              </a:r>
              <a:r>
                <a:rPr lang="en-US" altLang="zh-TW" sz="1600">
                  <a:solidFill>
                    <a:schemeClr val="tx2">
                      <a:lumMod val="76000"/>
                    </a:schemeClr>
                  </a:solidFill>
                  <a:latin typeface="Calibri"/>
                  <a:ea typeface="Calibri"/>
                </a:rPr>
                <a:t>:</a:t>
              </a:r>
              <a:r>
                <a:rPr lang="zh-TW" sz="1600">
                  <a:solidFill>
                    <a:schemeClr val="tx2">
                      <a:lumMod val="76000"/>
                    </a:schemeClr>
                  </a:solidFill>
                  <a:latin typeface="Calibri"/>
                  <a:ea typeface="新細明體"/>
                </a:rPr>
                <a:t> </a:t>
              </a:r>
              <a:r>
                <a:rPr sz="1600" b="0" i="0">
                  <a:solidFill>
                    <a:schemeClr val="tx2">
                      <a:lumMod val="76000"/>
                    </a:schemeClr>
                  </a:solidFill>
                  <a:latin typeface="Calibri"/>
                </a:rPr>
                <a:t>Undertreated,</a:t>
              </a:r>
              <a:r>
                <a:rPr lang="zh-TW" sz="1600">
                  <a:solidFill>
                    <a:schemeClr val="tx2">
                      <a:lumMod val="76000"/>
                    </a:schemeClr>
                  </a:solidFill>
                  <a:latin typeface="Calibri"/>
                  <a:ea typeface="新細明體"/>
                </a:rPr>
                <a:t> </a:t>
              </a:r>
              <a:r>
                <a:rPr sz="1600" b="0" i="0">
                  <a:solidFill>
                    <a:schemeClr val="tx2">
                      <a:lumMod val="76000"/>
                    </a:schemeClr>
                  </a:solidFill>
                  <a:latin typeface="Calibri"/>
                </a:rPr>
                <a:t>Managed. </a:t>
              </a:r>
              <a:r>
                <a:rPr sz="1600" b="1" i="0">
                  <a:solidFill>
                    <a:schemeClr val="tx2">
                      <a:lumMod val="76000"/>
                    </a:schemeClr>
                  </a:solidFill>
                  <a:latin typeface="Calibri"/>
                </a:rPr>
                <a:t>Never observed directly.</a:t>
              </a:r>
              <a:endParaRPr lang="zh-TW" altLang="en-US" sz="1600" b="1">
                <a:solidFill>
                  <a:schemeClr val="tx2">
                    <a:lumMod val="76000"/>
                  </a:schemeClr>
                </a:solidFill>
                <a:ea typeface="新細明體"/>
                <a:cs typeface="Calibri"/>
              </a:endParaRPr>
            </a:p>
          </p:txBody>
        </p:sp>
      </p:grpSp>
      <p:grpSp>
        <p:nvGrpSpPr>
          <p:cNvPr id="7" name="群組 6">
            <a:extLst>
              <a:ext uri="{FF2B5EF4-FFF2-40B4-BE49-F238E27FC236}">
                <a16:creationId xmlns:a16="http://schemas.microsoft.com/office/drawing/2014/main" id="{3B7FE689-2E25-7D53-44D7-B3E4F6E8AC05}"/>
              </a:ext>
            </a:extLst>
          </p:cNvPr>
          <p:cNvGrpSpPr/>
          <p:nvPr/>
        </p:nvGrpSpPr>
        <p:grpSpPr>
          <a:xfrm>
            <a:off x="4343400" y="1371600"/>
            <a:ext cx="3703320" cy="1558860"/>
            <a:chOff x="4343400" y="1371600"/>
            <a:chExt cx="3703320" cy="1450679"/>
          </a:xfrm>
        </p:grpSpPr>
        <p:sp>
          <p:nvSpPr>
            <p:cNvPr id="11" name="Rectangle 10">
              <a:extLst>
                <a:ext uri="{FF2B5EF4-FFF2-40B4-BE49-F238E27FC236}">
                  <a16:creationId xmlns:a16="http://schemas.microsoft.com/office/drawing/2014/main" id="{D6F814FA-5F3B-A807-8CD4-0CE227389766}"/>
                </a:ext>
              </a:extLst>
            </p:cNvPr>
            <p:cNvSpPr/>
            <p:nvPr/>
          </p:nvSpPr>
          <p:spPr>
            <a:xfrm>
              <a:off x="4343400" y="1371600"/>
              <a:ext cx="3703320" cy="1450679"/>
            </a:xfrm>
            <a:prstGeom prst="rect">
              <a:avLst/>
            </a:prstGeom>
            <a:solidFill>
              <a:srgbClr val="F4F7FB"/>
            </a:solidFill>
            <a:ln w="9525">
              <a:solidFill>
                <a:srgbClr val="CCD9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a:extLst>
                <a:ext uri="{FF2B5EF4-FFF2-40B4-BE49-F238E27FC236}">
                  <a16:creationId xmlns:a16="http://schemas.microsoft.com/office/drawing/2014/main" id="{64AD7040-5CB3-503C-889B-2ADA385443FE}"/>
                </a:ext>
              </a:extLst>
            </p:cNvPr>
            <p:cNvSpPr txBox="1"/>
            <p:nvPr/>
          </p:nvSpPr>
          <p:spPr>
            <a:xfrm>
              <a:off x="4430002" y="1548945"/>
              <a:ext cx="585216" cy="400110"/>
            </a:xfrm>
            <a:prstGeom prst="rect">
              <a:avLst/>
            </a:prstGeom>
            <a:noFill/>
          </p:spPr>
          <p:txBody>
            <a:bodyPr wrap="square" lIns="91440" tIns="45720" rIns="91440" bIns="45720" anchor="ctr">
              <a:spAutoFit/>
            </a:bodyPr>
            <a:lstStyle/>
            <a:p>
              <a:pPr algn="ctr"/>
              <a:r>
                <a:rPr sz="2000" b="1" i="0">
                  <a:solidFill>
                    <a:srgbClr val="000000"/>
                  </a:solidFill>
                  <a:latin typeface="Calibri"/>
                  <a:ea typeface="Calibri"/>
                  <a:cs typeface="Calibri"/>
                </a:rPr>
                <a:t>②</a:t>
              </a:r>
              <a:endParaRPr lang="zh-TW" altLang="en-US" sz="2000" b="1" i="0">
                <a:solidFill>
                  <a:srgbClr val="000000"/>
                </a:solidFill>
                <a:latin typeface="Calibri"/>
                <a:ea typeface="新細明體"/>
                <a:cs typeface="Calibri"/>
              </a:endParaRPr>
            </a:p>
          </p:txBody>
        </p:sp>
        <p:sp>
          <p:nvSpPr>
            <p:cNvPr id="14" name="TextBox 13">
              <a:extLst>
                <a:ext uri="{FF2B5EF4-FFF2-40B4-BE49-F238E27FC236}">
                  <a16:creationId xmlns:a16="http://schemas.microsoft.com/office/drawing/2014/main" id="{4EAD332D-62F0-E38F-5846-7F1F74F7CBDE}"/>
                </a:ext>
              </a:extLst>
            </p:cNvPr>
            <p:cNvSpPr txBox="1"/>
            <p:nvPr/>
          </p:nvSpPr>
          <p:spPr>
            <a:xfrm>
              <a:off x="5018607" y="1553382"/>
              <a:ext cx="2743200" cy="400110"/>
            </a:xfrm>
            <a:prstGeom prst="rect">
              <a:avLst/>
            </a:prstGeom>
            <a:noFill/>
          </p:spPr>
          <p:txBody>
            <a:bodyPr wrap="square" lIns="91440" tIns="45720" rIns="91440" bIns="45720" anchor="t">
              <a:spAutoFit/>
            </a:bodyPr>
            <a:lstStyle/>
            <a:p>
              <a:pPr algn="l"/>
              <a:r>
                <a:rPr sz="2000" b="1" i="0">
                  <a:solidFill>
                    <a:srgbClr val="000000"/>
                  </a:solidFill>
                  <a:latin typeface="Calibri"/>
                  <a:ea typeface="Calibri"/>
                  <a:cs typeface="Calibri"/>
                </a:rPr>
                <a:t>Observations  </a:t>
              </a:r>
              <a:r>
                <a:rPr lang="af-ZA" sz="2000" b="1">
                  <a:solidFill>
                    <a:srgbClr val="000000"/>
                  </a:solidFill>
                  <a:latin typeface="Calibri"/>
                  <a:ea typeface="Calibri"/>
                  <a:cs typeface="Calibri"/>
                </a:rPr>
                <a:t>X</a:t>
              </a:r>
              <a:r>
                <a:rPr sz="2000" b="1" i="0">
                  <a:solidFill>
                    <a:srgbClr val="000000"/>
                  </a:solidFill>
                  <a:latin typeface="Calibri"/>
                  <a:ea typeface="Calibri"/>
                  <a:cs typeface="Calibri"/>
                </a:rPr>
                <a:t>ₜ</a:t>
              </a:r>
              <a:endParaRPr lang="zh-TW" altLang="en-US" sz="2000" b="1" i="0">
                <a:solidFill>
                  <a:srgbClr val="000000"/>
                </a:solidFill>
                <a:latin typeface="Calibri"/>
                <a:ea typeface="Calibri"/>
                <a:cs typeface="Calibri"/>
              </a:endParaRPr>
            </a:p>
          </p:txBody>
        </p:sp>
        <p:sp>
          <p:nvSpPr>
            <p:cNvPr id="15" name="TextBox 14">
              <a:extLst>
                <a:ext uri="{FF2B5EF4-FFF2-40B4-BE49-F238E27FC236}">
                  <a16:creationId xmlns:a16="http://schemas.microsoft.com/office/drawing/2014/main" id="{DD8F7F4B-0689-D32B-3DF8-B19FB74A9F80}"/>
                </a:ext>
              </a:extLst>
            </p:cNvPr>
            <p:cNvSpPr txBox="1"/>
            <p:nvPr/>
          </p:nvSpPr>
          <p:spPr>
            <a:xfrm>
              <a:off x="4507992" y="1976465"/>
              <a:ext cx="3383280" cy="773328"/>
            </a:xfrm>
            <a:prstGeom prst="rect">
              <a:avLst/>
            </a:prstGeom>
            <a:noFill/>
          </p:spPr>
          <p:txBody>
            <a:bodyPr wrap="square" lIns="91440" tIns="45720" rIns="91440" bIns="45720" anchor="t">
              <a:spAutoFit/>
            </a:bodyPr>
            <a:lstStyle/>
            <a:p>
              <a:r>
                <a:rPr sz="1600" b="0" i="0">
                  <a:solidFill>
                    <a:schemeClr val="tx2">
                      <a:lumMod val="76000"/>
                    </a:schemeClr>
                  </a:solidFill>
                  <a:latin typeface="Calibri"/>
                </a:rPr>
                <a:t>What we actually </a:t>
              </a:r>
              <a:r>
                <a:rPr lang="af-ZA" sz="1600">
                  <a:solidFill>
                    <a:schemeClr val="tx2">
                      <a:lumMod val="76000"/>
                    </a:schemeClr>
                  </a:solidFill>
                  <a:latin typeface="Calibri"/>
                </a:rPr>
                <a:t>recorded and observed</a:t>
              </a:r>
              <a:r>
                <a:rPr sz="1600" b="0" i="0">
                  <a:solidFill>
                    <a:schemeClr val="tx2">
                      <a:lumMod val="76000"/>
                    </a:schemeClr>
                  </a:solidFill>
                  <a:latin typeface="Calibri"/>
                </a:rPr>
                <a:t>: pain score and </a:t>
              </a:r>
              <a:r>
                <a:rPr lang="af-ZA" sz="1600">
                  <a:solidFill>
                    <a:schemeClr val="tx2">
                      <a:lumMod val="76000"/>
                    </a:schemeClr>
                  </a:solidFill>
                  <a:latin typeface="Calibri"/>
                </a:rPr>
                <a:t>opioids</a:t>
              </a:r>
              <a:r>
                <a:rPr lang="af-ZA" altLang="zh-TW" sz="1600">
                  <a:solidFill>
                    <a:schemeClr val="tx2">
                      <a:lumMod val="76000"/>
                    </a:schemeClr>
                  </a:solidFill>
                  <a:latin typeface="Calibri"/>
                  <a:ea typeface="新細明體"/>
                </a:rPr>
                <a:t> </a:t>
              </a:r>
              <a:r>
                <a:rPr sz="1600" b="0" i="0">
                  <a:solidFill>
                    <a:schemeClr val="tx2">
                      <a:lumMod val="76000"/>
                    </a:schemeClr>
                  </a:solidFill>
                  <a:latin typeface="Calibri"/>
                </a:rPr>
                <a:t>administered</a:t>
              </a:r>
              <a:r>
                <a:rPr lang="zh-TW" sz="1600">
                  <a:solidFill>
                    <a:schemeClr val="tx2">
                      <a:lumMod val="76000"/>
                    </a:schemeClr>
                  </a:solidFill>
                  <a:latin typeface="Calibri"/>
                  <a:ea typeface="新細明體"/>
                </a:rPr>
                <a:t> </a:t>
              </a:r>
              <a:r>
                <a:rPr lang="en-US" altLang="zh-TW" sz="1600">
                  <a:solidFill>
                    <a:schemeClr val="tx2">
                      <a:lumMod val="76000"/>
                    </a:schemeClr>
                  </a:solidFill>
                  <a:latin typeface="Calibri"/>
                  <a:ea typeface="新細明體"/>
                </a:rPr>
                <a:t>(MME)</a:t>
              </a:r>
              <a:r>
                <a:rPr sz="1600" b="0" i="0">
                  <a:solidFill>
                    <a:schemeClr val="tx2">
                      <a:lumMod val="76000"/>
                    </a:schemeClr>
                  </a:solidFill>
                  <a:latin typeface="Calibri"/>
                </a:rPr>
                <a:t>.</a:t>
              </a:r>
              <a:endParaRPr lang="zh-TW" sz="1600" b="0" i="0">
                <a:solidFill>
                  <a:schemeClr val="tx2">
                    <a:lumMod val="76000"/>
                  </a:schemeClr>
                </a:solidFill>
                <a:latin typeface="Calibri"/>
                <a:ea typeface="新細明體"/>
                <a:cs typeface="Calibri"/>
              </a:endParaRPr>
            </a:p>
          </p:txBody>
        </p:sp>
      </p:grpSp>
      <p:grpSp>
        <p:nvGrpSpPr>
          <p:cNvPr id="12" name="群組 11">
            <a:extLst>
              <a:ext uri="{FF2B5EF4-FFF2-40B4-BE49-F238E27FC236}">
                <a16:creationId xmlns:a16="http://schemas.microsoft.com/office/drawing/2014/main" id="{1E3B6360-8351-3FFA-65FB-4DFF888A44A4}"/>
              </a:ext>
            </a:extLst>
          </p:cNvPr>
          <p:cNvGrpSpPr/>
          <p:nvPr/>
        </p:nvGrpSpPr>
        <p:grpSpPr>
          <a:xfrm>
            <a:off x="8275319" y="1371600"/>
            <a:ext cx="3703320" cy="1558860"/>
            <a:chOff x="8275319" y="1371600"/>
            <a:chExt cx="3703320" cy="1450679"/>
          </a:xfrm>
        </p:grpSpPr>
        <p:sp>
          <p:nvSpPr>
            <p:cNvPr id="16" name="Rectangle 15">
              <a:extLst>
                <a:ext uri="{FF2B5EF4-FFF2-40B4-BE49-F238E27FC236}">
                  <a16:creationId xmlns:a16="http://schemas.microsoft.com/office/drawing/2014/main" id="{231ACE4E-9A16-4D95-1102-68BD6A165F53}"/>
                </a:ext>
              </a:extLst>
            </p:cNvPr>
            <p:cNvSpPr/>
            <p:nvPr/>
          </p:nvSpPr>
          <p:spPr>
            <a:xfrm>
              <a:off x="8275319" y="1371600"/>
              <a:ext cx="3703320" cy="1450679"/>
            </a:xfrm>
            <a:prstGeom prst="rect">
              <a:avLst/>
            </a:prstGeom>
            <a:solidFill>
              <a:srgbClr val="F4F7FB"/>
            </a:solidFill>
            <a:ln w="9525">
              <a:solidFill>
                <a:srgbClr val="CCD9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a:extLst>
                <a:ext uri="{FF2B5EF4-FFF2-40B4-BE49-F238E27FC236}">
                  <a16:creationId xmlns:a16="http://schemas.microsoft.com/office/drawing/2014/main" id="{BBEDA631-81F5-ABDC-6172-4983B6E3253C}"/>
                </a:ext>
              </a:extLst>
            </p:cNvPr>
            <p:cNvSpPr txBox="1"/>
            <p:nvPr/>
          </p:nvSpPr>
          <p:spPr>
            <a:xfrm>
              <a:off x="8361922" y="1556685"/>
              <a:ext cx="585216" cy="400110"/>
            </a:xfrm>
            <a:prstGeom prst="rect">
              <a:avLst/>
            </a:prstGeom>
            <a:noFill/>
          </p:spPr>
          <p:txBody>
            <a:bodyPr wrap="square" lIns="91440" tIns="45720" rIns="91440" bIns="45720" anchor="ctr">
              <a:spAutoFit/>
            </a:bodyPr>
            <a:lstStyle/>
            <a:p>
              <a:pPr algn="ctr"/>
              <a:r>
                <a:rPr sz="2000" b="1" i="0">
                  <a:solidFill>
                    <a:srgbClr val="000000"/>
                  </a:solidFill>
                  <a:latin typeface="Calibri"/>
                  <a:ea typeface="Calibri"/>
                  <a:cs typeface="Calibri"/>
                </a:rPr>
                <a:t>③</a:t>
              </a:r>
              <a:endParaRPr lang="zh-TW" altLang="en-US" sz="2000" b="1" i="0">
                <a:solidFill>
                  <a:srgbClr val="000000"/>
                </a:solidFill>
                <a:latin typeface="Calibri"/>
                <a:ea typeface="新細明體"/>
                <a:cs typeface="Calibri"/>
              </a:endParaRPr>
            </a:p>
          </p:txBody>
        </p:sp>
        <p:sp>
          <p:nvSpPr>
            <p:cNvPr id="19" name="TextBox 18">
              <a:extLst>
                <a:ext uri="{FF2B5EF4-FFF2-40B4-BE49-F238E27FC236}">
                  <a16:creationId xmlns:a16="http://schemas.microsoft.com/office/drawing/2014/main" id="{C45C885A-64CA-1341-1575-DD1FC1085380}"/>
                </a:ext>
              </a:extLst>
            </p:cNvPr>
            <p:cNvSpPr txBox="1"/>
            <p:nvPr/>
          </p:nvSpPr>
          <p:spPr>
            <a:xfrm>
              <a:off x="8942787" y="1545642"/>
              <a:ext cx="2743200" cy="400110"/>
            </a:xfrm>
            <a:prstGeom prst="rect">
              <a:avLst/>
            </a:prstGeom>
            <a:noFill/>
          </p:spPr>
          <p:txBody>
            <a:bodyPr wrap="square" lIns="91440" tIns="45720" rIns="91440" bIns="45720" anchor="t">
              <a:spAutoFit/>
            </a:bodyPr>
            <a:lstStyle/>
            <a:p>
              <a:pPr algn="l"/>
              <a:r>
                <a:rPr sz="2000" b="1" i="0">
                  <a:solidFill>
                    <a:srgbClr val="000000"/>
                  </a:solidFill>
                  <a:latin typeface="Calibri"/>
                  <a:ea typeface="Calibri"/>
                  <a:cs typeface="Calibri"/>
                </a:rPr>
                <a:t>Markov property</a:t>
              </a:r>
              <a:endParaRPr lang="zh-TW" altLang="en-US" sz="2000" b="1" i="0">
                <a:solidFill>
                  <a:srgbClr val="000000"/>
                </a:solidFill>
                <a:latin typeface="Calibri"/>
                <a:ea typeface="Calibri"/>
                <a:cs typeface="Calibri"/>
              </a:endParaRPr>
            </a:p>
          </p:txBody>
        </p:sp>
        <p:sp>
          <p:nvSpPr>
            <p:cNvPr id="20" name="TextBox 19">
              <a:extLst>
                <a:ext uri="{FF2B5EF4-FFF2-40B4-BE49-F238E27FC236}">
                  <a16:creationId xmlns:a16="http://schemas.microsoft.com/office/drawing/2014/main" id="{518D4D4C-638C-1803-3CBB-8C1971AEE447}"/>
                </a:ext>
              </a:extLst>
            </p:cNvPr>
            <p:cNvSpPr txBox="1"/>
            <p:nvPr/>
          </p:nvSpPr>
          <p:spPr>
            <a:xfrm>
              <a:off x="8439911" y="1976465"/>
              <a:ext cx="3383280" cy="830997"/>
            </a:xfrm>
            <a:prstGeom prst="rect">
              <a:avLst/>
            </a:prstGeom>
            <a:noFill/>
          </p:spPr>
          <p:txBody>
            <a:bodyPr wrap="square" lIns="91440" tIns="45720" rIns="91440" bIns="45720" anchor="t">
              <a:spAutoFit/>
            </a:bodyPr>
            <a:lstStyle/>
            <a:p>
              <a:pPr algn="l"/>
              <a:r>
                <a:rPr sz="1600" b="0" i="0">
                  <a:solidFill>
                    <a:schemeClr val="tx2">
                      <a:lumMod val="76000"/>
                    </a:schemeClr>
                  </a:solidFill>
                  <a:latin typeface="Calibri"/>
                </a:rPr>
                <a:t>The state at time </a:t>
              </a:r>
              <a:r>
                <a:rPr sz="1600" b="0" i="1">
                  <a:solidFill>
                    <a:schemeClr val="tx2">
                      <a:lumMod val="76000"/>
                    </a:schemeClr>
                  </a:solidFill>
                  <a:latin typeface="Calibri"/>
                </a:rPr>
                <a:t>t</a:t>
              </a:r>
              <a:r>
                <a:rPr sz="1600" b="0" i="0">
                  <a:solidFill>
                    <a:schemeClr val="tx2">
                      <a:lumMod val="76000"/>
                    </a:schemeClr>
                  </a:solidFill>
                  <a:latin typeface="Calibri"/>
                </a:rPr>
                <a:t> depends only on the state at </a:t>
              </a:r>
              <a:r>
                <a:rPr sz="1600" b="0" i="1">
                  <a:solidFill>
                    <a:schemeClr val="tx2">
                      <a:lumMod val="76000"/>
                    </a:schemeClr>
                  </a:solidFill>
                  <a:latin typeface="Calibri"/>
                </a:rPr>
                <a:t>t−1</a:t>
              </a:r>
              <a:r>
                <a:rPr sz="1600" b="0" i="0">
                  <a:solidFill>
                    <a:schemeClr val="tx2">
                      <a:lumMod val="76000"/>
                    </a:schemeClr>
                  </a:solidFill>
                  <a:latin typeface="Calibri"/>
                </a:rPr>
                <a:t>. History beyond the last step is irrelevant.</a:t>
              </a:r>
              <a:endParaRPr lang="zh-TW" altLang="en-US" sz="1600" b="0" i="0">
                <a:solidFill>
                  <a:schemeClr val="tx2">
                    <a:lumMod val="76000"/>
                  </a:schemeClr>
                </a:solidFill>
                <a:latin typeface="Calibri"/>
                <a:ea typeface="新細明體"/>
                <a:cs typeface="Calibri"/>
              </a:endParaRPr>
            </a:p>
          </p:txBody>
        </p:sp>
      </p:grpSp>
      <p:grpSp>
        <p:nvGrpSpPr>
          <p:cNvPr id="36" name="群組 35">
            <a:extLst>
              <a:ext uri="{FF2B5EF4-FFF2-40B4-BE49-F238E27FC236}">
                <a16:creationId xmlns:a16="http://schemas.microsoft.com/office/drawing/2014/main" id="{0615519B-506F-94E9-11E7-40CDC7C7D60B}"/>
              </a:ext>
            </a:extLst>
          </p:cNvPr>
          <p:cNvGrpSpPr/>
          <p:nvPr/>
        </p:nvGrpSpPr>
        <p:grpSpPr>
          <a:xfrm>
            <a:off x="5603804" y="5066357"/>
            <a:ext cx="915116" cy="915140"/>
            <a:chOff x="1501025" y="4207455"/>
            <a:chExt cx="806771" cy="833214"/>
          </a:xfrm>
        </p:grpSpPr>
        <p:sp>
          <p:nvSpPr>
            <p:cNvPr id="37" name="Oval 6">
              <a:extLst>
                <a:ext uri="{FF2B5EF4-FFF2-40B4-BE49-F238E27FC236}">
                  <a16:creationId xmlns:a16="http://schemas.microsoft.com/office/drawing/2014/main" id="{70D6E549-BE83-5EC1-2811-AA95138DA7B6}"/>
                </a:ext>
              </a:extLst>
            </p:cNvPr>
            <p:cNvSpPr/>
            <p:nvPr/>
          </p:nvSpPr>
          <p:spPr>
            <a:xfrm>
              <a:off x="1501025" y="4207455"/>
              <a:ext cx="806771" cy="833214"/>
            </a:xfrm>
            <a:prstGeom prst="ellipse">
              <a:avLst/>
            </a:prstGeom>
            <a:solidFill>
              <a:schemeClr val="accent3">
                <a:lumMod val="40000"/>
                <a:lumOff val="60000"/>
              </a:schemeClr>
            </a:solidFill>
            <a:ln w="28575">
              <a:solidFill>
                <a:schemeClr val="accent3">
                  <a:lumMod val="7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7">
              <a:extLst>
                <a:ext uri="{FF2B5EF4-FFF2-40B4-BE49-F238E27FC236}">
                  <a16:creationId xmlns:a16="http://schemas.microsoft.com/office/drawing/2014/main" id="{70575858-7596-B0B8-856A-8B7F9C78F9EC}"/>
                </a:ext>
              </a:extLst>
            </p:cNvPr>
            <p:cNvSpPr txBox="1"/>
            <p:nvPr/>
          </p:nvSpPr>
          <p:spPr>
            <a:xfrm>
              <a:off x="1622069" y="4416444"/>
              <a:ext cx="585216" cy="420335"/>
            </a:xfrm>
            <a:prstGeom prst="rect">
              <a:avLst/>
            </a:prstGeom>
            <a:solidFill>
              <a:schemeClr val="accent3">
                <a:lumMod val="40000"/>
                <a:lumOff val="60000"/>
              </a:schemeClr>
            </a:solidFill>
            <a:ln>
              <a:noFill/>
            </a:ln>
          </p:spPr>
          <p:txBody>
            <a:bodyPr wrap="square" lIns="91440" tIns="45720" rIns="91440" bIns="45720" anchor="ctr">
              <a:spAutoFit/>
            </a:bodyPr>
            <a:lstStyle/>
            <a:p>
              <a:pPr algn="ctr"/>
              <a:r>
                <a:rPr lang="en-US" altLang="zh-TW" sz="2400" b="1">
                  <a:ea typeface="+mn-lt"/>
                  <a:cs typeface="+mn-lt"/>
                </a:rPr>
                <a:t>s</a:t>
              </a:r>
              <a:r>
                <a:rPr lang="en-US" altLang="zh-TW" sz="2400" b="1" baseline="-25000">
                  <a:ea typeface="+mn-lt"/>
                  <a:cs typeface="+mn-lt"/>
                </a:rPr>
                <a:t>2</a:t>
              </a:r>
              <a:endParaRPr lang="zh-TW" sz="2400" b="1" baseline="-25000">
                <a:ea typeface="新細明體"/>
                <a:cs typeface="Calibri"/>
              </a:endParaRPr>
            </a:p>
          </p:txBody>
        </p:sp>
      </p:grpSp>
      <p:grpSp>
        <p:nvGrpSpPr>
          <p:cNvPr id="39" name="群組 38">
            <a:extLst>
              <a:ext uri="{FF2B5EF4-FFF2-40B4-BE49-F238E27FC236}">
                <a16:creationId xmlns:a16="http://schemas.microsoft.com/office/drawing/2014/main" id="{80B332E4-5BEE-0024-D2E4-B13AA330444E}"/>
              </a:ext>
            </a:extLst>
          </p:cNvPr>
          <p:cNvGrpSpPr/>
          <p:nvPr/>
        </p:nvGrpSpPr>
        <p:grpSpPr>
          <a:xfrm>
            <a:off x="9534629" y="5066358"/>
            <a:ext cx="915116" cy="915140"/>
            <a:chOff x="1501025" y="4207455"/>
            <a:chExt cx="806771" cy="833214"/>
          </a:xfrm>
        </p:grpSpPr>
        <p:sp>
          <p:nvSpPr>
            <p:cNvPr id="40" name="Oval 6">
              <a:extLst>
                <a:ext uri="{FF2B5EF4-FFF2-40B4-BE49-F238E27FC236}">
                  <a16:creationId xmlns:a16="http://schemas.microsoft.com/office/drawing/2014/main" id="{D639FA2E-C26E-95F3-5425-B717C478BDD3}"/>
                </a:ext>
              </a:extLst>
            </p:cNvPr>
            <p:cNvSpPr/>
            <p:nvPr/>
          </p:nvSpPr>
          <p:spPr>
            <a:xfrm>
              <a:off x="1501025" y="4207455"/>
              <a:ext cx="806771" cy="833214"/>
            </a:xfrm>
            <a:prstGeom prst="ellipse">
              <a:avLst/>
            </a:prstGeom>
            <a:solidFill>
              <a:schemeClr val="accent6">
                <a:lumMod val="20000"/>
                <a:lumOff val="80000"/>
              </a:schemeClr>
            </a:solidFill>
            <a:ln w="28575">
              <a:solidFill>
                <a:schemeClr val="accent6">
                  <a:lumMod val="7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7">
              <a:extLst>
                <a:ext uri="{FF2B5EF4-FFF2-40B4-BE49-F238E27FC236}">
                  <a16:creationId xmlns:a16="http://schemas.microsoft.com/office/drawing/2014/main" id="{EB3459A2-17B0-B2CE-B4AB-0D92FDCC5C4C}"/>
                </a:ext>
              </a:extLst>
            </p:cNvPr>
            <p:cNvSpPr txBox="1"/>
            <p:nvPr/>
          </p:nvSpPr>
          <p:spPr>
            <a:xfrm>
              <a:off x="1611805" y="4413894"/>
              <a:ext cx="585216" cy="420335"/>
            </a:xfrm>
            <a:prstGeom prst="rect">
              <a:avLst/>
            </a:prstGeom>
            <a:solidFill>
              <a:schemeClr val="accent6">
                <a:lumMod val="20000"/>
                <a:lumOff val="80000"/>
              </a:schemeClr>
            </a:solidFill>
            <a:ln>
              <a:noFill/>
            </a:ln>
          </p:spPr>
          <p:txBody>
            <a:bodyPr wrap="square" lIns="91440" tIns="45720" rIns="91440" bIns="45720" anchor="ctr">
              <a:spAutoFit/>
            </a:bodyPr>
            <a:lstStyle/>
            <a:p>
              <a:pPr algn="ctr"/>
              <a:r>
                <a:rPr lang="en-US" altLang="zh-TW" sz="2400" b="1">
                  <a:ea typeface="+mn-lt"/>
                  <a:cs typeface="+mn-lt"/>
                </a:rPr>
                <a:t>s</a:t>
              </a:r>
              <a:r>
                <a:rPr lang="en-US" altLang="zh-TW" sz="2400" b="1" baseline="-25000">
                  <a:ea typeface="+mn-lt"/>
                  <a:cs typeface="+mn-lt"/>
                </a:rPr>
                <a:t>3</a:t>
              </a:r>
              <a:endParaRPr lang="zh-TW" sz="2400" b="1" baseline="-25000">
                <a:ea typeface="新細明體"/>
                <a:cs typeface="Calibri"/>
              </a:endParaRPr>
            </a:p>
          </p:txBody>
        </p:sp>
      </p:grpSp>
      <p:grpSp>
        <p:nvGrpSpPr>
          <p:cNvPr id="59" name="群組 58">
            <a:extLst>
              <a:ext uri="{FF2B5EF4-FFF2-40B4-BE49-F238E27FC236}">
                <a16:creationId xmlns:a16="http://schemas.microsoft.com/office/drawing/2014/main" id="{2AFC0BC5-11A6-1DB6-76BD-F8BC3874E011}"/>
              </a:ext>
            </a:extLst>
          </p:cNvPr>
          <p:cNvGrpSpPr/>
          <p:nvPr/>
        </p:nvGrpSpPr>
        <p:grpSpPr>
          <a:xfrm>
            <a:off x="9483263" y="2953616"/>
            <a:ext cx="1078385" cy="1521501"/>
            <a:chOff x="9483263" y="2953616"/>
            <a:chExt cx="1078385" cy="1521501"/>
          </a:xfrm>
        </p:grpSpPr>
        <p:grpSp>
          <p:nvGrpSpPr>
            <p:cNvPr id="27" name="群組 26">
              <a:extLst>
                <a:ext uri="{FF2B5EF4-FFF2-40B4-BE49-F238E27FC236}">
                  <a16:creationId xmlns:a16="http://schemas.microsoft.com/office/drawing/2014/main" id="{EF8EEBD1-401C-5B63-8B44-0CB82C3AB5B3}"/>
                </a:ext>
              </a:extLst>
            </p:cNvPr>
            <p:cNvGrpSpPr/>
            <p:nvPr/>
          </p:nvGrpSpPr>
          <p:grpSpPr>
            <a:xfrm>
              <a:off x="9534583" y="3559977"/>
              <a:ext cx="915116" cy="915140"/>
              <a:chOff x="1501025" y="4207455"/>
              <a:chExt cx="806771" cy="833214"/>
            </a:xfrm>
          </p:grpSpPr>
          <p:sp>
            <p:nvSpPr>
              <p:cNvPr id="28" name="Oval 6">
                <a:extLst>
                  <a:ext uri="{FF2B5EF4-FFF2-40B4-BE49-F238E27FC236}">
                    <a16:creationId xmlns:a16="http://schemas.microsoft.com/office/drawing/2014/main" id="{DC73C8C2-6685-4BF8-F110-EDC0DCC98EFB}"/>
                  </a:ext>
                </a:extLst>
              </p:cNvPr>
              <p:cNvSpPr/>
              <p:nvPr/>
            </p:nvSpPr>
            <p:spPr>
              <a:xfrm>
                <a:off x="1501025" y="4207455"/>
                <a:ext cx="806771" cy="833214"/>
              </a:xfrm>
              <a:prstGeom prst="ellipse">
                <a:avLst/>
              </a:prstGeom>
              <a:noFill/>
              <a:ln w="28575">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7">
                <a:extLst>
                  <a:ext uri="{FF2B5EF4-FFF2-40B4-BE49-F238E27FC236}">
                    <a16:creationId xmlns:a16="http://schemas.microsoft.com/office/drawing/2014/main" id="{5AE0C1A1-1C58-5B4C-6AE4-6CCC9E2E0C1C}"/>
                  </a:ext>
                </a:extLst>
              </p:cNvPr>
              <p:cNvSpPr txBox="1"/>
              <p:nvPr/>
            </p:nvSpPr>
            <p:spPr>
              <a:xfrm>
                <a:off x="1611805" y="4413894"/>
                <a:ext cx="585216" cy="420335"/>
              </a:xfrm>
              <a:prstGeom prst="rect">
                <a:avLst/>
              </a:prstGeom>
              <a:noFill/>
            </p:spPr>
            <p:txBody>
              <a:bodyPr wrap="square" lIns="91440" tIns="45720" rIns="91440" bIns="45720" anchor="ctr">
                <a:spAutoFit/>
              </a:bodyPr>
              <a:lstStyle/>
              <a:p>
                <a:pPr algn="ctr"/>
                <a:r>
                  <a:rPr lang="en-US" altLang="zh-TW" sz="2400" b="1">
                    <a:latin typeface="Calibri"/>
                    <a:ea typeface="Calibri"/>
                    <a:cs typeface="Calibri"/>
                  </a:rPr>
                  <a:t>x</a:t>
                </a:r>
                <a:r>
                  <a:rPr lang="en-US" altLang="zh-TW" sz="2400" b="1" baseline="-25000">
                    <a:latin typeface="Calibri"/>
                    <a:ea typeface="Calibri"/>
                    <a:cs typeface="Calibri"/>
                  </a:rPr>
                  <a:t>3</a:t>
                </a:r>
                <a:endParaRPr lang="zh-TW" sz="2400" b="1" i="0" baseline="-25000">
                  <a:latin typeface="Calibri"/>
                  <a:ea typeface="新細明體"/>
                  <a:cs typeface="Calibri"/>
                </a:endParaRPr>
              </a:p>
            </p:txBody>
          </p:sp>
        </p:grpSp>
        <p:sp>
          <p:nvSpPr>
            <p:cNvPr id="43" name="文字方塊 42">
              <a:extLst>
                <a:ext uri="{FF2B5EF4-FFF2-40B4-BE49-F238E27FC236}">
                  <a16:creationId xmlns:a16="http://schemas.microsoft.com/office/drawing/2014/main" id="{F7CF7A7B-FAFF-A1C8-7099-9AEE81B2F7E3}"/>
                </a:ext>
              </a:extLst>
            </p:cNvPr>
            <p:cNvSpPr txBox="1"/>
            <p:nvPr/>
          </p:nvSpPr>
          <p:spPr>
            <a:xfrm>
              <a:off x="9483263" y="2953616"/>
              <a:ext cx="1078385" cy="584775"/>
            </a:xfrm>
            <a:prstGeom prst="rect">
              <a:avLst/>
            </a:prstGeom>
            <a:noFill/>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lang="zh-TW" altLang="en-US" sz="1600">
                  <a:solidFill>
                    <a:schemeClr val="tx1">
                      <a:lumMod val="76000"/>
                      <a:lumOff val="24000"/>
                    </a:schemeClr>
                  </a:solidFill>
                  <a:ea typeface="新細明體"/>
                  <a:cs typeface="Calibri"/>
                </a:rPr>
                <a:t>Pain = 9</a:t>
              </a:r>
              <a:endParaRPr lang="zh-TW" sz="1600">
                <a:solidFill>
                  <a:schemeClr val="tx1">
                    <a:lumMod val="76000"/>
                    <a:lumOff val="24000"/>
                  </a:schemeClr>
                </a:solidFill>
                <a:ea typeface="新細明體"/>
                <a:cs typeface="Calibri"/>
              </a:endParaRPr>
            </a:p>
            <a:p>
              <a:pPr algn="ctr"/>
              <a:r>
                <a:rPr lang="zh-TW" altLang="en-US" sz="1600">
                  <a:solidFill>
                    <a:schemeClr val="tx1">
                      <a:lumMod val="76000"/>
                      <a:lumOff val="24000"/>
                    </a:schemeClr>
                  </a:solidFill>
                  <a:ea typeface="新細明體"/>
                  <a:cs typeface="Calibri"/>
                </a:rPr>
                <a:t>MME = 4</a:t>
              </a:r>
            </a:p>
          </p:txBody>
        </p:sp>
      </p:grpSp>
      <p:grpSp>
        <p:nvGrpSpPr>
          <p:cNvPr id="58" name="群組 57">
            <a:extLst>
              <a:ext uri="{FF2B5EF4-FFF2-40B4-BE49-F238E27FC236}">
                <a16:creationId xmlns:a16="http://schemas.microsoft.com/office/drawing/2014/main" id="{E598C890-3C43-120C-6507-21045A1A3BDC}"/>
              </a:ext>
            </a:extLst>
          </p:cNvPr>
          <p:cNvGrpSpPr/>
          <p:nvPr/>
        </p:nvGrpSpPr>
        <p:grpSpPr>
          <a:xfrm>
            <a:off x="5552450" y="2973437"/>
            <a:ext cx="1078385" cy="1501679"/>
            <a:chOff x="5552450" y="2973437"/>
            <a:chExt cx="1078385" cy="1501679"/>
          </a:xfrm>
        </p:grpSpPr>
        <p:grpSp>
          <p:nvGrpSpPr>
            <p:cNvPr id="24" name="群組 23">
              <a:extLst>
                <a:ext uri="{FF2B5EF4-FFF2-40B4-BE49-F238E27FC236}">
                  <a16:creationId xmlns:a16="http://schemas.microsoft.com/office/drawing/2014/main" id="{34BDF7E9-3FDA-EC4E-2586-F7064094FE68}"/>
                </a:ext>
              </a:extLst>
            </p:cNvPr>
            <p:cNvGrpSpPr/>
            <p:nvPr/>
          </p:nvGrpSpPr>
          <p:grpSpPr>
            <a:xfrm>
              <a:off x="5603758" y="3559976"/>
              <a:ext cx="915116" cy="915140"/>
              <a:chOff x="1501025" y="4207455"/>
              <a:chExt cx="806771" cy="833214"/>
            </a:xfrm>
          </p:grpSpPr>
          <p:sp>
            <p:nvSpPr>
              <p:cNvPr id="25" name="Oval 6">
                <a:extLst>
                  <a:ext uri="{FF2B5EF4-FFF2-40B4-BE49-F238E27FC236}">
                    <a16:creationId xmlns:a16="http://schemas.microsoft.com/office/drawing/2014/main" id="{3CD8F20F-3196-D1EF-9A5E-5067A5E1065D}"/>
                  </a:ext>
                </a:extLst>
              </p:cNvPr>
              <p:cNvSpPr/>
              <p:nvPr/>
            </p:nvSpPr>
            <p:spPr>
              <a:xfrm>
                <a:off x="1501025" y="4207455"/>
                <a:ext cx="806771" cy="833214"/>
              </a:xfrm>
              <a:prstGeom prst="ellipse">
                <a:avLst/>
              </a:prstGeom>
              <a:noFill/>
              <a:ln w="28575">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7">
                <a:extLst>
                  <a:ext uri="{FF2B5EF4-FFF2-40B4-BE49-F238E27FC236}">
                    <a16:creationId xmlns:a16="http://schemas.microsoft.com/office/drawing/2014/main" id="{A42EBE92-1FC9-AF1E-C79D-0777E88CB0CD}"/>
                  </a:ext>
                </a:extLst>
              </p:cNvPr>
              <p:cNvSpPr txBox="1"/>
              <p:nvPr/>
            </p:nvSpPr>
            <p:spPr>
              <a:xfrm>
                <a:off x="1611805" y="4413894"/>
                <a:ext cx="585216" cy="420335"/>
              </a:xfrm>
              <a:prstGeom prst="rect">
                <a:avLst/>
              </a:prstGeom>
              <a:noFill/>
            </p:spPr>
            <p:txBody>
              <a:bodyPr wrap="square" lIns="91440" tIns="45720" rIns="91440" bIns="45720" anchor="ctr">
                <a:spAutoFit/>
              </a:bodyPr>
              <a:lstStyle/>
              <a:p>
                <a:pPr algn="ctr"/>
                <a:r>
                  <a:rPr lang="en-US" altLang="zh-TW" sz="2400" b="1">
                    <a:latin typeface="Calibri"/>
                    <a:ea typeface="Calibri"/>
                    <a:cs typeface="Calibri"/>
                  </a:rPr>
                  <a:t>x</a:t>
                </a:r>
                <a:r>
                  <a:rPr lang="en-US" altLang="zh-TW" sz="2400" b="1" baseline="-25000">
                    <a:latin typeface="Calibri"/>
                    <a:ea typeface="Calibri"/>
                    <a:cs typeface="Calibri"/>
                  </a:rPr>
                  <a:t>2</a:t>
                </a:r>
                <a:endParaRPr lang="zh-TW" sz="2400" b="1" i="0" baseline="-25000">
                  <a:latin typeface="Calibri"/>
                  <a:ea typeface="新細明體"/>
                  <a:cs typeface="Calibri"/>
                </a:endParaRPr>
              </a:p>
            </p:txBody>
          </p:sp>
        </p:grpSp>
        <p:sp>
          <p:nvSpPr>
            <p:cNvPr id="45" name="文字方塊 44">
              <a:extLst>
                <a:ext uri="{FF2B5EF4-FFF2-40B4-BE49-F238E27FC236}">
                  <a16:creationId xmlns:a16="http://schemas.microsoft.com/office/drawing/2014/main" id="{13C4E15B-C229-1001-389F-DA663CD4ACB3}"/>
                </a:ext>
              </a:extLst>
            </p:cNvPr>
            <p:cNvSpPr txBox="1"/>
            <p:nvPr/>
          </p:nvSpPr>
          <p:spPr>
            <a:xfrm>
              <a:off x="5552450" y="2973437"/>
              <a:ext cx="1078385" cy="584775"/>
            </a:xfrm>
            <a:prstGeom prst="rect">
              <a:avLst/>
            </a:prstGeom>
            <a:noFill/>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lang="zh-TW" altLang="en-US" sz="1600">
                  <a:solidFill>
                    <a:schemeClr val="tx1">
                      <a:lumMod val="76000"/>
                      <a:lumOff val="24000"/>
                    </a:schemeClr>
                  </a:solidFill>
                  <a:ea typeface="新細明體"/>
                  <a:cs typeface="Calibri"/>
                </a:rPr>
                <a:t>Pain = 5</a:t>
              </a:r>
              <a:endParaRPr lang="zh-TW" sz="1600">
                <a:solidFill>
                  <a:schemeClr val="tx1">
                    <a:lumMod val="76000"/>
                    <a:lumOff val="24000"/>
                  </a:schemeClr>
                </a:solidFill>
                <a:ea typeface="新細明體"/>
                <a:cs typeface="Calibri"/>
              </a:endParaRPr>
            </a:p>
            <a:p>
              <a:pPr algn="ctr"/>
              <a:r>
                <a:rPr lang="zh-TW" altLang="en-US" sz="1600">
                  <a:solidFill>
                    <a:schemeClr val="tx1">
                      <a:lumMod val="76000"/>
                      <a:lumOff val="24000"/>
                    </a:schemeClr>
                  </a:solidFill>
                  <a:ea typeface="新細明體"/>
                  <a:cs typeface="Calibri"/>
                </a:rPr>
                <a:t>MME = 6</a:t>
              </a:r>
            </a:p>
          </p:txBody>
        </p:sp>
      </p:grpSp>
      <p:sp>
        <p:nvSpPr>
          <p:cNvPr id="47" name="文字方塊 46">
            <a:extLst>
              <a:ext uri="{FF2B5EF4-FFF2-40B4-BE49-F238E27FC236}">
                <a16:creationId xmlns:a16="http://schemas.microsoft.com/office/drawing/2014/main" id="{B22B25CB-3F6D-E160-2940-B0697710F25E}"/>
              </a:ext>
            </a:extLst>
          </p:cNvPr>
          <p:cNvSpPr txBox="1"/>
          <p:nvPr/>
        </p:nvSpPr>
        <p:spPr>
          <a:xfrm>
            <a:off x="9344361" y="5976729"/>
            <a:ext cx="1421917" cy="338554"/>
          </a:xfrm>
          <a:prstGeom prst="rect">
            <a:avLst/>
          </a:prstGeom>
          <a:noFill/>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lang="zh-TW" altLang="en-US" sz="1600">
                <a:solidFill>
                  <a:schemeClr val="accent6">
                    <a:lumMod val="76000"/>
                  </a:schemeClr>
                </a:solidFill>
                <a:ea typeface="新細明體"/>
                <a:cs typeface="Calibri"/>
              </a:rPr>
              <a:t>Undertreated</a:t>
            </a:r>
            <a:endParaRPr lang="zh-TW">
              <a:solidFill>
                <a:schemeClr val="accent6">
                  <a:lumMod val="76000"/>
                </a:schemeClr>
              </a:solidFill>
              <a:ea typeface="新細明體"/>
              <a:cs typeface="Calibri"/>
            </a:endParaRPr>
          </a:p>
        </p:txBody>
      </p:sp>
      <p:sp>
        <p:nvSpPr>
          <p:cNvPr id="48" name="文字方塊 47">
            <a:extLst>
              <a:ext uri="{FF2B5EF4-FFF2-40B4-BE49-F238E27FC236}">
                <a16:creationId xmlns:a16="http://schemas.microsoft.com/office/drawing/2014/main" id="{01616703-BECA-A4B7-CD3D-494932D7CF1C}"/>
              </a:ext>
            </a:extLst>
          </p:cNvPr>
          <p:cNvSpPr txBox="1"/>
          <p:nvPr/>
        </p:nvSpPr>
        <p:spPr>
          <a:xfrm>
            <a:off x="5347495" y="5976730"/>
            <a:ext cx="1421917" cy="338554"/>
          </a:xfrm>
          <a:prstGeom prst="rect">
            <a:avLst/>
          </a:prstGeom>
          <a:noFill/>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lang="zh-TW" altLang="en-US" sz="1600">
                <a:solidFill>
                  <a:schemeClr val="accent3">
                    <a:lumMod val="76000"/>
                  </a:schemeClr>
                </a:solidFill>
                <a:ea typeface="新細明體"/>
                <a:cs typeface="Calibri"/>
              </a:rPr>
              <a:t>Managed</a:t>
            </a:r>
            <a:endParaRPr lang="zh-TW">
              <a:solidFill>
                <a:schemeClr val="accent3">
                  <a:lumMod val="76000"/>
                </a:schemeClr>
              </a:solidFill>
              <a:ea typeface="新細明體"/>
              <a:cs typeface="Calibri"/>
            </a:endParaRPr>
          </a:p>
        </p:txBody>
      </p:sp>
      <p:cxnSp>
        <p:nvCxnSpPr>
          <p:cNvPr id="49" name="直線單箭頭接點 48">
            <a:extLst>
              <a:ext uri="{FF2B5EF4-FFF2-40B4-BE49-F238E27FC236}">
                <a16:creationId xmlns:a16="http://schemas.microsoft.com/office/drawing/2014/main" id="{60E594FA-F985-6D75-C631-B79ACB2C78BF}"/>
              </a:ext>
            </a:extLst>
          </p:cNvPr>
          <p:cNvCxnSpPr/>
          <p:nvPr/>
        </p:nvCxnSpPr>
        <p:spPr>
          <a:xfrm flipV="1">
            <a:off x="2783244" y="5590788"/>
            <a:ext cx="2744372" cy="17177"/>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50" name="直線單箭頭接點 49">
            <a:extLst>
              <a:ext uri="{FF2B5EF4-FFF2-40B4-BE49-F238E27FC236}">
                <a16:creationId xmlns:a16="http://schemas.microsoft.com/office/drawing/2014/main" id="{6AEC267E-C129-2810-8569-AE654AD4C748}"/>
              </a:ext>
            </a:extLst>
          </p:cNvPr>
          <p:cNvCxnSpPr>
            <a:cxnSpLocks/>
          </p:cNvCxnSpPr>
          <p:nvPr/>
        </p:nvCxnSpPr>
        <p:spPr>
          <a:xfrm flipV="1">
            <a:off x="6668046" y="5557753"/>
            <a:ext cx="2744372" cy="17177"/>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grpSp>
        <p:nvGrpSpPr>
          <p:cNvPr id="33" name="群組 32">
            <a:extLst>
              <a:ext uri="{FF2B5EF4-FFF2-40B4-BE49-F238E27FC236}">
                <a16:creationId xmlns:a16="http://schemas.microsoft.com/office/drawing/2014/main" id="{113C9788-CDA8-86F3-B823-DE38ADC13F49}"/>
              </a:ext>
            </a:extLst>
          </p:cNvPr>
          <p:cNvGrpSpPr/>
          <p:nvPr/>
        </p:nvGrpSpPr>
        <p:grpSpPr>
          <a:xfrm>
            <a:off x="1778682" y="5066358"/>
            <a:ext cx="915116" cy="915140"/>
            <a:chOff x="1501025" y="4207455"/>
            <a:chExt cx="806771" cy="833214"/>
          </a:xfrm>
        </p:grpSpPr>
        <p:sp>
          <p:nvSpPr>
            <p:cNvPr id="34" name="Oval 6">
              <a:extLst>
                <a:ext uri="{FF2B5EF4-FFF2-40B4-BE49-F238E27FC236}">
                  <a16:creationId xmlns:a16="http://schemas.microsoft.com/office/drawing/2014/main" id="{521F392D-7DBA-8859-7B3D-29D7209CD1AB}"/>
                </a:ext>
              </a:extLst>
            </p:cNvPr>
            <p:cNvSpPr/>
            <p:nvPr/>
          </p:nvSpPr>
          <p:spPr>
            <a:xfrm>
              <a:off x="1501025" y="4207455"/>
              <a:ext cx="806771" cy="833214"/>
            </a:xfrm>
            <a:prstGeom prst="ellipse">
              <a:avLst/>
            </a:prstGeom>
            <a:solidFill>
              <a:schemeClr val="accent6">
                <a:lumMod val="20000"/>
                <a:lumOff val="80000"/>
              </a:schemeClr>
            </a:solidFill>
            <a:ln w="28575">
              <a:solidFill>
                <a:schemeClr val="accent6">
                  <a:lumMod val="7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7">
              <a:extLst>
                <a:ext uri="{FF2B5EF4-FFF2-40B4-BE49-F238E27FC236}">
                  <a16:creationId xmlns:a16="http://schemas.microsoft.com/office/drawing/2014/main" id="{9A21B090-41E0-CB87-D4EB-229446C586A9}"/>
                </a:ext>
              </a:extLst>
            </p:cNvPr>
            <p:cNvSpPr txBox="1"/>
            <p:nvPr/>
          </p:nvSpPr>
          <p:spPr>
            <a:xfrm>
              <a:off x="1611805" y="4413896"/>
              <a:ext cx="585216" cy="420335"/>
            </a:xfrm>
            <a:prstGeom prst="rect">
              <a:avLst/>
            </a:prstGeom>
            <a:solidFill>
              <a:schemeClr val="accent6">
                <a:lumMod val="20000"/>
                <a:lumOff val="80000"/>
              </a:schemeClr>
            </a:solidFill>
            <a:ln>
              <a:noFill/>
            </a:ln>
          </p:spPr>
          <p:txBody>
            <a:bodyPr wrap="square" lIns="91440" tIns="45720" rIns="91440" bIns="45720" anchor="ctr">
              <a:spAutoFit/>
            </a:bodyPr>
            <a:lstStyle/>
            <a:p>
              <a:pPr algn="ctr"/>
              <a:r>
                <a:rPr lang="en-US" altLang="zh-TW" sz="2400" b="1">
                  <a:latin typeface="Calibri"/>
                  <a:ea typeface="Calibri"/>
                  <a:cs typeface="Calibri"/>
                </a:rPr>
                <a:t>s</a:t>
              </a:r>
              <a:r>
                <a:rPr lang="en-US" altLang="zh-TW" sz="2400" b="1" baseline="-25000">
                  <a:latin typeface="Calibri"/>
                  <a:ea typeface="Calibri"/>
                  <a:cs typeface="Calibri"/>
                </a:rPr>
                <a:t>1</a:t>
              </a:r>
              <a:endParaRPr lang="zh-TW" sz="2400" b="1" i="0" baseline="-25000">
                <a:latin typeface="Calibri"/>
                <a:ea typeface="新細明體"/>
                <a:cs typeface="Calibri"/>
              </a:endParaRPr>
            </a:p>
          </p:txBody>
        </p:sp>
      </p:grpSp>
      <p:grpSp>
        <p:nvGrpSpPr>
          <p:cNvPr id="57" name="群組 56">
            <a:extLst>
              <a:ext uri="{FF2B5EF4-FFF2-40B4-BE49-F238E27FC236}">
                <a16:creationId xmlns:a16="http://schemas.microsoft.com/office/drawing/2014/main" id="{DC793E7B-7177-B3FE-2439-B9852F2E49B0}"/>
              </a:ext>
            </a:extLst>
          </p:cNvPr>
          <p:cNvGrpSpPr/>
          <p:nvPr/>
        </p:nvGrpSpPr>
        <p:grpSpPr>
          <a:xfrm>
            <a:off x="1726886" y="2979603"/>
            <a:ext cx="1078385" cy="1495514"/>
            <a:chOff x="1726886" y="2979603"/>
            <a:chExt cx="1078385" cy="1495514"/>
          </a:xfrm>
        </p:grpSpPr>
        <p:grpSp>
          <p:nvGrpSpPr>
            <p:cNvPr id="23" name="群組 22">
              <a:extLst>
                <a:ext uri="{FF2B5EF4-FFF2-40B4-BE49-F238E27FC236}">
                  <a16:creationId xmlns:a16="http://schemas.microsoft.com/office/drawing/2014/main" id="{A8842339-7519-4250-939C-20C61817AE1C}"/>
                </a:ext>
              </a:extLst>
            </p:cNvPr>
            <p:cNvGrpSpPr/>
            <p:nvPr/>
          </p:nvGrpSpPr>
          <p:grpSpPr>
            <a:xfrm>
              <a:off x="1778494" y="3559977"/>
              <a:ext cx="915116" cy="915140"/>
              <a:chOff x="1501025" y="4207455"/>
              <a:chExt cx="806771" cy="833214"/>
            </a:xfrm>
          </p:grpSpPr>
          <p:sp>
            <p:nvSpPr>
              <p:cNvPr id="21" name="Oval 6">
                <a:extLst>
                  <a:ext uri="{FF2B5EF4-FFF2-40B4-BE49-F238E27FC236}">
                    <a16:creationId xmlns:a16="http://schemas.microsoft.com/office/drawing/2014/main" id="{8D36841A-CD3A-9C2E-8E40-7F165D5319B3}"/>
                  </a:ext>
                </a:extLst>
              </p:cNvPr>
              <p:cNvSpPr/>
              <p:nvPr/>
            </p:nvSpPr>
            <p:spPr>
              <a:xfrm>
                <a:off x="1501025" y="4207455"/>
                <a:ext cx="806771" cy="833214"/>
              </a:xfrm>
              <a:prstGeom prst="ellipse">
                <a:avLst/>
              </a:prstGeom>
              <a:noFill/>
              <a:ln w="28575">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7">
                <a:extLst>
                  <a:ext uri="{FF2B5EF4-FFF2-40B4-BE49-F238E27FC236}">
                    <a16:creationId xmlns:a16="http://schemas.microsoft.com/office/drawing/2014/main" id="{8D896858-AAE5-3663-84E3-1A001F486C6C}"/>
                  </a:ext>
                </a:extLst>
              </p:cNvPr>
              <p:cNvSpPr txBox="1"/>
              <p:nvPr/>
            </p:nvSpPr>
            <p:spPr>
              <a:xfrm>
                <a:off x="1611805" y="4393230"/>
                <a:ext cx="585216" cy="461665"/>
              </a:xfrm>
              <a:prstGeom prst="rect">
                <a:avLst/>
              </a:prstGeom>
              <a:noFill/>
            </p:spPr>
            <p:txBody>
              <a:bodyPr wrap="square" lIns="91440" tIns="45720" rIns="91440" bIns="45720" anchor="ctr">
                <a:spAutoFit/>
              </a:bodyPr>
              <a:lstStyle/>
              <a:p>
                <a:pPr algn="ctr"/>
                <a:r>
                  <a:rPr lang="en-US" altLang="zh-TW" sz="2400" b="1">
                    <a:latin typeface="Calibri"/>
                    <a:ea typeface="Calibri"/>
                    <a:cs typeface="Calibri"/>
                  </a:rPr>
                  <a:t>x</a:t>
                </a:r>
                <a:r>
                  <a:rPr lang="en-US" altLang="zh-TW" sz="2400" b="1" baseline="-25000">
                    <a:latin typeface="Calibri"/>
                    <a:ea typeface="Calibri"/>
                    <a:cs typeface="Calibri"/>
                  </a:rPr>
                  <a:t>1</a:t>
                </a:r>
                <a:endParaRPr lang="zh-TW" sz="2400" b="1" i="0" baseline="-25000">
                  <a:latin typeface="Calibri"/>
                  <a:ea typeface="新細明體"/>
                  <a:cs typeface="Calibri"/>
                </a:endParaRPr>
              </a:p>
            </p:txBody>
          </p:sp>
        </p:grpSp>
        <p:sp>
          <p:nvSpPr>
            <p:cNvPr id="31" name="文字方塊 30">
              <a:extLst>
                <a:ext uri="{FF2B5EF4-FFF2-40B4-BE49-F238E27FC236}">
                  <a16:creationId xmlns:a16="http://schemas.microsoft.com/office/drawing/2014/main" id="{2FE7A68F-A1FE-2EEE-25CF-6206C2D14170}"/>
                </a:ext>
              </a:extLst>
            </p:cNvPr>
            <p:cNvSpPr txBox="1"/>
            <p:nvPr/>
          </p:nvSpPr>
          <p:spPr>
            <a:xfrm>
              <a:off x="1726886" y="2979603"/>
              <a:ext cx="1078385" cy="584775"/>
            </a:xfrm>
            <a:prstGeom prst="rect">
              <a:avLst/>
            </a:prstGeom>
            <a:noFill/>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lang="zh-TW" altLang="en-US" sz="1600">
                  <a:solidFill>
                    <a:schemeClr val="tx1">
                      <a:lumMod val="76000"/>
                      <a:lumOff val="24000"/>
                    </a:schemeClr>
                  </a:solidFill>
                  <a:ea typeface="新細明體"/>
                  <a:cs typeface="Calibri"/>
                </a:rPr>
                <a:t>Pain = 7</a:t>
              </a:r>
              <a:endParaRPr lang="zh-TW" sz="1600">
                <a:solidFill>
                  <a:schemeClr val="tx1">
                    <a:lumMod val="76000"/>
                    <a:lumOff val="24000"/>
                  </a:schemeClr>
                </a:solidFill>
                <a:ea typeface="新細明體"/>
                <a:cs typeface="Calibri"/>
              </a:endParaRPr>
            </a:p>
            <a:p>
              <a:pPr algn="ctr"/>
              <a:r>
                <a:rPr lang="zh-TW" altLang="en-US" sz="1600">
                  <a:solidFill>
                    <a:schemeClr val="tx1">
                      <a:lumMod val="76000"/>
                      <a:lumOff val="24000"/>
                    </a:schemeClr>
                  </a:solidFill>
                  <a:ea typeface="新細明體"/>
                  <a:cs typeface="Calibri"/>
                </a:rPr>
                <a:t>MME = 0</a:t>
              </a:r>
            </a:p>
          </p:txBody>
        </p:sp>
      </p:grpSp>
      <p:sp>
        <p:nvSpPr>
          <p:cNvPr id="46" name="文字方塊 45">
            <a:extLst>
              <a:ext uri="{FF2B5EF4-FFF2-40B4-BE49-F238E27FC236}">
                <a16:creationId xmlns:a16="http://schemas.microsoft.com/office/drawing/2014/main" id="{741587FC-4E9A-ABD6-742F-954BBF8AD090}"/>
              </a:ext>
            </a:extLst>
          </p:cNvPr>
          <p:cNvSpPr txBox="1"/>
          <p:nvPr/>
        </p:nvSpPr>
        <p:spPr>
          <a:xfrm>
            <a:off x="1555269" y="5976730"/>
            <a:ext cx="1421917" cy="338554"/>
          </a:xfrm>
          <a:prstGeom prst="rect">
            <a:avLst/>
          </a:prstGeom>
          <a:noFill/>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lang="zh-TW" altLang="en-US" sz="1600">
                <a:solidFill>
                  <a:schemeClr val="accent6">
                    <a:lumMod val="76000"/>
                  </a:schemeClr>
                </a:solidFill>
                <a:ea typeface="新細明體"/>
                <a:cs typeface="Calibri"/>
              </a:rPr>
              <a:t>Undertreated</a:t>
            </a:r>
            <a:endParaRPr lang="zh-TW">
              <a:solidFill>
                <a:schemeClr val="accent6">
                  <a:lumMod val="76000"/>
                </a:schemeClr>
              </a:solidFill>
              <a:ea typeface="新細明體"/>
              <a:cs typeface="Calibri"/>
            </a:endParaRPr>
          </a:p>
        </p:txBody>
      </p:sp>
      <p:cxnSp>
        <p:nvCxnSpPr>
          <p:cNvPr id="51" name="直線單箭頭接點 50">
            <a:extLst>
              <a:ext uri="{FF2B5EF4-FFF2-40B4-BE49-F238E27FC236}">
                <a16:creationId xmlns:a16="http://schemas.microsoft.com/office/drawing/2014/main" id="{4775C19F-9251-175E-7E99-F256AAEAA915}"/>
              </a:ext>
            </a:extLst>
          </p:cNvPr>
          <p:cNvCxnSpPr>
            <a:cxnSpLocks/>
          </p:cNvCxnSpPr>
          <p:nvPr/>
        </p:nvCxnSpPr>
        <p:spPr>
          <a:xfrm flipH="1" flipV="1">
            <a:off x="2244476" y="4513857"/>
            <a:ext cx="10500" cy="499484"/>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52" name="直線單箭頭接點 51">
            <a:extLst>
              <a:ext uri="{FF2B5EF4-FFF2-40B4-BE49-F238E27FC236}">
                <a16:creationId xmlns:a16="http://schemas.microsoft.com/office/drawing/2014/main" id="{BEC831A7-C6A7-9398-2840-17CB6E27CFF2}"/>
              </a:ext>
            </a:extLst>
          </p:cNvPr>
          <p:cNvCxnSpPr>
            <a:cxnSpLocks/>
          </p:cNvCxnSpPr>
          <p:nvPr/>
        </p:nvCxnSpPr>
        <p:spPr>
          <a:xfrm flipH="1" flipV="1">
            <a:off x="6076383" y="4513856"/>
            <a:ext cx="10500" cy="499484"/>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53" name="直線單箭頭接點 52">
            <a:extLst>
              <a:ext uri="{FF2B5EF4-FFF2-40B4-BE49-F238E27FC236}">
                <a16:creationId xmlns:a16="http://schemas.microsoft.com/office/drawing/2014/main" id="{20460014-E991-988F-0961-FAA2066FF31F}"/>
              </a:ext>
            </a:extLst>
          </p:cNvPr>
          <p:cNvCxnSpPr>
            <a:cxnSpLocks/>
          </p:cNvCxnSpPr>
          <p:nvPr/>
        </p:nvCxnSpPr>
        <p:spPr>
          <a:xfrm flipH="1" flipV="1">
            <a:off x="10020422" y="4513857"/>
            <a:ext cx="10500" cy="499484"/>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54" name="直線單箭頭接點 53">
            <a:extLst>
              <a:ext uri="{FF2B5EF4-FFF2-40B4-BE49-F238E27FC236}">
                <a16:creationId xmlns:a16="http://schemas.microsoft.com/office/drawing/2014/main" id="{B48DE129-CF78-0DFC-03FB-60048C762227}"/>
              </a:ext>
            </a:extLst>
          </p:cNvPr>
          <p:cNvCxnSpPr>
            <a:cxnSpLocks/>
          </p:cNvCxnSpPr>
          <p:nvPr/>
        </p:nvCxnSpPr>
        <p:spPr>
          <a:xfrm flipV="1">
            <a:off x="821372" y="5597398"/>
            <a:ext cx="881365" cy="10569"/>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55" name="直線單箭頭接點 54">
            <a:extLst>
              <a:ext uri="{FF2B5EF4-FFF2-40B4-BE49-F238E27FC236}">
                <a16:creationId xmlns:a16="http://schemas.microsoft.com/office/drawing/2014/main" id="{A7F58F05-5E9B-4D4C-749E-F91666149849}"/>
              </a:ext>
            </a:extLst>
          </p:cNvPr>
          <p:cNvCxnSpPr>
            <a:cxnSpLocks/>
          </p:cNvCxnSpPr>
          <p:nvPr/>
        </p:nvCxnSpPr>
        <p:spPr>
          <a:xfrm flipV="1">
            <a:off x="10565839" y="5524718"/>
            <a:ext cx="736024" cy="1057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62" name="文字方塊 61">
            <a:extLst>
              <a:ext uri="{FF2B5EF4-FFF2-40B4-BE49-F238E27FC236}">
                <a16:creationId xmlns:a16="http://schemas.microsoft.com/office/drawing/2014/main" id="{AB3D761B-F59D-D7E4-D5CA-2DE573A277E0}"/>
              </a:ext>
            </a:extLst>
          </p:cNvPr>
          <p:cNvSpPr txBox="1"/>
          <p:nvPr/>
        </p:nvSpPr>
        <p:spPr>
          <a:xfrm>
            <a:off x="256997" y="5339281"/>
            <a:ext cx="487590"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af-ZA" altLang="zh-TW" sz="2800" b="1">
                <a:solidFill>
                  <a:srgbClr val="4A6A8A"/>
                </a:solidFill>
                <a:ea typeface="Calibri"/>
                <a:cs typeface="Calibri"/>
              </a:rPr>
              <a:t>·</a:t>
            </a:r>
            <a:r>
              <a:rPr lang="af-ZA" sz="2800" b="1">
                <a:solidFill>
                  <a:srgbClr val="4A6A8A"/>
                </a:solidFill>
                <a:ea typeface="Calibri"/>
                <a:cs typeface="Calibri"/>
              </a:rPr>
              <a:t>··</a:t>
            </a:r>
            <a:endParaRPr lang="zh-TW" sz="2800" b="1">
              <a:ea typeface="新細明體"/>
              <a:cs typeface="Calibri"/>
            </a:endParaRPr>
          </a:p>
        </p:txBody>
      </p:sp>
      <p:sp>
        <p:nvSpPr>
          <p:cNvPr id="63" name="文字方塊 62">
            <a:extLst>
              <a:ext uri="{FF2B5EF4-FFF2-40B4-BE49-F238E27FC236}">
                <a16:creationId xmlns:a16="http://schemas.microsoft.com/office/drawing/2014/main" id="{E5E26020-865E-6858-59AD-3C2184B8A9F9}"/>
              </a:ext>
            </a:extLst>
          </p:cNvPr>
          <p:cNvSpPr txBox="1"/>
          <p:nvPr/>
        </p:nvSpPr>
        <p:spPr>
          <a:xfrm>
            <a:off x="11421861" y="5233569"/>
            <a:ext cx="487590"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af-ZA" altLang="zh-TW" sz="2800" b="1">
                <a:solidFill>
                  <a:srgbClr val="4A6A8A"/>
                </a:solidFill>
                <a:ea typeface="Calibri"/>
                <a:cs typeface="Calibri"/>
              </a:rPr>
              <a:t>·</a:t>
            </a:r>
            <a:r>
              <a:rPr lang="af-ZA" sz="2800" b="1">
                <a:solidFill>
                  <a:srgbClr val="4A6A8A"/>
                </a:solidFill>
                <a:ea typeface="Calibri"/>
                <a:cs typeface="Calibri"/>
              </a:rPr>
              <a:t>··</a:t>
            </a:r>
            <a:endParaRPr lang="zh-TW" sz="2800" b="1">
              <a:ea typeface="新細明體"/>
              <a:cs typeface="Calibri"/>
            </a:endParaRPr>
          </a:p>
        </p:txBody>
      </p:sp>
      <p:sp>
        <p:nvSpPr>
          <p:cNvPr id="64" name="文字方塊 63">
            <a:extLst>
              <a:ext uri="{FF2B5EF4-FFF2-40B4-BE49-F238E27FC236}">
                <a16:creationId xmlns:a16="http://schemas.microsoft.com/office/drawing/2014/main" id="{47669A83-3D9B-6111-4322-0766D0B223C6}"/>
              </a:ext>
            </a:extLst>
          </p:cNvPr>
          <p:cNvSpPr txBox="1"/>
          <p:nvPr/>
        </p:nvSpPr>
        <p:spPr>
          <a:xfrm>
            <a:off x="1126876" y="6330516"/>
            <a:ext cx="10134286" cy="338554"/>
          </a:xfrm>
          <a:prstGeom prst="rect">
            <a:avLst/>
          </a:prstGeom>
          <a:noFill/>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lang="zh-TW" altLang="en-US" sz="1600" i="1">
                <a:solidFill>
                  <a:schemeClr val="bg1">
                    <a:lumMod val="65000"/>
                  </a:schemeClr>
                </a:solidFill>
                <a:ea typeface="新細明體"/>
                <a:cs typeface="Calibri"/>
              </a:rPr>
              <a:t>S</a:t>
            </a:r>
            <a:r>
              <a:rPr lang="zh-TW" altLang="en-US" sz="1600" i="1" baseline="-25000">
                <a:solidFill>
                  <a:schemeClr val="bg1">
                    <a:lumMod val="65000"/>
                  </a:schemeClr>
                </a:solidFill>
                <a:ea typeface="新細明體"/>
                <a:cs typeface="Calibri"/>
              </a:rPr>
              <a:t>t</a:t>
            </a:r>
            <a:r>
              <a:rPr lang="zh-TW" altLang="en-US" sz="1600" i="1">
                <a:solidFill>
                  <a:schemeClr val="bg1">
                    <a:lumMod val="65000"/>
                  </a:schemeClr>
                </a:solidFill>
                <a:ea typeface="新細明體"/>
                <a:cs typeface="Calibri"/>
              </a:rPr>
              <a:t> = hidden clinical state at assessment t; X</a:t>
            </a:r>
            <a:r>
              <a:rPr lang="zh-TW" altLang="en-US" sz="1600" i="1" baseline="-25000">
                <a:solidFill>
                  <a:schemeClr val="bg1">
                    <a:lumMod val="65000"/>
                  </a:schemeClr>
                </a:solidFill>
                <a:ea typeface="新細明體"/>
                <a:cs typeface="Calibri"/>
              </a:rPr>
              <a:t>t</a:t>
            </a:r>
            <a:r>
              <a:rPr lang="zh-TW" altLang="en-US" sz="1600" i="1">
                <a:solidFill>
                  <a:schemeClr val="bg1">
                    <a:lumMod val="65000"/>
                  </a:schemeClr>
                </a:solidFill>
                <a:ea typeface="新細明體"/>
                <a:cs typeface="Calibri"/>
              </a:rPr>
              <a:t> = EHR observation (pain score, MME)</a:t>
            </a:r>
            <a:endParaRPr lang="zh-TW" sz="1600">
              <a:solidFill>
                <a:schemeClr val="bg1">
                  <a:lumMod val="65000"/>
                </a:schemeClr>
              </a:solidFill>
              <a:ea typeface="新細明體"/>
              <a:cs typeface="Calibri"/>
            </a:endParaRPr>
          </a:p>
        </p:txBody>
      </p:sp>
    </p:spTree>
    <p:extLst>
      <p:ext uri="{BB962C8B-B14F-4D97-AF65-F5344CB8AC3E}">
        <p14:creationId xmlns:p14="http://schemas.microsoft.com/office/powerpoint/2010/main" val="37188124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fade">
                                      <p:cBhvr>
                                        <p:cTn id="1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02920" y="228600"/>
            <a:ext cx="11155680" cy="615553"/>
          </a:xfrm>
          <a:prstGeom prst="rect">
            <a:avLst/>
          </a:prstGeom>
          <a:noFill/>
        </p:spPr>
        <p:txBody>
          <a:bodyPr wrap="square" lIns="91440" tIns="45720" rIns="91440" bIns="45720" anchor="t">
            <a:spAutoFit/>
          </a:bodyPr>
          <a:lstStyle/>
          <a:p>
            <a:pPr algn="l"/>
            <a:r>
              <a:rPr sz="3400" b="1" i="0">
                <a:solidFill>
                  <a:srgbClr val="1A2B47"/>
                </a:solidFill>
                <a:latin typeface="Calibri"/>
                <a:ea typeface="Calibri"/>
                <a:cs typeface="Calibri"/>
              </a:rPr>
              <a:t>Three Things the HMM Learns</a:t>
            </a:r>
            <a:endParaRPr lang="zh-TW" altLang="en-US" sz="3400" b="1" i="0">
              <a:solidFill>
                <a:srgbClr val="1A2B47"/>
              </a:solidFill>
              <a:latin typeface="Calibri"/>
              <a:cs typeface="Calibri"/>
            </a:endParaRPr>
          </a:p>
        </p:txBody>
      </p:sp>
      <p:sp>
        <p:nvSpPr>
          <p:cNvPr id="4" name="TextBox 3"/>
          <p:cNvSpPr txBox="1"/>
          <p:nvPr/>
        </p:nvSpPr>
        <p:spPr>
          <a:xfrm>
            <a:off x="502920" y="841248"/>
            <a:ext cx="11155680" cy="365760"/>
          </a:xfrm>
          <a:prstGeom prst="rect">
            <a:avLst/>
          </a:prstGeom>
          <a:noFill/>
        </p:spPr>
        <p:txBody>
          <a:bodyPr wrap="square">
            <a:spAutoFit/>
          </a:bodyPr>
          <a:lstStyle/>
          <a:p>
            <a:pPr algn="l"/>
            <a:r>
              <a:rPr sz="1500" b="0" i="1">
                <a:solidFill>
                  <a:srgbClr val="7A96B2"/>
                </a:solidFill>
                <a:latin typeface="Calibri"/>
              </a:rPr>
              <a:t>You provide the data. The model figures out all three of these.</a:t>
            </a:r>
          </a:p>
        </p:txBody>
      </p:sp>
      <p:cxnSp>
        <p:nvCxnSpPr>
          <p:cNvPr id="5" name="Connector 4"/>
          <p:cNvCxnSpPr/>
          <p:nvPr/>
        </p:nvCxnSpPr>
        <p:spPr>
          <a:xfrm>
            <a:off x="502920" y="1234440"/>
            <a:ext cx="11183112" cy="0"/>
          </a:xfrm>
          <a:prstGeom prst="line">
            <a:avLst/>
          </a:prstGeom>
          <a:ln w="9525">
            <a:solidFill>
              <a:srgbClr val="CCD9E8"/>
            </a:solidFill>
          </a:ln>
        </p:spPr>
        <p:style>
          <a:lnRef idx="2">
            <a:schemeClr val="accent1"/>
          </a:lnRef>
          <a:fillRef idx="0">
            <a:schemeClr val="accent1"/>
          </a:fillRef>
          <a:effectRef idx="1">
            <a:schemeClr val="accent1"/>
          </a:effectRef>
          <a:fontRef idx="minor">
            <a:schemeClr val="tx1"/>
          </a:fontRef>
        </p:style>
      </p:cxnSp>
      <p:grpSp>
        <p:nvGrpSpPr>
          <p:cNvPr id="48" name="群組 47">
            <a:extLst>
              <a:ext uri="{FF2B5EF4-FFF2-40B4-BE49-F238E27FC236}">
                <a16:creationId xmlns:a16="http://schemas.microsoft.com/office/drawing/2014/main" id="{47198217-D485-EF9A-7FFC-A2FB281D6730}"/>
              </a:ext>
            </a:extLst>
          </p:cNvPr>
          <p:cNvGrpSpPr/>
          <p:nvPr/>
        </p:nvGrpSpPr>
        <p:grpSpPr>
          <a:xfrm>
            <a:off x="411480" y="1371600"/>
            <a:ext cx="3703320" cy="1557354"/>
            <a:chOff x="411480" y="1371600"/>
            <a:chExt cx="3703320" cy="1655148"/>
          </a:xfrm>
        </p:grpSpPr>
        <p:sp>
          <p:nvSpPr>
            <p:cNvPr id="6" name="Rectangle 5"/>
            <p:cNvSpPr/>
            <p:nvPr/>
          </p:nvSpPr>
          <p:spPr>
            <a:xfrm>
              <a:off x="411480" y="1371600"/>
              <a:ext cx="3703320" cy="1655148"/>
            </a:xfrm>
            <a:prstGeom prst="rect">
              <a:avLst/>
            </a:prstGeom>
            <a:solidFill>
              <a:srgbClr val="F4F7FB"/>
            </a:solidFill>
            <a:ln w="9525">
              <a:solidFill>
                <a:srgbClr val="CCD9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02979" y="1571692"/>
              <a:ext cx="621792" cy="400110"/>
            </a:xfrm>
            <a:prstGeom prst="rect">
              <a:avLst/>
            </a:prstGeom>
            <a:noFill/>
          </p:spPr>
          <p:txBody>
            <a:bodyPr wrap="square" lIns="91440" tIns="45720" rIns="91440" bIns="45720" anchor="ctr">
              <a:spAutoFit/>
            </a:bodyPr>
            <a:lstStyle/>
            <a:p>
              <a:pPr algn="ctr"/>
              <a:r>
                <a:rPr sz="2000" b="1" i="0">
                  <a:solidFill>
                    <a:srgbClr val="000000"/>
                  </a:solidFill>
                  <a:latin typeface="Calibri"/>
                  <a:ea typeface="Calibri"/>
                  <a:cs typeface="Calibri"/>
                </a:rPr>
                <a:t>①</a:t>
              </a:r>
              <a:endParaRPr lang="zh-TW" altLang="en-US" sz="2000" b="1" i="0">
                <a:solidFill>
                  <a:srgbClr val="000000"/>
                </a:solidFill>
                <a:latin typeface="Calibri"/>
                <a:ea typeface="Calibri"/>
                <a:cs typeface="Calibri"/>
              </a:endParaRPr>
            </a:p>
          </p:txBody>
        </p:sp>
        <p:sp>
          <p:nvSpPr>
            <p:cNvPr id="9" name="TextBox 8"/>
            <p:cNvSpPr txBox="1"/>
            <p:nvPr/>
          </p:nvSpPr>
          <p:spPr>
            <a:xfrm>
              <a:off x="1062387" y="1571692"/>
              <a:ext cx="2697480" cy="400110"/>
            </a:xfrm>
            <a:prstGeom prst="rect">
              <a:avLst/>
            </a:prstGeom>
            <a:noFill/>
          </p:spPr>
          <p:txBody>
            <a:bodyPr wrap="square" lIns="91440" tIns="45720" rIns="91440" bIns="45720" anchor="t">
              <a:spAutoFit/>
            </a:bodyPr>
            <a:lstStyle/>
            <a:p>
              <a:pPr algn="l"/>
              <a:r>
                <a:rPr sz="2000" b="1" i="0">
                  <a:solidFill>
                    <a:srgbClr val="000000"/>
                  </a:solidFill>
                  <a:latin typeface="Calibri"/>
                  <a:ea typeface="Calibri"/>
                  <a:cs typeface="Calibri"/>
                </a:rPr>
                <a:t>Starting State Probs  π</a:t>
              </a:r>
              <a:endParaRPr lang="zh-TW" altLang="en-US" sz="2000" b="1" i="0">
                <a:solidFill>
                  <a:srgbClr val="000000"/>
                </a:solidFill>
                <a:latin typeface="Calibri"/>
                <a:ea typeface="新細明體"/>
                <a:cs typeface="Calibri"/>
              </a:endParaRPr>
            </a:p>
          </p:txBody>
        </p:sp>
        <p:sp>
          <p:nvSpPr>
            <p:cNvPr id="10" name="TextBox 9"/>
            <p:cNvSpPr txBox="1"/>
            <p:nvPr/>
          </p:nvSpPr>
          <p:spPr>
            <a:xfrm>
              <a:off x="576072" y="2119629"/>
              <a:ext cx="3383280" cy="584775"/>
            </a:xfrm>
            <a:prstGeom prst="rect">
              <a:avLst/>
            </a:prstGeom>
            <a:noFill/>
          </p:spPr>
          <p:txBody>
            <a:bodyPr wrap="square" lIns="91440" tIns="45720" rIns="91440" bIns="45720" anchor="ctr">
              <a:spAutoFit/>
            </a:bodyPr>
            <a:lstStyle/>
            <a:p>
              <a:pPr algn="l"/>
              <a:r>
                <a:rPr sz="1600" b="0" i="0">
                  <a:solidFill>
                    <a:schemeClr val="tx2">
                      <a:lumMod val="76000"/>
                    </a:schemeClr>
                  </a:solidFill>
                  <a:latin typeface="Calibri"/>
                </a:rPr>
                <a:t>At the start of each encounter, how likely is each hidden state?</a:t>
              </a:r>
              <a:endParaRPr lang="zh-TW" altLang="en-US" sz="1600" b="0" i="0">
                <a:solidFill>
                  <a:schemeClr val="tx2">
                    <a:lumMod val="76000"/>
                  </a:schemeClr>
                </a:solidFill>
                <a:latin typeface="Calibri"/>
                <a:ea typeface="新細明體"/>
                <a:cs typeface="Calibri"/>
              </a:endParaRPr>
            </a:p>
          </p:txBody>
        </p:sp>
      </p:grpSp>
      <p:grpSp>
        <p:nvGrpSpPr>
          <p:cNvPr id="49" name="群組 48">
            <a:extLst>
              <a:ext uri="{FF2B5EF4-FFF2-40B4-BE49-F238E27FC236}">
                <a16:creationId xmlns:a16="http://schemas.microsoft.com/office/drawing/2014/main" id="{0239E92C-DFF9-D781-9D16-740D14E24B77}"/>
              </a:ext>
            </a:extLst>
          </p:cNvPr>
          <p:cNvGrpSpPr/>
          <p:nvPr/>
        </p:nvGrpSpPr>
        <p:grpSpPr>
          <a:xfrm>
            <a:off x="4343400" y="1371600"/>
            <a:ext cx="3703320" cy="1556073"/>
            <a:chOff x="4343400" y="1371600"/>
            <a:chExt cx="3703320" cy="1655148"/>
          </a:xfrm>
        </p:grpSpPr>
        <p:sp>
          <p:nvSpPr>
            <p:cNvPr id="11" name="Rectangle 10"/>
            <p:cNvSpPr/>
            <p:nvPr/>
          </p:nvSpPr>
          <p:spPr>
            <a:xfrm>
              <a:off x="4343400" y="1371600"/>
              <a:ext cx="3703320" cy="1655148"/>
            </a:xfrm>
            <a:prstGeom prst="rect">
              <a:avLst/>
            </a:prstGeom>
            <a:solidFill>
              <a:srgbClr val="F4F7FB"/>
            </a:solidFill>
            <a:ln w="9525">
              <a:solidFill>
                <a:srgbClr val="CCD9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361805" y="1571692"/>
              <a:ext cx="621792" cy="400110"/>
            </a:xfrm>
            <a:prstGeom prst="rect">
              <a:avLst/>
            </a:prstGeom>
            <a:noFill/>
          </p:spPr>
          <p:txBody>
            <a:bodyPr wrap="square" lIns="91440" tIns="45720" rIns="91440" bIns="45720" anchor="ctr">
              <a:spAutoFit/>
            </a:bodyPr>
            <a:lstStyle/>
            <a:p>
              <a:pPr algn="ctr"/>
              <a:r>
                <a:rPr sz="2000" b="1" i="0">
                  <a:solidFill>
                    <a:srgbClr val="000000"/>
                  </a:solidFill>
                  <a:latin typeface="Calibri"/>
                  <a:ea typeface="Calibri"/>
                  <a:cs typeface="Calibri"/>
                </a:rPr>
                <a:t>②</a:t>
              </a:r>
              <a:endParaRPr lang="zh-TW" altLang="en-US" sz="2000" b="1" i="0">
                <a:solidFill>
                  <a:srgbClr val="000000"/>
                </a:solidFill>
                <a:latin typeface="Calibri"/>
                <a:cs typeface="Calibri"/>
              </a:endParaRPr>
            </a:p>
          </p:txBody>
        </p:sp>
        <p:sp>
          <p:nvSpPr>
            <p:cNvPr id="14" name="TextBox 13"/>
            <p:cNvSpPr txBox="1"/>
            <p:nvPr/>
          </p:nvSpPr>
          <p:spPr>
            <a:xfrm>
              <a:off x="4981056" y="1571692"/>
              <a:ext cx="2770149" cy="400110"/>
            </a:xfrm>
            <a:prstGeom prst="rect">
              <a:avLst/>
            </a:prstGeom>
            <a:noFill/>
          </p:spPr>
          <p:txBody>
            <a:bodyPr wrap="square" lIns="91440" tIns="45720" rIns="91440" bIns="45720" anchor="t">
              <a:spAutoFit/>
            </a:bodyPr>
            <a:lstStyle/>
            <a:p>
              <a:pPr algn="l"/>
              <a:r>
                <a:rPr sz="2000" b="1" i="0">
                  <a:solidFill>
                    <a:srgbClr val="000000"/>
                  </a:solidFill>
                  <a:latin typeface="Calibri"/>
                  <a:ea typeface="Calibri"/>
                  <a:cs typeface="Calibri"/>
                </a:rPr>
                <a:t>Transition </a:t>
              </a:r>
              <a:r>
                <a:rPr lang="af-ZA" sz="2000" b="1">
                  <a:solidFill>
                    <a:srgbClr val="000000"/>
                  </a:solidFill>
                  <a:latin typeface="Calibri"/>
                  <a:ea typeface="Calibri"/>
                  <a:cs typeface="Calibri"/>
                </a:rPr>
                <a:t>Matrix</a:t>
              </a:r>
              <a:r>
                <a:rPr sz="2000" b="1" i="0">
                  <a:solidFill>
                    <a:srgbClr val="000000"/>
                  </a:solidFill>
                  <a:latin typeface="Calibri"/>
                  <a:ea typeface="Calibri"/>
                  <a:cs typeface="Calibri"/>
                </a:rPr>
                <a:t>  A</a:t>
              </a:r>
              <a:endParaRPr lang="zh-TW" altLang="en-US" sz="2000" b="1" i="0">
                <a:solidFill>
                  <a:srgbClr val="000000"/>
                </a:solidFill>
                <a:latin typeface="Calibri"/>
                <a:ea typeface="新細明體"/>
                <a:cs typeface="Calibri"/>
              </a:endParaRPr>
            </a:p>
          </p:txBody>
        </p:sp>
        <p:sp>
          <p:nvSpPr>
            <p:cNvPr id="15" name="TextBox 14"/>
            <p:cNvSpPr txBox="1"/>
            <p:nvPr/>
          </p:nvSpPr>
          <p:spPr>
            <a:xfrm>
              <a:off x="4507992" y="2119629"/>
              <a:ext cx="3383280" cy="584775"/>
            </a:xfrm>
            <a:prstGeom prst="rect">
              <a:avLst/>
            </a:prstGeom>
            <a:noFill/>
          </p:spPr>
          <p:txBody>
            <a:bodyPr wrap="square" lIns="91440" tIns="45720" rIns="91440" bIns="45720" anchor="ctr">
              <a:spAutoFit/>
            </a:bodyPr>
            <a:lstStyle/>
            <a:p>
              <a:pPr algn="l"/>
              <a:r>
                <a:rPr sz="1600" b="0" i="0">
                  <a:solidFill>
                    <a:schemeClr val="tx2">
                      <a:lumMod val="76000"/>
                    </a:schemeClr>
                  </a:solidFill>
                  <a:latin typeface="Calibri"/>
                </a:rPr>
                <a:t>Given the state now, how likely is each state at the next assessment?</a:t>
              </a:r>
              <a:endParaRPr lang="zh-TW" altLang="en-US" sz="1600" b="0" i="0">
                <a:solidFill>
                  <a:schemeClr val="tx2">
                    <a:lumMod val="76000"/>
                  </a:schemeClr>
                </a:solidFill>
                <a:latin typeface="Calibri"/>
                <a:ea typeface="新細明體"/>
                <a:cs typeface="Calibri"/>
              </a:endParaRPr>
            </a:p>
          </p:txBody>
        </p:sp>
      </p:grpSp>
      <p:grpSp>
        <p:nvGrpSpPr>
          <p:cNvPr id="51" name="群組 50">
            <a:extLst>
              <a:ext uri="{FF2B5EF4-FFF2-40B4-BE49-F238E27FC236}">
                <a16:creationId xmlns:a16="http://schemas.microsoft.com/office/drawing/2014/main" id="{2E70155A-8950-6945-9070-27A318629FB8}"/>
              </a:ext>
            </a:extLst>
          </p:cNvPr>
          <p:cNvGrpSpPr/>
          <p:nvPr/>
        </p:nvGrpSpPr>
        <p:grpSpPr>
          <a:xfrm>
            <a:off x="8275319" y="1371600"/>
            <a:ext cx="3703320" cy="1556073"/>
            <a:chOff x="8275319" y="1371600"/>
            <a:chExt cx="3703320" cy="1655148"/>
          </a:xfrm>
        </p:grpSpPr>
        <p:sp>
          <p:nvSpPr>
            <p:cNvPr id="16" name="Rectangle 15"/>
            <p:cNvSpPr/>
            <p:nvPr/>
          </p:nvSpPr>
          <p:spPr>
            <a:xfrm>
              <a:off x="8275319" y="1371600"/>
              <a:ext cx="3703320" cy="1655148"/>
            </a:xfrm>
            <a:prstGeom prst="rect">
              <a:avLst/>
            </a:prstGeom>
            <a:solidFill>
              <a:srgbClr val="F4F7FB"/>
            </a:solidFill>
            <a:ln w="9525">
              <a:solidFill>
                <a:srgbClr val="CCD9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287081" y="1571692"/>
              <a:ext cx="621792" cy="400110"/>
            </a:xfrm>
            <a:prstGeom prst="rect">
              <a:avLst/>
            </a:prstGeom>
            <a:noFill/>
          </p:spPr>
          <p:txBody>
            <a:bodyPr wrap="square" lIns="91440" tIns="45720" rIns="91440" bIns="45720" anchor="ctr">
              <a:spAutoFit/>
            </a:bodyPr>
            <a:lstStyle/>
            <a:p>
              <a:pPr algn="ctr"/>
              <a:r>
                <a:rPr sz="2000" b="1" i="0">
                  <a:solidFill>
                    <a:srgbClr val="000000"/>
                  </a:solidFill>
                  <a:latin typeface="Calibri"/>
                  <a:ea typeface="Calibri"/>
                  <a:cs typeface="Calibri"/>
                </a:rPr>
                <a:t>③</a:t>
              </a:r>
              <a:endParaRPr lang="zh-TW" altLang="en-US" sz="2000" b="1" i="0">
                <a:solidFill>
                  <a:srgbClr val="000000"/>
                </a:solidFill>
                <a:latin typeface="Calibri"/>
                <a:cs typeface="Calibri"/>
              </a:endParaRPr>
            </a:p>
          </p:txBody>
        </p:sp>
        <p:sp>
          <p:nvSpPr>
            <p:cNvPr id="19" name="TextBox 18"/>
            <p:cNvSpPr txBox="1"/>
            <p:nvPr/>
          </p:nvSpPr>
          <p:spPr>
            <a:xfrm>
              <a:off x="8906332" y="1571692"/>
              <a:ext cx="2915491" cy="400110"/>
            </a:xfrm>
            <a:prstGeom prst="rect">
              <a:avLst/>
            </a:prstGeom>
            <a:noFill/>
          </p:spPr>
          <p:txBody>
            <a:bodyPr wrap="square" lIns="91440" tIns="45720" rIns="91440" bIns="45720" anchor="t">
              <a:spAutoFit/>
            </a:bodyPr>
            <a:lstStyle/>
            <a:p>
              <a:pPr algn="l"/>
              <a:r>
                <a:rPr sz="2000" b="1" i="0">
                  <a:solidFill>
                    <a:srgbClr val="000000"/>
                  </a:solidFill>
                  <a:latin typeface="Calibri"/>
                  <a:ea typeface="Calibri"/>
                  <a:cs typeface="Calibri"/>
                </a:rPr>
                <a:t>Emission Distributions  B</a:t>
              </a:r>
              <a:endParaRPr lang="zh-TW" altLang="en-US" sz="2000" b="1" i="0">
                <a:solidFill>
                  <a:srgbClr val="000000"/>
                </a:solidFill>
                <a:latin typeface="Calibri"/>
                <a:cs typeface="Calibri"/>
              </a:endParaRPr>
            </a:p>
          </p:txBody>
        </p:sp>
        <p:sp>
          <p:nvSpPr>
            <p:cNvPr id="20" name="TextBox 19"/>
            <p:cNvSpPr txBox="1"/>
            <p:nvPr/>
          </p:nvSpPr>
          <p:spPr>
            <a:xfrm>
              <a:off x="8439911" y="2119629"/>
              <a:ext cx="3383280" cy="584775"/>
            </a:xfrm>
            <a:prstGeom prst="rect">
              <a:avLst/>
            </a:prstGeom>
            <a:noFill/>
          </p:spPr>
          <p:txBody>
            <a:bodyPr wrap="square" lIns="91440" tIns="45720" rIns="91440" bIns="45720" anchor="ctr">
              <a:spAutoFit/>
            </a:bodyPr>
            <a:lstStyle/>
            <a:p>
              <a:r>
                <a:rPr sz="1600" b="0" i="0">
                  <a:solidFill>
                    <a:schemeClr val="tx2">
                      <a:lumMod val="76000"/>
                    </a:schemeClr>
                  </a:solidFill>
                  <a:latin typeface="Calibri"/>
                </a:rPr>
                <a:t>Given a state, what values </a:t>
              </a:r>
              <a:r>
                <a:rPr lang="en-US" altLang="zh-TW" sz="1600">
                  <a:solidFill>
                    <a:schemeClr val="tx2">
                      <a:lumMod val="76000"/>
                    </a:schemeClr>
                  </a:solidFill>
                  <a:latin typeface="Calibri"/>
                  <a:ea typeface="Calibri"/>
                </a:rPr>
                <a:t>(pain,</a:t>
              </a:r>
              <a:r>
                <a:rPr lang="zh-TW" sz="1600">
                  <a:solidFill>
                    <a:schemeClr val="tx2">
                      <a:lumMod val="76000"/>
                    </a:schemeClr>
                  </a:solidFill>
                  <a:latin typeface="Calibri"/>
                  <a:ea typeface="新細明體"/>
                </a:rPr>
                <a:t> </a:t>
              </a:r>
              <a:r>
                <a:rPr lang="en-US" altLang="zh-TW" sz="1600">
                  <a:solidFill>
                    <a:schemeClr val="tx2">
                      <a:lumMod val="76000"/>
                    </a:schemeClr>
                  </a:solidFill>
                  <a:latin typeface="Calibri"/>
                  <a:ea typeface="Calibri"/>
                </a:rPr>
                <a:t>MME)</a:t>
              </a:r>
              <a:r>
                <a:rPr lang="zh-TW" sz="1600">
                  <a:solidFill>
                    <a:schemeClr val="tx2">
                      <a:lumMod val="76000"/>
                    </a:schemeClr>
                  </a:solidFill>
                  <a:latin typeface="Calibri"/>
                  <a:ea typeface="新細明體"/>
                </a:rPr>
                <a:t> </a:t>
              </a:r>
              <a:r>
                <a:rPr sz="1600" b="0" i="0">
                  <a:solidFill>
                    <a:schemeClr val="tx2">
                      <a:lumMod val="76000"/>
                    </a:schemeClr>
                  </a:solidFill>
                  <a:latin typeface="Calibri"/>
                </a:rPr>
                <a:t>are you likely to observe?</a:t>
              </a:r>
              <a:endParaRPr lang="zh-TW" altLang="en-US" sz="1600" b="0" i="0">
                <a:solidFill>
                  <a:schemeClr val="tx2">
                    <a:lumMod val="76000"/>
                  </a:schemeClr>
                </a:solidFill>
                <a:latin typeface="Calibri"/>
                <a:ea typeface="新細明體"/>
                <a:cs typeface="Calibri"/>
              </a:endParaRPr>
            </a:p>
          </p:txBody>
        </p:sp>
      </p:grpSp>
      <p:sp>
        <p:nvSpPr>
          <p:cNvPr id="28" name="TextBox 7">
            <a:extLst>
              <a:ext uri="{FF2B5EF4-FFF2-40B4-BE49-F238E27FC236}">
                <a16:creationId xmlns:a16="http://schemas.microsoft.com/office/drawing/2014/main" id="{36F958CD-AA07-F5E5-3521-3846AAAB6821}"/>
              </a:ext>
            </a:extLst>
          </p:cNvPr>
          <p:cNvSpPr txBox="1"/>
          <p:nvPr/>
        </p:nvSpPr>
        <p:spPr>
          <a:xfrm>
            <a:off x="486962" y="4526382"/>
            <a:ext cx="1499117" cy="338554"/>
          </a:xfrm>
          <a:prstGeom prst="rect">
            <a:avLst/>
          </a:prstGeom>
          <a:solidFill>
            <a:schemeClr val="tx2">
              <a:lumMod val="20000"/>
              <a:lumOff val="80000"/>
            </a:schemeClr>
          </a:solidFill>
          <a:ln>
            <a:solidFill>
              <a:schemeClr val="accent1">
                <a:lumMod val="75000"/>
              </a:schemeClr>
            </a:solidFill>
          </a:ln>
        </p:spPr>
        <p:style>
          <a:lnRef idx="2">
            <a:schemeClr val="dk1"/>
          </a:lnRef>
          <a:fillRef idx="1">
            <a:schemeClr val="lt1"/>
          </a:fillRef>
          <a:effectRef idx="0">
            <a:schemeClr val="dk1"/>
          </a:effectRef>
          <a:fontRef idx="minor">
            <a:schemeClr val="dk1"/>
          </a:fontRef>
        </p:style>
        <p:txBody>
          <a:bodyPr wrap="square" lIns="91440" tIns="45720" rIns="91440" bIns="45720" anchor="ctr">
            <a:spAutoFit/>
          </a:bodyPr>
          <a:lstStyle/>
          <a:p>
            <a:pPr algn="ctr"/>
            <a:r>
              <a:rPr lang="en-US" altLang="zh-TW" sz="1600">
                <a:solidFill>
                  <a:srgbClr val="000000"/>
                </a:solidFill>
                <a:latin typeface="Calibri"/>
                <a:ea typeface="Calibri"/>
                <a:cs typeface="Calibri"/>
              </a:rPr>
              <a:t>New Encounter</a:t>
            </a:r>
            <a:endParaRPr lang="en-US" altLang="zh-TW" sz="1600" i="0" baseline="-25000">
              <a:solidFill>
                <a:srgbClr val="000000"/>
              </a:solidFill>
              <a:latin typeface="Calibri"/>
              <a:ea typeface="Calibri"/>
              <a:cs typeface="Calibri"/>
            </a:endParaRPr>
          </a:p>
        </p:txBody>
      </p:sp>
      <p:grpSp>
        <p:nvGrpSpPr>
          <p:cNvPr id="46" name="群組 45">
            <a:extLst>
              <a:ext uri="{FF2B5EF4-FFF2-40B4-BE49-F238E27FC236}">
                <a16:creationId xmlns:a16="http://schemas.microsoft.com/office/drawing/2014/main" id="{DF8AA3BF-EBBE-98D3-415D-1D054129DAFD}"/>
              </a:ext>
            </a:extLst>
          </p:cNvPr>
          <p:cNvGrpSpPr/>
          <p:nvPr/>
        </p:nvGrpSpPr>
        <p:grpSpPr>
          <a:xfrm>
            <a:off x="2527201" y="5013735"/>
            <a:ext cx="1421917" cy="1248926"/>
            <a:chOff x="2580407" y="5372648"/>
            <a:chExt cx="1421917" cy="1248926"/>
          </a:xfrm>
        </p:grpSpPr>
        <p:grpSp>
          <p:nvGrpSpPr>
            <p:cNvPr id="21" name="群組 20">
              <a:extLst>
                <a:ext uri="{FF2B5EF4-FFF2-40B4-BE49-F238E27FC236}">
                  <a16:creationId xmlns:a16="http://schemas.microsoft.com/office/drawing/2014/main" id="{21EBA2CC-C974-D177-55D4-B9EF293AF75D}"/>
                </a:ext>
              </a:extLst>
            </p:cNvPr>
            <p:cNvGrpSpPr/>
            <p:nvPr/>
          </p:nvGrpSpPr>
          <p:grpSpPr>
            <a:xfrm>
              <a:off x="2830448" y="5372648"/>
              <a:ext cx="915116" cy="915140"/>
              <a:chOff x="1501025" y="4207455"/>
              <a:chExt cx="806771" cy="833214"/>
            </a:xfrm>
          </p:grpSpPr>
          <p:sp>
            <p:nvSpPr>
              <p:cNvPr id="12" name="Oval 6">
                <a:extLst>
                  <a:ext uri="{FF2B5EF4-FFF2-40B4-BE49-F238E27FC236}">
                    <a16:creationId xmlns:a16="http://schemas.microsoft.com/office/drawing/2014/main" id="{989DBDF3-D4FE-1702-9E58-B98E708994E5}"/>
                  </a:ext>
                </a:extLst>
              </p:cNvPr>
              <p:cNvSpPr/>
              <p:nvPr/>
            </p:nvSpPr>
            <p:spPr>
              <a:xfrm>
                <a:off x="1501025" y="4207455"/>
                <a:ext cx="806771" cy="833214"/>
              </a:xfrm>
              <a:prstGeom prst="ellipse">
                <a:avLst/>
              </a:prstGeom>
              <a:solidFill>
                <a:schemeClr val="accent6">
                  <a:lumMod val="20000"/>
                  <a:lumOff val="80000"/>
                </a:schemeClr>
              </a:solidFill>
              <a:ln w="28575">
                <a:solidFill>
                  <a:schemeClr val="accent6">
                    <a:lumMod val="7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7">
                <a:extLst>
                  <a:ext uri="{FF2B5EF4-FFF2-40B4-BE49-F238E27FC236}">
                    <a16:creationId xmlns:a16="http://schemas.microsoft.com/office/drawing/2014/main" id="{E918F2CB-BD0A-F15F-E57E-F477CEE69DF9}"/>
                  </a:ext>
                </a:extLst>
              </p:cNvPr>
              <p:cNvSpPr txBox="1"/>
              <p:nvPr/>
            </p:nvSpPr>
            <p:spPr>
              <a:xfrm>
                <a:off x="1611805" y="4413896"/>
                <a:ext cx="585216" cy="420335"/>
              </a:xfrm>
              <a:prstGeom prst="rect">
                <a:avLst/>
              </a:prstGeom>
              <a:solidFill>
                <a:schemeClr val="accent6">
                  <a:lumMod val="20000"/>
                  <a:lumOff val="80000"/>
                </a:schemeClr>
              </a:solidFill>
              <a:ln>
                <a:noFill/>
              </a:ln>
            </p:spPr>
            <p:txBody>
              <a:bodyPr wrap="square" lIns="91440" tIns="45720" rIns="91440" bIns="45720" anchor="ctr">
                <a:spAutoFit/>
              </a:bodyPr>
              <a:lstStyle/>
              <a:p>
                <a:pPr algn="ctr"/>
                <a:r>
                  <a:rPr lang="en-US" altLang="zh-TW" sz="2400" b="1">
                    <a:latin typeface="Calibri"/>
                    <a:ea typeface="Calibri"/>
                    <a:cs typeface="Calibri"/>
                  </a:rPr>
                  <a:t>s</a:t>
                </a:r>
                <a:r>
                  <a:rPr lang="en-US" altLang="zh-TW" sz="2400" b="1" baseline="-25000">
                    <a:latin typeface="Calibri"/>
                    <a:ea typeface="Calibri"/>
                    <a:cs typeface="Calibri"/>
                  </a:rPr>
                  <a:t>1</a:t>
                </a:r>
                <a:endParaRPr lang="zh-TW" sz="2400" b="1" i="0" baseline="-25000">
                  <a:latin typeface="Calibri"/>
                  <a:ea typeface="新細明體"/>
                  <a:cs typeface="Calibri"/>
                </a:endParaRPr>
              </a:p>
            </p:txBody>
          </p:sp>
        </p:grpSp>
        <p:sp>
          <p:nvSpPr>
            <p:cNvPr id="37" name="文字方塊 36">
              <a:extLst>
                <a:ext uri="{FF2B5EF4-FFF2-40B4-BE49-F238E27FC236}">
                  <a16:creationId xmlns:a16="http://schemas.microsoft.com/office/drawing/2014/main" id="{5D07BC10-8BC9-D0E7-A6F6-86D1B04B351F}"/>
                </a:ext>
              </a:extLst>
            </p:cNvPr>
            <p:cNvSpPr txBox="1"/>
            <p:nvPr/>
          </p:nvSpPr>
          <p:spPr>
            <a:xfrm>
              <a:off x="2580407" y="6283020"/>
              <a:ext cx="1421917" cy="338554"/>
            </a:xfrm>
            <a:prstGeom prst="rect">
              <a:avLst/>
            </a:prstGeom>
            <a:noFill/>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lang="zh-TW" altLang="en-US" sz="1600">
                  <a:solidFill>
                    <a:schemeClr val="accent6">
                      <a:lumMod val="76000"/>
                    </a:schemeClr>
                  </a:solidFill>
                  <a:ea typeface="新細明體"/>
                  <a:cs typeface="Calibri"/>
                </a:rPr>
                <a:t>Undertreated</a:t>
              </a:r>
              <a:endParaRPr lang="zh-TW">
                <a:solidFill>
                  <a:schemeClr val="accent6">
                    <a:lumMod val="76000"/>
                  </a:schemeClr>
                </a:solidFill>
                <a:ea typeface="新細明體"/>
                <a:cs typeface="Calibri"/>
              </a:endParaRPr>
            </a:p>
          </p:txBody>
        </p:sp>
      </p:grpSp>
      <p:grpSp>
        <p:nvGrpSpPr>
          <p:cNvPr id="45" name="群組 44">
            <a:extLst>
              <a:ext uri="{FF2B5EF4-FFF2-40B4-BE49-F238E27FC236}">
                <a16:creationId xmlns:a16="http://schemas.microsoft.com/office/drawing/2014/main" id="{DD4ACBC5-40EA-70C5-F5A8-DE4B4B3A3617}"/>
              </a:ext>
            </a:extLst>
          </p:cNvPr>
          <p:cNvGrpSpPr/>
          <p:nvPr/>
        </p:nvGrpSpPr>
        <p:grpSpPr>
          <a:xfrm>
            <a:off x="2525084" y="3242580"/>
            <a:ext cx="1421917" cy="1255584"/>
            <a:chOff x="2578290" y="3601493"/>
            <a:chExt cx="1421917" cy="1255584"/>
          </a:xfrm>
        </p:grpSpPr>
        <p:grpSp>
          <p:nvGrpSpPr>
            <p:cNvPr id="25" name="群組 24">
              <a:extLst>
                <a:ext uri="{FF2B5EF4-FFF2-40B4-BE49-F238E27FC236}">
                  <a16:creationId xmlns:a16="http://schemas.microsoft.com/office/drawing/2014/main" id="{0088837F-F3E1-7E78-73BA-F624350BCAE0}"/>
                </a:ext>
              </a:extLst>
            </p:cNvPr>
            <p:cNvGrpSpPr/>
            <p:nvPr/>
          </p:nvGrpSpPr>
          <p:grpSpPr>
            <a:xfrm>
              <a:off x="2830448" y="3601493"/>
              <a:ext cx="915116" cy="915140"/>
              <a:chOff x="1501025" y="4207455"/>
              <a:chExt cx="806771" cy="833214"/>
            </a:xfrm>
          </p:grpSpPr>
          <p:sp>
            <p:nvSpPr>
              <p:cNvPr id="23" name="Oval 6">
                <a:extLst>
                  <a:ext uri="{FF2B5EF4-FFF2-40B4-BE49-F238E27FC236}">
                    <a16:creationId xmlns:a16="http://schemas.microsoft.com/office/drawing/2014/main" id="{4160BCBE-8764-B2BD-CBA5-6CD9C160A108}"/>
                  </a:ext>
                </a:extLst>
              </p:cNvPr>
              <p:cNvSpPr/>
              <p:nvPr/>
            </p:nvSpPr>
            <p:spPr>
              <a:xfrm>
                <a:off x="1501025" y="4207455"/>
                <a:ext cx="806771" cy="833214"/>
              </a:xfrm>
              <a:prstGeom prst="ellipse">
                <a:avLst/>
              </a:prstGeom>
              <a:solidFill>
                <a:schemeClr val="accent3">
                  <a:lumMod val="40000"/>
                  <a:lumOff val="60000"/>
                </a:schemeClr>
              </a:solidFill>
              <a:ln w="28575">
                <a:solidFill>
                  <a:schemeClr val="accent3">
                    <a:lumMod val="7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7">
                <a:extLst>
                  <a:ext uri="{FF2B5EF4-FFF2-40B4-BE49-F238E27FC236}">
                    <a16:creationId xmlns:a16="http://schemas.microsoft.com/office/drawing/2014/main" id="{E7789B6A-CB75-E6E0-5EAB-BA7566893A92}"/>
                  </a:ext>
                </a:extLst>
              </p:cNvPr>
              <p:cNvSpPr txBox="1"/>
              <p:nvPr/>
            </p:nvSpPr>
            <p:spPr>
              <a:xfrm>
                <a:off x="1611805" y="4413896"/>
                <a:ext cx="585216" cy="420335"/>
              </a:xfrm>
              <a:prstGeom prst="rect">
                <a:avLst/>
              </a:prstGeom>
              <a:solidFill>
                <a:schemeClr val="accent3">
                  <a:lumMod val="40000"/>
                  <a:lumOff val="60000"/>
                </a:schemeClr>
              </a:solidFill>
              <a:ln>
                <a:noFill/>
              </a:ln>
            </p:spPr>
            <p:txBody>
              <a:bodyPr wrap="square" lIns="91440" tIns="45720" rIns="91440" bIns="45720" anchor="ctr">
                <a:spAutoFit/>
              </a:bodyPr>
              <a:lstStyle/>
              <a:p>
                <a:pPr algn="ctr"/>
                <a:r>
                  <a:rPr lang="en-US" altLang="zh-TW" sz="2400" b="1">
                    <a:latin typeface="Calibri"/>
                    <a:ea typeface="Calibri"/>
                    <a:cs typeface="Calibri"/>
                  </a:rPr>
                  <a:t>s</a:t>
                </a:r>
                <a:r>
                  <a:rPr lang="en-US" altLang="zh-TW" sz="2400" b="1" baseline="-25000">
                    <a:latin typeface="Calibri"/>
                    <a:ea typeface="Calibri"/>
                    <a:cs typeface="Calibri"/>
                  </a:rPr>
                  <a:t>1</a:t>
                </a:r>
                <a:endParaRPr lang="zh-TW" sz="2400" b="1" i="0" baseline="-25000">
                  <a:latin typeface="Calibri"/>
                  <a:ea typeface="新細明體"/>
                  <a:cs typeface="Calibri"/>
                </a:endParaRPr>
              </a:p>
            </p:txBody>
          </p:sp>
        </p:grpSp>
        <p:sp>
          <p:nvSpPr>
            <p:cNvPr id="39" name="文字方塊 38">
              <a:extLst>
                <a:ext uri="{FF2B5EF4-FFF2-40B4-BE49-F238E27FC236}">
                  <a16:creationId xmlns:a16="http://schemas.microsoft.com/office/drawing/2014/main" id="{7ED82BFF-CA62-399A-CB53-CC4FCDAD40DF}"/>
                </a:ext>
              </a:extLst>
            </p:cNvPr>
            <p:cNvSpPr txBox="1"/>
            <p:nvPr/>
          </p:nvSpPr>
          <p:spPr>
            <a:xfrm>
              <a:off x="2578290" y="4518523"/>
              <a:ext cx="1421917" cy="338554"/>
            </a:xfrm>
            <a:prstGeom prst="rect">
              <a:avLst/>
            </a:prstGeom>
            <a:noFill/>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lang="zh-TW" altLang="en-US" sz="1600">
                  <a:solidFill>
                    <a:schemeClr val="accent3">
                      <a:lumMod val="76000"/>
                    </a:schemeClr>
                  </a:solidFill>
                  <a:ea typeface="新細明體"/>
                  <a:cs typeface="Calibri"/>
                </a:rPr>
                <a:t>Managed</a:t>
              </a:r>
              <a:endParaRPr lang="zh-TW">
                <a:solidFill>
                  <a:schemeClr val="accent3">
                    <a:lumMod val="76000"/>
                  </a:schemeClr>
                </a:solidFill>
                <a:ea typeface="新細明體"/>
                <a:cs typeface="Calibri"/>
              </a:endParaRPr>
            </a:p>
          </p:txBody>
        </p:sp>
      </p:grpSp>
      <p:cxnSp>
        <p:nvCxnSpPr>
          <p:cNvPr id="30" name="直線單箭頭接點 29">
            <a:extLst>
              <a:ext uri="{FF2B5EF4-FFF2-40B4-BE49-F238E27FC236}">
                <a16:creationId xmlns:a16="http://schemas.microsoft.com/office/drawing/2014/main" id="{53192619-99C0-C8EA-B85F-490E7568D56D}"/>
              </a:ext>
            </a:extLst>
          </p:cNvPr>
          <p:cNvCxnSpPr/>
          <p:nvPr/>
        </p:nvCxnSpPr>
        <p:spPr>
          <a:xfrm flipV="1">
            <a:off x="2008370" y="3848129"/>
            <a:ext cx="754022" cy="622969"/>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42" name="TextBox 8">
            <a:extLst>
              <a:ext uri="{FF2B5EF4-FFF2-40B4-BE49-F238E27FC236}">
                <a16:creationId xmlns:a16="http://schemas.microsoft.com/office/drawing/2014/main" id="{F6EF4BC0-F1FE-0485-1B2E-CDE54CB0C65D}"/>
              </a:ext>
            </a:extLst>
          </p:cNvPr>
          <p:cNvSpPr txBox="1"/>
          <p:nvPr/>
        </p:nvSpPr>
        <p:spPr>
          <a:xfrm>
            <a:off x="1715445" y="3816199"/>
            <a:ext cx="772929" cy="338554"/>
          </a:xfrm>
          <a:prstGeom prst="rect">
            <a:avLst/>
          </a:prstGeom>
          <a:noFill/>
        </p:spPr>
        <p:txBody>
          <a:bodyPr wrap="square" lIns="91440" tIns="45720" rIns="91440" bIns="45720" anchor="t">
            <a:spAutoFit/>
          </a:bodyPr>
          <a:lstStyle/>
          <a:p>
            <a:r>
              <a:rPr lang="af-ZA" sz="1600" b="1">
                <a:latin typeface="Calibri"/>
                <a:ea typeface="Calibri"/>
                <a:cs typeface="Calibri"/>
              </a:rPr>
              <a:t>π = 0.7</a:t>
            </a:r>
            <a:endParaRPr lang="zh-TW" altLang="en-US" sz="1600" b="1" i="0">
              <a:latin typeface="Calibri"/>
              <a:ea typeface="新細明體"/>
              <a:cs typeface="Calibri"/>
            </a:endParaRPr>
          </a:p>
        </p:txBody>
      </p:sp>
      <p:grpSp>
        <p:nvGrpSpPr>
          <p:cNvPr id="47" name="群組 46">
            <a:extLst>
              <a:ext uri="{FF2B5EF4-FFF2-40B4-BE49-F238E27FC236}">
                <a16:creationId xmlns:a16="http://schemas.microsoft.com/office/drawing/2014/main" id="{B1186A34-28DF-16B6-E4B3-16C1FB5AEF2D}"/>
              </a:ext>
            </a:extLst>
          </p:cNvPr>
          <p:cNvGrpSpPr/>
          <p:nvPr/>
        </p:nvGrpSpPr>
        <p:grpSpPr>
          <a:xfrm>
            <a:off x="1816334" y="4951049"/>
            <a:ext cx="927141" cy="695743"/>
            <a:chOff x="1869540" y="5309962"/>
            <a:chExt cx="927141" cy="695743"/>
          </a:xfrm>
        </p:grpSpPr>
        <p:cxnSp>
          <p:nvCxnSpPr>
            <p:cNvPr id="35" name="直線單箭頭接點 34">
              <a:extLst>
                <a:ext uri="{FF2B5EF4-FFF2-40B4-BE49-F238E27FC236}">
                  <a16:creationId xmlns:a16="http://schemas.microsoft.com/office/drawing/2014/main" id="{B8694768-4CD1-2726-CA88-1AB956652104}"/>
                </a:ext>
              </a:extLst>
            </p:cNvPr>
            <p:cNvCxnSpPr>
              <a:cxnSpLocks/>
            </p:cNvCxnSpPr>
            <p:nvPr/>
          </p:nvCxnSpPr>
          <p:spPr>
            <a:xfrm>
              <a:off x="2056023" y="5309962"/>
              <a:ext cx="740658" cy="493294"/>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44" name="TextBox 8">
              <a:extLst>
                <a:ext uri="{FF2B5EF4-FFF2-40B4-BE49-F238E27FC236}">
                  <a16:creationId xmlns:a16="http://schemas.microsoft.com/office/drawing/2014/main" id="{C5CB92FC-701A-F91F-BFFA-385BCA74C5B8}"/>
                </a:ext>
              </a:extLst>
            </p:cNvPr>
            <p:cNvSpPr txBox="1"/>
            <p:nvPr/>
          </p:nvSpPr>
          <p:spPr>
            <a:xfrm>
              <a:off x="1869540" y="5667151"/>
              <a:ext cx="772929" cy="338554"/>
            </a:xfrm>
            <a:prstGeom prst="rect">
              <a:avLst/>
            </a:prstGeom>
            <a:noFill/>
          </p:spPr>
          <p:txBody>
            <a:bodyPr wrap="square" lIns="91440" tIns="45720" rIns="91440" bIns="45720" anchor="t">
              <a:spAutoFit/>
            </a:bodyPr>
            <a:lstStyle/>
            <a:p>
              <a:r>
                <a:rPr lang="af-ZA" sz="1600" b="1">
                  <a:latin typeface="Calibri"/>
                  <a:ea typeface="Calibri"/>
                  <a:cs typeface="Calibri"/>
                </a:rPr>
                <a:t>π = 0.3</a:t>
              </a:r>
              <a:endParaRPr lang="zh-TW" altLang="en-US" sz="1600" b="1" i="0">
                <a:latin typeface="Calibri"/>
                <a:ea typeface="新細明體"/>
                <a:cs typeface="Calibri"/>
              </a:endParaRPr>
            </a:p>
          </p:txBody>
        </p:sp>
      </p:grpSp>
      <p:grpSp>
        <p:nvGrpSpPr>
          <p:cNvPr id="50" name="群組 49">
            <a:extLst>
              <a:ext uri="{FF2B5EF4-FFF2-40B4-BE49-F238E27FC236}">
                <a16:creationId xmlns:a16="http://schemas.microsoft.com/office/drawing/2014/main" id="{1C4DA11F-C4AA-F855-5709-DDA3753A1C62}"/>
              </a:ext>
            </a:extLst>
          </p:cNvPr>
          <p:cNvGrpSpPr/>
          <p:nvPr/>
        </p:nvGrpSpPr>
        <p:grpSpPr>
          <a:xfrm>
            <a:off x="4482617" y="4241892"/>
            <a:ext cx="915116" cy="915140"/>
            <a:chOff x="1501025" y="4207455"/>
            <a:chExt cx="806771" cy="833214"/>
          </a:xfrm>
        </p:grpSpPr>
        <p:sp>
          <p:nvSpPr>
            <p:cNvPr id="52" name="Oval 6">
              <a:extLst>
                <a:ext uri="{FF2B5EF4-FFF2-40B4-BE49-F238E27FC236}">
                  <a16:creationId xmlns:a16="http://schemas.microsoft.com/office/drawing/2014/main" id="{05EE2484-58CC-C7BD-4852-2D5917AE676B}"/>
                </a:ext>
              </a:extLst>
            </p:cNvPr>
            <p:cNvSpPr/>
            <p:nvPr/>
          </p:nvSpPr>
          <p:spPr>
            <a:xfrm>
              <a:off x="1501025" y="4207455"/>
              <a:ext cx="806771" cy="833214"/>
            </a:xfrm>
            <a:prstGeom prst="ellipse">
              <a:avLst/>
            </a:prstGeom>
            <a:solidFill>
              <a:schemeClr val="accent6">
                <a:lumMod val="20000"/>
                <a:lumOff val="80000"/>
              </a:schemeClr>
            </a:solidFill>
            <a:ln w="28575">
              <a:solidFill>
                <a:schemeClr val="accent6">
                  <a:lumMod val="7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7">
              <a:extLst>
                <a:ext uri="{FF2B5EF4-FFF2-40B4-BE49-F238E27FC236}">
                  <a16:creationId xmlns:a16="http://schemas.microsoft.com/office/drawing/2014/main" id="{A8EB8C03-A3F4-2A0A-2505-EA3481E11F73}"/>
                </a:ext>
              </a:extLst>
            </p:cNvPr>
            <p:cNvSpPr txBox="1"/>
            <p:nvPr/>
          </p:nvSpPr>
          <p:spPr>
            <a:xfrm>
              <a:off x="1611805" y="4413896"/>
              <a:ext cx="585216" cy="420335"/>
            </a:xfrm>
            <a:prstGeom prst="rect">
              <a:avLst/>
            </a:prstGeom>
            <a:solidFill>
              <a:schemeClr val="accent6">
                <a:lumMod val="20000"/>
                <a:lumOff val="80000"/>
              </a:schemeClr>
            </a:solidFill>
            <a:ln>
              <a:noFill/>
            </a:ln>
          </p:spPr>
          <p:txBody>
            <a:bodyPr wrap="square" lIns="91440" tIns="45720" rIns="91440" bIns="45720" anchor="ctr">
              <a:spAutoFit/>
            </a:bodyPr>
            <a:lstStyle/>
            <a:p>
              <a:pPr algn="ctr"/>
              <a:r>
                <a:rPr lang="en-US" altLang="zh-TW" sz="2400" b="1">
                  <a:latin typeface="Calibri"/>
                  <a:ea typeface="Calibri"/>
                  <a:cs typeface="Calibri"/>
                </a:rPr>
                <a:t>U</a:t>
              </a:r>
              <a:endParaRPr lang="en-US" altLang="zh-TW" sz="2400" b="1" i="0">
                <a:latin typeface="Calibri"/>
                <a:ea typeface="Calibri"/>
                <a:cs typeface="Calibri"/>
              </a:endParaRPr>
            </a:p>
          </p:txBody>
        </p:sp>
      </p:grpSp>
      <p:grpSp>
        <p:nvGrpSpPr>
          <p:cNvPr id="54" name="群組 53">
            <a:extLst>
              <a:ext uri="{FF2B5EF4-FFF2-40B4-BE49-F238E27FC236}">
                <a16:creationId xmlns:a16="http://schemas.microsoft.com/office/drawing/2014/main" id="{BE6D9DEE-CF31-73A0-F73B-4378128A523B}"/>
              </a:ext>
            </a:extLst>
          </p:cNvPr>
          <p:cNvGrpSpPr/>
          <p:nvPr/>
        </p:nvGrpSpPr>
        <p:grpSpPr>
          <a:xfrm>
            <a:off x="6947488" y="4242431"/>
            <a:ext cx="915116" cy="915140"/>
            <a:chOff x="1501025" y="4207455"/>
            <a:chExt cx="806771" cy="833214"/>
          </a:xfrm>
        </p:grpSpPr>
        <p:sp>
          <p:nvSpPr>
            <p:cNvPr id="55" name="Oval 6">
              <a:extLst>
                <a:ext uri="{FF2B5EF4-FFF2-40B4-BE49-F238E27FC236}">
                  <a16:creationId xmlns:a16="http://schemas.microsoft.com/office/drawing/2014/main" id="{60BB0D0F-ADEE-15F3-2132-8AF3B333D423}"/>
                </a:ext>
              </a:extLst>
            </p:cNvPr>
            <p:cNvSpPr/>
            <p:nvPr/>
          </p:nvSpPr>
          <p:spPr>
            <a:xfrm>
              <a:off x="1501025" y="4207455"/>
              <a:ext cx="806771" cy="833214"/>
            </a:xfrm>
            <a:prstGeom prst="ellipse">
              <a:avLst/>
            </a:prstGeom>
            <a:solidFill>
              <a:schemeClr val="accent3">
                <a:lumMod val="40000"/>
                <a:lumOff val="60000"/>
              </a:schemeClr>
            </a:solidFill>
            <a:ln w="28575">
              <a:solidFill>
                <a:schemeClr val="accent3">
                  <a:lumMod val="7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7">
              <a:extLst>
                <a:ext uri="{FF2B5EF4-FFF2-40B4-BE49-F238E27FC236}">
                  <a16:creationId xmlns:a16="http://schemas.microsoft.com/office/drawing/2014/main" id="{210FF76B-8FDA-20E6-42BD-8F905416F509}"/>
                </a:ext>
              </a:extLst>
            </p:cNvPr>
            <p:cNvSpPr txBox="1"/>
            <p:nvPr/>
          </p:nvSpPr>
          <p:spPr>
            <a:xfrm>
              <a:off x="1611805" y="4413896"/>
              <a:ext cx="585216" cy="420335"/>
            </a:xfrm>
            <a:prstGeom prst="rect">
              <a:avLst/>
            </a:prstGeom>
            <a:solidFill>
              <a:schemeClr val="accent3">
                <a:lumMod val="40000"/>
                <a:lumOff val="60000"/>
              </a:schemeClr>
            </a:solidFill>
            <a:ln>
              <a:noFill/>
            </a:ln>
          </p:spPr>
          <p:txBody>
            <a:bodyPr wrap="square" lIns="91440" tIns="45720" rIns="91440" bIns="45720" anchor="ctr">
              <a:spAutoFit/>
            </a:bodyPr>
            <a:lstStyle/>
            <a:p>
              <a:pPr algn="ctr"/>
              <a:r>
                <a:rPr lang="en-US" altLang="zh-TW" sz="2400" b="1">
                  <a:latin typeface="Calibri"/>
                  <a:ea typeface="Calibri"/>
                  <a:cs typeface="Calibri"/>
                </a:rPr>
                <a:t>M</a:t>
              </a:r>
              <a:endParaRPr lang="en-US" altLang="zh-TW" sz="2400" b="1" i="0" baseline="-25000">
                <a:latin typeface="Calibri"/>
                <a:ea typeface="Calibri"/>
                <a:cs typeface="Calibri"/>
              </a:endParaRPr>
            </a:p>
          </p:txBody>
        </p:sp>
      </p:grpSp>
      <p:cxnSp>
        <p:nvCxnSpPr>
          <p:cNvPr id="61" name="直線單箭頭接點 60">
            <a:extLst>
              <a:ext uri="{FF2B5EF4-FFF2-40B4-BE49-F238E27FC236}">
                <a16:creationId xmlns:a16="http://schemas.microsoft.com/office/drawing/2014/main" id="{53192619-99C0-C8EA-B85F-490E7568D56D}"/>
              </a:ext>
            </a:extLst>
          </p:cNvPr>
          <p:cNvCxnSpPr/>
          <p:nvPr/>
        </p:nvCxnSpPr>
        <p:spPr>
          <a:xfrm flipV="1">
            <a:off x="5422251" y="4583005"/>
            <a:ext cx="1529188" cy="21391"/>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62" name="TextBox 8">
            <a:extLst>
              <a:ext uri="{FF2B5EF4-FFF2-40B4-BE49-F238E27FC236}">
                <a16:creationId xmlns:a16="http://schemas.microsoft.com/office/drawing/2014/main" id="{F6EF4BC0-F1FE-0485-1B2E-CDE54CB0C65D}"/>
              </a:ext>
            </a:extLst>
          </p:cNvPr>
          <p:cNvSpPr txBox="1"/>
          <p:nvPr/>
        </p:nvSpPr>
        <p:spPr>
          <a:xfrm>
            <a:off x="5709491" y="4302113"/>
            <a:ext cx="913260" cy="338554"/>
          </a:xfrm>
          <a:prstGeom prst="rect">
            <a:avLst/>
          </a:prstGeom>
          <a:noFill/>
        </p:spPr>
        <p:txBody>
          <a:bodyPr wrap="square" lIns="91440" tIns="45720" rIns="91440" bIns="4572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af-ZA" sz="1600" b="1">
                <a:latin typeface="Calibri"/>
                <a:ea typeface="Calibri"/>
                <a:cs typeface="Calibri"/>
              </a:rPr>
              <a:t>A = 0.25</a:t>
            </a:r>
            <a:endParaRPr lang="zh-TW" altLang="en-US" sz="1600" b="1" i="0">
              <a:latin typeface="Calibri"/>
              <a:ea typeface="新細明體"/>
              <a:cs typeface="Calibri"/>
            </a:endParaRPr>
          </a:p>
        </p:txBody>
      </p:sp>
      <p:cxnSp>
        <p:nvCxnSpPr>
          <p:cNvPr id="66" name="直線單箭頭接點 65">
            <a:extLst>
              <a:ext uri="{FF2B5EF4-FFF2-40B4-BE49-F238E27FC236}">
                <a16:creationId xmlns:a16="http://schemas.microsoft.com/office/drawing/2014/main" id="{3D903D27-B2BA-04E6-D462-C135EC61C4C7}"/>
              </a:ext>
            </a:extLst>
          </p:cNvPr>
          <p:cNvCxnSpPr>
            <a:cxnSpLocks/>
          </p:cNvCxnSpPr>
          <p:nvPr/>
        </p:nvCxnSpPr>
        <p:spPr>
          <a:xfrm flipV="1">
            <a:off x="5417590" y="4816592"/>
            <a:ext cx="1529188" cy="21391"/>
          </a:xfrm>
          <a:prstGeom prst="straightConnector1">
            <a:avLst/>
          </a:prstGeom>
          <a:ln>
            <a:solidFill>
              <a:schemeClr val="tx1"/>
            </a:solidFill>
            <a:headEnd type="triangle"/>
            <a:tailEnd type="none"/>
          </a:ln>
        </p:spPr>
        <p:style>
          <a:lnRef idx="2">
            <a:schemeClr val="accent1"/>
          </a:lnRef>
          <a:fillRef idx="0">
            <a:schemeClr val="accent1"/>
          </a:fillRef>
          <a:effectRef idx="1">
            <a:schemeClr val="accent1"/>
          </a:effectRef>
          <a:fontRef idx="minor">
            <a:schemeClr val="tx1"/>
          </a:fontRef>
        </p:style>
      </p:cxnSp>
      <p:sp>
        <p:nvSpPr>
          <p:cNvPr id="67" name="TextBox 8">
            <a:extLst>
              <a:ext uri="{FF2B5EF4-FFF2-40B4-BE49-F238E27FC236}">
                <a16:creationId xmlns:a16="http://schemas.microsoft.com/office/drawing/2014/main" id="{382EE855-C1B7-7473-AC91-E1B217710091}"/>
              </a:ext>
            </a:extLst>
          </p:cNvPr>
          <p:cNvSpPr txBox="1"/>
          <p:nvPr/>
        </p:nvSpPr>
        <p:spPr>
          <a:xfrm>
            <a:off x="5704905" y="4815356"/>
            <a:ext cx="913260" cy="338554"/>
          </a:xfrm>
          <a:prstGeom prst="rect">
            <a:avLst/>
          </a:prstGeom>
          <a:noFill/>
        </p:spPr>
        <p:txBody>
          <a:bodyPr wrap="square" lIns="91440" tIns="45720" rIns="91440" bIns="4572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af-ZA" sz="1600" b="1">
                <a:latin typeface="Calibri"/>
                <a:ea typeface="Calibri"/>
                <a:cs typeface="Calibri"/>
              </a:rPr>
              <a:t>A = 0.15</a:t>
            </a:r>
            <a:endParaRPr lang="zh-TW" altLang="en-US" sz="1600" b="1" i="0">
              <a:latin typeface="Calibri"/>
              <a:ea typeface="新細明體"/>
              <a:cs typeface="Calibri"/>
            </a:endParaRPr>
          </a:p>
        </p:txBody>
      </p:sp>
      <p:sp>
        <p:nvSpPr>
          <p:cNvPr id="22" name="TextBox 8">
            <a:extLst>
              <a:ext uri="{FF2B5EF4-FFF2-40B4-BE49-F238E27FC236}">
                <a16:creationId xmlns:a16="http://schemas.microsoft.com/office/drawing/2014/main" id="{F74CCCBB-CF6B-1527-F462-428B43B62094}"/>
              </a:ext>
            </a:extLst>
          </p:cNvPr>
          <p:cNvSpPr txBox="1"/>
          <p:nvPr/>
        </p:nvSpPr>
        <p:spPr>
          <a:xfrm>
            <a:off x="4494381" y="3595170"/>
            <a:ext cx="913260" cy="338554"/>
          </a:xfrm>
          <a:prstGeom prst="rect">
            <a:avLst/>
          </a:prstGeom>
          <a:noFill/>
        </p:spPr>
        <p:txBody>
          <a:bodyPr wrap="square" lIns="91440" tIns="45720" rIns="91440" bIns="4572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af-ZA" sz="1600" b="1">
                <a:latin typeface="Calibri"/>
                <a:ea typeface="Calibri"/>
                <a:cs typeface="Calibri"/>
              </a:rPr>
              <a:t>A = 0.75</a:t>
            </a:r>
            <a:endParaRPr lang="zh-TW" altLang="en-US" sz="1600" b="1" i="0">
              <a:latin typeface="Calibri"/>
              <a:ea typeface="新細明體"/>
              <a:cs typeface="Calibri"/>
            </a:endParaRPr>
          </a:p>
        </p:txBody>
      </p:sp>
      <p:sp>
        <p:nvSpPr>
          <p:cNvPr id="26" name="TextBox 8">
            <a:extLst>
              <a:ext uri="{FF2B5EF4-FFF2-40B4-BE49-F238E27FC236}">
                <a16:creationId xmlns:a16="http://schemas.microsoft.com/office/drawing/2014/main" id="{F5A3EEFE-6049-B8A7-FC02-D13B8FFC3947}"/>
              </a:ext>
            </a:extLst>
          </p:cNvPr>
          <p:cNvSpPr txBox="1"/>
          <p:nvPr/>
        </p:nvSpPr>
        <p:spPr>
          <a:xfrm>
            <a:off x="6939124" y="3581955"/>
            <a:ext cx="913260" cy="338554"/>
          </a:xfrm>
          <a:prstGeom prst="rect">
            <a:avLst/>
          </a:prstGeom>
          <a:noFill/>
        </p:spPr>
        <p:txBody>
          <a:bodyPr wrap="square" lIns="91440" tIns="45720" rIns="91440" bIns="4572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af-ZA" sz="1600" b="1">
                <a:latin typeface="Calibri"/>
                <a:ea typeface="Calibri"/>
                <a:cs typeface="Calibri"/>
              </a:rPr>
              <a:t>A = 0.85</a:t>
            </a:r>
            <a:endParaRPr lang="zh-TW" altLang="en-US" sz="1600" b="1" i="0">
              <a:latin typeface="Calibri"/>
              <a:ea typeface="新細明體"/>
              <a:cs typeface="Calibri"/>
            </a:endParaRPr>
          </a:p>
        </p:txBody>
      </p:sp>
      <p:grpSp>
        <p:nvGrpSpPr>
          <p:cNvPr id="27" name="群組 26">
            <a:extLst>
              <a:ext uri="{FF2B5EF4-FFF2-40B4-BE49-F238E27FC236}">
                <a16:creationId xmlns:a16="http://schemas.microsoft.com/office/drawing/2014/main" id="{F3B32338-55E9-B56D-E6DA-D2A2EE82D9C5}"/>
              </a:ext>
            </a:extLst>
          </p:cNvPr>
          <p:cNvGrpSpPr/>
          <p:nvPr/>
        </p:nvGrpSpPr>
        <p:grpSpPr>
          <a:xfrm>
            <a:off x="8571171" y="3239057"/>
            <a:ext cx="915116" cy="915140"/>
            <a:chOff x="1501025" y="4207455"/>
            <a:chExt cx="806771" cy="833214"/>
          </a:xfrm>
        </p:grpSpPr>
        <p:sp>
          <p:nvSpPr>
            <p:cNvPr id="29" name="Oval 6">
              <a:extLst>
                <a:ext uri="{FF2B5EF4-FFF2-40B4-BE49-F238E27FC236}">
                  <a16:creationId xmlns:a16="http://schemas.microsoft.com/office/drawing/2014/main" id="{34787C83-2047-7E60-0661-A4DDD0C21BD5}"/>
                </a:ext>
              </a:extLst>
            </p:cNvPr>
            <p:cNvSpPr/>
            <p:nvPr/>
          </p:nvSpPr>
          <p:spPr>
            <a:xfrm>
              <a:off x="1501025" y="4207455"/>
              <a:ext cx="806771" cy="833214"/>
            </a:xfrm>
            <a:prstGeom prst="ellipse">
              <a:avLst/>
            </a:prstGeom>
            <a:solidFill>
              <a:schemeClr val="accent6">
                <a:lumMod val="20000"/>
                <a:lumOff val="80000"/>
              </a:schemeClr>
            </a:solidFill>
            <a:ln w="28575">
              <a:solidFill>
                <a:schemeClr val="accent6">
                  <a:lumMod val="7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7">
              <a:extLst>
                <a:ext uri="{FF2B5EF4-FFF2-40B4-BE49-F238E27FC236}">
                  <a16:creationId xmlns:a16="http://schemas.microsoft.com/office/drawing/2014/main" id="{EFCC296A-8A7B-F5DB-A66B-2C6728C8FEA6}"/>
                </a:ext>
              </a:extLst>
            </p:cNvPr>
            <p:cNvSpPr txBox="1"/>
            <p:nvPr/>
          </p:nvSpPr>
          <p:spPr>
            <a:xfrm>
              <a:off x="1611805" y="4413896"/>
              <a:ext cx="585216" cy="420335"/>
            </a:xfrm>
            <a:prstGeom prst="rect">
              <a:avLst/>
            </a:prstGeom>
            <a:solidFill>
              <a:schemeClr val="accent6">
                <a:lumMod val="20000"/>
                <a:lumOff val="80000"/>
              </a:schemeClr>
            </a:solidFill>
            <a:ln>
              <a:noFill/>
            </a:ln>
          </p:spPr>
          <p:txBody>
            <a:bodyPr wrap="square" lIns="91440" tIns="45720" rIns="91440" bIns="45720" anchor="ctr">
              <a:spAutoFit/>
            </a:bodyPr>
            <a:lstStyle/>
            <a:p>
              <a:pPr algn="ctr"/>
              <a:r>
                <a:rPr lang="en-US" altLang="zh-TW" sz="2400" b="1">
                  <a:latin typeface="Calibri"/>
                  <a:ea typeface="Calibri"/>
                  <a:cs typeface="Calibri"/>
                </a:rPr>
                <a:t>U</a:t>
              </a:r>
              <a:endParaRPr lang="en-US" altLang="zh-TW" sz="2400" b="1" i="0">
                <a:latin typeface="Calibri"/>
                <a:ea typeface="Calibri"/>
                <a:cs typeface="Calibri"/>
              </a:endParaRPr>
            </a:p>
          </p:txBody>
        </p:sp>
      </p:grpSp>
      <p:grpSp>
        <p:nvGrpSpPr>
          <p:cNvPr id="32" name="群組 31">
            <a:extLst>
              <a:ext uri="{FF2B5EF4-FFF2-40B4-BE49-F238E27FC236}">
                <a16:creationId xmlns:a16="http://schemas.microsoft.com/office/drawing/2014/main" id="{84437CE9-CCD2-6E8F-D863-1D58539E9E37}"/>
              </a:ext>
            </a:extLst>
          </p:cNvPr>
          <p:cNvGrpSpPr/>
          <p:nvPr/>
        </p:nvGrpSpPr>
        <p:grpSpPr>
          <a:xfrm>
            <a:off x="8571464" y="5020866"/>
            <a:ext cx="915116" cy="915140"/>
            <a:chOff x="1501025" y="4207455"/>
            <a:chExt cx="806771" cy="833214"/>
          </a:xfrm>
        </p:grpSpPr>
        <p:sp>
          <p:nvSpPr>
            <p:cNvPr id="33" name="Oval 6">
              <a:extLst>
                <a:ext uri="{FF2B5EF4-FFF2-40B4-BE49-F238E27FC236}">
                  <a16:creationId xmlns:a16="http://schemas.microsoft.com/office/drawing/2014/main" id="{E87A8979-6FED-1644-A48C-6238C2242389}"/>
                </a:ext>
              </a:extLst>
            </p:cNvPr>
            <p:cNvSpPr/>
            <p:nvPr/>
          </p:nvSpPr>
          <p:spPr>
            <a:xfrm>
              <a:off x="1501025" y="4207455"/>
              <a:ext cx="806771" cy="833214"/>
            </a:xfrm>
            <a:prstGeom prst="ellipse">
              <a:avLst/>
            </a:prstGeom>
            <a:solidFill>
              <a:schemeClr val="accent3">
                <a:lumMod val="40000"/>
                <a:lumOff val="60000"/>
              </a:schemeClr>
            </a:solidFill>
            <a:ln w="28575">
              <a:solidFill>
                <a:schemeClr val="accent3">
                  <a:lumMod val="7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7">
              <a:extLst>
                <a:ext uri="{FF2B5EF4-FFF2-40B4-BE49-F238E27FC236}">
                  <a16:creationId xmlns:a16="http://schemas.microsoft.com/office/drawing/2014/main" id="{0759E11F-643F-556B-887D-DDA196BDCEC0}"/>
                </a:ext>
              </a:extLst>
            </p:cNvPr>
            <p:cNvSpPr txBox="1"/>
            <p:nvPr/>
          </p:nvSpPr>
          <p:spPr>
            <a:xfrm>
              <a:off x="1611805" y="4413896"/>
              <a:ext cx="585216" cy="420335"/>
            </a:xfrm>
            <a:prstGeom prst="rect">
              <a:avLst/>
            </a:prstGeom>
            <a:solidFill>
              <a:schemeClr val="accent3">
                <a:lumMod val="40000"/>
                <a:lumOff val="60000"/>
              </a:schemeClr>
            </a:solidFill>
            <a:ln>
              <a:noFill/>
            </a:ln>
          </p:spPr>
          <p:txBody>
            <a:bodyPr wrap="square" lIns="91440" tIns="45720" rIns="91440" bIns="45720" anchor="ctr">
              <a:spAutoFit/>
            </a:bodyPr>
            <a:lstStyle/>
            <a:p>
              <a:pPr algn="ctr"/>
              <a:r>
                <a:rPr lang="en-US" altLang="zh-TW" sz="2400" b="1">
                  <a:latin typeface="Calibri"/>
                  <a:ea typeface="Calibri"/>
                  <a:cs typeface="Calibri"/>
                </a:rPr>
                <a:t>M</a:t>
              </a:r>
              <a:endParaRPr lang="en-US" altLang="zh-TW" sz="2400" b="1" i="0" baseline="-25000">
                <a:latin typeface="Calibri"/>
                <a:ea typeface="Calibri"/>
                <a:cs typeface="Calibri"/>
              </a:endParaRPr>
            </a:p>
          </p:txBody>
        </p:sp>
      </p:grpSp>
      <p:sp>
        <p:nvSpPr>
          <p:cNvPr id="36" name="TextBox 8">
            <a:extLst>
              <a:ext uri="{FF2B5EF4-FFF2-40B4-BE49-F238E27FC236}">
                <a16:creationId xmlns:a16="http://schemas.microsoft.com/office/drawing/2014/main" id="{8AB6AA54-9CC4-EE44-A42F-6B09275BB339}"/>
              </a:ext>
            </a:extLst>
          </p:cNvPr>
          <p:cNvSpPr txBox="1"/>
          <p:nvPr/>
        </p:nvSpPr>
        <p:spPr>
          <a:xfrm>
            <a:off x="10330522" y="3401897"/>
            <a:ext cx="1574823" cy="584775"/>
          </a:xfrm>
          <a:prstGeom prst="rect">
            <a:avLst/>
          </a:prstGeom>
          <a:solidFill>
            <a:schemeClr val="accent6">
              <a:lumMod val="20000"/>
              <a:lumOff val="80000"/>
            </a:schemeClr>
          </a:solidFill>
          <a:ln>
            <a:solidFill>
              <a:schemeClr val="accent6">
                <a:lumMod val="75000"/>
              </a:schemeClr>
            </a:solidFill>
          </a:ln>
        </p:spPr>
        <p:txBody>
          <a:bodyPr wrap="square" lIns="91440" tIns="45720" rIns="91440" bIns="45720" anchor="ctr">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af-ZA" sz="1600" b="1">
                <a:latin typeface="Calibri"/>
                <a:ea typeface="Calibri"/>
                <a:cs typeface="Calibri"/>
              </a:rPr>
              <a:t>Pain ~ </a:t>
            </a:r>
            <a:r>
              <a:rPr lang="af-ZA" sz="1600" b="1" i="1">
                <a:latin typeface="Calibri"/>
                <a:ea typeface="Calibri"/>
                <a:cs typeface="Calibri"/>
              </a:rPr>
              <a:t>N</a:t>
            </a:r>
            <a:r>
              <a:rPr lang="af-ZA" sz="1600" b="1">
                <a:latin typeface="Calibri"/>
                <a:ea typeface="Calibri"/>
                <a:cs typeface="Calibri"/>
              </a:rPr>
              <a:t>(7, 0.5)</a:t>
            </a:r>
          </a:p>
          <a:p>
            <a:r>
              <a:rPr lang="af-ZA" sz="1600" b="1">
                <a:latin typeface="Calibri"/>
                <a:ea typeface="Calibri"/>
                <a:cs typeface="Calibri"/>
              </a:rPr>
              <a:t>MME ~ </a:t>
            </a:r>
            <a:r>
              <a:rPr lang="af-ZA" sz="1600" b="1" i="1">
                <a:latin typeface="Calibri"/>
                <a:ea typeface="Calibri"/>
                <a:cs typeface="Calibri"/>
              </a:rPr>
              <a:t>N</a:t>
            </a:r>
            <a:r>
              <a:rPr lang="af-ZA" sz="1600" b="1">
                <a:latin typeface="Calibri"/>
                <a:ea typeface="Calibri"/>
                <a:cs typeface="Calibri"/>
              </a:rPr>
              <a:t>(1, 0.5)</a:t>
            </a:r>
            <a:endParaRPr lang="af-ZA" altLang="zh-TW" sz="1600" b="1">
              <a:latin typeface="Calibri"/>
              <a:ea typeface="Calibri"/>
              <a:cs typeface="Calibri"/>
            </a:endParaRPr>
          </a:p>
        </p:txBody>
      </p:sp>
      <p:cxnSp>
        <p:nvCxnSpPr>
          <p:cNvPr id="38" name="直線單箭頭接點 37">
            <a:extLst>
              <a:ext uri="{FF2B5EF4-FFF2-40B4-BE49-F238E27FC236}">
                <a16:creationId xmlns:a16="http://schemas.microsoft.com/office/drawing/2014/main" id="{EE7BF557-A4B7-8CD3-2006-3DF0C121AFE9}"/>
              </a:ext>
            </a:extLst>
          </p:cNvPr>
          <p:cNvCxnSpPr>
            <a:cxnSpLocks/>
          </p:cNvCxnSpPr>
          <p:nvPr/>
        </p:nvCxnSpPr>
        <p:spPr>
          <a:xfrm flipV="1">
            <a:off x="9570628" y="3687698"/>
            <a:ext cx="733975" cy="1338"/>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40" name="TextBox 8">
            <a:extLst>
              <a:ext uri="{FF2B5EF4-FFF2-40B4-BE49-F238E27FC236}">
                <a16:creationId xmlns:a16="http://schemas.microsoft.com/office/drawing/2014/main" id="{83013EFC-EF48-2022-71FB-8CF65EDDAAF6}"/>
              </a:ext>
            </a:extLst>
          </p:cNvPr>
          <p:cNvSpPr txBox="1"/>
          <p:nvPr/>
        </p:nvSpPr>
        <p:spPr>
          <a:xfrm>
            <a:off x="10313399" y="5183706"/>
            <a:ext cx="1577408" cy="584775"/>
          </a:xfrm>
          <a:prstGeom prst="rect">
            <a:avLst/>
          </a:prstGeom>
          <a:solidFill>
            <a:schemeClr val="accent3">
              <a:lumMod val="40000"/>
              <a:lumOff val="60000"/>
            </a:schemeClr>
          </a:solidFill>
          <a:ln>
            <a:solidFill>
              <a:schemeClr val="accent3">
                <a:lumMod val="75000"/>
              </a:schemeClr>
            </a:solidFill>
          </a:ln>
        </p:spPr>
        <p:txBody>
          <a:bodyPr wrap="square" lIns="91440" tIns="45720" rIns="91440" bIns="45720" anchor="ctr">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af-ZA" sz="1600" b="1">
                <a:latin typeface="Calibri"/>
                <a:ea typeface="Calibri"/>
                <a:cs typeface="Calibri"/>
              </a:rPr>
              <a:t>Pain ~ </a:t>
            </a:r>
            <a:r>
              <a:rPr lang="af-ZA" sz="1600" b="1" i="1">
                <a:latin typeface="Calibri"/>
                <a:ea typeface="Calibri"/>
                <a:cs typeface="Calibri"/>
              </a:rPr>
              <a:t>N</a:t>
            </a:r>
            <a:r>
              <a:rPr lang="af-ZA" sz="1600" b="1">
                <a:latin typeface="Calibri"/>
                <a:ea typeface="Calibri"/>
                <a:cs typeface="Calibri"/>
              </a:rPr>
              <a:t>(5, 0.5)</a:t>
            </a:r>
          </a:p>
          <a:p>
            <a:r>
              <a:rPr lang="af-ZA" sz="1600" b="1">
                <a:latin typeface="Calibri"/>
                <a:ea typeface="Calibri"/>
                <a:cs typeface="Calibri"/>
              </a:rPr>
              <a:t>MME ~ </a:t>
            </a:r>
            <a:r>
              <a:rPr lang="af-ZA" sz="1600" b="1" i="1">
                <a:latin typeface="Calibri"/>
                <a:ea typeface="Calibri"/>
                <a:cs typeface="Calibri"/>
              </a:rPr>
              <a:t>N</a:t>
            </a:r>
            <a:r>
              <a:rPr lang="af-ZA" sz="1600" b="1">
                <a:latin typeface="Calibri"/>
                <a:ea typeface="Calibri"/>
                <a:cs typeface="Calibri"/>
              </a:rPr>
              <a:t>(7, 1.5)</a:t>
            </a:r>
            <a:endParaRPr lang="af-ZA" altLang="zh-TW" sz="1600" b="1">
              <a:latin typeface="Calibri"/>
              <a:ea typeface="Calibri"/>
              <a:cs typeface="Calibri"/>
            </a:endParaRPr>
          </a:p>
        </p:txBody>
      </p:sp>
      <p:cxnSp>
        <p:nvCxnSpPr>
          <p:cNvPr id="41" name="直線單箭頭接點 40">
            <a:extLst>
              <a:ext uri="{FF2B5EF4-FFF2-40B4-BE49-F238E27FC236}">
                <a16:creationId xmlns:a16="http://schemas.microsoft.com/office/drawing/2014/main" id="{93F6C521-28C6-8F21-057B-61A0C1C2D84C}"/>
              </a:ext>
            </a:extLst>
          </p:cNvPr>
          <p:cNvCxnSpPr>
            <a:cxnSpLocks/>
          </p:cNvCxnSpPr>
          <p:nvPr/>
        </p:nvCxnSpPr>
        <p:spPr>
          <a:xfrm flipV="1">
            <a:off x="9560654" y="5472830"/>
            <a:ext cx="733974" cy="1338"/>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43" name="文字方塊 42">
            <a:extLst>
              <a:ext uri="{FF2B5EF4-FFF2-40B4-BE49-F238E27FC236}">
                <a16:creationId xmlns:a16="http://schemas.microsoft.com/office/drawing/2014/main" id="{79BC7FA8-1D31-10C0-5BB4-A6639BD07D43}"/>
              </a:ext>
            </a:extLst>
          </p:cNvPr>
          <p:cNvSpPr txBox="1"/>
          <p:nvPr/>
        </p:nvSpPr>
        <p:spPr>
          <a:xfrm>
            <a:off x="1214183" y="6291595"/>
            <a:ext cx="10296634" cy="369332"/>
          </a:xfrm>
          <a:prstGeom prst="rect">
            <a:avLst/>
          </a:prstGeom>
          <a:solidFill>
            <a:schemeClr val="accent1">
              <a:lumMod val="20000"/>
              <a:lumOff val="80000"/>
            </a:schemeClr>
          </a:solidFill>
          <a:ln>
            <a:solidFill>
              <a:schemeClr val="accent1">
                <a:lumMod val="75000"/>
              </a:schemeClr>
            </a:solidFill>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lang="zh-TW" i="1">
                <a:solidFill>
                  <a:schemeClr val="tx1">
                    <a:lumMod val="76000"/>
                    <a:lumOff val="24000"/>
                  </a:schemeClr>
                </a:solidFill>
                <a:ea typeface="+mn-lt"/>
                <a:cs typeface="+mn-lt"/>
              </a:rPr>
              <a:t>π, A, B are learned automatically from data using Baum-Welch EM</a:t>
            </a:r>
            <a:r>
              <a:rPr lang="zh-TW" altLang="en-US" i="1">
                <a:solidFill>
                  <a:schemeClr val="tx1">
                    <a:lumMod val="76000"/>
                    <a:lumOff val="24000"/>
                  </a:schemeClr>
                </a:solidFill>
                <a:ea typeface="+mn-lt"/>
                <a:cs typeface="+mn-lt"/>
              </a:rPr>
              <a:t> </a:t>
            </a:r>
            <a:r>
              <a:rPr lang="en-US" altLang="zh-TW" i="1">
                <a:solidFill>
                  <a:schemeClr val="tx1">
                    <a:lumMod val="76000"/>
                    <a:lumOff val="24000"/>
                  </a:schemeClr>
                </a:solidFill>
                <a:ea typeface="+mn-lt"/>
                <a:cs typeface="+mn-lt"/>
              </a:rPr>
              <a:t>algorithm</a:t>
            </a:r>
            <a:endParaRPr lang="zh-TW" i="1">
              <a:solidFill>
                <a:schemeClr val="tx1">
                  <a:lumMod val="76000"/>
                  <a:lumOff val="24000"/>
                </a:schemeClr>
              </a:solidFill>
              <a:ea typeface="新細明體"/>
              <a:cs typeface="Calibri"/>
            </a:endParaRPr>
          </a:p>
        </p:txBody>
      </p:sp>
      <p:pic>
        <p:nvPicPr>
          <p:cNvPr id="58" name="圖片 57" descr="一張含有 黑色, 黑暗 的圖片&#10;&#10;AI 產生的內容可能不正確。">
            <a:extLst>
              <a:ext uri="{FF2B5EF4-FFF2-40B4-BE49-F238E27FC236}">
                <a16:creationId xmlns:a16="http://schemas.microsoft.com/office/drawing/2014/main" id="{4AB94541-7107-9DC5-38F3-C236C73DB40E}"/>
              </a:ext>
            </a:extLst>
          </p:cNvPr>
          <p:cNvPicPr>
            <a:picLocks noChangeAspect="1"/>
          </p:cNvPicPr>
          <p:nvPr/>
        </p:nvPicPr>
        <p:blipFill>
          <a:blip r:embed="rId3"/>
          <a:stretch>
            <a:fillRect/>
          </a:stretch>
        </p:blipFill>
        <p:spPr>
          <a:xfrm rot="540000">
            <a:off x="4542802" y="3750782"/>
            <a:ext cx="672257" cy="712536"/>
          </a:xfrm>
          <a:prstGeom prst="rect">
            <a:avLst/>
          </a:prstGeom>
        </p:spPr>
      </p:pic>
      <p:pic>
        <p:nvPicPr>
          <p:cNvPr id="59" name="圖片 58" descr="一張含有 黑色, 黑暗 的圖片&#10;&#10;AI 產生的內容可能不正確。">
            <a:extLst>
              <a:ext uri="{FF2B5EF4-FFF2-40B4-BE49-F238E27FC236}">
                <a16:creationId xmlns:a16="http://schemas.microsoft.com/office/drawing/2014/main" id="{4553D04B-7786-074D-02AD-0965AF7924DB}"/>
              </a:ext>
            </a:extLst>
          </p:cNvPr>
          <p:cNvPicPr>
            <a:picLocks noChangeAspect="1"/>
          </p:cNvPicPr>
          <p:nvPr/>
        </p:nvPicPr>
        <p:blipFill>
          <a:blip r:embed="rId3"/>
          <a:stretch>
            <a:fillRect/>
          </a:stretch>
        </p:blipFill>
        <p:spPr>
          <a:xfrm rot="540000">
            <a:off x="7003203" y="3745797"/>
            <a:ext cx="672257" cy="712536"/>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8"/>
                                        </p:tgtEl>
                                        <p:attrNameLst>
                                          <p:attrName>style.visibility</p:attrName>
                                        </p:attrNameLst>
                                      </p:cBhvr>
                                      <p:to>
                                        <p:strVal val="visible"/>
                                      </p:to>
                                    </p:set>
                                    <p:animEffect transition="in" filter="fade">
                                      <p:cBhvr>
                                        <p:cTn id="7" dur="500"/>
                                        <p:tgtEl>
                                          <p:spTgt spid="4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2"/>
                                        </p:tgtEl>
                                        <p:attrNameLst>
                                          <p:attrName>style.visibility</p:attrName>
                                        </p:attrNameLst>
                                      </p:cBhvr>
                                      <p:to>
                                        <p:strVal val="visible"/>
                                      </p:to>
                                    </p:set>
                                    <p:animEffect transition="in" filter="fade">
                                      <p:cBhvr>
                                        <p:cTn id="10" dur="500"/>
                                        <p:tgtEl>
                                          <p:spTgt spid="42"/>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8"/>
                                        </p:tgtEl>
                                        <p:attrNameLst>
                                          <p:attrName>style.visibility</p:attrName>
                                        </p:attrNameLst>
                                      </p:cBhvr>
                                      <p:to>
                                        <p:strVal val="visible"/>
                                      </p:to>
                                    </p:set>
                                    <p:animEffect transition="in" filter="fade">
                                      <p:cBhvr>
                                        <p:cTn id="13" dur="500"/>
                                        <p:tgtEl>
                                          <p:spTgt spid="28"/>
                                        </p:tgtEl>
                                      </p:cBhvr>
                                    </p:animEffect>
                                  </p:childTnLst>
                                </p:cTn>
                              </p:par>
                              <p:par>
                                <p:cTn id="14" presetID="10" presetClass="entr" presetSubtype="0" fill="hold" nodeType="withEffect">
                                  <p:stCondLst>
                                    <p:cond delay="0"/>
                                  </p:stCondLst>
                                  <p:childTnLst>
                                    <p:set>
                                      <p:cBhvr>
                                        <p:cTn id="15" dur="1" fill="hold">
                                          <p:stCondLst>
                                            <p:cond delay="0"/>
                                          </p:stCondLst>
                                        </p:cTn>
                                        <p:tgtEl>
                                          <p:spTgt spid="45"/>
                                        </p:tgtEl>
                                        <p:attrNameLst>
                                          <p:attrName>style.visibility</p:attrName>
                                        </p:attrNameLst>
                                      </p:cBhvr>
                                      <p:to>
                                        <p:strVal val="visible"/>
                                      </p:to>
                                    </p:set>
                                    <p:animEffect transition="in" filter="fade">
                                      <p:cBhvr>
                                        <p:cTn id="16" dur="500"/>
                                        <p:tgtEl>
                                          <p:spTgt spid="45"/>
                                        </p:tgtEl>
                                      </p:cBhvr>
                                    </p:animEffect>
                                  </p:childTnLst>
                                </p:cTn>
                              </p:par>
                              <p:par>
                                <p:cTn id="17" presetID="10" presetClass="entr" presetSubtype="0" fill="hold" nodeType="withEffect">
                                  <p:stCondLst>
                                    <p:cond delay="0"/>
                                  </p:stCondLst>
                                  <p:childTnLst>
                                    <p:set>
                                      <p:cBhvr>
                                        <p:cTn id="18" dur="1" fill="hold">
                                          <p:stCondLst>
                                            <p:cond delay="0"/>
                                          </p:stCondLst>
                                        </p:cTn>
                                        <p:tgtEl>
                                          <p:spTgt spid="30"/>
                                        </p:tgtEl>
                                        <p:attrNameLst>
                                          <p:attrName>style.visibility</p:attrName>
                                        </p:attrNameLst>
                                      </p:cBhvr>
                                      <p:to>
                                        <p:strVal val="visible"/>
                                      </p:to>
                                    </p:set>
                                    <p:animEffect transition="in" filter="fade">
                                      <p:cBhvr>
                                        <p:cTn id="19" dur="500"/>
                                        <p:tgtEl>
                                          <p:spTgt spid="30"/>
                                        </p:tgtEl>
                                      </p:cBhvr>
                                    </p:animEffect>
                                  </p:childTnLst>
                                </p:cTn>
                              </p:par>
                              <p:par>
                                <p:cTn id="20" presetID="10" presetClass="entr" presetSubtype="0" fill="hold" nodeType="withEffect">
                                  <p:stCondLst>
                                    <p:cond delay="0"/>
                                  </p:stCondLst>
                                  <p:childTnLst>
                                    <p:set>
                                      <p:cBhvr>
                                        <p:cTn id="21" dur="1" fill="hold">
                                          <p:stCondLst>
                                            <p:cond delay="0"/>
                                          </p:stCondLst>
                                        </p:cTn>
                                        <p:tgtEl>
                                          <p:spTgt spid="47"/>
                                        </p:tgtEl>
                                        <p:attrNameLst>
                                          <p:attrName>style.visibility</p:attrName>
                                        </p:attrNameLst>
                                      </p:cBhvr>
                                      <p:to>
                                        <p:strVal val="visible"/>
                                      </p:to>
                                    </p:set>
                                    <p:animEffect transition="in" filter="fade">
                                      <p:cBhvr>
                                        <p:cTn id="22" dur="500"/>
                                        <p:tgtEl>
                                          <p:spTgt spid="47"/>
                                        </p:tgtEl>
                                      </p:cBhvr>
                                    </p:animEffect>
                                  </p:childTnLst>
                                </p:cTn>
                              </p:par>
                              <p:par>
                                <p:cTn id="23" presetID="10" presetClass="entr" presetSubtype="0" fill="hold" nodeType="withEffect">
                                  <p:stCondLst>
                                    <p:cond delay="0"/>
                                  </p:stCondLst>
                                  <p:childTnLst>
                                    <p:set>
                                      <p:cBhvr>
                                        <p:cTn id="24" dur="1" fill="hold">
                                          <p:stCondLst>
                                            <p:cond delay="0"/>
                                          </p:stCondLst>
                                        </p:cTn>
                                        <p:tgtEl>
                                          <p:spTgt spid="46"/>
                                        </p:tgtEl>
                                        <p:attrNameLst>
                                          <p:attrName>style.visibility</p:attrName>
                                        </p:attrNameLst>
                                      </p:cBhvr>
                                      <p:to>
                                        <p:strVal val="visible"/>
                                      </p:to>
                                    </p:set>
                                    <p:animEffect transition="in" filter="fade">
                                      <p:cBhvr>
                                        <p:cTn id="25" dur="500"/>
                                        <p:tgtEl>
                                          <p:spTgt spid="46"/>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50"/>
                                        </p:tgtEl>
                                        <p:attrNameLst>
                                          <p:attrName>style.visibility</p:attrName>
                                        </p:attrNameLst>
                                      </p:cBhvr>
                                      <p:to>
                                        <p:strVal val="visible"/>
                                      </p:to>
                                    </p:set>
                                    <p:animEffect transition="in" filter="fade">
                                      <p:cBhvr>
                                        <p:cTn id="30" dur="500"/>
                                        <p:tgtEl>
                                          <p:spTgt spid="50"/>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22"/>
                                        </p:tgtEl>
                                        <p:attrNameLst>
                                          <p:attrName>style.visibility</p:attrName>
                                        </p:attrNameLst>
                                      </p:cBhvr>
                                      <p:to>
                                        <p:strVal val="visible"/>
                                      </p:to>
                                    </p:set>
                                    <p:animEffect transition="in" filter="fade">
                                      <p:cBhvr>
                                        <p:cTn id="33" dur="500"/>
                                        <p:tgtEl>
                                          <p:spTgt spid="22"/>
                                        </p:tgtEl>
                                      </p:cBhvr>
                                    </p:animEffect>
                                  </p:childTnLst>
                                </p:cTn>
                              </p:par>
                              <p:par>
                                <p:cTn id="34" presetID="10" presetClass="entr" presetSubtype="0" fill="hold" nodeType="withEffect">
                                  <p:stCondLst>
                                    <p:cond delay="0"/>
                                  </p:stCondLst>
                                  <p:childTnLst>
                                    <p:set>
                                      <p:cBhvr>
                                        <p:cTn id="35" dur="1" fill="hold">
                                          <p:stCondLst>
                                            <p:cond delay="0"/>
                                          </p:stCondLst>
                                        </p:cTn>
                                        <p:tgtEl>
                                          <p:spTgt spid="58"/>
                                        </p:tgtEl>
                                        <p:attrNameLst>
                                          <p:attrName>style.visibility</p:attrName>
                                        </p:attrNameLst>
                                      </p:cBhvr>
                                      <p:to>
                                        <p:strVal val="visible"/>
                                      </p:to>
                                    </p:set>
                                    <p:animEffect transition="in" filter="fade">
                                      <p:cBhvr>
                                        <p:cTn id="36" dur="500"/>
                                        <p:tgtEl>
                                          <p:spTgt spid="58"/>
                                        </p:tgtEl>
                                      </p:cBhvr>
                                    </p:animEffect>
                                  </p:childTnLst>
                                </p:cTn>
                              </p:par>
                              <p:par>
                                <p:cTn id="37" presetID="10" presetClass="entr" presetSubtype="0" fill="hold" nodeType="withEffect">
                                  <p:stCondLst>
                                    <p:cond delay="0"/>
                                  </p:stCondLst>
                                  <p:childTnLst>
                                    <p:set>
                                      <p:cBhvr>
                                        <p:cTn id="38" dur="1" fill="hold">
                                          <p:stCondLst>
                                            <p:cond delay="0"/>
                                          </p:stCondLst>
                                        </p:cTn>
                                        <p:tgtEl>
                                          <p:spTgt spid="49"/>
                                        </p:tgtEl>
                                        <p:attrNameLst>
                                          <p:attrName>style.visibility</p:attrName>
                                        </p:attrNameLst>
                                      </p:cBhvr>
                                      <p:to>
                                        <p:strVal val="visible"/>
                                      </p:to>
                                    </p:set>
                                    <p:animEffect transition="in" filter="fade">
                                      <p:cBhvr>
                                        <p:cTn id="39" dur="500"/>
                                        <p:tgtEl>
                                          <p:spTgt spid="49"/>
                                        </p:tgtEl>
                                      </p:cBhvr>
                                    </p:animEffect>
                                  </p:childTnLst>
                                </p:cTn>
                              </p:par>
                              <p:par>
                                <p:cTn id="40" presetID="10" presetClass="entr" presetSubtype="0" fill="hold" nodeType="withEffect">
                                  <p:stCondLst>
                                    <p:cond delay="0"/>
                                  </p:stCondLst>
                                  <p:childTnLst>
                                    <p:set>
                                      <p:cBhvr>
                                        <p:cTn id="41" dur="1" fill="hold">
                                          <p:stCondLst>
                                            <p:cond delay="0"/>
                                          </p:stCondLst>
                                        </p:cTn>
                                        <p:tgtEl>
                                          <p:spTgt spid="61"/>
                                        </p:tgtEl>
                                        <p:attrNameLst>
                                          <p:attrName>style.visibility</p:attrName>
                                        </p:attrNameLst>
                                      </p:cBhvr>
                                      <p:to>
                                        <p:strVal val="visible"/>
                                      </p:to>
                                    </p:set>
                                    <p:animEffect transition="in" filter="fade">
                                      <p:cBhvr>
                                        <p:cTn id="42" dur="500"/>
                                        <p:tgtEl>
                                          <p:spTgt spid="61"/>
                                        </p:tgtEl>
                                      </p:cBhvr>
                                    </p:animEffect>
                                  </p:childTnLst>
                                </p:cTn>
                              </p:par>
                              <p:par>
                                <p:cTn id="43" presetID="10" presetClass="entr" presetSubtype="0" fill="hold" nodeType="withEffect">
                                  <p:stCondLst>
                                    <p:cond delay="0"/>
                                  </p:stCondLst>
                                  <p:childTnLst>
                                    <p:set>
                                      <p:cBhvr>
                                        <p:cTn id="44" dur="1" fill="hold">
                                          <p:stCondLst>
                                            <p:cond delay="0"/>
                                          </p:stCondLst>
                                        </p:cTn>
                                        <p:tgtEl>
                                          <p:spTgt spid="66"/>
                                        </p:tgtEl>
                                        <p:attrNameLst>
                                          <p:attrName>style.visibility</p:attrName>
                                        </p:attrNameLst>
                                      </p:cBhvr>
                                      <p:to>
                                        <p:strVal val="visible"/>
                                      </p:to>
                                    </p:set>
                                    <p:animEffect transition="in" filter="fade">
                                      <p:cBhvr>
                                        <p:cTn id="45" dur="500"/>
                                        <p:tgtEl>
                                          <p:spTgt spid="66"/>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62"/>
                                        </p:tgtEl>
                                        <p:attrNameLst>
                                          <p:attrName>style.visibility</p:attrName>
                                        </p:attrNameLst>
                                      </p:cBhvr>
                                      <p:to>
                                        <p:strVal val="visible"/>
                                      </p:to>
                                    </p:set>
                                    <p:animEffect transition="in" filter="fade">
                                      <p:cBhvr>
                                        <p:cTn id="48" dur="500"/>
                                        <p:tgtEl>
                                          <p:spTgt spid="62"/>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67"/>
                                        </p:tgtEl>
                                        <p:attrNameLst>
                                          <p:attrName>style.visibility</p:attrName>
                                        </p:attrNameLst>
                                      </p:cBhvr>
                                      <p:to>
                                        <p:strVal val="visible"/>
                                      </p:to>
                                    </p:set>
                                    <p:animEffect transition="in" filter="fade">
                                      <p:cBhvr>
                                        <p:cTn id="51" dur="500"/>
                                        <p:tgtEl>
                                          <p:spTgt spid="67"/>
                                        </p:tgtEl>
                                      </p:cBhvr>
                                    </p:animEffect>
                                  </p:childTnLst>
                                </p:cTn>
                              </p:par>
                              <p:par>
                                <p:cTn id="52" presetID="10" presetClass="entr" presetSubtype="0" fill="hold" nodeType="withEffect">
                                  <p:stCondLst>
                                    <p:cond delay="0"/>
                                  </p:stCondLst>
                                  <p:childTnLst>
                                    <p:set>
                                      <p:cBhvr>
                                        <p:cTn id="53" dur="1" fill="hold">
                                          <p:stCondLst>
                                            <p:cond delay="0"/>
                                          </p:stCondLst>
                                        </p:cTn>
                                        <p:tgtEl>
                                          <p:spTgt spid="54"/>
                                        </p:tgtEl>
                                        <p:attrNameLst>
                                          <p:attrName>style.visibility</p:attrName>
                                        </p:attrNameLst>
                                      </p:cBhvr>
                                      <p:to>
                                        <p:strVal val="visible"/>
                                      </p:to>
                                    </p:set>
                                    <p:animEffect transition="in" filter="fade">
                                      <p:cBhvr>
                                        <p:cTn id="54" dur="500"/>
                                        <p:tgtEl>
                                          <p:spTgt spid="54"/>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26"/>
                                        </p:tgtEl>
                                        <p:attrNameLst>
                                          <p:attrName>style.visibility</p:attrName>
                                        </p:attrNameLst>
                                      </p:cBhvr>
                                      <p:to>
                                        <p:strVal val="visible"/>
                                      </p:to>
                                    </p:set>
                                    <p:animEffect transition="in" filter="fade">
                                      <p:cBhvr>
                                        <p:cTn id="57" dur="500"/>
                                        <p:tgtEl>
                                          <p:spTgt spid="26"/>
                                        </p:tgtEl>
                                      </p:cBhvr>
                                    </p:animEffect>
                                  </p:childTnLst>
                                </p:cTn>
                              </p:par>
                              <p:par>
                                <p:cTn id="58" presetID="10" presetClass="entr" presetSubtype="0" fill="hold" nodeType="withEffect">
                                  <p:stCondLst>
                                    <p:cond delay="0"/>
                                  </p:stCondLst>
                                  <p:childTnLst>
                                    <p:set>
                                      <p:cBhvr>
                                        <p:cTn id="59" dur="1" fill="hold">
                                          <p:stCondLst>
                                            <p:cond delay="0"/>
                                          </p:stCondLst>
                                        </p:cTn>
                                        <p:tgtEl>
                                          <p:spTgt spid="59"/>
                                        </p:tgtEl>
                                        <p:attrNameLst>
                                          <p:attrName>style.visibility</p:attrName>
                                        </p:attrNameLst>
                                      </p:cBhvr>
                                      <p:to>
                                        <p:strVal val="visible"/>
                                      </p:to>
                                    </p:set>
                                    <p:animEffect transition="in" filter="fade">
                                      <p:cBhvr>
                                        <p:cTn id="60" dur="500"/>
                                        <p:tgtEl>
                                          <p:spTgt spid="59"/>
                                        </p:tgtEl>
                                      </p:cBhvr>
                                    </p:animEffect>
                                  </p:childTnLst>
                                </p:cTn>
                              </p:par>
                            </p:childTnLst>
                          </p:cTn>
                        </p:par>
                      </p:childTnLst>
                    </p:cTn>
                  </p:par>
                  <p:par>
                    <p:cTn id="61" fill="hold">
                      <p:stCondLst>
                        <p:cond delay="indefinite"/>
                      </p:stCondLst>
                      <p:childTnLst>
                        <p:par>
                          <p:cTn id="62" fill="hold">
                            <p:stCondLst>
                              <p:cond delay="0"/>
                            </p:stCondLst>
                            <p:childTnLst>
                              <p:par>
                                <p:cTn id="63" presetID="10" presetClass="entr" presetSubtype="0" fill="hold" nodeType="clickEffect">
                                  <p:stCondLst>
                                    <p:cond delay="0"/>
                                  </p:stCondLst>
                                  <p:childTnLst>
                                    <p:set>
                                      <p:cBhvr>
                                        <p:cTn id="64" dur="1" fill="hold">
                                          <p:stCondLst>
                                            <p:cond delay="0"/>
                                          </p:stCondLst>
                                        </p:cTn>
                                        <p:tgtEl>
                                          <p:spTgt spid="27"/>
                                        </p:tgtEl>
                                        <p:attrNameLst>
                                          <p:attrName>style.visibility</p:attrName>
                                        </p:attrNameLst>
                                      </p:cBhvr>
                                      <p:to>
                                        <p:strVal val="visible"/>
                                      </p:to>
                                    </p:set>
                                    <p:animEffect transition="in" filter="fade">
                                      <p:cBhvr>
                                        <p:cTn id="65" dur="500"/>
                                        <p:tgtEl>
                                          <p:spTgt spid="27"/>
                                        </p:tgtEl>
                                      </p:cBhvr>
                                    </p:animEffect>
                                  </p:childTnLst>
                                </p:cTn>
                              </p:par>
                              <p:par>
                                <p:cTn id="66" presetID="10" presetClass="entr" presetSubtype="0" fill="hold" nodeType="withEffect">
                                  <p:stCondLst>
                                    <p:cond delay="0"/>
                                  </p:stCondLst>
                                  <p:childTnLst>
                                    <p:set>
                                      <p:cBhvr>
                                        <p:cTn id="67" dur="1" fill="hold">
                                          <p:stCondLst>
                                            <p:cond delay="0"/>
                                          </p:stCondLst>
                                        </p:cTn>
                                        <p:tgtEl>
                                          <p:spTgt spid="32"/>
                                        </p:tgtEl>
                                        <p:attrNameLst>
                                          <p:attrName>style.visibility</p:attrName>
                                        </p:attrNameLst>
                                      </p:cBhvr>
                                      <p:to>
                                        <p:strVal val="visible"/>
                                      </p:to>
                                    </p:set>
                                    <p:animEffect transition="in" filter="fade">
                                      <p:cBhvr>
                                        <p:cTn id="68" dur="500"/>
                                        <p:tgtEl>
                                          <p:spTgt spid="32"/>
                                        </p:tgtEl>
                                      </p:cBhvr>
                                    </p:animEffect>
                                  </p:childTnLst>
                                </p:cTn>
                              </p:par>
                              <p:par>
                                <p:cTn id="69" presetID="10" presetClass="entr" presetSubtype="0" fill="hold" nodeType="withEffect">
                                  <p:stCondLst>
                                    <p:cond delay="0"/>
                                  </p:stCondLst>
                                  <p:childTnLst>
                                    <p:set>
                                      <p:cBhvr>
                                        <p:cTn id="70" dur="1" fill="hold">
                                          <p:stCondLst>
                                            <p:cond delay="0"/>
                                          </p:stCondLst>
                                        </p:cTn>
                                        <p:tgtEl>
                                          <p:spTgt spid="51"/>
                                        </p:tgtEl>
                                        <p:attrNameLst>
                                          <p:attrName>style.visibility</p:attrName>
                                        </p:attrNameLst>
                                      </p:cBhvr>
                                      <p:to>
                                        <p:strVal val="visible"/>
                                      </p:to>
                                    </p:set>
                                    <p:animEffect transition="in" filter="fade">
                                      <p:cBhvr>
                                        <p:cTn id="71" dur="500"/>
                                        <p:tgtEl>
                                          <p:spTgt spid="51"/>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36"/>
                                        </p:tgtEl>
                                        <p:attrNameLst>
                                          <p:attrName>style.visibility</p:attrName>
                                        </p:attrNameLst>
                                      </p:cBhvr>
                                      <p:to>
                                        <p:strVal val="visible"/>
                                      </p:to>
                                    </p:set>
                                    <p:animEffect transition="in" filter="fade">
                                      <p:cBhvr>
                                        <p:cTn id="74" dur="500"/>
                                        <p:tgtEl>
                                          <p:spTgt spid="36"/>
                                        </p:tgtEl>
                                      </p:cBhvr>
                                    </p:animEffect>
                                  </p:childTnLst>
                                </p:cTn>
                              </p:par>
                              <p:par>
                                <p:cTn id="75" presetID="10" presetClass="entr" presetSubtype="0" fill="hold" nodeType="withEffect">
                                  <p:stCondLst>
                                    <p:cond delay="0"/>
                                  </p:stCondLst>
                                  <p:childTnLst>
                                    <p:set>
                                      <p:cBhvr>
                                        <p:cTn id="76" dur="1" fill="hold">
                                          <p:stCondLst>
                                            <p:cond delay="0"/>
                                          </p:stCondLst>
                                        </p:cTn>
                                        <p:tgtEl>
                                          <p:spTgt spid="38"/>
                                        </p:tgtEl>
                                        <p:attrNameLst>
                                          <p:attrName>style.visibility</p:attrName>
                                        </p:attrNameLst>
                                      </p:cBhvr>
                                      <p:to>
                                        <p:strVal val="visible"/>
                                      </p:to>
                                    </p:set>
                                    <p:animEffect transition="in" filter="fade">
                                      <p:cBhvr>
                                        <p:cTn id="77" dur="500"/>
                                        <p:tgtEl>
                                          <p:spTgt spid="38"/>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40"/>
                                        </p:tgtEl>
                                        <p:attrNameLst>
                                          <p:attrName>style.visibility</p:attrName>
                                        </p:attrNameLst>
                                      </p:cBhvr>
                                      <p:to>
                                        <p:strVal val="visible"/>
                                      </p:to>
                                    </p:set>
                                    <p:animEffect transition="in" filter="fade">
                                      <p:cBhvr>
                                        <p:cTn id="80" dur="500"/>
                                        <p:tgtEl>
                                          <p:spTgt spid="40"/>
                                        </p:tgtEl>
                                      </p:cBhvr>
                                    </p:animEffect>
                                  </p:childTnLst>
                                </p:cTn>
                              </p:par>
                              <p:par>
                                <p:cTn id="81" presetID="10" presetClass="entr" presetSubtype="0" fill="hold" nodeType="withEffect">
                                  <p:stCondLst>
                                    <p:cond delay="0"/>
                                  </p:stCondLst>
                                  <p:childTnLst>
                                    <p:set>
                                      <p:cBhvr>
                                        <p:cTn id="82" dur="1" fill="hold">
                                          <p:stCondLst>
                                            <p:cond delay="0"/>
                                          </p:stCondLst>
                                        </p:cTn>
                                        <p:tgtEl>
                                          <p:spTgt spid="41"/>
                                        </p:tgtEl>
                                        <p:attrNameLst>
                                          <p:attrName>style.visibility</p:attrName>
                                        </p:attrNameLst>
                                      </p:cBhvr>
                                      <p:to>
                                        <p:strVal val="visible"/>
                                      </p:to>
                                    </p:set>
                                    <p:animEffect transition="in" filter="fade">
                                      <p:cBhvr>
                                        <p:cTn id="83" dur="500"/>
                                        <p:tgtEl>
                                          <p:spTgt spid="41"/>
                                        </p:tgtEl>
                                      </p:cBhvr>
                                    </p:animEffect>
                                  </p:childTnLst>
                                </p:cTn>
                              </p:par>
                            </p:childTnLst>
                          </p:cTn>
                        </p:par>
                      </p:childTnLst>
                    </p:cTn>
                  </p:par>
                  <p:par>
                    <p:cTn id="84" fill="hold">
                      <p:stCondLst>
                        <p:cond delay="indefinite"/>
                      </p:stCondLst>
                      <p:childTnLst>
                        <p:par>
                          <p:cTn id="85" fill="hold">
                            <p:stCondLst>
                              <p:cond delay="0"/>
                            </p:stCondLst>
                            <p:childTnLst>
                              <p:par>
                                <p:cTn id="86" presetID="10" presetClass="entr" presetSubtype="0" fill="hold" grpId="0" nodeType="clickEffect">
                                  <p:stCondLst>
                                    <p:cond delay="0"/>
                                  </p:stCondLst>
                                  <p:childTnLst>
                                    <p:set>
                                      <p:cBhvr>
                                        <p:cTn id="87" dur="1" fill="hold">
                                          <p:stCondLst>
                                            <p:cond delay="0"/>
                                          </p:stCondLst>
                                        </p:cTn>
                                        <p:tgtEl>
                                          <p:spTgt spid="43"/>
                                        </p:tgtEl>
                                        <p:attrNameLst>
                                          <p:attrName>style.visibility</p:attrName>
                                        </p:attrNameLst>
                                      </p:cBhvr>
                                      <p:to>
                                        <p:strVal val="visible"/>
                                      </p:to>
                                    </p:set>
                                    <p:animEffect transition="in" filter="fade">
                                      <p:cBhvr>
                                        <p:cTn id="88" dur="5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P spid="42" grpId="0"/>
      <p:bldP spid="62" grpId="0"/>
      <p:bldP spid="67" grpId="0"/>
      <p:bldP spid="22" grpId="0"/>
      <p:bldP spid="26" grpId="0"/>
      <p:bldP spid="36" grpId="0" animBg="1"/>
      <p:bldP spid="40" grpId="0" animBg="1"/>
      <p:bldP spid="43"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9C9720-CC3B-D651-8187-94736EDE0CE3}"/>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C8CB3892-5634-A7B1-7C19-F7AF1A1E9AA9}"/>
              </a:ext>
            </a:extLst>
          </p:cNvPr>
          <p:cNvSpPr txBox="1"/>
          <p:nvPr/>
        </p:nvSpPr>
        <p:spPr>
          <a:xfrm>
            <a:off x="502920" y="228600"/>
            <a:ext cx="11155680" cy="615553"/>
          </a:xfrm>
          <a:prstGeom prst="rect">
            <a:avLst/>
          </a:prstGeom>
          <a:noFill/>
        </p:spPr>
        <p:txBody>
          <a:bodyPr wrap="square" lIns="91440" tIns="45720" rIns="91440" bIns="45720" anchor="t">
            <a:spAutoFit/>
          </a:bodyPr>
          <a:lstStyle/>
          <a:p>
            <a:r>
              <a:rPr lang="af-ZA" sz="3400" b="1">
                <a:solidFill>
                  <a:srgbClr val="1A2B47"/>
                </a:solidFill>
                <a:latin typeface="Calibri"/>
                <a:ea typeface="Calibri"/>
                <a:cs typeface="Calibri"/>
              </a:rPr>
              <a:t>Decoding sequences: Viterbi</a:t>
            </a:r>
            <a:r>
              <a:rPr sz="3400" b="1" i="0">
                <a:solidFill>
                  <a:srgbClr val="1A2B47"/>
                </a:solidFill>
                <a:latin typeface="Calibri"/>
                <a:ea typeface="Calibri"/>
                <a:cs typeface="Calibri"/>
              </a:rPr>
              <a:t> Algorithm</a:t>
            </a:r>
            <a:r>
              <a:rPr lang="en-US" sz="3400" b="1">
                <a:solidFill>
                  <a:srgbClr val="1A2B47"/>
                </a:solidFill>
                <a:latin typeface="Calibri"/>
                <a:ea typeface="Calibri"/>
                <a:cs typeface="Calibri"/>
              </a:rPr>
              <a:t>!</a:t>
            </a:r>
            <a:endParaRPr lang="en-US" altLang="zh-TW" sz="3400" b="1" i="0">
              <a:solidFill>
                <a:srgbClr val="1A2B47"/>
              </a:solidFill>
              <a:latin typeface="Calibri"/>
              <a:ea typeface="Calibri"/>
              <a:cs typeface="Calibri"/>
            </a:endParaRPr>
          </a:p>
        </p:txBody>
      </p:sp>
      <p:sp>
        <p:nvSpPr>
          <p:cNvPr id="4" name="TextBox 3">
            <a:extLst>
              <a:ext uri="{FF2B5EF4-FFF2-40B4-BE49-F238E27FC236}">
                <a16:creationId xmlns:a16="http://schemas.microsoft.com/office/drawing/2014/main" id="{36625CBA-C66E-D09D-6691-51A1445F7029}"/>
              </a:ext>
            </a:extLst>
          </p:cNvPr>
          <p:cNvSpPr txBox="1"/>
          <p:nvPr/>
        </p:nvSpPr>
        <p:spPr>
          <a:xfrm>
            <a:off x="502920" y="841248"/>
            <a:ext cx="11155680" cy="323165"/>
          </a:xfrm>
          <a:prstGeom prst="rect">
            <a:avLst/>
          </a:prstGeom>
          <a:noFill/>
        </p:spPr>
        <p:txBody>
          <a:bodyPr wrap="square" lIns="91440" tIns="45720" rIns="91440" bIns="45720" anchor="t">
            <a:spAutoFit/>
          </a:bodyPr>
          <a:lstStyle/>
          <a:p>
            <a:r>
              <a:rPr lang="zh-TW" sz="1500">
                <a:solidFill>
                  <a:srgbClr val="7A96B2"/>
                </a:solidFill>
                <a:ea typeface="+mn-lt"/>
                <a:cs typeface="+mn-lt"/>
              </a:rPr>
              <a:t>Finding the </a:t>
            </a:r>
            <a:r>
              <a:rPr lang="en-US" altLang="zh-TW" sz="1500">
                <a:solidFill>
                  <a:srgbClr val="7A96B2"/>
                </a:solidFill>
                <a:ea typeface="+mn-lt"/>
                <a:cs typeface="+mn-lt"/>
              </a:rPr>
              <a:t>b</a:t>
            </a:r>
            <a:r>
              <a:rPr lang="zh-TW" sz="1500">
                <a:solidFill>
                  <a:srgbClr val="7A96B2"/>
                </a:solidFill>
                <a:ea typeface="+mn-lt"/>
                <a:cs typeface="+mn-lt"/>
              </a:rPr>
              <a:t>est </a:t>
            </a:r>
            <a:r>
              <a:rPr lang="en-US" altLang="zh-TW" sz="1500">
                <a:solidFill>
                  <a:srgbClr val="7A96B2"/>
                </a:solidFill>
                <a:ea typeface="+mn-lt"/>
                <a:cs typeface="+mn-lt"/>
              </a:rPr>
              <a:t>path </a:t>
            </a:r>
            <a:r>
              <a:rPr lang="en-US" sz="1500">
                <a:solidFill>
                  <a:srgbClr val="7A96B2"/>
                </a:solidFill>
                <a:ea typeface="+mn-lt"/>
                <a:cs typeface="+mn-lt"/>
              </a:rPr>
              <a:t>of hidden states to</a:t>
            </a:r>
            <a:r>
              <a:rPr lang="zh-TW" altLang="en-US" sz="1500">
                <a:solidFill>
                  <a:srgbClr val="7A96B2"/>
                </a:solidFill>
                <a:ea typeface="+mn-lt"/>
                <a:cs typeface="+mn-lt"/>
              </a:rPr>
              <a:t> </a:t>
            </a:r>
            <a:r>
              <a:rPr lang="en-US" sz="1500">
                <a:solidFill>
                  <a:srgbClr val="7A96B2"/>
                </a:solidFill>
                <a:ea typeface="+mn-lt"/>
                <a:cs typeface="+mn-lt"/>
              </a:rPr>
              <a:t>describe a given sequence of observations</a:t>
            </a:r>
            <a:endParaRPr lang="en-US" altLang="zh-TW" sz="1500">
              <a:solidFill>
                <a:srgbClr val="7A96B2"/>
              </a:solidFill>
              <a:ea typeface="Calibri"/>
              <a:cs typeface="Calibri"/>
            </a:endParaRPr>
          </a:p>
        </p:txBody>
      </p:sp>
      <p:cxnSp>
        <p:nvCxnSpPr>
          <p:cNvPr id="5" name="Connector 4">
            <a:extLst>
              <a:ext uri="{FF2B5EF4-FFF2-40B4-BE49-F238E27FC236}">
                <a16:creationId xmlns:a16="http://schemas.microsoft.com/office/drawing/2014/main" id="{55A7334F-D36C-6458-3171-CC07080377CE}"/>
              </a:ext>
            </a:extLst>
          </p:cNvPr>
          <p:cNvCxnSpPr/>
          <p:nvPr/>
        </p:nvCxnSpPr>
        <p:spPr>
          <a:xfrm>
            <a:off x="502920" y="1234440"/>
            <a:ext cx="11183112" cy="0"/>
          </a:xfrm>
          <a:prstGeom prst="line">
            <a:avLst/>
          </a:prstGeom>
          <a:ln w="9525">
            <a:solidFill>
              <a:srgbClr val="CCD9E8"/>
            </a:solidFill>
          </a:ln>
        </p:spPr>
        <p:style>
          <a:lnRef idx="2">
            <a:schemeClr val="accent1"/>
          </a:lnRef>
          <a:fillRef idx="0">
            <a:schemeClr val="accent1"/>
          </a:fillRef>
          <a:effectRef idx="1">
            <a:schemeClr val="accent1"/>
          </a:effectRef>
          <a:fontRef idx="minor">
            <a:schemeClr val="tx1"/>
          </a:fontRef>
        </p:style>
      </p:cxnSp>
      <p:grpSp>
        <p:nvGrpSpPr>
          <p:cNvPr id="26" name="群組 25">
            <a:extLst>
              <a:ext uri="{FF2B5EF4-FFF2-40B4-BE49-F238E27FC236}">
                <a16:creationId xmlns:a16="http://schemas.microsoft.com/office/drawing/2014/main" id="{D9B7A939-E231-811E-BE07-AF49C2BA8D29}"/>
              </a:ext>
            </a:extLst>
          </p:cNvPr>
          <p:cNvGrpSpPr/>
          <p:nvPr/>
        </p:nvGrpSpPr>
        <p:grpSpPr>
          <a:xfrm>
            <a:off x="6226706" y="1308222"/>
            <a:ext cx="5813122" cy="1124583"/>
            <a:chOff x="6286758" y="1411241"/>
            <a:chExt cx="5813122" cy="1124583"/>
          </a:xfrm>
        </p:grpSpPr>
        <p:grpSp>
          <p:nvGrpSpPr>
            <p:cNvPr id="15" name="群組 14">
              <a:extLst>
                <a:ext uri="{FF2B5EF4-FFF2-40B4-BE49-F238E27FC236}">
                  <a16:creationId xmlns:a16="http://schemas.microsoft.com/office/drawing/2014/main" id="{1A99A6E8-A0FF-F61B-87AC-064C230DD5F7}"/>
                </a:ext>
              </a:extLst>
            </p:cNvPr>
            <p:cNvGrpSpPr/>
            <p:nvPr/>
          </p:nvGrpSpPr>
          <p:grpSpPr>
            <a:xfrm>
              <a:off x="6286758" y="1411241"/>
              <a:ext cx="5813122" cy="1124583"/>
              <a:chOff x="6286758" y="1371600"/>
              <a:chExt cx="5813122" cy="1622753"/>
            </a:xfrm>
          </p:grpSpPr>
          <p:sp>
            <p:nvSpPr>
              <p:cNvPr id="10" name="Rectangle 9">
                <a:extLst>
                  <a:ext uri="{FF2B5EF4-FFF2-40B4-BE49-F238E27FC236}">
                    <a16:creationId xmlns:a16="http://schemas.microsoft.com/office/drawing/2014/main" id="{22C9D72F-AF0D-2239-69EB-A176C9BD18BA}"/>
                  </a:ext>
                </a:extLst>
              </p:cNvPr>
              <p:cNvSpPr/>
              <p:nvPr/>
            </p:nvSpPr>
            <p:spPr>
              <a:xfrm>
                <a:off x="6286758" y="1371600"/>
                <a:ext cx="5813122" cy="1603463"/>
              </a:xfrm>
              <a:prstGeom prst="rect">
                <a:avLst/>
              </a:prstGeom>
              <a:solidFill>
                <a:schemeClr val="accent1">
                  <a:lumMod val="20000"/>
                  <a:lumOff val="80000"/>
                </a:schemeClr>
              </a:solidFill>
              <a:ln w="10160">
                <a:solidFill>
                  <a:schemeClr val="tx2">
                    <a:lumMod val="7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a:extLst>
                  <a:ext uri="{FF2B5EF4-FFF2-40B4-BE49-F238E27FC236}">
                    <a16:creationId xmlns:a16="http://schemas.microsoft.com/office/drawing/2014/main" id="{4AABB389-0A06-A62C-AC9F-84817D55C8F8}"/>
                  </a:ext>
                </a:extLst>
              </p:cNvPr>
              <p:cNvSpPr/>
              <p:nvPr/>
            </p:nvSpPr>
            <p:spPr>
              <a:xfrm>
                <a:off x="6293440" y="1371600"/>
                <a:ext cx="71394" cy="1622753"/>
              </a:xfrm>
              <a:prstGeom prst="rect">
                <a:avLst/>
              </a:prstGeom>
              <a:solidFill>
                <a:schemeClr val="tx2">
                  <a:lumMod val="7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sp>
          <p:nvSpPr>
            <p:cNvPr id="12" name="TextBox 11">
              <a:extLst>
                <a:ext uri="{FF2B5EF4-FFF2-40B4-BE49-F238E27FC236}">
                  <a16:creationId xmlns:a16="http://schemas.microsoft.com/office/drawing/2014/main" id="{545B34A3-5739-4E54-648C-94A6FA48A398}"/>
                </a:ext>
              </a:extLst>
            </p:cNvPr>
            <p:cNvSpPr txBox="1"/>
            <p:nvPr/>
          </p:nvSpPr>
          <p:spPr>
            <a:xfrm>
              <a:off x="6542790" y="1444752"/>
              <a:ext cx="5349240" cy="338554"/>
            </a:xfrm>
            <a:prstGeom prst="rect">
              <a:avLst/>
            </a:prstGeom>
            <a:solidFill>
              <a:schemeClr val="accent1">
                <a:lumMod val="20000"/>
                <a:lumOff val="80000"/>
              </a:schemeClr>
            </a:solidFill>
          </p:spPr>
          <p:txBody>
            <a:bodyPr wrap="square" lIns="91440" tIns="45720" rIns="91440" bIns="45720" anchor="t">
              <a:spAutoFit/>
            </a:bodyPr>
            <a:lstStyle/>
            <a:p>
              <a:r>
                <a:rPr lang="af-ZA" sz="1600" b="1">
                  <a:solidFill>
                    <a:schemeClr val="tx2">
                      <a:lumMod val="49000"/>
                    </a:schemeClr>
                  </a:solidFill>
                  <a:latin typeface="Calibri"/>
                  <a:ea typeface="Calibri"/>
                  <a:cs typeface="Calibri"/>
                </a:rPr>
                <a:t>Viterbi algorithm: the</a:t>
              </a:r>
              <a:r>
                <a:rPr sz="1600" b="1" i="0">
                  <a:solidFill>
                    <a:schemeClr val="tx2">
                      <a:lumMod val="49000"/>
                    </a:schemeClr>
                  </a:solidFill>
                  <a:latin typeface="Calibri"/>
                  <a:ea typeface="Calibri"/>
                  <a:cs typeface="Calibri"/>
                </a:rPr>
                <a:t> key idea</a:t>
              </a:r>
              <a:endParaRPr lang="zh-TW" altLang="en-US" sz="1600" b="1" i="0">
                <a:solidFill>
                  <a:schemeClr val="tx2">
                    <a:lumMod val="49000"/>
                  </a:schemeClr>
                </a:solidFill>
                <a:latin typeface="Calibri"/>
                <a:ea typeface="新細明體"/>
                <a:cs typeface="Calibri"/>
              </a:endParaRPr>
            </a:p>
          </p:txBody>
        </p:sp>
        <p:sp>
          <p:nvSpPr>
            <p:cNvPr id="13" name="TextBox 12">
              <a:extLst>
                <a:ext uri="{FF2B5EF4-FFF2-40B4-BE49-F238E27FC236}">
                  <a16:creationId xmlns:a16="http://schemas.microsoft.com/office/drawing/2014/main" id="{A4E2C796-ADB0-DF3B-EB24-B9C1947C00BD}"/>
                </a:ext>
              </a:extLst>
            </p:cNvPr>
            <p:cNvSpPr txBox="1"/>
            <p:nvPr/>
          </p:nvSpPr>
          <p:spPr>
            <a:xfrm>
              <a:off x="6542790" y="1708947"/>
              <a:ext cx="5349240" cy="784830"/>
            </a:xfrm>
            <a:prstGeom prst="rect">
              <a:avLst/>
            </a:prstGeom>
            <a:solidFill>
              <a:schemeClr val="accent1">
                <a:lumMod val="20000"/>
                <a:lumOff val="80000"/>
              </a:schemeClr>
            </a:solidFill>
          </p:spPr>
          <p:txBody>
            <a:bodyPr wrap="square" lIns="91440" tIns="45720" rIns="91440" bIns="45720" anchor="t">
              <a:spAutoFit/>
            </a:bodyPr>
            <a:lstStyle/>
            <a:p>
              <a:r>
                <a:rPr lang="en-US" altLang="zh-TW" sz="1500" b="0" i="0">
                  <a:solidFill>
                    <a:srgbClr val="1A2B47"/>
                  </a:solidFill>
                  <a:ea typeface="+mn-lt"/>
                  <a:cs typeface="+mn-lt"/>
                </a:rPr>
                <a:t>At each step, keep only </a:t>
              </a:r>
              <a:r>
                <a:rPr lang="en-US" altLang="zh-TW" sz="1500" b="1" i="0">
                  <a:solidFill>
                    <a:srgbClr val="1A2B47"/>
                  </a:solidFill>
                  <a:ea typeface="+mn-lt"/>
                  <a:cs typeface="+mn-lt"/>
                </a:rPr>
                <a:t>the best path arriving at each state</a:t>
              </a:r>
              <a:r>
                <a:rPr lang="en-US" altLang="zh-TW" sz="1500" b="0" i="0">
                  <a:solidFill>
                    <a:srgbClr val="1A2B47"/>
                  </a:solidFill>
                  <a:ea typeface="+mn-lt"/>
                  <a:cs typeface="+mn-lt"/>
                </a:rPr>
                <a:t>. Discard all others </a:t>
              </a:r>
              <a:r>
                <a:rPr lang="en-US" altLang="zh-TW" sz="1500">
                  <a:solidFill>
                    <a:srgbClr val="1A2B47"/>
                  </a:solidFill>
                  <a:ea typeface="+mn-lt"/>
                  <a:cs typeface="+mn-lt"/>
                </a:rPr>
                <a:t>as they</a:t>
              </a:r>
              <a:r>
                <a:rPr lang="zh-TW" altLang="en-US" sz="1500">
                  <a:solidFill>
                    <a:srgbClr val="1A2B47"/>
                  </a:solidFill>
                  <a:ea typeface="+mn-lt"/>
                  <a:cs typeface="+mn-lt"/>
                </a:rPr>
                <a:t> </a:t>
              </a:r>
              <a:r>
                <a:rPr lang="en-US" altLang="zh-TW" sz="1500">
                  <a:solidFill>
                    <a:srgbClr val="1A2B47"/>
                  </a:solidFill>
                  <a:ea typeface="+mn-lt"/>
                  <a:cs typeface="+mn-lt"/>
                </a:rPr>
                <a:t>can</a:t>
              </a:r>
              <a:r>
                <a:rPr lang="zh-TW" altLang="en-US" sz="1500">
                  <a:solidFill>
                    <a:srgbClr val="1A2B47"/>
                  </a:solidFill>
                  <a:ea typeface="+mn-lt"/>
                  <a:cs typeface="+mn-lt"/>
                </a:rPr>
                <a:t> </a:t>
              </a:r>
              <a:r>
                <a:rPr lang="en-US" altLang="zh-TW" sz="1500">
                  <a:solidFill>
                    <a:srgbClr val="1A2B47"/>
                  </a:solidFill>
                  <a:ea typeface="+mn-lt"/>
                  <a:cs typeface="+mn-lt"/>
                </a:rPr>
                <a:t>never</a:t>
              </a:r>
              <a:r>
                <a:rPr lang="zh-TW" altLang="en-US" sz="1500">
                  <a:solidFill>
                    <a:srgbClr val="1A2B47"/>
                  </a:solidFill>
                  <a:ea typeface="+mn-lt"/>
                  <a:cs typeface="+mn-lt"/>
                </a:rPr>
                <a:t> </a:t>
              </a:r>
              <a:r>
                <a:rPr lang="en-US" altLang="zh-TW" sz="1500">
                  <a:solidFill>
                    <a:srgbClr val="1A2B47"/>
                  </a:solidFill>
                  <a:ea typeface="+mn-lt"/>
                  <a:cs typeface="+mn-lt"/>
                </a:rPr>
                <a:t>become</a:t>
              </a:r>
              <a:r>
                <a:rPr lang="zh-TW" altLang="en-US" sz="1500">
                  <a:solidFill>
                    <a:srgbClr val="1A2B47"/>
                  </a:solidFill>
                  <a:ea typeface="+mn-lt"/>
                  <a:cs typeface="+mn-lt"/>
                </a:rPr>
                <a:t> </a:t>
              </a:r>
              <a:r>
                <a:rPr lang="en-US" altLang="zh-TW" sz="1500">
                  <a:solidFill>
                    <a:srgbClr val="1A2B47"/>
                  </a:solidFill>
                  <a:ea typeface="+mn-lt"/>
                  <a:cs typeface="+mn-lt"/>
                </a:rPr>
                <a:t>optimal</a:t>
              </a:r>
              <a:r>
                <a:rPr lang="zh-TW" altLang="en-US" sz="1500">
                  <a:solidFill>
                    <a:srgbClr val="1A2B47"/>
                  </a:solidFill>
                  <a:ea typeface="+mn-lt"/>
                  <a:cs typeface="+mn-lt"/>
                </a:rPr>
                <a:t> </a:t>
              </a:r>
              <a:r>
                <a:rPr lang="en-US" altLang="zh-TW" sz="1500">
                  <a:solidFill>
                    <a:srgbClr val="1A2B47"/>
                  </a:solidFill>
                  <a:ea typeface="+mn-lt"/>
                  <a:cs typeface="+mn-lt"/>
                </a:rPr>
                <a:t>(Markov</a:t>
              </a:r>
              <a:r>
                <a:rPr lang="zh-TW" altLang="en-US" sz="1500">
                  <a:solidFill>
                    <a:srgbClr val="1A2B47"/>
                  </a:solidFill>
                  <a:ea typeface="+mn-lt"/>
                  <a:cs typeface="+mn-lt"/>
                </a:rPr>
                <a:t> </a:t>
              </a:r>
              <a:r>
                <a:rPr lang="en-US" altLang="zh-TW" sz="1500">
                  <a:solidFill>
                    <a:srgbClr val="1A2B47"/>
                  </a:solidFill>
                  <a:ea typeface="+mn-lt"/>
                  <a:cs typeface="+mn-lt"/>
                </a:rPr>
                <a:t>property)</a:t>
              </a:r>
              <a:r>
                <a:rPr lang="zh-TW" altLang="en-US" sz="1500">
                  <a:solidFill>
                    <a:srgbClr val="1A2B47"/>
                  </a:solidFill>
                  <a:ea typeface="+mn-lt"/>
                  <a:cs typeface="+mn-lt"/>
                </a:rPr>
                <a:t> → </a:t>
              </a:r>
              <a:r>
                <a:rPr lang="en-US" altLang="zh-TW" sz="1500">
                  <a:solidFill>
                    <a:srgbClr val="1A2B47"/>
                  </a:solidFill>
                  <a:ea typeface="+mn-lt"/>
                  <a:cs typeface="+mn-lt"/>
                </a:rPr>
                <a:t>reduces</a:t>
              </a:r>
              <a:r>
                <a:rPr lang="zh-TW" altLang="en-US" sz="1500">
                  <a:solidFill>
                    <a:srgbClr val="1A2B47"/>
                  </a:solidFill>
                  <a:ea typeface="+mn-lt"/>
                  <a:cs typeface="+mn-lt"/>
                </a:rPr>
                <a:t> </a:t>
              </a:r>
              <a:r>
                <a:rPr lang="en-US" altLang="zh-TW" sz="1500">
                  <a:solidFill>
                    <a:srgbClr val="1A2B47"/>
                  </a:solidFill>
                  <a:ea typeface="+mn-lt"/>
                  <a:cs typeface="+mn-lt"/>
                </a:rPr>
                <a:t>search</a:t>
              </a:r>
              <a:r>
                <a:rPr lang="zh-TW" altLang="en-US" sz="1500">
                  <a:solidFill>
                    <a:srgbClr val="1A2B47"/>
                  </a:solidFill>
                  <a:ea typeface="+mn-lt"/>
                  <a:cs typeface="+mn-lt"/>
                </a:rPr>
                <a:t> </a:t>
              </a:r>
              <a:r>
                <a:rPr lang="en-US" altLang="zh-TW" sz="1500">
                  <a:solidFill>
                    <a:srgbClr val="1A2B47"/>
                  </a:solidFill>
                  <a:ea typeface="+mn-lt"/>
                  <a:cs typeface="+mn-lt"/>
                </a:rPr>
                <a:t>to</a:t>
              </a:r>
              <a:r>
                <a:rPr lang="zh-TW" altLang="en-US" sz="1500">
                  <a:solidFill>
                    <a:srgbClr val="1A2B47"/>
                  </a:solidFill>
                  <a:ea typeface="+mn-lt"/>
                  <a:cs typeface="+mn-lt"/>
                </a:rPr>
                <a:t> </a:t>
              </a:r>
              <a:r>
                <a:rPr lang="en-US" altLang="zh-TW" sz="1500" b="1">
                  <a:solidFill>
                    <a:srgbClr val="1A2B47"/>
                  </a:solidFill>
                  <a:ea typeface="+mn-lt"/>
                  <a:cs typeface="+mn-lt"/>
                </a:rPr>
                <a:t>K²×T</a:t>
              </a:r>
              <a:r>
                <a:rPr lang="zh-TW" altLang="en-US" sz="1500" b="1">
                  <a:solidFill>
                    <a:srgbClr val="1A2B47"/>
                  </a:solidFill>
                  <a:ea typeface="+mn-lt"/>
                  <a:cs typeface="+mn-lt"/>
                </a:rPr>
                <a:t> </a:t>
              </a:r>
              <a:r>
                <a:rPr lang="en-US" altLang="zh-TW" sz="1500" b="1">
                  <a:solidFill>
                    <a:srgbClr val="1A2B47"/>
                  </a:solidFill>
                  <a:ea typeface="+mn-lt"/>
                  <a:cs typeface="+mn-lt"/>
                </a:rPr>
                <a:t>comparisons</a:t>
              </a:r>
              <a:r>
                <a:rPr lang="en-US" altLang="zh-TW" sz="1500" b="0" i="0">
                  <a:solidFill>
                    <a:srgbClr val="1A2B47"/>
                  </a:solidFill>
                  <a:ea typeface="+mn-lt"/>
                  <a:cs typeface="+mn-lt"/>
                </a:rPr>
                <a:t>.</a:t>
              </a:r>
              <a:endParaRPr lang="zh-TW" altLang="en-US" sz="1500">
                <a:ea typeface="+mn-lt"/>
                <a:cs typeface="+mn-lt"/>
              </a:endParaRPr>
            </a:p>
          </p:txBody>
        </p:sp>
      </p:grpSp>
      <p:grpSp>
        <p:nvGrpSpPr>
          <p:cNvPr id="20" name="群組 19">
            <a:extLst>
              <a:ext uri="{FF2B5EF4-FFF2-40B4-BE49-F238E27FC236}">
                <a16:creationId xmlns:a16="http://schemas.microsoft.com/office/drawing/2014/main" id="{2569237D-F610-2640-092F-FFC60D5AE313}"/>
              </a:ext>
            </a:extLst>
          </p:cNvPr>
          <p:cNvGrpSpPr/>
          <p:nvPr/>
        </p:nvGrpSpPr>
        <p:grpSpPr>
          <a:xfrm>
            <a:off x="298722" y="2624597"/>
            <a:ext cx="2821935" cy="1009968"/>
            <a:chOff x="660004" y="2702865"/>
            <a:chExt cx="2821935" cy="1009968"/>
          </a:xfrm>
        </p:grpSpPr>
        <p:pic>
          <p:nvPicPr>
            <p:cNvPr id="18" name="圖片 17" descr="一張含有 字型, 白色, 書法, 筆跡 的圖片&#10;&#10;AI 產生的內容可能不正確。">
              <a:extLst>
                <a:ext uri="{FF2B5EF4-FFF2-40B4-BE49-F238E27FC236}">
                  <a16:creationId xmlns:a16="http://schemas.microsoft.com/office/drawing/2014/main" id="{69A2803C-FEFF-D0BE-8BA7-5CFEC455D9A6}"/>
                </a:ext>
              </a:extLst>
            </p:cNvPr>
            <p:cNvPicPr>
              <a:picLocks noChangeAspect="1"/>
            </p:cNvPicPr>
            <p:nvPr/>
          </p:nvPicPr>
          <p:blipFill>
            <a:blip r:embed="rId3"/>
            <a:stretch>
              <a:fillRect/>
            </a:stretch>
          </p:blipFill>
          <p:spPr>
            <a:xfrm>
              <a:off x="660004" y="3073147"/>
              <a:ext cx="2588499" cy="639686"/>
            </a:xfrm>
            <a:prstGeom prst="rect">
              <a:avLst/>
            </a:prstGeom>
          </p:spPr>
        </p:pic>
        <p:sp>
          <p:nvSpPr>
            <p:cNvPr id="17" name="文字方塊 16">
              <a:extLst>
                <a:ext uri="{FF2B5EF4-FFF2-40B4-BE49-F238E27FC236}">
                  <a16:creationId xmlns:a16="http://schemas.microsoft.com/office/drawing/2014/main" id="{B684779A-52E3-AB2D-6B84-3BB0E958358D}"/>
                </a:ext>
              </a:extLst>
            </p:cNvPr>
            <p:cNvSpPr txBox="1"/>
            <p:nvPr/>
          </p:nvSpPr>
          <p:spPr>
            <a:xfrm>
              <a:off x="664710" y="2702865"/>
              <a:ext cx="281722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zh-TW" b="1" i="1">
                  <a:ea typeface="+mn-lt"/>
                  <a:cs typeface="+mn-lt"/>
                </a:rPr>
                <a:t>Initialization (t = 1):</a:t>
              </a:r>
              <a:endParaRPr lang="zh-TW" b="1" i="1">
                <a:ea typeface="新細明體"/>
                <a:cs typeface="Calibri"/>
              </a:endParaRPr>
            </a:p>
          </p:txBody>
        </p:sp>
      </p:grpSp>
      <p:grpSp>
        <p:nvGrpSpPr>
          <p:cNvPr id="25" name="群組 24">
            <a:extLst>
              <a:ext uri="{FF2B5EF4-FFF2-40B4-BE49-F238E27FC236}">
                <a16:creationId xmlns:a16="http://schemas.microsoft.com/office/drawing/2014/main" id="{575BD4CB-E3CF-9EDE-F13C-806918BCE3E7}"/>
              </a:ext>
            </a:extLst>
          </p:cNvPr>
          <p:cNvGrpSpPr/>
          <p:nvPr/>
        </p:nvGrpSpPr>
        <p:grpSpPr>
          <a:xfrm>
            <a:off x="295689" y="3644642"/>
            <a:ext cx="5246911" cy="1019796"/>
            <a:chOff x="656971" y="3809674"/>
            <a:chExt cx="5246911" cy="1019796"/>
          </a:xfrm>
        </p:grpSpPr>
        <p:pic>
          <p:nvPicPr>
            <p:cNvPr id="2" name="圖片 1" descr="一張含有 字型, 文字, 筆跡, 白色 的圖片&#10;&#10;AI 產生的內容可能不正確。">
              <a:extLst>
                <a:ext uri="{FF2B5EF4-FFF2-40B4-BE49-F238E27FC236}">
                  <a16:creationId xmlns:a16="http://schemas.microsoft.com/office/drawing/2014/main" id="{CD79BA06-CE1A-0E46-951F-C12E615C58C6}"/>
                </a:ext>
              </a:extLst>
            </p:cNvPr>
            <p:cNvPicPr>
              <a:picLocks noChangeAspect="1"/>
            </p:cNvPicPr>
            <p:nvPr/>
          </p:nvPicPr>
          <p:blipFill>
            <a:blip r:embed="rId4"/>
            <a:srcRect t="10905" b="10905"/>
            <a:stretch>
              <a:fillRect/>
            </a:stretch>
          </p:blipFill>
          <p:spPr>
            <a:xfrm>
              <a:off x="659289" y="4185964"/>
              <a:ext cx="5244593" cy="643506"/>
            </a:xfrm>
            <a:prstGeom prst="rect">
              <a:avLst/>
            </a:prstGeom>
          </p:spPr>
        </p:pic>
        <p:sp>
          <p:nvSpPr>
            <p:cNvPr id="22" name="文字方塊 21">
              <a:extLst>
                <a:ext uri="{FF2B5EF4-FFF2-40B4-BE49-F238E27FC236}">
                  <a16:creationId xmlns:a16="http://schemas.microsoft.com/office/drawing/2014/main" id="{EFCDEE1D-17EC-8B3B-AE73-67BBAC567A46}"/>
                </a:ext>
              </a:extLst>
            </p:cNvPr>
            <p:cNvSpPr txBox="1"/>
            <p:nvPr/>
          </p:nvSpPr>
          <p:spPr>
            <a:xfrm>
              <a:off x="656971" y="3809674"/>
              <a:ext cx="281722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tLang="zh-TW" b="1" i="1">
                  <a:ea typeface="+mn-lt"/>
                  <a:cs typeface="+mn-lt"/>
                </a:rPr>
                <a:t>Recursion </a:t>
              </a:r>
              <a:r>
                <a:rPr lang="zh-TW" b="1" i="1">
                  <a:ea typeface="+mn-lt"/>
                  <a:cs typeface="+mn-lt"/>
                </a:rPr>
                <a:t>t = </a:t>
              </a:r>
              <a:r>
                <a:rPr lang="en-US" altLang="zh-TW" b="1" i="1">
                  <a:ea typeface="+mn-lt"/>
                  <a:cs typeface="+mn-lt"/>
                </a:rPr>
                <a:t>2, 3,… </a:t>
              </a:r>
              <a:r>
                <a:rPr lang="zh-TW" b="1" i="1">
                  <a:ea typeface="+mn-lt"/>
                  <a:cs typeface="+mn-lt"/>
                </a:rPr>
                <a:t>:</a:t>
              </a:r>
              <a:endParaRPr lang="zh-TW" b="1" i="1">
                <a:ea typeface="新細明體"/>
                <a:cs typeface="Calibri"/>
              </a:endParaRPr>
            </a:p>
          </p:txBody>
        </p:sp>
      </p:grpSp>
      <p:grpSp>
        <p:nvGrpSpPr>
          <p:cNvPr id="24" name="群組 23">
            <a:extLst>
              <a:ext uri="{FF2B5EF4-FFF2-40B4-BE49-F238E27FC236}">
                <a16:creationId xmlns:a16="http://schemas.microsoft.com/office/drawing/2014/main" id="{76EDD7A1-05A2-F53E-1D18-D95B9B639020}"/>
              </a:ext>
            </a:extLst>
          </p:cNvPr>
          <p:cNvGrpSpPr/>
          <p:nvPr/>
        </p:nvGrpSpPr>
        <p:grpSpPr>
          <a:xfrm>
            <a:off x="296435" y="4659329"/>
            <a:ext cx="4292343" cy="1003919"/>
            <a:chOff x="657717" y="5104677"/>
            <a:chExt cx="4292343" cy="1003919"/>
          </a:xfrm>
        </p:grpSpPr>
        <p:pic>
          <p:nvPicPr>
            <p:cNvPr id="19" name="圖片 18" descr="一張含有 文字, 字型, 筆跡, 白色 的圖片&#10;&#10;AI 產生的內容可能不正確。">
              <a:extLst>
                <a:ext uri="{FF2B5EF4-FFF2-40B4-BE49-F238E27FC236}">
                  <a16:creationId xmlns:a16="http://schemas.microsoft.com/office/drawing/2014/main" id="{A20B169A-4212-1E00-6BDA-45FC03703A92}"/>
                </a:ext>
              </a:extLst>
            </p:cNvPr>
            <p:cNvPicPr>
              <a:picLocks noChangeAspect="1"/>
            </p:cNvPicPr>
            <p:nvPr/>
          </p:nvPicPr>
          <p:blipFill>
            <a:blip r:embed="rId5"/>
            <a:srcRect b="16667"/>
            <a:stretch>
              <a:fillRect/>
            </a:stretch>
          </p:blipFill>
          <p:spPr>
            <a:xfrm>
              <a:off x="657717" y="5470606"/>
              <a:ext cx="4292343" cy="637990"/>
            </a:xfrm>
            <a:prstGeom prst="rect">
              <a:avLst/>
            </a:prstGeom>
          </p:spPr>
        </p:pic>
        <p:sp>
          <p:nvSpPr>
            <p:cNvPr id="23" name="文字方塊 22">
              <a:extLst>
                <a:ext uri="{FF2B5EF4-FFF2-40B4-BE49-F238E27FC236}">
                  <a16:creationId xmlns:a16="http://schemas.microsoft.com/office/drawing/2014/main" id="{287A98DB-E50F-329B-5D49-C42393F5FEA5}"/>
                </a:ext>
              </a:extLst>
            </p:cNvPr>
            <p:cNvSpPr txBox="1"/>
            <p:nvPr/>
          </p:nvSpPr>
          <p:spPr>
            <a:xfrm>
              <a:off x="664061" y="5104677"/>
              <a:ext cx="281722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tLang="zh-TW" b="1" i="1" err="1">
                  <a:ea typeface="+mn-lt"/>
                  <a:cs typeface="+mn-lt"/>
                </a:rPr>
                <a:t>Backpoin</a:t>
              </a:r>
              <a:r>
                <a:rPr lang="zh-TW" b="1" i="1">
                  <a:ea typeface="+mn-lt"/>
                  <a:cs typeface="+mn-lt"/>
                </a:rPr>
                <a:t>t</a:t>
              </a:r>
              <a:r>
                <a:rPr lang="en-US" altLang="zh-TW" b="1" i="1">
                  <a:ea typeface="+mn-lt"/>
                  <a:cs typeface="+mn-lt"/>
                </a:rPr>
                <a:t>er</a:t>
              </a:r>
              <a:r>
                <a:rPr lang="zh-TW" b="1" i="1">
                  <a:ea typeface="+mn-lt"/>
                  <a:cs typeface="+mn-lt"/>
                </a:rPr>
                <a:t>:</a:t>
              </a:r>
              <a:endParaRPr lang="zh-TW" altLang="en-US" b="1" i="1">
                <a:ea typeface="+mn-lt"/>
                <a:cs typeface="+mn-lt"/>
              </a:endParaRPr>
            </a:p>
          </p:txBody>
        </p:sp>
      </p:grpSp>
      <p:grpSp>
        <p:nvGrpSpPr>
          <p:cNvPr id="29" name="群組 28">
            <a:extLst>
              <a:ext uri="{FF2B5EF4-FFF2-40B4-BE49-F238E27FC236}">
                <a16:creationId xmlns:a16="http://schemas.microsoft.com/office/drawing/2014/main" id="{F1CEF8F5-4E4C-DC92-9EE6-B3E5DC7404EF}"/>
              </a:ext>
            </a:extLst>
          </p:cNvPr>
          <p:cNvGrpSpPr/>
          <p:nvPr/>
        </p:nvGrpSpPr>
        <p:grpSpPr>
          <a:xfrm>
            <a:off x="301828" y="1308365"/>
            <a:ext cx="5783866" cy="1127117"/>
            <a:chOff x="245046" y="1391420"/>
            <a:chExt cx="5819652" cy="843615"/>
          </a:xfrm>
        </p:grpSpPr>
        <p:grpSp>
          <p:nvGrpSpPr>
            <p:cNvPr id="14" name="群組 13">
              <a:extLst>
                <a:ext uri="{FF2B5EF4-FFF2-40B4-BE49-F238E27FC236}">
                  <a16:creationId xmlns:a16="http://schemas.microsoft.com/office/drawing/2014/main" id="{E57B9AE1-5371-C272-99C2-51DF53B7944B}"/>
                </a:ext>
              </a:extLst>
            </p:cNvPr>
            <p:cNvGrpSpPr/>
            <p:nvPr/>
          </p:nvGrpSpPr>
          <p:grpSpPr>
            <a:xfrm>
              <a:off x="245046" y="1391420"/>
              <a:ext cx="5819652" cy="843615"/>
              <a:chOff x="251718" y="1371600"/>
              <a:chExt cx="5806440" cy="1188720"/>
            </a:xfrm>
          </p:grpSpPr>
          <p:sp>
            <p:nvSpPr>
              <p:cNvPr id="6" name="Rectangle 5">
                <a:extLst>
                  <a:ext uri="{FF2B5EF4-FFF2-40B4-BE49-F238E27FC236}">
                    <a16:creationId xmlns:a16="http://schemas.microsoft.com/office/drawing/2014/main" id="{2BAA6A36-2B66-07DB-0DC1-5434DB43C037}"/>
                  </a:ext>
                </a:extLst>
              </p:cNvPr>
              <p:cNvSpPr/>
              <p:nvPr/>
            </p:nvSpPr>
            <p:spPr>
              <a:xfrm>
                <a:off x="251718" y="1371600"/>
                <a:ext cx="5806440" cy="1188720"/>
              </a:xfrm>
              <a:prstGeom prst="rect">
                <a:avLst/>
              </a:prstGeom>
              <a:solidFill>
                <a:srgbClr val="F8E0DE"/>
              </a:solidFill>
              <a:ln w="10160">
                <a:solidFill>
                  <a:srgbClr val="C03A2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a:extLst>
                  <a:ext uri="{FF2B5EF4-FFF2-40B4-BE49-F238E27FC236}">
                    <a16:creationId xmlns:a16="http://schemas.microsoft.com/office/drawing/2014/main" id="{347105E1-A0C5-5D2F-6E6C-30B85905CEDC}"/>
                  </a:ext>
                </a:extLst>
              </p:cNvPr>
              <p:cNvSpPr/>
              <p:nvPr/>
            </p:nvSpPr>
            <p:spPr>
              <a:xfrm>
                <a:off x="251718" y="1371600"/>
                <a:ext cx="91440" cy="1188720"/>
              </a:xfrm>
              <a:prstGeom prst="rect">
                <a:avLst/>
              </a:prstGeom>
              <a:solidFill>
                <a:srgbClr val="C03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sp>
          <p:nvSpPr>
            <p:cNvPr id="9" name="TextBox 8">
              <a:extLst>
                <a:ext uri="{FF2B5EF4-FFF2-40B4-BE49-F238E27FC236}">
                  <a16:creationId xmlns:a16="http://schemas.microsoft.com/office/drawing/2014/main" id="{46A667D5-0E16-45B7-768E-86AE0D081A7A}"/>
                </a:ext>
              </a:extLst>
            </p:cNvPr>
            <p:cNvSpPr txBox="1"/>
            <p:nvPr/>
          </p:nvSpPr>
          <p:spPr>
            <a:xfrm>
              <a:off x="507750" y="1690433"/>
              <a:ext cx="5349240" cy="414652"/>
            </a:xfrm>
            <a:prstGeom prst="rect">
              <a:avLst/>
            </a:prstGeom>
            <a:noFill/>
          </p:spPr>
          <p:txBody>
            <a:bodyPr wrap="square" lIns="91440" tIns="45720" rIns="91440" bIns="45720" anchor="t">
              <a:spAutoFit/>
            </a:bodyPr>
            <a:lstStyle/>
            <a:p>
              <a:r>
                <a:rPr lang="af-ZA" sz="1500"/>
                <a:t>Brute force checks every possible state sequence: </a:t>
              </a:r>
              <a:r>
                <a:rPr lang="af-ZA" sz="1500" b="1"/>
                <a:t>K</a:t>
              </a:r>
              <a:r>
                <a:rPr lang="af-ZA" sz="1500" b="1" baseline="30000"/>
                <a:t>T</a:t>
              </a:r>
              <a:r>
                <a:rPr lang="af-ZA" sz="1500"/>
                <a:t> paths. For K=2, T=20 </a:t>
              </a:r>
              <a:r>
                <a:rPr lang="af-ZA" sz="1500">
                  <a:ea typeface="+mn-lt"/>
                  <a:cs typeface="+mn-lt"/>
                </a:rPr>
                <a:t>→</a:t>
              </a:r>
              <a:r>
                <a:rPr lang="af-ZA" sz="1500"/>
                <a:t> over </a:t>
              </a:r>
              <a:r>
                <a:rPr lang="af-ZA" sz="1500" b="1"/>
                <a:t>1 million paths</a:t>
              </a:r>
              <a:r>
                <a:rPr lang="af-ZA" sz="1500"/>
                <a:t>.</a:t>
              </a:r>
              <a:endParaRPr lang="zh-TW" altLang="en-US" sz="1500">
                <a:ea typeface="+mn-lt"/>
                <a:cs typeface="+mn-lt"/>
              </a:endParaRPr>
            </a:p>
          </p:txBody>
        </p:sp>
        <p:sp>
          <p:nvSpPr>
            <p:cNvPr id="8" name="TextBox 7">
              <a:extLst>
                <a:ext uri="{FF2B5EF4-FFF2-40B4-BE49-F238E27FC236}">
                  <a16:creationId xmlns:a16="http://schemas.microsoft.com/office/drawing/2014/main" id="{59C53C45-D90A-8B67-10D4-E80D56484A35}"/>
                </a:ext>
              </a:extLst>
            </p:cNvPr>
            <p:cNvSpPr txBox="1"/>
            <p:nvPr/>
          </p:nvSpPr>
          <p:spPr>
            <a:xfrm>
              <a:off x="507750" y="1444752"/>
              <a:ext cx="5349240" cy="313045"/>
            </a:xfrm>
            <a:prstGeom prst="rect">
              <a:avLst/>
            </a:prstGeom>
            <a:noFill/>
          </p:spPr>
          <p:txBody>
            <a:bodyPr wrap="square" lIns="91440" tIns="45720" rIns="91440" bIns="45720" anchor="t">
              <a:spAutoFit/>
            </a:bodyPr>
            <a:lstStyle/>
            <a:p>
              <a:pPr algn="l"/>
              <a:r>
                <a:rPr sz="1600" b="1" i="0">
                  <a:solidFill>
                    <a:srgbClr val="C03A2B"/>
                  </a:solidFill>
                  <a:latin typeface="Calibri"/>
                  <a:ea typeface="Calibri"/>
                  <a:cs typeface="Calibri"/>
                </a:rPr>
                <a:t>The problem</a:t>
              </a:r>
              <a:endParaRPr lang="zh-TW" altLang="en-US" sz="1600" b="1" i="0">
                <a:solidFill>
                  <a:srgbClr val="C03A2B"/>
                </a:solidFill>
                <a:latin typeface="Calibri"/>
                <a:cs typeface="Calibri"/>
              </a:endParaRPr>
            </a:p>
          </p:txBody>
        </p:sp>
      </p:grpSp>
      <p:sp>
        <p:nvSpPr>
          <p:cNvPr id="30" name="文字方塊 29">
            <a:extLst>
              <a:ext uri="{FF2B5EF4-FFF2-40B4-BE49-F238E27FC236}">
                <a16:creationId xmlns:a16="http://schemas.microsoft.com/office/drawing/2014/main" id="{337DF453-332B-3AB7-BCF6-1A0073C33431}"/>
              </a:ext>
            </a:extLst>
          </p:cNvPr>
          <p:cNvSpPr txBox="1"/>
          <p:nvPr/>
        </p:nvSpPr>
        <p:spPr>
          <a:xfrm>
            <a:off x="6257115" y="5664658"/>
            <a:ext cx="5784926" cy="830997"/>
          </a:xfrm>
          <a:prstGeom prst="rect">
            <a:avLst/>
          </a:prstGeom>
          <a:solidFill>
            <a:schemeClr val="bg2"/>
          </a:solidFill>
          <a:ln>
            <a:solidFill>
              <a:schemeClr val="bg2">
                <a:lumMod val="50000"/>
              </a:schemeClr>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zh-TW" sz="1600" b="1" cap="all">
                <a:solidFill>
                  <a:srgbClr val="8A6D00"/>
                </a:solidFill>
                <a:latin typeface="Calibri"/>
                <a:ea typeface="新細明體"/>
                <a:cs typeface="Calibri"/>
              </a:rPr>
              <a:t>Traceback</a:t>
            </a:r>
            <a:endParaRPr lang="zh-TW" sz="1600">
              <a:latin typeface="Calibri"/>
              <a:ea typeface="新細明體"/>
              <a:cs typeface="Calibri"/>
            </a:endParaRPr>
          </a:p>
          <a:p>
            <a:r>
              <a:rPr lang="zh-TW" sz="1600">
                <a:solidFill>
                  <a:srgbClr val="555555"/>
                </a:solidFill>
                <a:latin typeface="Calibri"/>
                <a:ea typeface="新細明體"/>
                <a:cs typeface="Calibri"/>
              </a:rPr>
              <a:t>At time T, pick the state with highest δ</a:t>
            </a:r>
            <a:r>
              <a:rPr lang="zh-TW" sz="1600" baseline="-25000">
                <a:solidFill>
                  <a:srgbClr val="555555"/>
                </a:solidFill>
                <a:latin typeface="Calibri"/>
                <a:ea typeface="新細明體"/>
                <a:cs typeface="Calibri"/>
              </a:rPr>
              <a:t>T</a:t>
            </a:r>
            <a:r>
              <a:rPr lang="zh-TW" sz="1600">
                <a:solidFill>
                  <a:srgbClr val="555555"/>
                </a:solidFill>
                <a:latin typeface="Calibri"/>
                <a:ea typeface="新細明體"/>
                <a:cs typeface="Calibri"/>
              </a:rPr>
              <a:t>. Follow ψ backwards to recover the full optimal state sequence</a:t>
            </a:r>
            <a:endParaRPr lang="zh-TW" sz="1600">
              <a:latin typeface="Calibri"/>
              <a:ea typeface="新細明體"/>
              <a:cs typeface="Calibri"/>
            </a:endParaRPr>
          </a:p>
        </p:txBody>
      </p:sp>
      <p:graphicFrame>
        <p:nvGraphicFramePr>
          <p:cNvPr id="31" name="表格 30">
            <a:extLst>
              <a:ext uri="{FF2B5EF4-FFF2-40B4-BE49-F238E27FC236}">
                <a16:creationId xmlns:a16="http://schemas.microsoft.com/office/drawing/2014/main" id="{BAECA862-47F8-EB2F-7304-74F6CA9BEB14}"/>
              </a:ext>
            </a:extLst>
          </p:cNvPr>
          <p:cNvGraphicFramePr>
            <a:graphicFrameLocks noGrp="1"/>
          </p:cNvGraphicFramePr>
          <p:nvPr>
            <p:extLst>
              <p:ext uri="{D42A27DB-BD31-4B8C-83A1-F6EECF244321}">
                <p14:modId xmlns:p14="http://schemas.microsoft.com/office/powerpoint/2010/main" val="1075624271"/>
              </p:ext>
            </p:extLst>
          </p:nvPr>
        </p:nvGraphicFramePr>
        <p:xfrm>
          <a:off x="6226821" y="2611400"/>
          <a:ext cx="5828093" cy="2849880"/>
        </p:xfrm>
        <a:graphic>
          <a:graphicData uri="http://schemas.openxmlformats.org/drawingml/2006/table">
            <a:tbl>
              <a:tblPr>
                <a:tableStyleId>{5C22544A-7EE6-4342-B048-85BDC9FD1C3A}</a:tableStyleId>
              </a:tblPr>
              <a:tblGrid>
                <a:gridCol w="940393">
                  <a:extLst>
                    <a:ext uri="{9D8B030D-6E8A-4147-A177-3AD203B41FA5}">
                      <a16:colId xmlns:a16="http://schemas.microsoft.com/office/drawing/2014/main" val="392631026"/>
                    </a:ext>
                  </a:extLst>
                </a:gridCol>
                <a:gridCol w="4887700">
                  <a:extLst>
                    <a:ext uri="{9D8B030D-6E8A-4147-A177-3AD203B41FA5}">
                      <a16:colId xmlns:a16="http://schemas.microsoft.com/office/drawing/2014/main" val="10361199"/>
                    </a:ext>
                  </a:extLst>
                </a:gridCol>
              </a:tblGrid>
              <a:tr h="370840">
                <a:tc>
                  <a:txBody>
                    <a:bodyPr/>
                    <a:lstStyle/>
                    <a:p>
                      <a:pPr lvl="0">
                        <a:buNone/>
                      </a:pPr>
                      <a:r>
                        <a:rPr lang="en-US" altLang="zh-TW" sz="1600" b="1" i="1" u="none" strike="noStrike" noProof="0">
                          <a:solidFill>
                            <a:srgbClr val="000000"/>
                          </a:solidFill>
                          <a:latin typeface="Calibri"/>
                          <a:ea typeface="Calibri"/>
                          <a:cs typeface="Calibri"/>
                        </a:rPr>
                        <a:t>δₜ(s)</a:t>
                      </a:r>
                      <a:endParaRPr lang="zh-TW" sz="1600" i="1">
                        <a:latin typeface="Calibri"/>
                        <a:cs typeface="Calibri"/>
                      </a:endParaRPr>
                    </a:p>
                  </a:txBody>
                  <a:tcPr>
                    <a:lnL w="12700">
                      <a:solidFill>
                        <a:schemeClr val="tx1"/>
                      </a:solidFill>
                    </a:lnL>
                    <a:lnT w="12700">
                      <a:solidFill>
                        <a:schemeClr val="tx1"/>
                      </a:solidFill>
                    </a:lnT>
                    <a:solidFill>
                      <a:schemeClr val="bg1">
                        <a:lumMod val="95000"/>
                      </a:schemeClr>
                    </a:solidFill>
                  </a:tcPr>
                </a:tc>
                <a:tc>
                  <a:txBody>
                    <a:bodyPr/>
                    <a:lstStyle/>
                    <a:p>
                      <a:pPr lvl="0" algn="l">
                        <a:lnSpc>
                          <a:spcPct val="100000"/>
                        </a:lnSpc>
                        <a:spcBef>
                          <a:spcPts val="0"/>
                        </a:spcBef>
                        <a:spcAft>
                          <a:spcPts val="0"/>
                        </a:spcAft>
                        <a:buNone/>
                      </a:pPr>
                      <a:r>
                        <a:rPr lang="en-US" sz="1600" b="0" i="0" u="none" strike="noStrike" noProof="0">
                          <a:solidFill>
                            <a:srgbClr val="000000"/>
                          </a:solidFill>
                          <a:latin typeface="Calibri"/>
                          <a:ea typeface="Calibri"/>
                          <a:cs typeface="Calibri"/>
                        </a:rPr>
                        <a:t>Probability of the </a:t>
                      </a:r>
                      <a:r>
                        <a:rPr lang="en-US" sz="1600" b="0" i="0" u="sng" strike="noStrike" noProof="0">
                          <a:solidFill>
                            <a:srgbClr val="000000"/>
                          </a:solidFill>
                          <a:latin typeface="Calibri"/>
                          <a:ea typeface="Calibri"/>
                          <a:cs typeface="Calibri"/>
                        </a:rPr>
                        <a:t>most likely path</a:t>
                      </a:r>
                      <a:r>
                        <a:rPr lang="en-US" sz="1600" b="0" i="0" u="none" strike="noStrike" noProof="0">
                          <a:solidFill>
                            <a:srgbClr val="000000"/>
                          </a:solidFill>
                          <a:latin typeface="Calibri"/>
                          <a:ea typeface="Calibri"/>
                          <a:cs typeface="Calibri"/>
                        </a:rPr>
                        <a:t> ending in state </a:t>
                      </a:r>
                      <a:r>
                        <a:rPr lang="en-US" sz="1600" b="0" i="1" u="none" strike="noStrike" noProof="0">
                          <a:solidFill>
                            <a:srgbClr val="000000"/>
                          </a:solidFill>
                          <a:latin typeface="Calibri"/>
                          <a:ea typeface="Calibri"/>
                          <a:cs typeface="Calibri"/>
                        </a:rPr>
                        <a:t>s</a:t>
                      </a:r>
                      <a:r>
                        <a:rPr lang="en-US" sz="1600" b="0" i="0" u="none" strike="noStrike" noProof="0">
                          <a:solidFill>
                            <a:srgbClr val="000000"/>
                          </a:solidFill>
                          <a:latin typeface="Calibri"/>
                          <a:ea typeface="Calibri"/>
                          <a:cs typeface="Calibri"/>
                        </a:rPr>
                        <a:t> at time </a:t>
                      </a:r>
                      <a:r>
                        <a:rPr lang="en-US" sz="1600" b="0" i="1" u="none" strike="noStrike" noProof="0">
                          <a:solidFill>
                            <a:srgbClr val="000000"/>
                          </a:solidFill>
                          <a:latin typeface="Calibri"/>
                          <a:ea typeface="Calibri"/>
                          <a:cs typeface="Calibri"/>
                        </a:rPr>
                        <a:t>t</a:t>
                      </a:r>
                      <a:endParaRPr lang="zh-TW" sz="1600" i="1">
                        <a:latin typeface="Calibri"/>
                        <a:cs typeface="Calibri"/>
                      </a:endParaRPr>
                    </a:p>
                  </a:txBody>
                  <a:tcPr>
                    <a:lnR w="12700">
                      <a:solidFill>
                        <a:schemeClr val="tx1"/>
                      </a:solidFill>
                    </a:lnR>
                    <a:lnT w="12700">
                      <a:solidFill>
                        <a:schemeClr val="tx1"/>
                      </a:solidFill>
                    </a:lnT>
                    <a:solidFill>
                      <a:schemeClr val="bg1">
                        <a:lumMod val="95000"/>
                      </a:schemeClr>
                    </a:solidFill>
                  </a:tcPr>
                </a:tc>
                <a:extLst>
                  <a:ext uri="{0D108BD9-81ED-4DB2-BD59-A6C34878D82A}">
                    <a16:rowId xmlns:a16="http://schemas.microsoft.com/office/drawing/2014/main" val="2442538582"/>
                  </a:ext>
                </a:extLst>
              </a:tr>
              <a:tr h="370840">
                <a:tc>
                  <a:txBody>
                    <a:bodyPr/>
                    <a:lstStyle/>
                    <a:p>
                      <a:pPr lvl="0">
                        <a:buNone/>
                      </a:pPr>
                      <a:r>
                        <a:rPr lang="en-US" altLang="zh-TW" sz="1600" b="1" i="1" u="none" strike="noStrike" noProof="0">
                          <a:solidFill>
                            <a:srgbClr val="000000"/>
                          </a:solidFill>
                          <a:latin typeface="Calibri"/>
                          <a:ea typeface="Calibri"/>
                          <a:cs typeface="Calibri"/>
                        </a:rPr>
                        <a:t>j</a:t>
                      </a:r>
                    </a:p>
                  </a:txBody>
                  <a:tcPr>
                    <a:lnL w="12700">
                      <a:solidFill>
                        <a:schemeClr val="tx1"/>
                      </a:solidFill>
                    </a:lnL>
                    <a:solidFill>
                      <a:schemeClr val="bg1">
                        <a:lumMod val="95000"/>
                      </a:schemeClr>
                    </a:solidFill>
                  </a:tcPr>
                </a:tc>
                <a:tc>
                  <a:txBody>
                    <a:bodyPr/>
                    <a:lstStyle/>
                    <a:p>
                      <a:pPr lvl="0">
                        <a:buNone/>
                      </a:pPr>
                      <a:r>
                        <a:rPr lang="zh-TW" sz="1600" b="0" i="0" u="none" strike="noStrike" noProof="0">
                          <a:latin typeface="Calibri"/>
                          <a:ea typeface="新細明體"/>
                          <a:cs typeface="Calibri"/>
                        </a:rPr>
                        <a:t>The previous hidden state being considered</a:t>
                      </a:r>
                      <a:endParaRPr lang="zh-TW" sz="1600">
                        <a:latin typeface="Calibri"/>
                        <a:cs typeface="Calibri"/>
                      </a:endParaRPr>
                    </a:p>
                  </a:txBody>
                  <a:tcPr>
                    <a:lnR w="12700">
                      <a:solidFill>
                        <a:schemeClr val="tx1"/>
                      </a:solidFill>
                    </a:lnR>
                    <a:solidFill>
                      <a:schemeClr val="bg1">
                        <a:lumMod val="95000"/>
                      </a:schemeClr>
                    </a:solidFill>
                  </a:tcPr>
                </a:tc>
                <a:extLst>
                  <a:ext uri="{0D108BD9-81ED-4DB2-BD59-A6C34878D82A}">
                    <a16:rowId xmlns:a16="http://schemas.microsoft.com/office/drawing/2014/main" val="2290311697"/>
                  </a:ext>
                </a:extLst>
              </a:tr>
              <a:tr h="370840">
                <a:tc>
                  <a:txBody>
                    <a:bodyPr/>
                    <a:lstStyle/>
                    <a:p>
                      <a:pPr lvl="0">
                        <a:buNone/>
                      </a:pPr>
                      <a:r>
                        <a:rPr lang="en-US" altLang="zh-TW" sz="1600" b="1" i="1" u="none" strike="noStrike" noProof="0">
                          <a:solidFill>
                            <a:srgbClr val="000000"/>
                          </a:solidFill>
                          <a:latin typeface="Calibri"/>
                          <a:ea typeface="Calibri"/>
                          <a:cs typeface="Calibri"/>
                        </a:rPr>
                        <a:t>δₜ₋₁(j)</a:t>
                      </a:r>
                      <a:endParaRPr lang="zh-TW" sz="1600" i="1">
                        <a:latin typeface="Calibri"/>
                        <a:cs typeface="Calibri"/>
                      </a:endParaRPr>
                    </a:p>
                  </a:txBody>
                  <a:tcPr>
                    <a:lnL w="12700">
                      <a:solidFill>
                        <a:schemeClr val="tx1"/>
                      </a:solidFill>
                    </a:lnL>
                    <a:solidFill>
                      <a:schemeClr val="bg1">
                        <a:lumMod val="95000"/>
                      </a:schemeClr>
                    </a:solidFill>
                  </a:tcPr>
                </a:tc>
                <a:tc>
                  <a:txBody>
                    <a:bodyPr/>
                    <a:lstStyle/>
                    <a:p>
                      <a:pPr lvl="0">
                        <a:buNone/>
                      </a:pPr>
                      <a:r>
                        <a:rPr lang="zh-TW" sz="1600" b="0" i="0" u="none" strike="noStrike" noProof="0">
                          <a:latin typeface="Calibri"/>
                          <a:cs typeface="Calibri"/>
                        </a:rPr>
                        <a:t>Best path probability at the previous step, for each possible previous state </a:t>
                      </a:r>
                      <a:r>
                        <a:rPr lang="zh-TW" sz="1600" b="0" i="1" u="none" strike="noStrike" noProof="0">
                          <a:latin typeface="Calibri"/>
                          <a:cs typeface="Calibri"/>
                        </a:rPr>
                        <a:t>j</a:t>
                      </a:r>
                      <a:endParaRPr lang="zh-TW" sz="1600" i="1">
                        <a:latin typeface="Calibri"/>
                        <a:cs typeface="Calibri"/>
                      </a:endParaRPr>
                    </a:p>
                  </a:txBody>
                  <a:tcPr>
                    <a:lnR w="12700">
                      <a:solidFill>
                        <a:schemeClr val="tx1"/>
                      </a:solidFill>
                    </a:lnR>
                    <a:solidFill>
                      <a:schemeClr val="bg1">
                        <a:lumMod val="95000"/>
                      </a:schemeClr>
                    </a:solidFill>
                  </a:tcPr>
                </a:tc>
                <a:extLst>
                  <a:ext uri="{0D108BD9-81ED-4DB2-BD59-A6C34878D82A}">
                    <a16:rowId xmlns:a16="http://schemas.microsoft.com/office/drawing/2014/main" val="3704843439"/>
                  </a:ext>
                </a:extLst>
              </a:tr>
              <a:tr h="370840">
                <a:tc>
                  <a:txBody>
                    <a:bodyPr/>
                    <a:lstStyle/>
                    <a:p>
                      <a:pPr lvl="0">
                        <a:buNone/>
                      </a:pPr>
                      <a:r>
                        <a:rPr lang="en-US" altLang="zh-TW" sz="1600" b="1" i="1" u="none" strike="noStrike" noProof="0">
                          <a:solidFill>
                            <a:srgbClr val="000000"/>
                          </a:solidFill>
                          <a:latin typeface="Calibri"/>
                          <a:ea typeface="Calibri"/>
                          <a:cs typeface="Calibri"/>
                        </a:rPr>
                        <a:t>Ψ</a:t>
                      </a:r>
                      <a:endParaRPr lang="zh-TW" sz="1600" i="1">
                        <a:latin typeface="Calibri"/>
                        <a:cs typeface="Calibri"/>
                      </a:endParaRPr>
                    </a:p>
                  </a:txBody>
                  <a:tcPr>
                    <a:lnL w="12700">
                      <a:solidFill>
                        <a:schemeClr val="tx1"/>
                      </a:solidFill>
                    </a:lnL>
                    <a:solidFill>
                      <a:schemeClr val="bg1">
                        <a:lumMod val="95000"/>
                      </a:schemeClr>
                    </a:solidFill>
                  </a:tcPr>
                </a:tc>
                <a:tc>
                  <a:txBody>
                    <a:bodyPr/>
                    <a:lstStyle/>
                    <a:p>
                      <a:pPr lvl="0">
                        <a:buNone/>
                      </a:pPr>
                      <a:r>
                        <a:rPr lang="en-US" altLang="zh-TW" sz="1600" b="0" i="0" u="none" strike="noStrike" noProof="0" err="1">
                          <a:latin typeface="Calibri"/>
                          <a:ea typeface="Calibri"/>
                          <a:cs typeface="Calibri"/>
                        </a:rPr>
                        <a:t>Backpointer</a:t>
                      </a:r>
                      <a:r>
                        <a:rPr lang="en-US" altLang="zh-TW" sz="1600" b="0" i="0" u="none" strike="noStrike" noProof="0">
                          <a:latin typeface="Calibri"/>
                          <a:ea typeface="Calibri"/>
                          <a:cs typeface="Calibri"/>
                        </a:rPr>
                        <a:t>: which</a:t>
                      </a:r>
                      <a:r>
                        <a:rPr lang="zh-TW" altLang="en-US" sz="1600" b="0" i="0" u="none" strike="noStrike" noProof="0">
                          <a:latin typeface="Calibri"/>
                          <a:ea typeface="新細明體"/>
                          <a:cs typeface="Calibri"/>
                        </a:rPr>
                        <a:t> </a:t>
                      </a:r>
                      <a:r>
                        <a:rPr lang="en-US" altLang="zh-TW" sz="1600" b="0" i="0" u="none" strike="noStrike" noProof="0">
                          <a:latin typeface="Calibri"/>
                          <a:ea typeface="Calibri"/>
                          <a:cs typeface="Calibri"/>
                        </a:rPr>
                        <a:t>previous</a:t>
                      </a:r>
                      <a:r>
                        <a:rPr lang="zh-TW" altLang="en-US" sz="1600" b="0" i="0" u="none" strike="noStrike" noProof="0">
                          <a:latin typeface="Calibri"/>
                          <a:ea typeface="新細明體"/>
                          <a:cs typeface="Calibri"/>
                        </a:rPr>
                        <a:t> </a:t>
                      </a:r>
                      <a:r>
                        <a:rPr lang="en-US" altLang="zh-TW" sz="1600" b="0" i="0" u="none" strike="noStrike" noProof="0">
                          <a:latin typeface="Calibri"/>
                          <a:ea typeface="Calibri"/>
                          <a:cs typeface="Calibri"/>
                        </a:rPr>
                        <a:t>state</a:t>
                      </a:r>
                      <a:r>
                        <a:rPr lang="zh-TW" altLang="en-US" sz="1600" b="0" i="0" u="none" strike="noStrike" noProof="0">
                          <a:latin typeface="Calibri"/>
                          <a:ea typeface="新細明體"/>
                          <a:cs typeface="Calibri"/>
                        </a:rPr>
                        <a:t> </a:t>
                      </a:r>
                      <a:r>
                        <a:rPr lang="en-US" altLang="zh-TW" sz="1600" b="0" i="0" u="none" strike="noStrike" noProof="0">
                          <a:latin typeface="Calibri"/>
                          <a:ea typeface="Calibri"/>
                          <a:cs typeface="Calibri"/>
                        </a:rPr>
                        <a:t>led</a:t>
                      </a:r>
                      <a:r>
                        <a:rPr lang="zh-TW" altLang="en-US" sz="1600" b="0" i="0" u="none" strike="noStrike" noProof="0">
                          <a:latin typeface="Calibri"/>
                          <a:ea typeface="新細明體"/>
                          <a:cs typeface="Calibri"/>
                        </a:rPr>
                        <a:t> </a:t>
                      </a:r>
                      <a:r>
                        <a:rPr lang="en-US" altLang="zh-TW" sz="1600" b="0" i="0" u="none" strike="noStrike" noProof="0">
                          <a:latin typeface="Calibri"/>
                          <a:ea typeface="Calibri"/>
                          <a:cs typeface="Calibri"/>
                        </a:rPr>
                        <a:t>to</a:t>
                      </a:r>
                      <a:r>
                        <a:rPr lang="zh-TW" altLang="en-US" sz="1600" b="0" i="0" u="none" strike="noStrike" noProof="0">
                          <a:latin typeface="Calibri"/>
                          <a:ea typeface="新細明體"/>
                          <a:cs typeface="Calibri"/>
                        </a:rPr>
                        <a:t> </a:t>
                      </a:r>
                      <a:r>
                        <a:rPr lang="en-US" altLang="zh-TW" sz="1600" b="0" i="0" u="none" strike="noStrike" noProof="0">
                          <a:latin typeface="Calibri"/>
                          <a:ea typeface="Calibri"/>
                          <a:cs typeface="Calibri"/>
                        </a:rPr>
                        <a:t>the</a:t>
                      </a:r>
                      <a:r>
                        <a:rPr lang="zh-TW" altLang="en-US" sz="1600" b="0" i="0" u="none" strike="noStrike" noProof="0">
                          <a:latin typeface="Calibri"/>
                          <a:ea typeface="新細明體"/>
                          <a:cs typeface="Calibri"/>
                        </a:rPr>
                        <a:t> </a:t>
                      </a:r>
                      <a:r>
                        <a:rPr lang="en-US" altLang="zh-TW" sz="1600" b="0" i="0" u="none" strike="noStrike" noProof="0">
                          <a:latin typeface="Calibri"/>
                          <a:ea typeface="Calibri"/>
                          <a:cs typeface="Calibri"/>
                        </a:rPr>
                        <a:t>best</a:t>
                      </a:r>
                      <a:r>
                        <a:rPr lang="zh-TW" altLang="en-US" sz="1600" b="0" i="0" u="none" strike="noStrike" noProof="0">
                          <a:latin typeface="Calibri"/>
                          <a:ea typeface="新細明體"/>
                          <a:cs typeface="Calibri"/>
                        </a:rPr>
                        <a:t> </a:t>
                      </a:r>
                      <a:r>
                        <a:rPr lang="en-US" altLang="zh-TW" sz="1600" b="0" i="0" u="none" strike="noStrike" noProof="0">
                          <a:latin typeface="Calibri"/>
                          <a:ea typeface="Calibri"/>
                          <a:cs typeface="Calibri"/>
                        </a:rPr>
                        <a:t>path</a:t>
                      </a:r>
                      <a:r>
                        <a:rPr lang="zh-TW" altLang="en-US" sz="1600" b="0" i="0" u="none" strike="noStrike" noProof="0">
                          <a:latin typeface="Calibri"/>
                          <a:ea typeface="新細明體"/>
                          <a:cs typeface="Calibri"/>
                        </a:rPr>
                        <a:t> </a:t>
                      </a:r>
                      <a:r>
                        <a:rPr lang="en-US" altLang="zh-TW" sz="1600" b="0" i="0" u="none" strike="noStrike" noProof="0">
                          <a:latin typeface="Calibri"/>
                          <a:ea typeface="Calibri"/>
                          <a:cs typeface="Calibri"/>
                        </a:rPr>
                        <a:t>into</a:t>
                      </a:r>
                      <a:r>
                        <a:rPr lang="zh-TW" altLang="en-US" sz="1600" b="0" i="0" u="none" strike="noStrike" noProof="0">
                          <a:latin typeface="Calibri"/>
                          <a:ea typeface="新細明體"/>
                          <a:cs typeface="Calibri"/>
                        </a:rPr>
                        <a:t> </a:t>
                      </a:r>
                      <a:r>
                        <a:rPr lang="en-US" altLang="zh-TW" sz="1600" b="0" i="1" u="none" strike="noStrike" noProof="0">
                          <a:latin typeface="Calibri"/>
                          <a:ea typeface="Calibri"/>
                          <a:cs typeface="Calibri"/>
                        </a:rPr>
                        <a:t>s</a:t>
                      </a:r>
                      <a:endParaRPr lang="zh-TW" sz="1600" i="1">
                        <a:latin typeface="Calibri"/>
                        <a:cs typeface="Calibri"/>
                      </a:endParaRPr>
                    </a:p>
                  </a:txBody>
                  <a:tcPr>
                    <a:lnR w="12700">
                      <a:solidFill>
                        <a:schemeClr val="tx1"/>
                      </a:solidFill>
                    </a:lnR>
                    <a:solidFill>
                      <a:schemeClr val="bg1">
                        <a:lumMod val="95000"/>
                      </a:schemeClr>
                    </a:solidFill>
                  </a:tcPr>
                </a:tc>
                <a:extLst>
                  <a:ext uri="{0D108BD9-81ED-4DB2-BD59-A6C34878D82A}">
                    <a16:rowId xmlns:a16="http://schemas.microsoft.com/office/drawing/2014/main" val="1526880254"/>
                  </a:ext>
                </a:extLst>
              </a:tr>
              <a:tr h="370840">
                <a:tc>
                  <a:txBody>
                    <a:bodyPr/>
                    <a:lstStyle/>
                    <a:p>
                      <a:pPr lvl="0">
                        <a:buNone/>
                      </a:pPr>
                      <a:r>
                        <a:rPr lang="en-US" altLang="zh-TW" sz="1600" b="1" i="1" u="none" strike="noStrike" noProof="0">
                          <a:solidFill>
                            <a:srgbClr val="000000"/>
                          </a:solidFill>
                          <a:latin typeface="Calibri"/>
                          <a:ea typeface="Calibri"/>
                          <a:cs typeface="Calibri"/>
                        </a:rPr>
                        <a:t>A(j → s)</a:t>
                      </a:r>
                      <a:endParaRPr lang="zh-TW" sz="1600" i="1">
                        <a:latin typeface="Calibri"/>
                        <a:cs typeface="Calibri"/>
                      </a:endParaRPr>
                    </a:p>
                  </a:txBody>
                  <a:tcPr>
                    <a:lnL w="12700">
                      <a:solidFill>
                        <a:schemeClr val="tx1"/>
                      </a:solidFill>
                    </a:lnL>
                    <a:solidFill>
                      <a:schemeClr val="bg1">
                        <a:lumMod val="95000"/>
                      </a:schemeClr>
                    </a:solidFill>
                  </a:tcPr>
                </a:tc>
                <a:tc>
                  <a:txBody>
                    <a:bodyPr/>
                    <a:lstStyle/>
                    <a:p>
                      <a:pPr lvl="0">
                        <a:buNone/>
                      </a:pPr>
                      <a:r>
                        <a:rPr lang="zh-TW" sz="1600" b="0" i="0" u="none" strike="noStrike" noProof="0">
                          <a:latin typeface="Calibri"/>
                          <a:cs typeface="Calibri"/>
                        </a:rPr>
                        <a:t>Transition probability from state </a:t>
                      </a:r>
                      <a:r>
                        <a:rPr lang="zh-TW" sz="1600" b="0" i="1" u="none" strike="noStrike" noProof="0">
                          <a:latin typeface="Calibri"/>
                          <a:cs typeface="Calibri"/>
                        </a:rPr>
                        <a:t>j</a:t>
                      </a:r>
                      <a:r>
                        <a:rPr lang="zh-TW" sz="1600" b="0" i="0" u="none" strike="noStrike" noProof="0">
                          <a:latin typeface="Calibri"/>
                          <a:cs typeface="Calibri"/>
                        </a:rPr>
                        <a:t> to current state </a:t>
                      </a:r>
                      <a:r>
                        <a:rPr lang="zh-TW" sz="1600" b="0" i="1" u="none" strike="noStrike" noProof="0">
                          <a:latin typeface="Calibri"/>
                          <a:cs typeface="Calibri"/>
                        </a:rPr>
                        <a:t>s</a:t>
                      </a:r>
                      <a:r>
                        <a:rPr lang="zh-TW" sz="1600" b="0" i="0" u="none" strike="noStrike" noProof="0">
                          <a:latin typeface="Calibri"/>
                          <a:cs typeface="Calibri"/>
                        </a:rPr>
                        <a:t> </a:t>
                      </a:r>
                      <a:endParaRPr lang="zh-TW" sz="1600">
                        <a:latin typeface="Calibri"/>
                        <a:cs typeface="Calibri"/>
                      </a:endParaRPr>
                    </a:p>
                  </a:txBody>
                  <a:tcPr>
                    <a:lnR w="12700">
                      <a:solidFill>
                        <a:schemeClr val="tx1"/>
                      </a:solidFill>
                    </a:lnR>
                    <a:solidFill>
                      <a:schemeClr val="bg1">
                        <a:lumMod val="95000"/>
                      </a:schemeClr>
                    </a:solidFill>
                  </a:tcPr>
                </a:tc>
                <a:extLst>
                  <a:ext uri="{0D108BD9-81ED-4DB2-BD59-A6C34878D82A}">
                    <a16:rowId xmlns:a16="http://schemas.microsoft.com/office/drawing/2014/main" val="3670457861"/>
                  </a:ext>
                </a:extLst>
              </a:tr>
              <a:tr h="370840">
                <a:tc>
                  <a:txBody>
                    <a:bodyPr/>
                    <a:lstStyle/>
                    <a:p>
                      <a:pPr lvl="0">
                        <a:buNone/>
                      </a:pPr>
                      <a:r>
                        <a:rPr lang="en-US" altLang="zh-TW" sz="1600" b="1" i="1" u="none" strike="noStrike" noProof="0">
                          <a:solidFill>
                            <a:srgbClr val="000000"/>
                          </a:solidFill>
                          <a:latin typeface="Calibri"/>
                          <a:ea typeface="Calibri"/>
                          <a:cs typeface="Calibri"/>
                        </a:rPr>
                        <a:t>B</a:t>
                      </a:r>
                      <a:r>
                        <a:rPr lang="en-US" altLang="zh-TW" sz="1600" b="1" i="1" u="none" strike="noStrike" baseline="-25000" noProof="0">
                          <a:solidFill>
                            <a:srgbClr val="000000"/>
                          </a:solidFill>
                          <a:latin typeface="Calibri"/>
                          <a:ea typeface="Calibri"/>
                          <a:cs typeface="Calibri"/>
                        </a:rPr>
                        <a:t>s</a:t>
                      </a:r>
                      <a:r>
                        <a:rPr lang="en-US" altLang="zh-TW" sz="1600" b="1" i="1" u="none" strike="noStrike" noProof="0">
                          <a:solidFill>
                            <a:srgbClr val="000000"/>
                          </a:solidFill>
                          <a:latin typeface="Calibri"/>
                          <a:ea typeface="Calibri"/>
                          <a:cs typeface="Calibri"/>
                        </a:rPr>
                        <a:t>(</a:t>
                      </a:r>
                      <a:r>
                        <a:rPr lang="en-US" altLang="zh-TW" sz="1600" b="1" i="1" u="none" strike="noStrike" noProof="0" err="1">
                          <a:solidFill>
                            <a:srgbClr val="000000"/>
                          </a:solidFill>
                          <a:latin typeface="Calibri"/>
                          <a:ea typeface="Calibri"/>
                          <a:cs typeface="Calibri"/>
                        </a:rPr>
                        <a:t>x</a:t>
                      </a:r>
                      <a:r>
                        <a:rPr lang="en-US" altLang="zh-TW" sz="1600" b="1" i="1" u="none" strike="noStrike" baseline="-25000" noProof="0" err="1">
                          <a:solidFill>
                            <a:srgbClr val="000000"/>
                          </a:solidFill>
                          <a:latin typeface="Calibri"/>
                          <a:ea typeface="Calibri"/>
                          <a:cs typeface="Calibri"/>
                        </a:rPr>
                        <a:t>t</a:t>
                      </a:r>
                      <a:r>
                        <a:rPr lang="en-US" altLang="zh-TW" sz="1600" b="1" i="1" u="none" strike="noStrike" noProof="0">
                          <a:solidFill>
                            <a:srgbClr val="000000"/>
                          </a:solidFill>
                          <a:latin typeface="Calibri"/>
                          <a:ea typeface="Calibri"/>
                          <a:cs typeface="Calibri"/>
                        </a:rPr>
                        <a:t>)</a:t>
                      </a:r>
                      <a:endParaRPr lang="zh-TW" sz="1600" i="1">
                        <a:latin typeface="Calibri"/>
                        <a:cs typeface="Calibri"/>
                      </a:endParaRPr>
                    </a:p>
                  </a:txBody>
                  <a:tcPr>
                    <a:lnL w="12700">
                      <a:solidFill>
                        <a:schemeClr val="tx1"/>
                      </a:solidFill>
                    </a:lnL>
                    <a:lnB w="12700">
                      <a:solidFill>
                        <a:schemeClr val="tx1"/>
                      </a:solidFill>
                    </a:lnB>
                    <a:solidFill>
                      <a:schemeClr val="bg1">
                        <a:lumMod val="95000"/>
                      </a:schemeClr>
                    </a:solidFill>
                  </a:tcPr>
                </a:tc>
                <a:tc>
                  <a:txBody>
                    <a:bodyPr/>
                    <a:lstStyle/>
                    <a:p>
                      <a:pPr lvl="0">
                        <a:buNone/>
                      </a:pPr>
                      <a:r>
                        <a:rPr lang="en-US" altLang="zh-TW" sz="1600" b="0" i="0" u="none" strike="noStrike" noProof="0">
                          <a:latin typeface="Calibri"/>
                          <a:ea typeface="Calibri"/>
                          <a:cs typeface="Calibri"/>
                        </a:rPr>
                        <a:t>L</a:t>
                      </a:r>
                      <a:r>
                        <a:rPr lang="zh-TW" sz="1600" b="0" i="0" u="none" strike="noStrike" noProof="0">
                          <a:latin typeface="Calibri"/>
                          <a:cs typeface="Calibri"/>
                        </a:rPr>
                        <a:t>ikelihood of observation </a:t>
                      </a:r>
                      <a:r>
                        <a:rPr lang="zh-TW" sz="1600" b="0" i="1" u="none" strike="noStrike" noProof="0">
                          <a:latin typeface="Calibri"/>
                          <a:cs typeface="Calibri"/>
                        </a:rPr>
                        <a:t>x</a:t>
                      </a:r>
                      <a:r>
                        <a:rPr lang="zh-TW" sz="1600" b="0" i="1" u="none" strike="noStrike" baseline="-25000" noProof="0">
                          <a:latin typeface="Calibri"/>
                          <a:cs typeface="Calibri"/>
                        </a:rPr>
                        <a:t>t</a:t>
                      </a:r>
                      <a:r>
                        <a:rPr lang="zh-TW" sz="1600" b="0" i="0" u="none" strike="noStrike" noProof="0">
                          <a:latin typeface="Calibri"/>
                          <a:cs typeface="Calibri"/>
                        </a:rPr>
                        <a:t> under state </a:t>
                      </a:r>
                      <a:r>
                        <a:rPr lang="zh-TW" sz="1600" b="0" i="1" u="none" strike="noStrike" noProof="0">
                          <a:latin typeface="Calibri"/>
                          <a:cs typeface="Calibri"/>
                        </a:rPr>
                        <a:t>s</a:t>
                      </a:r>
                      <a:endParaRPr lang="zh-TW" sz="1600" i="1">
                        <a:latin typeface="Calibri"/>
                        <a:cs typeface="Calibri"/>
                      </a:endParaRPr>
                    </a:p>
                  </a:txBody>
                  <a:tcPr>
                    <a:lnR w="12700">
                      <a:solidFill>
                        <a:schemeClr val="tx1"/>
                      </a:solidFill>
                    </a:lnR>
                    <a:lnB w="12700">
                      <a:solidFill>
                        <a:schemeClr val="tx1"/>
                      </a:solidFill>
                    </a:lnB>
                    <a:solidFill>
                      <a:schemeClr val="bg1">
                        <a:lumMod val="95000"/>
                      </a:schemeClr>
                    </a:solidFill>
                  </a:tcPr>
                </a:tc>
                <a:extLst>
                  <a:ext uri="{0D108BD9-81ED-4DB2-BD59-A6C34878D82A}">
                    <a16:rowId xmlns:a16="http://schemas.microsoft.com/office/drawing/2014/main" val="1241624262"/>
                  </a:ext>
                </a:extLst>
              </a:tr>
            </a:tbl>
          </a:graphicData>
        </a:graphic>
      </p:graphicFrame>
    </p:spTree>
    <p:extLst>
      <p:ext uri="{BB962C8B-B14F-4D97-AF65-F5344CB8AC3E}">
        <p14:creationId xmlns:p14="http://schemas.microsoft.com/office/powerpoint/2010/main" val="26603298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fade">
                                      <p:cBhvr>
                                        <p:cTn id="7" dur="500"/>
                                        <p:tgtEl>
                                          <p:spTgt spid="2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6"/>
                                        </p:tgtEl>
                                        <p:attrNameLst>
                                          <p:attrName>style.visibility</p:attrName>
                                        </p:attrNameLst>
                                      </p:cBhvr>
                                      <p:to>
                                        <p:strVal val="visible"/>
                                      </p:to>
                                    </p:set>
                                    <p:animEffect transition="in" filter="fade">
                                      <p:cBhvr>
                                        <p:cTn id="12" dur="500"/>
                                        <p:tgtEl>
                                          <p:spTgt spid="2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0"/>
                                        </p:tgtEl>
                                        <p:attrNameLst>
                                          <p:attrName>style.visibility</p:attrName>
                                        </p:attrNameLst>
                                      </p:cBhvr>
                                      <p:to>
                                        <p:strVal val="visible"/>
                                      </p:to>
                                    </p:set>
                                    <p:animEffect transition="in" filter="fade">
                                      <p:cBhvr>
                                        <p:cTn id="17" dur="500"/>
                                        <p:tgtEl>
                                          <p:spTgt spid="20"/>
                                        </p:tgtEl>
                                      </p:cBhvr>
                                    </p:animEffect>
                                  </p:childTnLst>
                                </p:cTn>
                              </p:par>
                              <p:par>
                                <p:cTn id="18" presetID="10" presetClass="entr" presetSubtype="0" fill="hold" nodeType="withEffect">
                                  <p:stCondLst>
                                    <p:cond delay="0"/>
                                  </p:stCondLst>
                                  <p:childTnLst>
                                    <p:set>
                                      <p:cBhvr>
                                        <p:cTn id="19" dur="1" fill="hold">
                                          <p:stCondLst>
                                            <p:cond delay="0"/>
                                          </p:stCondLst>
                                        </p:cTn>
                                        <p:tgtEl>
                                          <p:spTgt spid="25"/>
                                        </p:tgtEl>
                                        <p:attrNameLst>
                                          <p:attrName>style.visibility</p:attrName>
                                        </p:attrNameLst>
                                      </p:cBhvr>
                                      <p:to>
                                        <p:strVal val="visible"/>
                                      </p:to>
                                    </p:set>
                                    <p:animEffect transition="in" filter="fade">
                                      <p:cBhvr>
                                        <p:cTn id="20" dur="500"/>
                                        <p:tgtEl>
                                          <p:spTgt spid="25"/>
                                        </p:tgtEl>
                                      </p:cBhvr>
                                    </p:animEffect>
                                  </p:childTnLst>
                                </p:cTn>
                              </p:par>
                              <p:par>
                                <p:cTn id="21" presetID="10" presetClass="entr" presetSubtype="0" fill="hold" nodeType="withEffect">
                                  <p:stCondLst>
                                    <p:cond delay="0"/>
                                  </p:stCondLst>
                                  <p:childTnLst>
                                    <p:set>
                                      <p:cBhvr>
                                        <p:cTn id="22" dur="1" fill="hold">
                                          <p:stCondLst>
                                            <p:cond delay="0"/>
                                          </p:stCondLst>
                                        </p:cTn>
                                        <p:tgtEl>
                                          <p:spTgt spid="24"/>
                                        </p:tgtEl>
                                        <p:attrNameLst>
                                          <p:attrName>style.visibility</p:attrName>
                                        </p:attrNameLst>
                                      </p:cBhvr>
                                      <p:to>
                                        <p:strVal val="visible"/>
                                      </p:to>
                                    </p:set>
                                    <p:animEffect transition="in" filter="fade">
                                      <p:cBhvr>
                                        <p:cTn id="23" dur="500"/>
                                        <p:tgtEl>
                                          <p:spTgt spid="24"/>
                                        </p:tgtEl>
                                      </p:cBhvr>
                                    </p:animEffect>
                                  </p:childTnLst>
                                </p:cTn>
                              </p:par>
                              <p:par>
                                <p:cTn id="24" presetID="10" presetClass="entr" presetSubtype="0" fill="hold" nodeType="withEffect">
                                  <p:stCondLst>
                                    <p:cond delay="0"/>
                                  </p:stCondLst>
                                  <p:childTnLst>
                                    <p:set>
                                      <p:cBhvr>
                                        <p:cTn id="25" dur="1" fill="hold">
                                          <p:stCondLst>
                                            <p:cond delay="0"/>
                                          </p:stCondLst>
                                        </p:cTn>
                                        <p:tgtEl>
                                          <p:spTgt spid="31"/>
                                        </p:tgtEl>
                                        <p:attrNameLst>
                                          <p:attrName>style.visibility</p:attrName>
                                        </p:attrNameLst>
                                      </p:cBhvr>
                                      <p:to>
                                        <p:strVal val="visible"/>
                                      </p:to>
                                    </p:set>
                                    <p:animEffect transition="in" filter="fade">
                                      <p:cBhvr>
                                        <p:cTn id="26" dur="500"/>
                                        <p:tgtEl>
                                          <p:spTgt spid="31"/>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30"/>
                                        </p:tgtEl>
                                        <p:attrNameLst>
                                          <p:attrName>style.visibility</p:attrName>
                                        </p:attrNameLst>
                                      </p:cBhvr>
                                      <p:to>
                                        <p:strVal val="visible"/>
                                      </p:to>
                                    </p:set>
                                    <p:animEffect transition="in" filter="fade">
                                      <p:cBhvr>
                                        <p:cTn id="31"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72E03C-BBBB-35C3-8944-83C8E096FC53}"/>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1F06DE70-C16F-01BB-68E9-86D9C91A1289}"/>
              </a:ext>
            </a:extLst>
          </p:cNvPr>
          <p:cNvSpPr txBox="1"/>
          <p:nvPr/>
        </p:nvSpPr>
        <p:spPr>
          <a:xfrm>
            <a:off x="502920" y="228600"/>
            <a:ext cx="11155680" cy="615553"/>
          </a:xfrm>
          <a:prstGeom prst="rect">
            <a:avLst/>
          </a:prstGeom>
          <a:noFill/>
        </p:spPr>
        <p:txBody>
          <a:bodyPr wrap="square" lIns="91440" tIns="45720" rIns="91440" bIns="45720" anchor="t">
            <a:spAutoFit/>
          </a:bodyPr>
          <a:lstStyle/>
          <a:p>
            <a:r>
              <a:rPr lang="af-ZA" sz="3400" b="1">
                <a:solidFill>
                  <a:srgbClr val="1A2B47"/>
                </a:solidFill>
                <a:latin typeface="Calibri"/>
                <a:ea typeface="Calibri"/>
                <a:cs typeface="Calibri"/>
              </a:rPr>
              <a:t>Decoding sequences: Viterbi</a:t>
            </a:r>
            <a:r>
              <a:rPr sz="3400" b="1" i="0">
                <a:solidFill>
                  <a:srgbClr val="1A2B47"/>
                </a:solidFill>
                <a:latin typeface="Calibri"/>
                <a:ea typeface="Calibri"/>
                <a:cs typeface="Calibri"/>
              </a:rPr>
              <a:t> Algorithm</a:t>
            </a:r>
            <a:r>
              <a:rPr lang="en-US" sz="3400" b="1">
                <a:solidFill>
                  <a:srgbClr val="1A2B47"/>
                </a:solidFill>
                <a:latin typeface="Calibri"/>
                <a:ea typeface="Calibri"/>
                <a:cs typeface="Calibri"/>
              </a:rPr>
              <a:t>!</a:t>
            </a:r>
            <a:endParaRPr lang="en-US" altLang="zh-TW" sz="3400" b="1" i="0">
              <a:solidFill>
                <a:srgbClr val="1A2B47"/>
              </a:solidFill>
              <a:latin typeface="Calibri"/>
              <a:ea typeface="Calibri"/>
              <a:cs typeface="Calibri"/>
            </a:endParaRPr>
          </a:p>
        </p:txBody>
      </p:sp>
      <p:sp>
        <p:nvSpPr>
          <p:cNvPr id="4" name="TextBox 3">
            <a:extLst>
              <a:ext uri="{FF2B5EF4-FFF2-40B4-BE49-F238E27FC236}">
                <a16:creationId xmlns:a16="http://schemas.microsoft.com/office/drawing/2014/main" id="{78229682-4150-F261-F727-BED1176EE120}"/>
              </a:ext>
            </a:extLst>
          </p:cNvPr>
          <p:cNvSpPr txBox="1"/>
          <p:nvPr/>
        </p:nvSpPr>
        <p:spPr>
          <a:xfrm>
            <a:off x="502920" y="841248"/>
            <a:ext cx="11155680" cy="323165"/>
          </a:xfrm>
          <a:prstGeom prst="rect">
            <a:avLst/>
          </a:prstGeom>
          <a:noFill/>
        </p:spPr>
        <p:txBody>
          <a:bodyPr wrap="square" lIns="91440" tIns="45720" rIns="91440" bIns="45720" anchor="t">
            <a:spAutoFit/>
          </a:bodyPr>
          <a:lstStyle/>
          <a:p>
            <a:r>
              <a:rPr lang="zh-TW" sz="1500">
                <a:solidFill>
                  <a:srgbClr val="7A96B2"/>
                </a:solidFill>
                <a:ea typeface="+mn-lt"/>
                <a:cs typeface="+mn-lt"/>
              </a:rPr>
              <a:t>Finding the </a:t>
            </a:r>
            <a:r>
              <a:rPr lang="en-US" altLang="zh-TW" sz="1500">
                <a:solidFill>
                  <a:srgbClr val="7A96B2"/>
                </a:solidFill>
                <a:ea typeface="+mn-lt"/>
                <a:cs typeface="+mn-lt"/>
              </a:rPr>
              <a:t>b</a:t>
            </a:r>
            <a:r>
              <a:rPr lang="zh-TW" sz="1500">
                <a:solidFill>
                  <a:srgbClr val="7A96B2"/>
                </a:solidFill>
                <a:ea typeface="+mn-lt"/>
                <a:cs typeface="+mn-lt"/>
              </a:rPr>
              <a:t>est </a:t>
            </a:r>
            <a:r>
              <a:rPr lang="en-US" altLang="zh-TW" sz="1500">
                <a:solidFill>
                  <a:srgbClr val="7A96B2"/>
                </a:solidFill>
                <a:ea typeface="+mn-lt"/>
                <a:cs typeface="+mn-lt"/>
              </a:rPr>
              <a:t>path </a:t>
            </a:r>
            <a:r>
              <a:rPr lang="en-US" sz="1500">
                <a:solidFill>
                  <a:srgbClr val="7A96B2"/>
                </a:solidFill>
                <a:ea typeface="+mn-lt"/>
                <a:cs typeface="+mn-lt"/>
              </a:rPr>
              <a:t>of hidden states to</a:t>
            </a:r>
            <a:r>
              <a:rPr lang="zh-TW" altLang="en-US" sz="1500">
                <a:solidFill>
                  <a:srgbClr val="7A96B2"/>
                </a:solidFill>
                <a:ea typeface="+mn-lt"/>
                <a:cs typeface="+mn-lt"/>
              </a:rPr>
              <a:t> </a:t>
            </a:r>
            <a:r>
              <a:rPr lang="en-US" sz="1500">
                <a:solidFill>
                  <a:srgbClr val="7A96B2"/>
                </a:solidFill>
                <a:ea typeface="+mn-lt"/>
                <a:cs typeface="+mn-lt"/>
              </a:rPr>
              <a:t>describe a given sequence of observations</a:t>
            </a:r>
            <a:endParaRPr lang="en-US" altLang="zh-TW" sz="1500">
              <a:solidFill>
                <a:srgbClr val="7A96B2"/>
              </a:solidFill>
              <a:ea typeface="Calibri"/>
              <a:cs typeface="Calibri"/>
            </a:endParaRPr>
          </a:p>
        </p:txBody>
      </p:sp>
      <p:cxnSp>
        <p:nvCxnSpPr>
          <p:cNvPr id="5" name="Connector 4">
            <a:extLst>
              <a:ext uri="{FF2B5EF4-FFF2-40B4-BE49-F238E27FC236}">
                <a16:creationId xmlns:a16="http://schemas.microsoft.com/office/drawing/2014/main" id="{FF2B2038-1E88-3235-D7E8-463D4F7AB1F1}"/>
              </a:ext>
            </a:extLst>
          </p:cNvPr>
          <p:cNvCxnSpPr/>
          <p:nvPr/>
        </p:nvCxnSpPr>
        <p:spPr>
          <a:xfrm>
            <a:off x="502920" y="1234440"/>
            <a:ext cx="11183112" cy="0"/>
          </a:xfrm>
          <a:prstGeom prst="line">
            <a:avLst/>
          </a:prstGeom>
          <a:ln w="9525">
            <a:solidFill>
              <a:srgbClr val="CCD9E8"/>
            </a:solidFill>
          </a:ln>
        </p:spPr>
        <p:style>
          <a:lnRef idx="2">
            <a:schemeClr val="accent1"/>
          </a:lnRef>
          <a:fillRef idx="0">
            <a:schemeClr val="accent1"/>
          </a:fillRef>
          <a:effectRef idx="1">
            <a:schemeClr val="accent1"/>
          </a:effectRef>
          <a:fontRef idx="minor">
            <a:schemeClr val="tx1"/>
          </a:fontRef>
        </p:style>
      </p:cxnSp>
      <p:grpSp>
        <p:nvGrpSpPr>
          <p:cNvPr id="24" name="群組 23">
            <a:extLst>
              <a:ext uri="{FF2B5EF4-FFF2-40B4-BE49-F238E27FC236}">
                <a16:creationId xmlns:a16="http://schemas.microsoft.com/office/drawing/2014/main" id="{79F47C0A-6516-0712-5090-B5A50C88FBBE}"/>
              </a:ext>
            </a:extLst>
          </p:cNvPr>
          <p:cNvGrpSpPr/>
          <p:nvPr/>
        </p:nvGrpSpPr>
        <p:grpSpPr>
          <a:xfrm>
            <a:off x="2543671" y="1721654"/>
            <a:ext cx="1003705" cy="901635"/>
            <a:chOff x="2543671" y="1635750"/>
            <a:chExt cx="1003705" cy="901635"/>
          </a:xfrm>
        </p:grpSpPr>
        <p:grpSp>
          <p:nvGrpSpPr>
            <p:cNvPr id="63" name="群組 62">
              <a:extLst>
                <a:ext uri="{FF2B5EF4-FFF2-40B4-BE49-F238E27FC236}">
                  <a16:creationId xmlns:a16="http://schemas.microsoft.com/office/drawing/2014/main" id="{F0352058-609C-1772-AD5A-C7D5D8BDBCED}"/>
                </a:ext>
              </a:extLst>
            </p:cNvPr>
            <p:cNvGrpSpPr/>
            <p:nvPr/>
          </p:nvGrpSpPr>
          <p:grpSpPr>
            <a:xfrm>
              <a:off x="2543671" y="1635750"/>
              <a:ext cx="1003705" cy="598273"/>
              <a:chOff x="2601604" y="4219827"/>
              <a:chExt cx="1719072" cy="777240"/>
            </a:xfrm>
          </p:grpSpPr>
          <p:sp>
            <p:nvSpPr>
              <p:cNvPr id="18" name="Rectangle 6">
                <a:extLst>
                  <a:ext uri="{FF2B5EF4-FFF2-40B4-BE49-F238E27FC236}">
                    <a16:creationId xmlns:a16="http://schemas.microsoft.com/office/drawing/2014/main" id="{A7E38577-315D-605A-75FA-E4E2F6920886}"/>
                  </a:ext>
                </a:extLst>
              </p:cNvPr>
              <p:cNvSpPr/>
              <p:nvPr/>
            </p:nvSpPr>
            <p:spPr>
              <a:xfrm>
                <a:off x="2601604" y="4219827"/>
                <a:ext cx="1719072" cy="777240"/>
              </a:xfrm>
              <a:prstGeom prst="rect">
                <a:avLst/>
              </a:prstGeom>
              <a:solidFill>
                <a:srgbClr val="F4F7FB"/>
              </a:solidFill>
              <a:ln w="9525">
                <a:solidFill>
                  <a:srgbClr val="CCD9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20" name="TextBox 7">
                <a:extLst>
                  <a:ext uri="{FF2B5EF4-FFF2-40B4-BE49-F238E27FC236}">
                    <a16:creationId xmlns:a16="http://schemas.microsoft.com/office/drawing/2014/main" id="{EF785896-222D-C9E1-2A60-7E01B4176F1C}"/>
                  </a:ext>
                </a:extLst>
              </p:cNvPr>
              <p:cNvSpPr txBox="1"/>
              <p:nvPr/>
            </p:nvSpPr>
            <p:spPr>
              <a:xfrm>
                <a:off x="2693043" y="4266997"/>
                <a:ext cx="1536191" cy="307777"/>
              </a:xfrm>
              <a:prstGeom prst="rect">
                <a:avLst/>
              </a:prstGeom>
              <a:noFill/>
            </p:spPr>
            <p:txBody>
              <a:bodyPr wrap="square" lIns="91440" tIns="45720" rIns="91440" bIns="45720" anchor="ctr">
                <a:spAutoFit/>
              </a:bodyPr>
              <a:lstStyle/>
              <a:p>
                <a:pPr algn="ctr"/>
                <a:r>
                  <a:rPr lang="en-US" sz="1400" b="1">
                    <a:solidFill>
                      <a:srgbClr val="1A2B47"/>
                    </a:solidFill>
                    <a:latin typeface="Calibri"/>
                  </a:rPr>
                  <a:t>Pain = 7</a:t>
                </a:r>
                <a:endParaRPr lang="zh-TW" altLang="en-US" sz="1400" b="1" i="0">
                  <a:solidFill>
                    <a:srgbClr val="1A2B47"/>
                  </a:solidFill>
                  <a:latin typeface="Calibri"/>
                  <a:cs typeface="Calibri"/>
                </a:endParaRPr>
              </a:p>
            </p:txBody>
          </p:sp>
          <p:sp>
            <p:nvSpPr>
              <p:cNvPr id="22" name="TextBox 8">
                <a:extLst>
                  <a:ext uri="{FF2B5EF4-FFF2-40B4-BE49-F238E27FC236}">
                    <a16:creationId xmlns:a16="http://schemas.microsoft.com/office/drawing/2014/main" id="{7C06A99A-4493-6426-6C54-D55234A7F3C5}"/>
                  </a:ext>
                </a:extLst>
              </p:cNvPr>
              <p:cNvSpPr txBox="1"/>
              <p:nvPr/>
            </p:nvSpPr>
            <p:spPr>
              <a:xfrm>
                <a:off x="2693044" y="4580792"/>
                <a:ext cx="1536192" cy="307777"/>
              </a:xfrm>
              <a:prstGeom prst="rect">
                <a:avLst/>
              </a:prstGeom>
              <a:noFill/>
            </p:spPr>
            <p:txBody>
              <a:bodyPr wrap="square" lIns="91440" tIns="45720" rIns="91440" bIns="45720" anchor="ctr">
                <a:spAutoFit/>
              </a:bodyPr>
              <a:lstStyle/>
              <a:p>
                <a:pPr algn="ctr"/>
                <a:r>
                  <a:rPr lang="en-US" sz="1400">
                    <a:solidFill>
                      <a:srgbClr val="4A6A8A"/>
                    </a:solidFill>
                    <a:latin typeface="Calibri"/>
                  </a:rPr>
                  <a:t>MME =</a:t>
                </a:r>
                <a:r>
                  <a:rPr lang="zh-TW" sz="1400">
                    <a:solidFill>
                      <a:srgbClr val="4A6A8A"/>
                    </a:solidFill>
                    <a:latin typeface="Calibri"/>
                    <a:ea typeface="新細明體"/>
                  </a:rPr>
                  <a:t> </a:t>
                </a:r>
                <a:r>
                  <a:rPr lang="en-US" altLang="zh-TW" sz="1400">
                    <a:solidFill>
                      <a:srgbClr val="4A6A8A"/>
                    </a:solidFill>
                    <a:latin typeface="Calibri"/>
                    <a:ea typeface="新細明體"/>
                  </a:rPr>
                  <a:t>0</a:t>
                </a:r>
                <a:endParaRPr lang="zh-TW" altLang="en-US" sz="1400" b="0" i="0">
                  <a:solidFill>
                    <a:srgbClr val="4A6A8A"/>
                  </a:solidFill>
                  <a:latin typeface="Calibri"/>
                  <a:ea typeface="新細明體"/>
                  <a:cs typeface="Calibri"/>
                </a:endParaRPr>
              </a:p>
            </p:txBody>
          </p:sp>
        </p:grpSp>
        <p:sp>
          <p:nvSpPr>
            <p:cNvPr id="30" name="TextBox 12">
              <a:extLst>
                <a:ext uri="{FF2B5EF4-FFF2-40B4-BE49-F238E27FC236}">
                  <a16:creationId xmlns:a16="http://schemas.microsoft.com/office/drawing/2014/main" id="{44AB81E8-9439-A438-7DB5-2C665528015C}"/>
                </a:ext>
              </a:extLst>
            </p:cNvPr>
            <p:cNvSpPr txBox="1"/>
            <p:nvPr/>
          </p:nvSpPr>
          <p:spPr>
            <a:xfrm>
              <a:off x="2794715" y="2260386"/>
              <a:ext cx="502920" cy="276999"/>
            </a:xfrm>
            <a:prstGeom prst="rect">
              <a:avLst/>
            </a:prstGeom>
            <a:noFill/>
          </p:spPr>
          <p:txBody>
            <a:bodyPr wrap="square" lIns="91440" tIns="45720" rIns="91440" bIns="45720" anchor="t">
              <a:spAutoFit/>
            </a:bodyPr>
            <a:lstStyle/>
            <a:p>
              <a:pPr algn="ctr"/>
              <a:r>
                <a:rPr sz="1200" b="0" i="0">
                  <a:solidFill>
                    <a:srgbClr val="7A96B2"/>
                  </a:solidFill>
                  <a:latin typeface="Calibri"/>
                </a:rPr>
                <a:t>t=1</a:t>
              </a:r>
              <a:endParaRPr lang="zh-TW" altLang="en-US" sz="1200" b="0" i="0">
                <a:solidFill>
                  <a:srgbClr val="7A96B2"/>
                </a:solidFill>
                <a:latin typeface="Calibri"/>
                <a:cs typeface="Calibri"/>
              </a:endParaRPr>
            </a:p>
          </p:txBody>
        </p:sp>
      </p:grpSp>
      <p:grpSp>
        <p:nvGrpSpPr>
          <p:cNvPr id="26" name="群組 25">
            <a:extLst>
              <a:ext uri="{FF2B5EF4-FFF2-40B4-BE49-F238E27FC236}">
                <a16:creationId xmlns:a16="http://schemas.microsoft.com/office/drawing/2014/main" id="{C569CFAC-081B-B557-DD4F-A67B7E3B6BF3}"/>
              </a:ext>
            </a:extLst>
          </p:cNvPr>
          <p:cNvGrpSpPr/>
          <p:nvPr/>
        </p:nvGrpSpPr>
        <p:grpSpPr>
          <a:xfrm>
            <a:off x="5331364" y="1721654"/>
            <a:ext cx="1003705" cy="923110"/>
            <a:chOff x="5331364" y="1635750"/>
            <a:chExt cx="1003705" cy="923110"/>
          </a:xfrm>
        </p:grpSpPr>
        <p:sp>
          <p:nvSpPr>
            <p:cNvPr id="46" name="TextBox 20">
              <a:extLst>
                <a:ext uri="{FF2B5EF4-FFF2-40B4-BE49-F238E27FC236}">
                  <a16:creationId xmlns:a16="http://schemas.microsoft.com/office/drawing/2014/main" id="{FACC944C-EEE5-4037-7F45-0E86DCF7E857}"/>
                </a:ext>
              </a:extLst>
            </p:cNvPr>
            <p:cNvSpPr txBox="1"/>
            <p:nvPr/>
          </p:nvSpPr>
          <p:spPr>
            <a:xfrm>
              <a:off x="5582407" y="2281861"/>
              <a:ext cx="502920" cy="276999"/>
            </a:xfrm>
            <a:prstGeom prst="rect">
              <a:avLst/>
            </a:prstGeom>
            <a:noFill/>
          </p:spPr>
          <p:txBody>
            <a:bodyPr wrap="square" lIns="91440" tIns="45720" rIns="91440" bIns="45720" anchor="t">
              <a:spAutoFit/>
            </a:bodyPr>
            <a:lstStyle/>
            <a:p>
              <a:pPr algn="ctr"/>
              <a:r>
                <a:rPr sz="1200" b="0" i="0">
                  <a:solidFill>
                    <a:srgbClr val="7A96B2"/>
                  </a:solidFill>
                  <a:latin typeface="Calibri"/>
                </a:rPr>
                <a:t>t=2</a:t>
              </a:r>
              <a:endParaRPr lang="zh-TW" altLang="en-US" sz="1200" b="0" i="0">
                <a:solidFill>
                  <a:srgbClr val="7A96B2"/>
                </a:solidFill>
                <a:latin typeface="Calibri"/>
                <a:cs typeface="Calibri"/>
              </a:endParaRPr>
            </a:p>
          </p:txBody>
        </p:sp>
        <p:grpSp>
          <p:nvGrpSpPr>
            <p:cNvPr id="66" name="群組 65">
              <a:extLst>
                <a:ext uri="{FF2B5EF4-FFF2-40B4-BE49-F238E27FC236}">
                  <a16:creationId xmlns:a16="http://schemas.microsoft.com/office/drawing/2014/main" id="{8BFE5254-6E28-46FF-B294-784503CD03DC}"/>
                </a:ext>
              </a:extLst>
            </p:cNvPr>
            <p:cNvGrpSpPr/>
            <p:nvPr/>
          </p:nvGrpSpPr>
          <p:grpSpPr>
            <a:xfrm>
              <a:off x="5331364" y="1635750"/>
              <a:ext cx="1003705" cy="598273"/>
              <a:chOff x="2601604" y="4219827"/>
              <a:chExt cx="1719072" cy="777240"/>
            </a:xfrm>
          </p:grpSpPr>
          <p:sp>
            <p:nvSpPr>
              <p:cNvPr id="67" name="Rectangle 6">
                <a:extLst>
                  <a:ext uri="{FF2B5EF4-FFF2-40B4-BE49-F238E27FC236}">
                    <a16:creationId xmlns:a16="http://schemas.microsoft.com/office/drawing/2014/main" id="{18E70B82-0A80-EE1B-8DAF-E354028B65B8}"/>
                  </a:ext>
                </a:extLst>
              </p:cNvPr>
              <p:cNvSpPr/>
              <p:nvPr/>
            </p:nvSpPr>
            <p:spPr>
              <a:xfrm>
                <a:off x="2601604" y="4219827"/>
                <a:ext cx="1719072" cy="777240"/>
              </a:xfrm>
              <a:prstGeom prst="rect">
                <a:avLst/>
              </a:prstGeom>
              <a:solidFill>
                <a:srgbClr val="F4F7FB"/>
              </a:solidFill>
              <a:ln w="9525">
                <a:solidFill>
                  <a:srgbClr val="CCD9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68" name="TextBox 7">
                <a:extLst>
                  <a:ext uri="{FF2B5EF4-FFF2-40B4-BE49-F238E27FC236}">
                    <a16:creationId xmlns:a16="http://schemas.microsoft.com/office/drawing/2014/main" id="{2E526F22-00A4-BAB4-E486-9B5DF0A308DC}"/>
                  </a:ext>
                </a:extLst>
              </p:cNvPr>
              <p:cNvSpPr txBox="1"/>
              <p:nvPr/>
            </p:nvSpPr>
            <p:spPr>
              <a:xfrm>
                <a:off x="2693044" y="4220964"/>
                <a:ext cx="1536191" cy="399845"/>
              </a:xfrm>
              <a:prstGeom prst="rect">
                <a:avLst/>
              </a:prstGeom>
              <a:noFill/>
            </p:spPr>
            <p:txBody>
              <a:bodyPr wrap="square" lIns="91440" tIns="45720" rIns="91440" bIns="45720" anchor="ctr">
                <a:spAutoFit/>
              </a:bodyPr>
              <a:lstStyle/>
              <a:p>
                <a:pPr algn="ctr"/>
                <a:r>
                  <a:rPr lang="en-US" sz="1400" b="1">
                    <a:solidFill>
                      <a:srgbClr val="1A2B47"/>
                    </a:solidFill>
                    <a:latin typeface="Calibri"/>
                  </a:rPr>
                  <a:t>Pain = 6</a:t>
                </a:r>
                <a:endParaRPr lang="zh-TW" altLang="en-US" sz="1400" b="1" i="0">
                  <a:solidFill>
                    <a:srgbClr val="1A2B47"/>
                  </a:solidFill>
                  <a:latin typeface="Calibri"/>
                  <a:cs typeface="Calibri"/>
                </a:endParaRPr>
              </a:p>
            </p:txBody>
          </p:sp>
          <p:sp>
            <p:nvSpPr>
              <p:cNvPr id="69" name="TextBox 8">
                <a:extLst>
                  <a:ext uri="{FF2B5EF4-FFF2-40B4-BE49-F238E27FC236}">
                    <a16:creationId xmlns:a16="http://schemas.microsoft.com/office/drawing/2014/main" id="{ACEF5B47-AD49-DCCB-78A0-DE9007AEE22A}"/>
                  </a:ext>
                </a:extLst>
              </p:cNvPr>
              <p:cNvSpPr txBox="1"/>
              <p:nvPr/>
            </p:nvSpPr>
            <p:spPr>
              <a:xfrm>
                <a:off x="2693044" y="4534758"/>
                <a:ext cx="1536191" cy="399845"/>
              </a:xfrm>
              <a:prstGeom prst="rect">
                <a:avLst/>
              </a:prstGeom>
              <a:noFill/>
            </p:spPr>
            <p:txBody>
              <a:bodyPr wrap="square" lIns="91440" tIns="45720" rIns="91440" bIns="45720" anchor="ctr">
                <a:spAutoFit/>
              </a:bodyPr>
              <a:lstStyle/>
              <a:p>
                <a:pPr algn="ctr"/>
                <a:r>
                  <a:rPr lang="en-US" sz="1400">
                    <a:solidFill>
                      <a:srgbClr val="4A6A8A"/>
                    </a:solidFill>
                    <a:latin typeface="Calibri"/>
                  </a:rPr>
                  <a:t>MME =</a:t>
                </a:r>
                <a:r>
                  <a:rPr lang="zh-TW" sz="1400">
                    <a:solidFill>
                      <a:srgbClr val="4A6A8A"/>
                    </a:solidFill>
                    <a:latin typeface="Calibri"/>
                    <a:ea typeface="新細明體"/>
                  </a:rPr>
                  <a:t> </a:t>
                </a:r>
                <a:r>
                  <a:rPr lang="en-US" altLang="zh-TW" sz="1400">
                    <a:solidFill>
                      <a:srgbClr val="4A6A8A"/>
                    </a:solidFill>
                    <a:latin typeface="Calibri"/>
                    <a:ea typeface="新細明體"/>
                  </a:rPr>
                  <a:t>2</a:t>
                </a:r>
                <a:endParaRPr lang="en-US" altLang="zh-TW" sz="1400" b="0" i="0">
                  <a:solidFill>
                    <a:srgbClr val="4A6A8A"/>
                  </a:solidFill>
                  <a:latin typeface="Calibri"/>
                  <a:ea typeface="新細明體"/>
                  <a:cs typeface="Calibri"/>
                </a:endParaRPr>
              </a:p>
            </p:txBody>
          </p:sp>
        </p:grpSp>
      </p:grpSp>
      <p:grpSp>
        <p:nvGrpSpPr>
          <p:cNvPr id="36" name="群組 35">
            <a:extLst>
              <a:ext uri="{FF2B5EF4-FFF2-40B4-BE49-F238E27FC236}">
                <a16:creationId xmlns:a16="http://schemas.microsoft.com/office/drawing/2014/main" id="{3B4C60F9-356D-F088-0FE8-5E4FE31B11DC}"/>
              </a:ext>
            </a:extLst>
          </p:cNvPr>
          <p:cNvGrpSpPr/>
          <p:nvPr/>
        </p:nvGrpSpPr>
        <p:grpSpPr>
          <a:xfrm>
            <a:off x="8148660" y="1721653"/>
            <a:ext cx="1003705" cy="923111"/>
            <a:chOff x="8148660" y="1635749"/>
            <a:chExt cx="1003705" cy="923111"/>
          </a:xfrm>
        </p:grpSpPr>
        <p:sp>
          <p:nvSpPr>
            <p:cNvPr id="62" name="TextBox 28">
              <a:extLst>
                <a:ext uri="{FF2B5EF4-FFF2-40B4-BE49-F238E27FC236}">
                  <a16:creationId xmlns:a16="http://schemas.microsoft.com/office/drawing/2014/main" id="{DC72AB52-259B-B37B-12D6-9FC93A685691}"/>
                </a:ext>
              </a:extLst>
            </p:cNvPr>
            <p:cNvSpPr txBox="1"/>
            <p:nvPr/>
          </p:nvSpPr>
          <p:spPr>
            <a:xfrm>
              <a:off x="8396401" y="2281861"/>
              <a:ext cx="502920" cy="276999"/>
            </a:xfrm>
            <a:prstGeom prst="rect">
              <a:avLst/>
            </a:prstGeom>
            <a:noFill/>
          </p:spPr>
          <p:txBody>
            <a:bodyPr wrap="square" lIns="91440" tIns="45720" rIns="91440" bIns="45720" anchor="t">
              <a:spAutoFit/>
            </a:bodyPr>
            <a:lstStyle/>
            <a:p>
              <a:pPr algn="ctr"/>
              <a:r>
                <a:rPr sz="1200" b="0" i="0">
                  <a:solidFill>
                    <a:srgbClr val="7A96B2"/>
                  </a:solidFill>
                  <a:latin typeface="Calibri"/>
                </a:rPr>
                <a:t>t=3</a:t>
              </a:r>
              <a:endParaRPr lang="zh-TW" altLang="en-US" sz="1200" b="0" i="0">
                <a:solidFill>
                  <a:srgbClr val="7A96B2"/>
                </a:solidFill>
                <a:latin typeface="Calibri"/>
                <a:cs typeface="Calibri"/>
              </a:endParaRPr>
            </a:p>
          </p:txBody>
        </p:sp>
        <p:grpSp>
          <p:nvGrpSpPr>
            <p:cNvPr id="70" name="群組 69">
              <a:extLst>
                <a:ext uri="{FF2B5EF4-FFF2-40B4-BE49-F238E27FC236}">
                  <a16:creationId xmlns:a16="http://schemas.microsoft.com/office/drawing/2014/main" id="{B92A5E7F-FA64-E4E4-647A-8E37F1EFF359}"/>
                </a:ext>
              </a:extLst>
            </p:cNvPr>
            <p:cNvGrpSpPr/>
            <p:nvPr/>
          </p:nvGrpSpPr>
          <p:grpSpPr>
            <a:xfrm>
              <a:off x="8148660" y="1635749"/>
              <a:ext cx="1003705" cy="598273"/>
              <a:chOff x="2601604" y="4219827"/>
              <a:chExt cx="1719072" cy="777240"/>
            </a:xfrm>
          </p:grpSpPr>
          <p:sp>
            <p:nvSpPr>
              <p:cNvPr id="71" name="Rectangle 6">
                <a:extLst>
                  <a:ext uri="{FF2B5EF4-FFF2-40B4-BE49-F238E27FC236}">
                    <a16:creationId xmlns:a16="http://schemas.microsoft.com/office/drawing/2014/main" id="{E52E1E47-9D20-3732-2874-88182BE7FCA1}"/>
                  </a:ext>
                </a:extLst>
              </p:cNvPr>
              <p:cNvSpPr/>
              <p:nvPr/>
            </p:nvSpPr>
            <p:spPr>
              <a:xfrm>
                <a:off x="2601604" y="4219827"/>
                <a:ext cx="1719072" cy="777240"/>
              </a:xfrm>
              <a:prstGeom prst="rect">
                <a:avLst/>
              </a:prstGeom>
              <a:solidFill>
                <a:srgbClr val="F4F7FB"/>
              </a:solidFill>
              <a:ln w="9525">
                <a:solidFill>
                  <a:srgbClr val="CCD9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72" name="TextBox 7">
                <a:extLst>
                  <a:ext uri="{FF2B5EF4-FFF2-40B4-BE49-F238E27FC236}">
                    <a16:creationId xmlns:a16="http://schemas.microsoft.com/office/drawing/2014/main" id="{973459B9-5B68-1C26-FF89-AB1133900209}"/>
                  </a:ext>
                </a:extLst>
              </p:cNvPr>
              <p:cNvSpPr txBox="1"/>
              <p:nvPr/>
            </p:nvSpPr>
            <p:spPr>
              <a:xfrm>
                <a:off x="2693043" y="4220964"/>
                <a:ext cx="1536191" cy="399845"/>
              </a:xfrm>
              <a:prstGeom prst="rect">
                <a:avLst/>
              </a:prstGeom>
              <a:noFill/>
            </p:spPr>
            <p:txBody>
              <a:bodyPr wrap="square" lIns="91440" tIns="45720" rIns="91440" bIns="45720" anchor="ctr">
                <a:spAutoFit/>
              </a:bodyPr>
              <a:lstStyle/>
              <a:p>
                <a:pPr algn="ctr"/>
                <a:r>
                  <a:rPr lang="en-US" sz="1400" b="1">
                    <a:solidFill>
                      <a:srgbClr val="1A2B47"/>
                    </a:solidFill>
                    <a:latin typeface="Calibri"/>
                  </a:rPr>
                  <a:t>Pain = 6</a:t>
                </a:r>
                <a:endParaRPr lang="zh-TW" altLang="en-US" sz="1400" b="1" i="0">
                  <a:solidFill>
                    <a:srgbClr val="1A2B47"/>
                  </a:solidFill>
                  <a:latin typeface="Calibri"/>
                  <a:cs typeface="Calibri"/>
                </a:endParaRPr>
              </a:p>
            </p:txBody>
          </p:sp>
          <p:sp>
            <p:nvSpPr>
              <p:cNvPr id="73" name="TextBox 8">
                <a:extLst>
                  <a:ext uri="{FF2B5EF4-FFF2-40B4-BE49-F238E27FC236}">
                    <a16:creationId xmlns:a16="http://schemas.microsoft.com/office/drawing/2014/main" id="{4D3DEA11-24B0-6F1E-8AC2-254B0366C4EF}"/>
                  </a:ext>
                </a:extLst>
              </p:cNvPr>
              <p:cNvSpPr txBox="1"/>
              <p:nvPr/>
            </p:nvSpPr>
            <p:spPr>
              <a:xfrm>
                <a:off x="2693044" y="4534758"/>
                <a:ext cx="1536191" cy="399845"/>
              </a:xfrm>
              <a:prstGeom prst="rect">
                <a:avLst/>
              </a:prstGeom>
              <a:noFill/>
            </p:spPr>
            <p:txBody>
              <a:bodyPr wrap="square" lIns="91440" tIns="45720" rIns="91440" bIns="45720" anchor="ctr">
                <a:spAutoFit/>
              </a:bodyPr>
              <a:lstStyle/>
              <a:p>
                <a:pPr algn="ctr"/>
                <a:r>
                  <a:rPr lang="en-US" sz="1400">
                    <a:solidFill>
                      <a:srgbClr val="4A6A8A"/>
                    </a:solidFill>
                    <a:latin typeface="Calibri"/>
                  </a:rPr>
                  <a:t>MME =</a:t>
                </a:r>
                <a:r>
                  <a:rPr lang="zh-TW" sz="1400">
                    <a:solidFill>
                      <a:srgbClr val="4A6A8A"/>
                    </a:solidFill>
                    <a:latin typeface="Calibri"/>
                    <a:ea typeface="新細明體"/>
                  </a:rPr>
                  <a:t> </a:t>
                </a:r>
                <a:r>
                  <a:rPr lang="en-US" altLang="zh-TW" sz="1400">
                    <a:solidFill>
                      <a:srgbClr val="4A6A8A"/>
                    </a:solidFill>
                    <a:latin typeface="Calibri"/>
                    <a:ea typeface="新細明體"/>
                  </a:rPr>
                  <a:t>9</a:t>
                </a:r>
                <a:endParaRPr lang="en-US" altLang="zh-TW" sz="1400" b="0" i="0">
                  <a:solidFill>
                    <a:srgbClr val="4A6A8A"/>
                  </a:solidFill>
                  <a:latin typeface="Calibri"/>
                  <a:ea typeface="新細明體"/>
                  <a:cs typeface="Calibri"/>
                </a:endParaRPr>
              </a:p>
            </p:txBody>
          </p:sp>
        </p:grpSp>
      </p:grpSp>
      <p:sp>
        <p:nvSpPr>
          <p:cNvPr id="17" name="TextBox 7">
            <a:extLst>
              <a:ext uri="{FF2B5EF4-FFF2-40B4-BE49-F238E27FC236}">
                <a16:creationId xmlns:a16="http://schemas.microsoft.com/office/drawing/2014/main" id="{0F2B507D-F422-5857-E20D-F7DEDB8262A5}"/>
              </a:ext>
            </a:extLst>
          </p:cNvPr>
          <p:cNvSpPr txBox="1"/>
          <p:nvPr/>
        </p:nvSpPr>
        <p:spPr>
          <a:xfrm>
            <a:off x="360759" y="4177412"/>
            <a:ext cx="1499117" cy="338554"/>
          </a:xfrm>
          <a:prstGeom prst="rect">
            <a:avLst/>
          </a:prstGeom>
          <a:solidFill>
            <a:schemeClr val="accent1">
              <a:lumMod val="20000"/>
              <a:lumOff val="80000"/>
            </a:schemeClr>
          </a:solidFill>
          <a:ln>
            <a:solidFill>
              <a:schemeClr val="tx2">
                <a:lumMod val="75000"/>
              </a:schemeClr>
            </a:solidFill>
            <a:prstDash val="solid"/>
          </a:ln>
        </p:spPr>
        <p:style>
          <a:lnRef idx="2">
            <a:schemeClr val="dk1"/>
          </a:lnRef>
          <a:fillRef idx="1">
            <a:schemeClr val="lt1"/>
          </a:fillRef>
          <a:effectRef idx="0">
            <a:schemeClr val="dk1"/>
          </a:effectRef>
          <a:fontRef idx="minor">
            <a:schemeClr val="dk1"/>
          </a:fontRef>
        </p:style>
        <p:txBody>
          <a:bodyPr wrap="square" lIns="91440" tIns="45720" rIns="91440" bIns="45720" anchor="ctr">
            <a:spAutoFit/>
          </a:bodyPr>
          <a:lstStyle/>
          <a:p>
            <a:pPr algn="ctr"/>
            <a:r>
              <a:rPr lang="en-US" altLang="zh-TW" sz="1600">
                <a:solidFill>
                  <a:schemeClr val="tx2">
                    <a:lumMod val="49000"/>
                  </a:schemeClr>
                </a:solidFill>
                <a:latin typeface="Calibri"/>
                <a:ea typeface="Calibri"/>
                <a:cs typeface="Calibri"/>
              </a:rPr>
              <a:t>New Encounter</a:t>
            </a:r>
            <a:endParaRPr lang="en-US" altLang="zh-TW" sz="1600" i="0" baseline="-25000">
              <a:solidFill>
                <a:schemeClr val="tx2">
                  <a:lumMod val="49000"/>
                </a:schemeClr>
              </a:solidFill>
              <a:latin typeface="Calibri"/>
              <a:ea typeface="Calibri"/>
              <a:cs typeface="Calibri"/>
            </a:endParaRPr>
          </a:p>
        </p:txBody>
      </p:sp>
      <p:pic>
        <p:nvPicPr>
          <p:cNvPr id="27" name="圖片 26" descr="一張含有 字型, 白色, 設計 的圖片&#10;&#10;AI 產生的內容可能不正確。">
            <a:extLst>
              <a:ext uri="{FF2B5EF4-FFF2-40B4-BE49-F238E27FC236}">
                <a16:creationId xmlns:a16="http://schemas.microsoft.com/office/drawing/2014/main" id="{51187150-9D19-F230-4BD2-CA1BBD65102C}"/>
              </a:ext>
            </a:extLst>
          </p:cNvPr>
          <p:cNvPicPr>
            <a:picLocks noChangeAspect="1"/>
          </p:cNvPicPr>
          <p:nvPr/>
        </p:nvPicPr>
        <p:blipFill>
          <a:blip r:embed="rId3"/>
          <a:srcRect l="3077" r="-1783" b="5677"/>
          <a:stretch>
            <a:fillRect/>
          </a:stretch>
        </p:blipFill>
        <p:spPr>
          <a:xfrm>
            <a:off x="166122" y="5946740"/>
            <a:ext cx="1739777" cy="690827"/>
          </a:xfrm>
          <a:prstGeom prst="rect">
            <a:avLst/>
          </a:prstGeom>
          <a:ln w="28575">
            <a:solidFill>
              <a:schemeClr val="tx1">
                <a:lumMod val="85000"/>
                <a:lumOff val="15000"/>
              </a:schemeClr>
            </a:solidFill>
          </a:ln>
        </p:spPr>
      </p:pic>
      <p:pic>
        <p:nvPicPr>
          <p:cNvPr id="32" name="圖片 31" descr="一張含有 字型, 文字, 筆跡, 白色 的圖片&#10;&#10;AI 產生的內容可能不正確。">
            <a:extLst>
              <a:ext uri="{FF2B5EF4-FFF2-40B4-BE49-F238E27FC236}">
                <a16:creationId xmlns:a16="http://schemas.microsoft.com/office/drawing/2014/main" id="{AECECA4A-94F6-C580-F6EB-DE6F02A5027E}"/>
              </a:ext>
            </a:extLst>
          </p:cNvPr>
          <p:cNvPicPr>
            <a:picLocks noChangeAspect="1"/>
          </p:cNvPicPr>
          <p:nvPr/>
        </p:nvPicPr>
        <p:blipFill>
          <a:blip r:embed="rId4"/>
          <a:srcRect t="17231" b="17231"/>
          <a:stretch>
            <a:fillRect/>
          </a:stretch>
        </p:blipFill>
        <p:spPr>
          <a:xfrm>
            <a:off x="5328600" y="6087451"/>
            <a:ext cx="3810671" cy="413207"/>
          </a:xfrm>
          <a:prstGeom prst="rect">
            <a:avLst/>
          </a:prstGeom>
        </p:spPr>
      </p:pic>
      <p:pic>
        <p:nvPicPr>
          <p:cNvPr id="35" name="圖片 34" descr="一張含有 字型, 白色, 書法, 筆跡 的圖片&#10;&#10;AI 產生的內容可能不正確。">
            <a:extLst>
              <a:ext uri="{FF2B5EF4-FFF2-40B4-BE49-F238E27FC236}">
                <a16:creationId xmlns:a16="http://schemas.microsoft.com/office/drawing/2014/main" id="{F29B4990-CEB0-C95D-1634-0A1FBEA0C65D}"/>
              </a:ext>
            </a:extLst>
          </p:cNvPr>
          <p:cNvPicPr>
            <a:picLocks noChangeAspect="1"/>
          </p:cNvPicPr>
          <p:nvPr/>
        </p:nvPicPr>
        <p:blipFill>
          <a:blip r:embed="rId5"/>
          <a:stretch>
            <a:fillRect/>
          </a:stretch>
        </p:blipFill>
        <p:spPr>
          <a:xfrm>
            <a:off x="2054298" y="6055445"/>
            <a:ext cx="2054806" cy="475257"/>
          </a:xfrm>
          <a:prstGeom prst="rect">
            <a:avLst/>
          </a:prstGeom>
        </p:spPr>
      </p:pic>
      <p:graphicFrame>
        <p:nvGraphicFramePr>
          <p:cNvPr id="7" name="表格 6">
            <a:extLst>
              <a:ext uri="{FF2B5EF4-FFF2-40B4-BE49-F238E27FC236}">
                <a16:creationId xmlns:a16="http://schemas.microsoft.com/office/drawing/2014/main" id="{A29AAE1D-0F7A-490A-45BA-53E68AE58CCB}"/>
              </a:ext>
            </a:extLst>
          </p:cNvPr>
          <p:cNvGraphicFramePr>
            <a:graphicFrameLocks noGrp="1"/>
          </p:cNvGraphicFramePr>
          <p:nvPr>
            <p:extLst>
              <p:ext uri="{D42A27DB-BD31-4B8C-83A1-F6EECF244321}">
                <p14:modId xmlns:p14="http://schemas.microsoft.com/office/powerpoint/2010/main" val="1110560375"/>
              </p:ext>
            </p:extLst>
          </p:nvPr>
        </p:nvGraphicFramePr>
        <p:xfrm>
          <a:off x="9383175" y="1632175"/>
          <a:ext cx="2708701" cy="4389120"/>
        </p:xfrm>
        <a:graphic>
          <a:graphicData uri="http://schemas.openxmlformats.org/drawingml/2006/table">
            <a:tbl>
              <a:tblPr>
                <a:tableStyleId>{5C22544A-7EE6-4342-B048-85BDC9FD1C3A}</a:tableStyleId>
              </a:tblPr>
              <a:tblGrid>
                <a:gridCol w="841333">
                  <a:extLst>
                    <a:ext uri="{9D8B030D-6E8A-4147-A177-3AD203B41FA5}">
                      <a16:colId xmlns:a16="http://schemas.microsoft.com/office/drawing/2014/main" val="392631026"/>
                    </a:ext>
                  </a:extLst>
                </a:gridCol>
                <a:gridCol w="1867368">
                  <a:extLst>
                    <a:ext uri="{9D8B030D-6E8A-4147-A177-3AD203B41FA5}">
                      <a16:colId xmlns:a16="http://schemas.microsoft.com/office/drawing/2014/main" val="10361199"/>
                    </a:ext>
                  </a:extLst>
                </a:gridCol>
              </a:tblGrid>
              <a:tr h="370840">
                <a:tc>
                  <a:txBody>
                    <a:bodyPr/>
                    <a:lstStyle/>
                    <a:p>
                      <a:pPr lvl="0">
                        <a:buNone/>
                      </a:pPr>
                      <a:r>
                        <a:rPr lang="en-US" altLang="zh-TW" sz="1600" b="1" i="1" u="none" strike="noStrike" noProof="0">
                          <a:solidFill>
                            <a:srgbClr val="000000"/>
                          </a:solidFill>
                          <a:latin typeface="Calibri"/>
                          <a:ea typeface="Calibri"/>
                          <a:cs typeface="Calibri"/>
                        </a:rPr>
                        <a:t>δₜ(s)</a:t>
                      </a:r>
                      <a:endParaRPr lang="zh-TW" sz="1600" i="1">
                        <a:latin typeface="Calibri"/>
                        <a:cs typeface="Calibri"/>
                      </a:endParaRPr>
                    </a:p>
                  </a:txBody>
                  <a:tcPr>
                    <a:lnL w="12700">
                      <a:solidFill>
                        <a:schemeClr val="tx1"/>
                      </a:solidFill>
                    </a:lnL>
                    <a:lnT w="12700">
                      <a:solidFill>
                        <a:schemeClr val="tx1"/>
                      </a:solidFill>
                    </a:lnT>
                    <a:solidFill>
                      <a:schemeClr val="bg1">
                        <a:lumMod val="95000"/>
                      </a:schemeClr>
                    </a:solidFill>
                  </a:tcPr>
                </a:tc>
                <a:tc>
                  <a:txBody>
                    <a:bodyPr/>
                    <a:lstStyle/>
                    <a:p>
                      <a:pPr lvl="0" algn="l">
                        <a:lnSpc>
                          <a:spcPct val="100000"/>
                        </a:lnSpc>
                        <a:spcBef>
                          <a:spcPts val="0"/>
                        </a:spcBef>
                        <a:spcAft>
                          <a:spcPts val="0"/>
                        </a:spcAft>
                        <a:buNone/>
                      </a:pPr>
                      <a:r>
                        <a:rPr lang="en-US" sz="1400" b="0" i="0" u="none" strike="noStrike" noProof="0">
                          <a:solidFill>
                            <a:srgbClr val="000000"/>
                          </a:solidFill>
                          <a:latin typeface="Calibri"/>
                          <a:ea typeface="Calibri"/>
                          <a:cs typeface="Calibri"/>
                        </a:rPr>
                        <a:t>Probability of the </a:t>
                      </a:r>
                      <a:r>
                        <a:rPr lang="en-US" sz="1400" b="0" i="0" u="sng" strike="noStrike" noProof="0">
                          <a:solidFill>
                            <a:srgbClr val="000000"/>
                          </a:solidFill>
                          <a:latin typeface="Calibri"/>
                          <a:ea typeface="Calibri"/>
                          <a:cs typeface="Calibri"/>
                        </a:rPr>
                        <a:t>most likely path</a:t>
                      </a:r>
                      <a:r>
                        <a:rPr lang="en-US" sz="1400" b="0" i="0" u="none" strike="noStrike" noProof="0">
                          <a:solidFill>
                            <a:srgbClr val="000000"/>
                          </a:solidFill>
                          <a:latin typeface="Calibri"/>
                          <a:ea typeface="Calibri"/>
                          <a:cs typeface="Calibri"/>
                        </a:rPr>
                        <a:t> ending in state </a:t>
                      </a:r>
                      <a:r>
                        <a:rPr lang="en-US" sz="1400" b="0" i="1" u="none" strike="noStrike" noProof="0">
                          <a:solidFill>
                            <a:srgbClr val="000000"/>
                          </a:solidFill>
                          <a:latin typeface="Calibri"/>
                          <a:ea typeface="Calibri"/>
                          <a:cs typeface="Calibri"/>
                        </a:rPr>
                        <a:t>s</a:t>
                      </a:r>
                      <a:r>
                        <a:rPr lang="en-US" sz="1400" b="0" i="0" u="none" strike="noStrike" noProof="0">
                          <a:solidFill>
                            <a:srgbClr val="000000"/>
                          </a:solidFill>
                          <a:latin typeface="Calibri"/>
                          <a:ea typeface="Calibri"/>
                          <a:cs typeface="Calibri"/>
                        </a:rPr>
                        <a:t> at time </a:t>
                      </a:r>
                      <a:r>
                        <a:rPr lang="en-US" sz="1400" b="0" i="1" u="none" strike="noStrike" noProof="0">
                          <a:solidFill>
                            <a:srgbClr val="000000"/>
                          </a:solidFill>
                          <a:latin typeface="Calibri"/>
                          <a:ea typeface="Calibri"/>
                          <a:cs typeface="Calibri"/>
                        </a:rPr>
                        <a:t>t</a:t>
                      </a:r>
                      <a:endParaRPr lang="zh-TW" sz="1400" i="1">
                        <a:latin typeface="Calibri"/>
                        <a:cs typeface="Calibri"/>
                      </a:endParaRPr>
                    </a:p>
                  </a:txBody>
                  <a:tcPr>
                    <a:lnR w="12700">
                      <a:solidFill>
                        <a:schemeClr val="tx1"/>
                      </a:solidFill>
                    </a:lnR>
                    <a:lnT w="12700">
                      <a:solidFill>
                        <a:schemeClr val="tx1"/>
                      </a:solidFill>
                    </a:lnT>
                    <a:solidFill>
                      <a:schemeClr val="bg1">
                        <a:lumMod val="95000"/>
                      </a:schemeClr>
                    </a:solidFill>
                  </a:tcPr>
                </a:tc>
                <a:extLst>
                  <a:ext uri="{0D108BD9-81ED-4DB2-BD59-A6C34878D82A}">
                    <a16:rowId xmlns:a16="http://schemas.microsoft.com/office/drawing/2014/main" val="2442538582"/>
                  </a:ext>
                </a:extLst>
              </a:tr>
              <a:tr h="370840">
                <a:tc>
                  <a:txBody>
                    <a:bodyPr/>
                    <a:lstStyle/>
                    <a:p>
                      <a:pPr lvl="0">
                        <a:buNone/>
                      </a:pPr>
                      <a:r>
                        <a:rPr lang="en-US" altLang="zh-TW" sz="1600" b="1" i="1" u="none" strike="noStrike" noProof="0">
                          <a:solidFill>
                            <a:srgbClr val="000000"/>
                          </a:solidFill>
                          <a:latin typeface="Calibri"/>
                          <a:ea typeface="Calibri"/>
                          <a:cs typeface="Calibri"/>
                        </a:rPr>
                        <a:t>j</a:t>
                      </a:r>
                    </a:p>
                  </a:txBody>
                  <a:tcPr>
                    <a:lnL w="12700">
                      <a:solidFill>
                        <a:schemeClr val="tx1"/>
                      </a:solidFill>
                    </a:lnL>
                    <a:solidFill>
                      <a:schemeClr val="bg1">
                        <a:lumMod val="95000"/>
                      </a:schemeClr>
                    </a:solidFill>
                  </a:tcPr>
                </a:tc>
                <a:tc>
                  <a:txBody>
                    <a:bodyPr/>
                    <a:lstStyle/>
                    <a:p>
                      <a:pPr lvl="0">
                        <a:buNone/>
                      </a:pPr>
                      <a:r>
                        <a:rPr lang="zh-TW" sz="1400" b="0" i="0" u="none" strike="noStrike" noProof="0">
                          <a:latin typeface="Calibri"/>
                          <a:ea typeface="新細明體"/>
                          <a:cs typeface="Calibri"/>
                        </a:rPr>
                        <a:t>The previous hidden state being considered</a:t>
                      </a:r>
                      <a:endParaRPr lang="zh-TW" sz="1400">
                        <a:latin typeface="Calibri"/>
                        <a:cs typeface="Calibri"/>
                      </a:endParaRPr>
                    </a:p>
                  </a:txBody>
                  <a:tcPr>
                    <a:lnR w="12700">
                      <a:solidFill>
                        <a:schemeClr val="tx1"/>
                      </a:solidFill>
                    </a:lnR>
                    <a:solidFill>
                      <a:schemeClr val="bg1">
                        <a:lumMod val="95000"/>
                      </a:schemeClr>
                    </a:solidFill>
                  </a:tcPr>
                </a:tc>
                <a:extLst>
                  <a:ext uri="{0D108BD9-81ED-4DB2-BD59-A6C34878D82A}">
                    <a16:rowId xmlns:a16="http://schemas.microsoft.com/office/drawing/2014/main" val="2290311697"/>
                  </a:ext>
                </a:extLst>
              </a:tr>
              <a:tr h="370840">
                <a:tc>
                  <a:txBody>
                    <a:bodyPr/>
                    <a:lstStyle/>
                    <a:p>
                      <a:pPr lvl="0">
                        <a:buNone/>
                      </a:pPr>
                      <a:r>
                        <a:rPr lang="en-US" altLang="zh-TW" sz="1600" b="1" i="1" u="none" strike="noStrike" noProof="0">
                          <a:solidFill>
                            <a:srgbClr val="000000"/>
                          </a:solidFill>
                          <a:latin typeface="Calibri"/>
                          <a:ea typeface="Calibri"/>
                          <a:cs typeface="Calibri"/>
                        </a:rPr>
                        <a:t>δₜ₋₁(j)</a:t>
                      </a:r>
                      <a:endParaRPr lang="zh-TW" sz="1600" i="1">
                        <a:latin typeface="Calibri"/>
                        <a:cs typeface="Calibri"/>
                      </a:endParaRPr>
                    </a:p>
                  </a:txBody>
                  <a:tcPr>
                    <a:lnL w="12700">
                      <a:solidFill>
                        <a:schemeClr val="tx1"/>
                      </a:solidFill>
                    </a:lnL>
                    <a:solidFill>
                      <a:schemeClr val="bg1">
                        <a:lumMod val="95000"/>
                      </a:schemeClr>
                    </a:solidFill>
                  </a:tcPr>
                </a:tc>
                <a:tc>
                  <a:txBody>
                    <a:bodyPr/>
                    <a:lstStyle/>
                    <a:p>
                      <a:pPr lvl="0">
                        <a:buNone/>
                      </a:pPr>
                      <a:r>
                        <a:rPr lang="zh-TW" sz="1400" b="0" i="0" u="none" strike="noStrike" noProof="0">
                          <a:latin typeface="Calibri"/>
                          <a:cs typeface="Calibri"/>
                        </a:rPr>
                        <a:t>Best path probability at the previous step, for each possible previous state </a:t>
                      </a:r>
                      <a:r>
                        <a:rPr lang="zh-TW" sz="1400" b="0" i="1" u="none" strike="noStrike" noProof="0">
                          <a:latin typeface="Calibri"/>
                          <a:cs typeface="Calibri"/>
                        </a:rPr>
                        <a:t>j</a:t>
                      </a:r>
                      <a:endParaRPr lang="zh-TW" sz="1400" i="1">
                        <a:latin typeface="Calibri"/>
                        <a:cs typeface="Calibri"/>
                      </a:endParaRPr>
                    </a:p>
                  </a:txBody>
                  <a:tcPr>
                    <a:lnR w="12700">
                      <a:solidFill>
                        <a:schemeClr val="tx1"/>
                      </a:solidFill>
                    </a:lnR>
                    <a:solidFill>
                      <a:schemeClr val="bg1">
                        <a:lumMod val="95000"/>
                      </a:schemeClr>
                    </a:solidFill>
                  </a:tcPr>
                </a:tc>
                <a:extLst>
                  <a:ext uri="{0D108BD9-81ED-4DB2-BD59-A6C34878D82A}">
                    <a16:rowId xmlns:a16="http://schemas.microsoft.com/office/drawing/2014/main" val="3704843439"/>
                  </a:ext>
                </a:extLst>
              </a:tr>
              <a:tr h="370840">
                <a:tc>
                  <a:txBody>
                    <a:bodyPr/>
                    <a:lstStyle/>
                    <a:p>
                      <a:pPr lvl="0">
                        <a:buNone/>
                      </a:pPr>
                      <a:r>
                        <a:rPr lang="en-US" altLang="zh-TW" sz="1600" b="1" i="1" u="none" strike="noStrike" noProof="0">
                          <a:solidFill>
                            <a:srgbClr val="000000"/>
                          </a:solidFill>
                          <a:latin typeface="Calibri"/>
                          <a:ea typeface="Calibri"/>
                          <a:cs typeface="Calibri"/>
                        </a:rPr>
                        <a:t>Ψ</a:t>
                      </a:r>
                      <a:endParaRPr lang="zh-TW" sz="1600" i="1">
                        <a:latin typeface="Calibri"/>
                        <a:cs typeface="Calibri"/>
                      </a:endParaRPr>
                    </a:p>
                  </a:txBody>
                  <a:tcPr>
                    <a:lnL w="12700">
                      <a:solidFill>
                        <a:schemeClr val="tx1"/>
                      </a:solidFill>
                    </a:lnL>
                    <a:solidFill>
                      <a:schemeClr val="bg1">
                        <a:lumMod val="95000"/>
                      </a:schemeClr>
                    </a:solidFill>
                  </a:tcPr>
                </a:tc>
                <a:tc>
                  <a:txBody>
                    <a:bodyPr/>
                    <a:lstStyle/>
                    <a:p>
                      <a:pPr lvl="0">
                        <a:buNone/>
                      </a:pPr>
                      <a:r>
                        <a:rPr lang="en-US" altLang="zh-TW" sz="1400" b="0" i="0" u="none" strike="noStrike" noProof="0" err="1">
                          <a:latin typeface="Calibri"/>
                          <a:ea typeface="Calibri"/>
                          <a:cs typeface="Calibri"/>
                        </a:rPr>
                        <a:t>Backpointer</a:t>
                      </a:r>
                      <a:r>
                        <a:rPr lang="en-US" altLang="zh-TW" sz="1400" b="0" i="0" u="none" strike="noStrike" noProof="0">
                          <a:latin typeface="Calibri"/>
                          <a:ea typeface="Calibri"/>
                          <a:cs typeface="Calibri"/>
                        </a:rPr>
                        <a:t>: which</a:t>
                      </a:r>
                      <a:r>
                        <a:rPr lang="zh-TW" altLang="en-US" sz="1400" b="0" i="0" u="none" strike="noStrike" noProof="0">
                          <a:latin typeface="Calibri"/>
                          <a:ea typeface="新細明體"/>
                          <a:cs typeface="Calibri"/>
                        </a:rPr>
                        <a:t> </a:t>
                      </a:r>
                      <a:r>
                        <a:rPr lang="en-US" altLang="zh-TW" sz="1400" b="0" i="0" u="none" strike="noStrike" noProof="0">
                          <a:latin typeface="Calibri"/>
                          <a:ea typeface="Calibri"/>
                          <a:cs typeface="Calibri"/>
                        </a:rPr>
                        <a:t>previous</a:t>
                      </a:r>
                      <a:r>
                        <a:rPr lang="zh-TW" altLang="en-US" sz="1400" b="0" i="0" u="none" strike="noStrike" noProof="0">
                          <a:latin typeface="Calibri"/>
                          <a:ea typeface="新細明體"/>
                          <a:cs typeface="Calibri"/>
                        </a:rPr>
                        <a:t> </a:t>
                      </a:r>
                      <a:r>
                        <a:rPr lang="en-US" altLang="zh-TW" sz="1400" b="0" i="0" u="none" strike="noStrike" noProof="0">
                          <a:latin typeface="Calibri"/>
                          <a:ea typeface="Calibri"/>
                          <a:cs typeface="Calibri"/>
                        </a:rPr>
                        <a:t>state</a:t>
                      </a:r>
                      <a:r>
                        <a:rPr lang="zh-TW" altLang="en-US" sz="1400" b="0" i="0" u="none" strike="noStrike" noProof="0">
                          <a:latin typeface="Calibri"/>
                          <a:ea typeface="新細明體"/>
                          <a:cs typeface="Calibri"/>
                        </a:rPr>
                        <a:t> </a:t>
                      </a:r>
                      <a:r>
                        <a:rPr lang="en-US" altLang="zh-TW" sz="1400" b="0" i="0" u="none" strike="noStrike" noProof="0">
                          <a:latin typeface="Calibri"/>
                          <a:ea typeface="Calibri"/>
                          <a:cs typeface="Calibri"/>
                        </a:rPr>
                        <a:t>led</a:t>
                      </a:r>
                      <a:r>
                        <a:rPr lang="zh-TW" altLang="en-US" sz="1400" b="0" i="0" u="none" strike="noStrike" noProof="0">
                          <a:latin typeface="Calibri"/>
                          <a:ea typeface="新細明體"/>
                          <a:cs typeface="Calibri"/>
                        </a:rPr>
                        <a:t> </a:t>
                      </a:r>
                      <a:r>
                        <a:rPr lang="en-US" altLang="zh-TW" sz="1400" b="0" i="0" u="none" strike="noStrike" noProof="0">
                          <a:latin typeface="Calibri"/>
                          <a:ea typeface="Calibri"/>
                          <a:cs typeface="Calibri"/>
                        </a:rPr>
                        <a:t>to</a:t>
                      </a:r>
                      <a:r>
                        <a:rPr lang="zh-TW" altLang="en-US" sz="1400" b="0" i="0" u="none" strike="noStrike" noProof="0">
                          <a:latin typeface="Calibri"/>
                          <a:ea typeface="新細明體"/>
                          <a:cs typeface="Calibri"/>
                        </a:rPr>
                        <a:t> </a:t>
                      </a:r>
                      <a:r>
                        <a:rPr lang="en-US" altLang="zh-TW" sz="1400" b="0" i="0" u="none" strike="noStrike" noProof="0">
                          <a:latin typeface="Calibri"/>
                          <a:ea typeface="Calibri"/>
                          <a:cs typeface="Calibri"/>
                        </a:rPr>
                        <a:t>the</a:t>
                      </a:r>
                      <a:r>
                        <a:rPr lang="zh-TW" altLang="en-US" sz="1400" b="0" i="0" u="none" strike="noStrike" noProof="0">
                          <a:latin typeface="Calibri"/>
                          <a:ea typeface="新細明體"/>
                          <a:cs typeface="Calibri"/>
                        </a:rPr>
                        <a:t> </a:t>
                      </a:r>
                      <a:r>
                        <a:rPr lang="en-US" altLang="zh-TW" sz="1400" b="0" i="0" u="none" strike="noStrike" noProof="0">
                          <a:latin typeface="Calibri"/>
                          <a:ea typeface="Calibri"/>
                          <a:cs typeface="Calibri"/>
                        </a:rPr>
                        <a:t>best</a:t>
                      </a:r>
                      <a:r>
                        <a:rPr lang="zh-TW" altLang="en-US" sz="1400" b="0" i="0" u="none" strike="noStrike" noProof="0">
                          <a:latin typeface="Calibri"/>
                          <a:ea typeface="新細明體"/>
                          <a:cs typeface="Calibri"/>
                        </a:rPr>
                        <a:t> </a:t>
                      </a:r>
                      <a:r>
                        <a:rPr lang="en-US" altLang="zh-TW" sz="1400" b="0" i="0" u="none" strike="noStrike" noProof="0">
                          <a:latin typeface="Calibri"/>
                          <a:ea typeface="Calibri"/>
                          <a:cs typeface="Calibri"/>
                        </a:rPr>
                        <a:t>path</a:t>
                      </a:r>
                      <a:r>
                        <a:rPr lang="zh-TW" altLang="en-US" sz="1400" b="0" i="0" u="none" strike="noStrike" noProof="0">
                          <a:latin typeface="Calibri"/>
                          <a:ea typeface="新細明體"/>
                          <a:cs typeface="Calibri"/>
                        </a:rPr>
                        <a:t> </a:t>
                      </a:r>
                      <a:r>
                        <a:rPr lang="en-US" altLang="zh-TW" sz="1400" b="0" i="0" u="none" strike="noStrike" noProof="0">
                          <a:latin typeface="Calibri"/>
                          <a:ea typeface="Calibri"/>
                          <a:cs typeface="Calibri"/>
                        </a:rPr>
                        <a:t>into</a:t>
                      </a:r>
                      <a:r>
                        <a:rPr lang="zh-TW" altLang="en-US" sz="1400" b="0" i="0" u="none" strike="noStrike" noProof="0">
                          <a:latin typeface="Calibri"/>
                          <a:ea typeface="新細明體"/>
                          <a:cs typeface="Calibri"/>
                        </a:rPr>
                        <a:t> </a:t>
                      </a:r>
                      <a:r>
                        <a:rPr lang="en-US" altLang="zh-TW" sz="1400" b="0" i="1" u="none" strike="noStrike" noProof="0">
                          <a:latin typeface="Calibri"/>
                          <a:ea typeface="Calibri"/>
                          <a:cs typeface="Calibri"/>
                        </a:rPr>
                        <a:t>s</a:t>
                      </a:r>
                      <a:endParaRPr lang="zh-TW" sz="1400" i="1">
                        <a:latin typeface="Calibri"/>
                        <a:cs typeface="Calibri"/>
                      </a:endParaRPr>
                    </a:p>
                  </a:txBody>
                  <a:tcPr>
                    <a:lnR w="12700">
                      <a:solidFill>
                        <a:schemeClr val="tx1"/>
                      </a:solidFill>
                    </a:lnR>
                    <a:solidFill>
                      <a:schemeClr val="bg1">
                        <a:lumMod val="95000"/>
                      </a:schemeClr>
                    </a:solidFill>
                  </a:tcPr>
                </a:tc>
                <a:extLst>
                  <a:ext uri="{0D108BD9-81ED-4DB2-BD59-A6C34878D82A}">
                    <a16:rowId xmlns:a16="http://schemas.microsoft.com/office/drawing/2014/main" val="1526880254"/>
                  </a:ext>
                </a:extLst>
              </a:tr>
              <a:tr h="370840">
                <a:tc>
                  <a:txBody>
                    <a:bodyPr/>
                    <a:lstStyle/>
                    <a:p>
                      <a:pPr lvl="0">
                        <a:buNone/>
                      </a:pPr>
                      <a:r>
                        <a:rPr lang="en-US" altLang="zh-TW" sz="1600" b="1" i="1" u="none" strike="noStrike" noProof="0">
                          <a:solidFill>
                            <a:srgbClr val="000000"/>
                          </a:solidFill>
                          <a:latin typeface="Calibri"/>
                          <a:ea typeface="Calibri"/>
                          <a:cs typeface="Calibri"/>
                        </a:rPr>
                        <a:t>A(</a:t>
                      </a:r>
                      <a:r>
                        <a:rPr lang="en-US" altLang="zh-TW" sz="1600" b="1" i="1" u="none" strike="noStrike" noProof="0" err="1">
                          <a:solidFill>
                            <a:srgbClr val="000000"/>
                          </a:solidFill>
                          <a:latin typeface="Calibri"/>
                          <a:ea typeface="Calibri"/>
                          <a:cs typeface="Calibri"/>
                        </a:rPr>
                        <a:t>j→s</a:t>
                      </a:r>
                      <a:r>
                        <a:rPr lang="en-US" altLang="zh-TW" sz="1600" b="1" i="1" u="none" strike="noStrike" noProof="0">
                          <a:solidFill>
                            <a:srgbClr val="000000"/>
                          </a:solidFill>
                          <a:latin typeface="Calibri"/>
                          <a:ea typeface="Calibri"/>
                          <a:cs typeface="Calibri"/>
                        </a:rPr>
                        <a:t>)</a:t>
                      </a:r>
                      <a:endParaRPr lang="zh-TW" sz="1600" i="1">
                        <a:latin typeface="Calibri"/>
                        <a:cs typeface="Calibri"/>
                      </a:endParaRPr>
                    </a:p>
                  </a:txBody>
                  <a:tcPr>
                    <a:lnL w="12700">
                      <a:solidFill>
                        <a:schemeClr val="tx1"/>
                      </a:solidFill>
                    </a:lnL>
                    <a:solidFill>
                      <a:schemeClr val="bg1">
                        <a:lumMod val="95000"/>
                      </a:schemeClr>
                    </a:solidFill>
                  </a:tcPr>
                </a:tc>
                <a:tc>
                  <a:txBody>
                    <a:bodyPr/>
                    <a:lstStyle/>
                    <a:p>
                      <a:pPr lvl="0">
                        <a:buNone/>
                      </a:pPr>
                      <a:r>
                        <a:rPr lang="zh-TW" sz="1400" b="0" i="0" u="none" strike="noStrike" noProof="0">
                          <a:latin typeface="Calibri"/>
                          <a:cs typeface="Calibri"/>
                        </a:rPr>
                        <a:t>Transition probability from state </a:t>
                      </a:r>
                      <a:r>
                        <a:rPr lang="zh-TW" sz="1400" b="0" i="1" u="none" strike="noStrike" noProof="0">
                          <a:latin typeface="Calibri"/>
                          <a:cs typeface="Calibri"/>
                        </a:rPr>
                        <a:t>j</a:t>
                      </a:r>
                      <a:r>
                        <a:rPr lang="zh-TW" sz="1400" b="0" i="0" u="none" strike="noStrike" noProof="0">
                          <a:latin typeface="Calibri"/>
                          <a:cs typeface="Calibri"/>
                        </a:rPr>
                        <a:t> to current state </a:t>
                      </a:r>
                      <a:r>
                        <a:rPr lang="zh-TW" sz="1400" b="0" i="1" u="none" strike="noStrike" noProof="0">
                          <a:latin typeface="Calibri"/>
                          <a:cs typeface="Calibri"/>
                        </a:rPr>
                        <a:t>s</a:t>
                      </a:r>
                      <a:r>
                        <a:rPr lang="zh-TW" sz="1400" b="0" i="0" u="none" strike="noStrike" noProof="0">
                          <a:latin typeface="Calibri"/>
                          <a:cs typeface="Calibri"/>
                        </a:rPr>
                        <a:t> </a:t>
                      </a:r>
                      <a:endParaRPr lang="zh-TW" sz="1400">
                        <a:latin typeface="Calibri"/>
                        <a:cs typeface="Calibri"/>
                      </a:endParaRPr>
                    </a:p>
                  </a:txBody>
                  <a:tcPr>
                    <a:lnR w="12700">
                      <a:solidFill>
                        <a:schemeClr val="tx1"/>
                      </a:solidFill>
                    </a:lnR>
                    <a:solidFill>
                      <a:schemeClr val="bg1">
                        <a:lumMod val="95000"/>
                      </a:schemeClr>
                    </a:solidFill>
                  </a:tcPr>
                </a:tc>
                <a:extLst>
                  <a:ext uri="{0D108BD9-81ED-4DB2-BD59-A6C34878D82A}">
                    <a16:rowId xmlns:a16="http://schemas.microsoft.com/office/drawing/2014/main" val="3670457861"/>
                  </a:ext>
                </a:extLst>
              </a:tr>
              <a:tr h="370840">
                <a:tc>
                  <a:txBody>
                    <a:bodyPr/>
                    <a:lstStyle/>
                    <a:p>
                      <a:pPr lvl="0">
                        <a:buNone/>
                      </a:pPr>
                      <a:r>
                        <a:rPr lang="en-US" sz="1600" b="1" i="1" u="none" strike="noStrike" noProof="0">
                          <a:solidFill>
                            <a:srgbClr val="000000"/>
                          </a:solidFill>
                          <a:latin typeface="Calibri"/>
                          <a:ea typeface="Calibri"/>
                          <a:cs typeface="Calibri"/>
                        </a:rPr>
                        <a:t>B</a:t>
                      </a:r>
                      <a:r>
                        <a:rPr lang="en-US" sz="1600" b="1" i="1" u="none" strike="noStrike" baseline="-25000" noProof="0">
                          <a:solidFill>
                            <a:srgbClr val="000000"/>
                          </a:solidFill>
                          <a:latin typeface="Calibri"/>
                          <a:ea typeface="Calibri"/>
                          <a:cs typeface="Calibri"/>
                        </a:rPr>
                        <a:t>s</a:t>
                      </a:r>
                      <a:r>
                        <a:rPr lang="en-US" sz="1600" b="1" i="1" u="none" strike="noStrike" noProof="0">
                          <a:solidFill>
                            <a:srgbClr val="000000"/>
                          </a:solidFill>
                          <a:latin typeface="Calibri"/>
                          <a:ea typeface="Calibri"/>
                          <a:cs typeface="Calibri"/>
                        </a:rPr>
                        <a:t>(</a:t>
                      </a:r>
                      <a:r>
                        <a:rPr lang="en-US" sz="1600" b="1" i="1" u="none" strike="noStrike" noProof="0" err="1">
                          <a:solidFill>
                            <a:srgbClr val="000000"/>
                          </a:solidFill>
                          <a:latin typeface="Calibri"/>
                          <a:ea typeface="Calibri"/>
                          <a:cs typeface="Calibri"/>
                        </a:rPr>
                        <a:t>x</a:t>
                      </a:r>
                      <a:r>
                        <a:rPr lang="en-US" sz="1600" b="1" i="1" u="none" strike="noStrike" baseline="-25000" noProof="0" err="1">
                          <a:solidFill>
                            <a:srgbClr val="000000"/>
                          </a:solidFill>
                          <a:latin typeface="Calibri"/>
                          <a:ea typeface="Calibri"/>
                          <a:cs typeface="Calibri"/>
                        </a:rPr>
                        <a:t>t</a:t>
                      </a:r>
                      <a:r>
                        <a:rPr lang="en-US" sz="1600" b="1" i="1" u="none" strike="noStrike" noProof="0">
                          <a:solidFill>
                            <a:srgbClr val="000000"/>
                          </a:solidFill>
                          <a:latin typeface="Calibri"/>
                          <a:ea typeface="Calibri"/>
                          <a:cs typeface="Calibri"/>
                        </a:rPr>
                        <a:t>)</a:t>
                      </a:r>
                      <a:endParaRPr lang="zh-TW" sz="1600" i="1">
                        <a:latin typeface="Calibri"/>
                        <a:cs typeface="Calibri"/>
                      </a:endParaRPr>
                    </a:p>
                  </a:txBody>
                  <a:tcPr>
                    <a:lnL w="12700">
                      <a:solidFill>
                        <a:schemeClr val="tx1"/>
                      </a:solidFill>
                    </a:lnL>
                    <a:lnB w="12700">
                      <a:solidFill>
                        <a:schemeClr val="tx1"/>
                      </a:solidFill>
                    </a:lnB>
                    <a:solidFill>
                      <a:schemeClr val="bg1">
                        <a:lumMod val="95000"/>
                      </a:schemeClr>
                    </a:solidFill>
                  </a:tcPr>
                </a:tc>
                <a:tc>
                  <a:txBody>
                    <a:bodyPr/>
                    <a:lstStyle/>
                    <a:p>
                      <a:pPr lvl="0">
                        <a:buNone/>
                      </a:pPr>
                      <a:r>
                        <a:rPr lang="en-US" altLang="zh-TW" sz="1400" b="0" i="0" u="none" strike="noStrike" noProof="0">
                          <a:latin typeface="Calibri"/>
                          <a:ea typeface="Calibri"/>
                          <a:cs typeface="Calibri"/>
                        </a:rPr>
                        <a:t>L</a:t>
                      </a:r>
                      <a:r>
                        <a:rPr lang="zh-TW" sz="1400" b="0" i="0" u="none" strike="noStrike" noProof="0">
                          <a:latin typeface="Calibri"/>
                          <a:cs typeface="Calibri"/>
                        </a:rPr>
                        <a:t>ikelihood of observation </a:t>
                      </a:r>
                      <a:r>
                        <a:rPr lang="zh-TW" sz="1400" b="0" i="1" u="none" strike="noStrike" noProof="0">
                          <a:latin typeface="Calibri"/>
                          <a:cs typeface="Calibri"/>
                        </a:rPr>
                        <a:t>x</a:t>
                      </a:r>
                      <a:r>
                        <a:rPr lang="zh-TW" sz="1400" b="0" i="1" u="none" strike="noStrike" baseline="-25000" noProof="0">
                          <a:latin typeface="Calibri"/>
                          <a:cs typeface="Calibri"/>
                        </a:rPr>
                        <a:t>t</a:t>
                      </a:r>
                      <a:r>
                        <a:rPr lang="zh-TW" sz="1400" b="0" i="0" u="none" strike="noStrike" noProof="0">
                          <a:latin typeface="Calibri"/>
                          <a:cs typeface="Calibri"/>
                        </a:rPr>
                        <a:t> under state </a:t>
                      </a:r>
                      <a:r>
                        <a:rPr lang="zh-TW" sz="1400" b="0" i="1" u="none" strike="noStrike" noProof="0">
                          <a:latin typeface="Calibri"/>
                          <a:cs typeface="Calibri"/>
                        </a:rPr>
                        <a:t>s</a:t>
                      </a:r>
                      <a:endParaRPr lang="zh-TW" sz="1400" i="1">
                        <a:latin typeface="Calibri"/>
                        <a:cs typeface="Calibri"/>
                      </a:endParaRPr>
                    </a:p>
                  </a:txBody>
                  <a:tcPr>
                    <a:lnR w="12700">
                      <a:solidFill>
                        <a:schemeClr val="tx1"/>
                      </a:solidFill>
                    </a:lnR>
                    <a:lnB w="12700">
                      <a:solidFill>
                        <a:schemeClr val="tx1"/>
                      </a:solidFill>
                    </a:lnB>
                    <a:solidFill>
                      <a:schemeClr val="bg1">
                        <a:lumMod val="95000"/>
                      </a:schemeClr>
                    </a:solidFill>
                  </a:tcPr>
                </a:tc>
                <a:extLst>
                  <a:ext uri="{0D108BD9-81ED-4DB2-BD59-A6C34878D82A}">
                    <a16:rowId xmlns:a16="http://schemas.microsoft.com/office/drawing/2014/main" val="1241624262"/>
                  </a:ext>
                </a:extLst>
              </a:tr>
            </a:tbl>
          </a:graphicData>
        </a:graphic>
      </p:graphicFrame>
      <p:sp>
        <p:nvSpPr>
          <p:cNvPr id="8" name="文字方塊 7">
            <a:extLst>
              <a:ext uri="{FF2B5EF4-FFF2-40B4-BE49-F238E27FC236}">
                <a16:creationId xmlns:a16="http://schemas.microsoft.com/office/drawing/2014/main" id="{032087F1-4111-56F2-893E-A6D410AB3592}"/>
              </a:ext>
            </a:extLst>
          </p:cNvPr>
          <p:cNvSpPr txBox="1"/>
          <p:nvPr/>
        </p:nvSpPr>
        <p:spPr>
          <a:xfrm>
            <a:off x="8370695" y="3548545"/>
            <a:ext cx="563105"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tLang="zh-TW" sz="1200">
                <a:ea typeface="+mn-lt"/>
                <a:cs typeface="+mn-lt"/>
              </a:rPr>
              <a:t>Ψ</a:t>
            </a:r>
            <a:r>
              <a:rPr lang="zh-TW" sz="1200">
                <a:ea typeface="+mn-lt"/>
                <a:cs typeface="+mn-lt"/>
              </a:rPr>
              <a:t> </a:t>
            </a:r>
            <a:r>
              <a:rPr lang="en-US" altLang="zh-TW" sz="1200">
                <a:ea typeface="+mn-lt"/>
                <a:cs typeface="+mn-lt"/>
              </a:rPr>
              <a:t>=</a:t>
            </a:r>
            <a:r>
              <a:rPr lang="zh-TW" altLang="en-US" sz="1200">
                <a:ea typeface="+mn-lt"/>
                <a:cs typeface="+mn-lt"/>
              </a:rPr>
              <a:t> U</a:t>
            </a:r>
            <a:endParaRPr lang="zh-TW" sz="1200">
              <a:ea typeface="新細明體"/>
              <a:cs typeface="Calibri"/>
            </a:endParaRPr>
          </a:p>
        </p:txBody>
      </p:sp>
      <p:grpSp>
        <p:nvGrpSpPr>
          <p:cNvPr id="51" name="群組 50">
            <a:extLst>
              <a:ext uri="{FF2B5EF4-FFF2-40B4-BE49-F238E27FC236}">
                <a16:creationId xmlns:a16="http://schemas.microsoft.com/office/drawing/2014/main" id="{6801FF49-DEB8-DA99-C1F6-BE47296218FB}"/>
              </a:ext>
            </a:extLst>
          </p:cNvPr>
          <p:cNvGrpSpPr/>
          <p:nvPr/>
        </p:nvGrpSpPr>
        <p:grpSpPr>
          <a:xfrm>
            <a:off x="1899528" y="4543964"/>
            <a:ext cx="937344" cy="648189"/>
            <a:chOff x="1899528" y="4543964"/>
            <a:chExt cx="937344" cy="648189"/>
          </a:xfrm>
        </p:grpSpPr>
        <p:cxnSp>
          <p:nvCxnSpPr>
            <p:cNvPr id="25" name="直線單箭頭接點 24">
              <a:extLst>
                <a:ext uri="{FF2B5EF4-FFF2-40B4-BE49-F238E27FC236}">
                  <a16:creationId xmlns:a16="http://schemas.microsoft.com/office/drawing/2014/main" id="{DEF0F283-1347-6D3E-E30C-C2A8AF6EC580}"/>
                </a:ext>
              </a:extLst>
            </p:cNvPr>
            <p:cNvCxnSpPr>
              <a:cxnSpLocks/>
            </p:cNvCxnSpPr>
            <p:nvPr/>
          </p:nvCxnSpPr>
          <p:spPr>
            <a:xfrm>
              <a:off x="1899528" y="4543964"/>
              <a:ext cx="634498" cy="648189"/>
            </a:xfrm>
            <a:prstGeom prst="straightConnector1">
              <a:avLst/>
            </a:prstGeom>
            <a:ln>
              <a:solidFill>
                <a:schemeClr val="bg1">
                  <a:lumMod val="85000"/>
                </a:schemeClr>
              </a:solidFill>
              <a:prstDash val="dash"/>
              <a:tailEnd type="triangle"/>
            </a:ln>
          </p:spPr>
          <p:style>
            <a:lnRef idx="2">
              <a:schemeClr val="accent1"/>
            </a:lnRef>
            <a:fillRef idx="0">
              <a:schemeClr val="accent1"/>
            </a:fillRef>
            <a:effectRef idx="1">
              <a:schemeClr val="accent1"/>
            </a:effectRef>
            <a:fontRef idx="minor">
              <a:schemeClr val="tx1"/>
            </a:fontRef>
          </p:style>
        </p:cxnSp>
        <p:sp>
          <p:nvSpPr>
            <p:cNvPr id="38" name="文字方塊 37">
              <a:extLst>
                <a:ext uri="{FF2B5EF4-FFF2-40B4-BE49-F238E27FC236}">
                  <a16:creationId xmlns:a16="http://schemas.microsoft.com/office/drawing/2014/main" id="{CC476F5F-B06D-7B10-0854-CBFA2A69BE05}"/>
                </a:ext>
              </a:extLst>
            </p:cNvPr>
            <p:cNvSpPr txBox="1"/>
            <p:nvPr/>
          </p:nvSpPr>
          <p:spPr>
            <a:xfrm rot="2640000">
              <a:off x="1943623" y="4616745"/>
              <a:ext cx="893249"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zh-TW" sz="1200">
                  <a:ea typeface="+mn-lt"/>
                  <a:cs typeface="+mn-lt"/>
                </a:rPr>
                <a:t>0</a:t>
              </a:r>
              <a:r>
                <a:rPr lang="en-US" altLang="zh-TW" sz="1200">
                  <a:ea typeface="+mn-lt"/>
                  <a:cs typeface="+mn-lt"/>
                </a:rPr>
                <a:t>.7 x 0.02</a:t>
              </a:r>
              <a:endParaRPr lang="zh-TW" altLang="en-US" sz="1200">
                <a:cs typeface="Calibri"/>
              </a:endParaRPr>
            </a:p>
          </p:txBody>
        </p:sp>
      </p:grpSp>
      <p:grpSp>
        <p:nvGrpSpPr>
          <p:cNvPr id="50" name="群組 49">
            <a:extLst>
              <a:ext uri="{FF2B5EF4-FFF2-40B4-BE49-F238E27FC236}">
                <a16:creationId xmlns:a16="http://schemas.microsoft.com/office/drawing/2014/main" id="{331D7B18-111D-1C1F-4503-C3937B102C14}"/>
              </a:ext>
            </a:extLst>
          </p:cNvPr>
          <p:cNvGrpSpPr/>
          <p:nvPr/>
        </p:nvGrpSpPr>
        <p:grpSpPr>
          <a:xfrm>
            <a:off x="1912137" y="3040966"/>
            <a:ext cx="627969" cy="1162026"/>
            <a:chOff x="1912137" y="3040966"/>
            <a:chExt cx="627969" cy="1162026"/>
          </a:xfrm>
        </p:grpSpPr>
        <p:cxnSp>
          <p:nvCxnSpPr>
            <p:cNvPr id="23" name="直線單箭頭接點 22">
              <a:extLst>
                <a:ext uri="{FF2B5EF4-FFF2-40B4-BE49-F238E27FC236}">
                  <a16:creationId xmlns:a16="http://schemas.microsoft.com/office/drawing/2014/main" id="{AB95D9C3-7638-0351-CB46-CEBD304C3E3C}"/>
                </a:ext>
              </a:extLst>
            </p:cNvPr>
            <p:cNvCxnSpPr>
              <a:cxnSpLocks/>
            </p:cNvCxnSpPr>
            <p:nvPr/>
          </p:nvCxnSpPr>
          <p:spPr>
            <a:xfrm flipV="1">
              <a:off x="1912137" y="3486443"/>
              <a:ext cx="627969" cy="716549"/>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39" name="文字方塊 38">
              <a:extLst>
                <a:ext uri="{FF2B5EF4-FFF2-40B4-BE49-F238E27FC236}">
                  <a16:creationId xmlns:a16="http://schemas.microsoft.com/office/drawing/2014/main" id="{6250FC95-BF00-48D0-F4FF-E2A69E4A1C47}"/>
                </a:ext>
              </a:extLst>
            </p:cNvPr>
            <p:cNvSpPr txBox="1"/>
            <p:nvPr/>
          </p:nvSpPr>
          <p:spPr>
            <a:xfrm rot="18540000">
              <a:off x="1646900" y="3470485"/>
              <a:ext cx="1136038"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zh-TW" sz="1200">
                  <a:ea typeface="+mn-lt"/>
                  <a:cs typeface="+mn-lt"/>
                </a:rPr>
                <a:t>0.</a:t>
              </a:r>
              <a:r>
                <a:rPr lang="en-US" altLang="zh-TW" sz="1200">
                  <a:ea typeface="+mn-lt"/>
                  <a:cs typeface="+mn-lt"/>
                </a:rPr>
                <a:t>3 x 0.45</a:t>
              </a:r>
              <a:endParaRPr lang="zh-TW"/>
            </a:p>
          </p:txBody>
        </p:sp>
      </p:grpSp>
      <p:grpSp>
        <p:nvGrpSpPr>
          <p:cNvPr id="54" name="群組 53">
            <a:extLst>
              <a:ext uri="{FF2B5EF4-FFF2-40B4-BE49-F238E27FC236}">
                <a16:creationId xmlns:a16="http://schemas.microsoft.com/office/drawing/2014/main" id="{8207E742-BCCB-6B6C-43EB-539D632292B1}"/>
              </a:ext>
            </a:extLst>
          </p:cNvPr>
          <p:cNvGrpSpPr/>
          <p:nvPr/>
        </p:nvGrpSpPr>
        <p:grpSpPr>
          <a:xfrm>
            <a:off x="2233170" y="2710593"/>
            <a:ext cx="1625808" cy="1502731"/>
            <a:chOff x="2233170" y="2710593"/>
            <a:chExt cx="1625808" cy="1502731"/>
          </a:xfrm>
        </p:grpSpPr>
        <p:grpSp>
          <p:nvGrpSpPr>
            <p:cNvPr id="12" name="群組 11">
              <a:extLst>
                <a:ext uri="{FF2B5EF4-FFF2-40B4-BE49-F238E27FC236}">
                  <a16:creationId xmlns:a16="http://schemas.microsoft.com/office/drawing/2014/main" id="{94038BB5-0F5F-8E42-EBE3-A98184CC59E4}"/>
                </a:ext>
              </a:extLst>
            </p:cNvPr>
            <p:cNvGrpSpPr/>
            <p:nvPr/>
          </p:nvGrpSpPr>
          <p:grpSpPr>
            <a:xfrm>
              <a:off x="2233170" y="3007850"/>
              <a:ext cx="1625808" cy="1205474"/>
              <a:chOff x="2233170" y="3007850"/>
              <a:chExt cx="1625808" cy="1205474"/>
            </a:xfrm>
          </p:grpSpPr>
          <p:grpSp>
            <p:nvGrpSpPr>
              <p:cNvPr id="77" name="群組 76">
                <a:extLst>
                  <a:ext uri="{FF2B5EF4-FFF2-40B4-BE49-F238E27FC236}">
                    <a16:creationId xmlns:a16="http://schemas.microsoft.com/office/drawing/2014/main" id="{57C6E981-3632-6BDD-10B7-CC11F3C98F95}"/>
                  </a:ext>
                </a:extLst>
              </p:cNvPr>
              <p:cNvGrpSpPr/>
              <p:nvPr/>
            </p:nvGrpSpPr>
            <p:grpSpPr>
              <a:xfrm>
                <a:off x="2636161" y="3007850"/>
                <a:ext cx="819720" cy="819736"/>
                <a:chOff x="1501025" y="4207455"/>
                <a:chExt cx="806771" cy="833214"/>
              </a:xfrm>
            </p:grpSpPr>
            <p:sp>
              <p:nvSpPr>
                <p:cNvPr id="75" name="Oval 6">
                  <a:extLst>
                    <a:ext uri="{FF2B5EF4-FFF2-40B4-BE49-F238E27FC236}">
                      <a16:creationId xmlns:a16="http://schemas.microsoft.com/office/drawing/2014/main" id="{859C5B25-FDD3-E182-6DAB-F7D9DDB7F0D9}"/>
                    </a:ext>
                  </a:extLst>
                </p:cNvPr>
                <p:cNvSpPr/>
                <p:nvPr/>
              </p:nvSpPr>
              <p:spPr>
                <a:xfrm>
                  <a:off x="1501025" y="4207455"/>
                  <a:ext cx="806771" cy="833214"/>
                </a:xfrm>
                <a:prstGeom prst="ellipse">
                  <a:avLst/>
                </a:prstGeom>
                <a:solidFill>
                  <a:schemeClr val="accent6">
                    <a:lumMod val="20000"/>
                    <a:lumOff val="80000"/>
                  </a:schemeClr>
                </a:solidFill>
                <a:ln w="28575">
                  <a:solidFill>
                    <a:schemeClr val="accent6">
                      <a:lumMod val="7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rgbClr val="E36C09"/>
                    </a:solidFill>
                  </a:endParaRPr>
                </a:p>
              </p:txBody>
            </p:sp>
            <p:sp>
              <p:nvSpPr>
                <p:cNvPr id="76" name="TextBox 7">
                  <a:extLst>
                    <a:ext uri="{FF2B5EF4-FFF2-40B4-BE49-F238E27FC236}">
                      <a16:creationId xmlns:a16="http://schemas.microsoft.com/office/drawing/2014/main" id="{798ABD8F-8002-1CDD-BD17-46DF98B65D9E}"/>
                    </a:ext>
                  </a:extLst>
                </p:cNvPr>
                <p:cNvSpPr txBox="1"/>
                <p:nvPr/>
              </p:nvSpPr>
              <p:spPr>
                <a:xfrm>
                  <a:off x="1611805" y="4413896"/>
                  <a:ext cx="585216" cy="420335"/>
                </a:xfrm>
                <a:prstGeom prst="rect">
                  <a:avLst/>
                </a:prstGeom>
                <a:solidFill>
                  <a:schemeClr val="accent6">
                    <a:lumMod val="20000"/>
                    <a:lumOff val="80000"/>
                  </a:schemeClr>
                </a:solidFill>
                <a:ln>
                  <a:noFill/>
                </a:ln>
              </p:spPr>
              <p:txBody>
                <a:bodyPr wrap="square" lIns="91440" tIns="45720" rIns="91440" bIns="45720" anchor="ctr">
                  <a:spAutoFit/>
                </a:bodyPr>
                <a:lstStyle/>
                <a:p>
                  <a:pPr algn="ctr"/>
                  <a:r>
                    <a:rPr lang="en-US" altLang="zh-TW" sz="2400" b="1">
                      <a:solidFill>
                        <a:srgbClr val="E36C09"/>
                      </a:solidFill>
                      <a:latin typeface="Calibri"/>
                      <a:ea typeface="Calibri"/>
                      <a:cs typeface="Calibri"/>
                    </a:rPr>
                    <a:t>U</a:t>
                  </a:r>
                  <a:endParaRPr lang="en-US" altLang="zh-TW" sz="2400" b="1" i="0">
                    <a:solidFill>
                      <a:srgbClr val="E36C09"/>
                    </a:solidFill>
                    <a:latin typeface="Calibri"/>
                    <a:ea typeface="Calibri"/>
                    <a:cs typeface="Calibri"/>
                  </a:endParaRPr>
                </a:p>
              </p:txBody>
            </p:sp>
          </p:grpSp>
          <p:sp>
            <p:nvSpPr>
              <p:cNvPr id="2" name="文字方塊 1">
                <a:extLst>
                  <a:ext uri="{FF2B5EF4-FFF2-40B4-BE49-F238E27FC236}">
                    <a16:creationId xmlns:a16="http://schemas.microsoft.com/office/drawing/2014/main" id="{6E71E498-DB34-F347-F4E7-8CBAB0EF85BF}"/>
                  </a:ext>
                </a:extLst>
              </p:cNvPr>
              <p:cNvSpPr txBox="1"/>
              <p:nvPr/>
            </p:nvSpPr>
            <p:spPr>
              <a:xfrm>
                <a:off x="2233170" y="3905547"/>
                <a:ext cx="1625808" cy="307777"/>
              </a:xfrm>
              <a:prstGeom prst="rect">
                <a:avLst/>
              </a:prstGeom>
              <a:noFill/>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lang="zh-TW" sz="1400" dirty="0">
                    <a:solidFill>
                      <a:srgbClr val="E36C09"/>
                    </a:solidFill>
                    <a:latin typeface="Calibri"/>
                    <a:ea typeface="+mn-lt"/>
                    <a:cs typeface="Calibri"/>
                  </a:rPr>
                  <a:t>δ₁(</a:t>
                </a:r>
                <a:r>
                  <a:rPr lang="en-US" altLang="zh-TW" sz="1400" dirty="0">
                    <a:solidFill>
                      <a:srgbClr val="E36C09"/>
                    </a:solidFill>
                    <a:latin typeface="Calibri"/>
                    <a:ea typeface="Calibri"/>
                    <a:cs typeface="Calibri"/>
                  </a:rPr>
                  <a:t>U</a:t>
                </a:r>
                <a:r>
                  <a:rPr lang="zh-TW" sz="1400" dirty="0">
                    <a:solidFill>
                      <a:srgbClr val="E36C09"/>
                    </a:solidFill>
                    <a:latin typeface="Calibri"/>
                    <a:ea typeface="+mn-lt"/>
                    <a:cs typeface="Calibri"/>
                  </a:rPr>
                  <a:t>)</a:t>
                </a:r>
                <a:r>
                  <a:rPr lang="zh-TW" sz="1400" dirty="0">
                    <a:solidFill>
                      <a:srgbClr val="E36C09"/>
                    </a:solidFill>
                    <a:latin typeface="Calibri"/>
                    <a:ea typeface="新細明體"/>
                    <a:cs typeface="Calibri"/>
                  </a:rPr>
                  <a:t> = </a:t>
                </a:r>
                <a:r>
                  <a:rPr lang="zh-TW" altLang="en-US" sz="1400">
                    <a:solidFill>
                      <a:srgbClr val="E36C09"/>
                    </a:solidFill>
                    <a:latin typeface="Calibri"/>
                    <a:ea typeface="新細明體"/>
                    <a:cs typeface="Calibri"/>
                  </a:rPr>
                  <a:t>0.135</a:t>
                </a:r>
                <a:endParaRPr lang="zh-TW" sz="1400">
                  <a:latin typeface="Calibri"/>
                  <a:cs typeface="Calibri"/>
                </a:endParaRPr>
              </a:p>
            </p:txBody>
          </p:sp>
        </p:grpSp>
        <p:sp>
          <p:nvSpPr>
            <p:cNvPr id="40" name="文字方塊 39">
              <a:extLst>
                <a:ext uri="{FF2B5EF4-FFF2-40B4-BE49-F238E27FC236}">
                  <a16:creationId xmlns:a16="http://schemas.microsoft.com/office/drawing/2014/main" id="{0E3CB605-60A3-C305-1FFF-90813345377D}"/>
                </a:ext>
              </a:extLst>
            </p:cNvPr>
            <p:cNvSpPr txBox="1"/>
            <p:nvPr/>
          </p:nvSpPr>
          <p:spPr>
            <a:xfrm>
              <a:off x="2341430" y="2710593"/>
              <a:ext cx="1415171"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altLang="zh-TW" sz="1200">
                  <a:solidFill>
                    <a:srgbClr val="E36C09"/>
                  </a:solidFill>
                  <a:ea typeface="+mn-lt"/>
                  <a:cs typeface="+mn-lt"/>
                </a:rPr>
                <a:t>B</a:t>
              </a:r>
              <a:r>
                <a:rPr lang="en-US" altLang="zh-TW" sz="1200" baseline="-25000">
                  <a:solidFill>
                    <a:srgbClr val="E36C09"/>
                  </a:solidFill>
                  <a:ea typeface="+mn-lt"/>
                  <a:cs typeface="+mn-lt"/>
                </a:rPr>
                <a:t>U</a:t>
              </a:r>
              <a:r>
                <a:rPr lang="en-US" altLang="zh-TW" sz="1200">
                  <a:solidFill>
                    <a:srgbClr val="E36C09"/>
                  </a:solidFill>
                  <a:ea typeface="+mn-lt"/>
                  <a:cs typeface="+mn-lt"/>
                </a:rPr>
                <a:t>(x</a:t>
              </a:r>
              <a:r>
                <a:rPr lang="en-US" altLang="zh-TW" sz="1200" baseline="-25000">
                  <a:solidFill>
                    <a:srgbClr val="E36C09"/>
                  </a:solidFill>
                  <a:ea typeface="+mn-lt"/>
                  <a:cs typeface="+mn-lt"/>
                </a:rPr>
                <a:t>1</a:t>
              </a:r>
              <a:r>
                <a:rPr lang="en-US" altLang="zh-TW" sz="1200">
                  <a:solidFill>
                    <a:srgbClr val="E36C09"/>
                  </a:solidFill>
                  <a:ea typeface="+mn-lt"/>
                  <a:cs typeface="+mn-lt"/>
                </a:rPr>
                <a:t>) = 0.45</a:t>
              </a:r>
              <a:endParaRPr lang="zh-TW">
                <a:solidFill>
                  <a:srgbClr val="E36C09"/>
                </a:solidFill>
                <a:cs typeface="Calibri"/>
              </a:endParaRPr>
            </a:p>
          </p:txBody>
        </p:sp>
      </p:grpSp>
      <p:grpSp>
        <p:nvGrpSpPr>
          <p:cNvPr id="55" name="群組 54">
            <a:extLst>
              <a:ext uri="{FF2B5EF4-FFF2-40B4-BE49-F238E27FC236}">
                <a16:creationId xmlns:a16="http://schemas.microsoft.com/office/drawing/2014/main" id="{D035F6A7-427B-4F22-7BF2-152AF923BAB2}"/>
              </a:ext>
            </a:extLst>
          </p:cNvPr>
          <p:cNvGrpSpPr/>
          <p:nvPr/>
        </p:nvGrpSpPr>
        <p:grpSpPr>
          <a:xfrm>
            <a:off x="2246383" y="4528893"/>
            <a:ext cx="1599077" cy="1412434"/>
            <a:chOff x="2246383" y="4528893"/>
            <a:chExt cx="1599077" cy="1412434"/>
          </a:xfrm>
        </p:grpSpPr>
        <p:grpSp>
          <p:nvGrpSpPr>
            <p:cNvPr id="13" name="群組 12">
              <a:extLst>
                <a:ext uri="{FF2B5EF4-FFF2-40B4-BE49-F238E27FC236}">
                  <a16:creationId xmlns:a16="http://schemas.microsoft.com/office/drawing/2014/main" id="{91548CE7-8841-E96C-77F3-A7AAA17BD353}"/>
                </a:ext>
              </a:extLst>
            </p:cNvPr>
            <p:cNvGrpSpPr/>
            <p:nvPr/>
          </p:nvGrpSpPr>
          <p:grpSpPr>
            <a:xfrm>
              <a:off x="2246383" y="4798057"/>
              <a:ext cx="1599077" cy="1143270"/>
              <a:chOff x="2246383" y="4798057"/>
              <a:chExt cx="1599077" cy="1143270"/>
            </a:xfrm>
          </p:grpSpPr>
          <p:grpSp>
            <p:nvGrpSpPr>
              <p:cNvPr id="81" name="群組 80">
                <a:extLst>
                  <a:ext uri="{FF2B5EF4-FFF2-40B4-BE49-F238E27FC236}">
                    <a16:creationId xmlns:a16="http://schemas.microsoft.com/office/drawing/2014/main" id="{29E04BC3-0BEA-627E-7F73-E6F08A017858}"/>
                  </a:ext>
                </a:extLst>
              </p:cNvPr>
              <p:cNvGrpSpPr/>
              <p:nvPr/>
            </p:nvGrpSpPr>
            <p:grpSpPr>
              <a:xfrm>
                <a:off x="2636161" y="4798057"/>
                <a:ext cx="819720" cy="819736"/>
                <a:chOff x="1501025" y="4207455"/>
                <a:chExt cx="806771" cy="833214"/>
              </a:xfrm>
            </p:grpSpPr>
            <p:sp>
              <p:nvSpPr>
                <p:cNvPr id="79" name="Oval 6">
                  <a:extLst>
                    <a:ext uri="{FF2B5EF4-FFF2-40B4-BE49-F238E27FC236}">
                      <a16:creationId xmlns:a16="http://schemas.microsoft.com/office/drawing/2014/main" id="{71FA9F18-5A50-407E-5B1C-9A23CE15810D}"/>
                    </a:ext>
                  </a:extLst>
                </p:cNvPr>
                <p:cNvSpPr/>
                <p:nvPr/>
              </p:nvSpPr>
              <p:spPr>
                <a:xfrm>
                  <a:off x="1501025" y="4207455"/>
                  <a:ext cx="806771" cy="833214"/>
                </a:xfrm>
                <a:prstGeom prst="ellipse">
                  <a:avLst/>
                </a:prstGeom>
                <a:solidFill>
                  <a:schemeClr val="accent3">
                    <a:lumMod val="40000"/>
                    <a:lumOff val="60000"/>
                  </a:schemeClr>
                </a:solidFill>
                <a:ln w="28575">
                  <a:solidFill>
                    <a:schemeClr val="accent3">
                      <a:lumMod val="7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rgbClr val="4F6128"/>
                    </a:solidFill>
                  </a:endParaRPr>
                </a:p>
              </p:txBody>
            </p:sp>
            <p:sp>
              <p:nvSpPr>
                <p:cNvPr id="80" name="TextBox 7">
                  <a:extLst>
                    <a:ext uri="{FF2B5EF4-FFF2-40B4-BE49-F238E27FC236}">
                      <a16:creationId xmlns:a16="http://schemas.microsoft.com/office/drawing/2014/main" id="{220BF17D-057F-04FF-055B-00FC0944AC71}"/>
                    </a:ext>
                  </a:extLst>
                </p:cNvPr>
                <p:cNvSpPr txBox="1"/>
                <p:nvPr/>
              </p:nvSpPr>
              <p:spPr>
                <a:xfrm>
                  <a:off x="1611805" y="4413896"/>
                  <a:ext cx="585216" cy="420335"/>
                </a:xfrm>
                <a:prstGeom prst="rect">
                  <a:avLst/>
                </a:prstGeom>
                <a:solidFill>
                  <a:schemeClr val="accent3">
                    <a:lumMod val="40000"/>
                    <a:lumOff val="60000"/>
                  </a:schemeClr>
                </a:solidFill>
                <a:ln>
                  <a:noFill/>
                </a:ln>
              </p:spPr>
              <p:txBody>
                <a:bodyPr wrap="square" lIns="91440" tIns="45720" rIns="91440" bIns="45720" anchor="ctr">
                  <a:spAutoFit/>
                </a:bodyPr>
                <a:lstStyle/>
                <a:p>
                  <a:pPr algn="ctr"/>
                  <a:r>
                    <a:rPr lang="en-US" altLang="zh-TW" sz="2400" b="1">
                      <a:solidFill>
                        <a:srgbClr val="4F6128"/>
                      </a:solidFill>
                      <a:latin typeface="Calibri"/>
                      <a:ea typeface="Calibri"/>
                      <a:cs typeface="Calibri"/>
                    </a:rPr>
                    <a:t>M</a:t>
                  </a:r>
                  <a:endParaRPr lang="en-US" altLang="zh-TW" sz="2400" b="1" i="0" baseline="-25000">
                    <a:solidFill>
                      <a:srgbClr val="4F6128"/>
                    </a:solidFill>
                    <a:latin typeface="Calibri"/>
                    <a:ea typeface="Calibri"/>
                    <a:cs typeface="Calibri"/>
                  </a:endParaRPr>
                </a:p>
              </p:txBody>
            </p:sp>
          </p:grpSp>
          <p:sp>
            <p:nvSpPr>
              <p:cNvPr id="31" name="文字方塊 30">
                <a:extLst>
                  <a:ext uri="{FF2B5EF4-FFF2-40B4-BE49-F238E27FC236}">
                    <a16:creationId xmlns:a16="http://schemas.microsoft.com/office/drawing/2014/main" id="{3CB6F6FA-B32A-B625-32E4-ED9B3274A924}"/>
                  </a:ext>
                </a:extLst>
              </p:cNvPr>
              <p:cNvSpPr txBox="1"/>
              <p:nvPr/>
            </p:nvSpPr>
            <p:spPr>
              <a:xfrm>
                <a:off x="2246383" y="5633550"/>
                <a:ext cx="1599077" cy="307777"/>
              </a:xfrm>
              <a:prstGeom prst="rect">
                <a:avLst/>
              </a:prstGeom>
              <a:noFill/>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lang="zh-TW" sz="1400">
                    <a:solidFill>
                      <a:srgbClr val="76923C"/>
                    </a:solidFill>
                    <a:latin typeface="Calibri"/>
                    <a:ea typeface="+mn-lt"/>
                    <a:cs typeface="Calibri"/>
                  </a:rPr>
                  <a:t>δ</a:t>
                </a:r>
                <a:r>
                  <a:rPr lang="en-US" altLang="zh-TW" sz="1400" baseline="-25000">
                    <a:solidFill>
                      <a:srgbClr val="76923C"/>
                    </a:solidFill>
                    <a:latin typeface="Calibri"/>
                    <a:ea typeface="Calibri"/>
                    <a:cs typeface="Calibri"/>
                  </a:rPr>
                  <a:t>1</a:t>
                </a:r>
                <a:r>
                  <a:rPr lang="zh-TW" sz="1400">
                    <a:solidFill>
                      <a:srgbClr val="76923C"/>
                    </a:solidFill>
                    <a:latin typeface="Calibri"/>
                    <a:ea typeface="+mn-lt"/>
                    <a:cs typeface="Calibri"/>
                  </a:rPr>
                  <a:t>(</a:t>
                </a:r>
                <a:r>
                  <a:rPr lang="en-US" altLang="zh-TW" sz="1400">
                    <a:solidFill>
                      <a:srgbClr val="76923C"/>
                    </a:solidFill>
                    <a:latin typeface="Calibri"/>
                    <a:ea typeface="+mn-lt"/>
                    <a:cs typeface="Calibri"/>
                  </a:rPr>
                  <a:t>M</a:t>
                </a:r>
                <a:r>
                  <a:rPr lang="zh-TW" sz="1400">
                    <a:solidFill>
                      <a:srgbClr val="76923C"/>
                    </a:solidFill>
                    <a:latin typeface="Calibri"/>
                    <a:ea typeface="+mn-lt"/>
                    <a:cs typeface="Calibri"/>
                  </a:rPr>
                  <a:t>) </a:t>
                </a:r>
                <a:r>
                  <a:rPr lang="en-US" altLang="zh-TW" sz="1400">
                    <a:solidFill>
                      <a:srgbClr val="76923C"/>
                    </a:solidFill>
                    <a:latin typeface="Calibri"/>
                    <a:ea typeface="+mn-lt"/>
                    <a:cs typeface="Calibri"/>
                  </a:rPr>
                  <a:t>=</a:t>
                </a:r>
                <a:r>
                  <a:rPr lang="zh-TW" altLang="en-US" sz="1400" dirty="0">
                    <a:solidFill>
                      <a:srgbClr val="76923C"/>
                    </a:solidFill>
                    <a:latin typeface="Calibri"/>
                    <a:ea typeface="+mn-lt"/>
                    <a:cs typeface="Calibri"/>
                  </a:rPr>
                  <a:t> </a:t>
                </a:r>
                <a:r>
                  <a:rPr lang="en-US" altLang="zh-TW" sz="1400">
                    <a:solidFill>
                      <a:srgbClr val="76923C"/>
                    </a:solidFill>
                    <a:latin typeface="Calibri"/>
                    <a:ea typeface="+mn-lt"/>
                    <a:cs typeface="Calibri"/>
                  </a:rPr>
                  <a:t>0.014</a:t>
                </a:r>
                <a:endParaRPr lang="en-US" altLang="zh-TW" sz="1400">
                  <a:solidFill>
                    <a:srgbClr val="76923C"/>
                  </a:solidFill>
                  <a:latin typeface="Calibri"/>
                  <a:ea typeface="Calibri"/>
                  <a:cs typeface="Calibri"/>
                </a:endParaRPr>
              </a:p>
            </p:txBody>
          </p:sp>
        </p:grpSp>
        <p:sp>
          <p:nvSpPr>
            <p:cNvPr id="41" name="文字方塊 40">
              <a:extLst>
                <a:ext uri="{FF2B5EF4-FFF2-40B4-BE49-F238E27FC236}">
                  <a16:creationId xmlns:a16="http://schemas.microsoft.com/office/drawing/2014/main" id="{5EB2325A-2399-BD5F-C4BA-7905E36B6588}"/>
                </a:ext>
              </a:extLst>
            </p:cNvPr>
            <p:cNvSpPr txBox="1"/>
            <p:nvPr/>
          </p:nvSpPr>
          <p:spPr>
            <a:xfrm>
              <a:off x="2334757" y="4528893"/>
              <a:ext cx="1415171"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altLang="zh-TW" sz="1200">
                  <a:solidFill>
                    <a:srgbClr val="76923C"/>
                  </a:solidFill>
                  <a:ea typeface="+mn-lt"/>
                  <a:cs typeface="+mn-lt"/>
                </a:rPr>
                <a:t>B</a:t>
              </a:r>
              <a:r>
                <a:rPr lang="en-US" altLang="zh-TW" sz="1200" baseline="-25000">
                  <a:solidFill>
                    <a:srgbClr val="76923C"/>
                  </a:solidFill>
                  <a:ea typeface="+mn-lt"/>
                  <a:cs typeface="+mn-lt"/>
                </a:rPr>
                <a:t>M</a:t>
              </a:r>
              <a:r>
                <a:rPr lang="en-US" altLang="zh-TW" sz="1200">
                  <a:solidFill>
                    <a:srgbClr val="76923C"/>
                  </a:solidFill>
                  <a:ea typeface="+mn-lt"/>
                  <a:cs typeface="+mn-lt"/>
                </a:rPr>
                <a:t>(x</a:t>
              </a:r>
              <a:r>
                <a:rPr lang="en-US" altLang="zh-TW" sz="1200" baseline="-25000">
                  <a:solidFill>
                    <a:srgbClr val="76923C"/>
                  </a:solidFill>
                  <a:ea typeface="+mn-lt"/>
                  <a:cs typeface="+mn-lt"/>
                </a:rPr>
                <a:t>1</a:t>
              </a:r>
              <a:r>
                <a:rPr lang="en-US" altLang="zh-TW" sz="1200">
                  <a:solidFill>
                    <a:srgbClr val="76923C"/>
                  </a:solidFill>
                  <a:ea typeface="+mn-lt"/>
                  <a:cs typeface="+mn-lt"/>
                </a:rPr>
                <a:t>) = 0.02</a:t>
              </a:r>
              <a:endParaRPr lang="zh-TW">
                <a:solidFill>
                  <a:srgbClr val="76923C"/>
                </a:solidFill>
                <a:cs typeface="Calibri"/>
              </a:endParaRPr>
            </a:p>
          </p:txBody>
        </p:sp>
      </p:grpSp>
      <p:grpSp>
        <p:nvGrpSpPr>
          <p:cNvPr id="58" name="群組 57">
            <a:extLst>
              <a:ext uri="{FF2B5EF4-FFF2-40B4-BE49-F238E27FC236}">
                <a16:creationId xmlns:a16="http://schemas.microsoft.com/office/drawing/2014/main" id="{446FAC61-C8CF-63CA-F323-A352EF03D306}"/>
              </a:ext>
            </a:extLst>
          </p:cNvPr>
          <p:cNvGrpSpPr/>
          <p:nvPr/>
        </p:nvGrpSpPr>
        <p:grpSpPr>
          <a:xfrm>
            <a:off x="7838159" y="2710592"/>
            <a:ext cx="1625807" cy="1494273"/>
            <a:chOff x="7838159" y="2710592"/>
            <a:chExt cx="1625807" cy="1494273"/>
          </a:xfrm>
        </p:grpSpPr>
        <p:grpSp>
          <p:nvGrpSpPr>
            <p:cNvPr id="15" name="群組 14">
              <a:extLst>
                <a:ext uri="{FF2B5EF4-FFF2-40B4-BE49-F238E27FC236}">
                  <a16:creationId xmlns:a16="http://schemas.microsoft.com/office/drawing/2014/main" id="{95FCB629-A03D-8BE9-CD79-8DC5137B176D}"/>
                </a:ext>
              </a:extLst>
            </p:cNvPr>
            <p:cNvGrpSpPr/>
            <p:nvPr/>
          </p:nvGrpSpPr>
          <p:grpSpPr>
            <a:xfrm>
              <a:off x="7838159" y="3007849"/>
              <a:ext cx="1625807" cy="1197016"/>
              <a:chOff x="7838159" y="3007849"/>
              <a:chExt cx="1625807" cy="1197016"/>
            </a:xfrm>
          </p:grpSpPr>
          <p:grpSp>
            <p:nvGrpSpPr>
              <p:cNvPr id="97" name="群組 96">
                <a:extLst>
                  <a:ext uri="{FF2B5EF4-FFF2-40B4-BE49-F238E27FC236}">
                    <a16:creationId xmlns:a16="http://schemas.microsoft.com/office/drawing/2014/main" id="{502D3C9B-F536-0421-43E6-2F147555D539}"/>
                  </a:ext>
                </a:extLst>
              </p:cNvPr>
              <p:cNvGrpSpPr/>
              <p:nvPr/>
            </p:nvGrpSpPr>
            <p:grpSpPr>
              <a:xfrm>
                <a:off x="8241150" y="3007849"/>
                <a:ext cx="819720" cy="819736"/>
                <a:chOff x="1501025" y="4207455"/>
                <a:chExt cx="806771" cy="833214"/>
              </a:xfrm>
            </p:grpSpPr>
            <p:sp>
              <p:nvSpPr>
                <p:cNvPr id="98" name="Oval 6">
                  <a:extLst>
                    <a:ext uri="{FF2B5EF4-FFF2-40B4-BE49-F238E27FC236}">
                      <a16:creationId xmlns:a16="http://schemas.microsoft.com/office/drawing/2014/main" id="{8A07C78A-2B1F-C38B-AA91-FEDCF1767D02}"/>
                    </a:ext>
                  </a:extLst>
                </p:cNvPr>
                <p:cNvSpPr/>
                <p:nvPr/>
              </p:nvSpPr>
              <p:spPr>
                <a:xfrm>
                  <a:off x="1501025" y="4207455"/>
                  <a:ext cx="806771" cy="833214"/>
                </a:xfrm>
                <a:prstGeom prst="ellipse">
                  <a:avLst/>
                </a:prstGeom>
                <a:solidFill>
                  <a:schemeClr val="accent6">
                    <a:lumMod val="20000"/>
                    <a:lumOff val="80000"/>
                  </a:schemeClr>
                </a:solidFill>
                <a:ln w="28575">
                  <a:solidFill>
                    <a:schemeClr val="accent6">
                      <a:lumMod val="7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rgbClr val="E36C09"/>
                    </a:solidFill>
                  </a:endParaRPr>
                </a:p>
              </p:txBody>
            </p:sp>
            <p:sp>
              <p:nvSpPr>
                <p:cNvPr id="99" name="TextBox 7">
                  <a:extLst>
                    <a:ext uri="{FF2B5EF4-FFF2-40B4-BE49-F238E27FC236}">
                      <a16:creationId xmlns:a16="http://schemas.microsoft.com/office/drawing/2014/main" id="{BDDBAAEB-F0E7-28F2-C392-2FBF91814305}"/>
                    </a:ext>
                  </a:extLst>
                </p:cNvPr>
                <p:cNvSpPr txBox="1"/>
                <p:nvPr/>
              </p:nvSpPr>
              <p:spPr>
                <a:xfrm>
                  <a:off x="1611805" y="4413896"/>
                  <a:ext cx="585216" cy="420335"/>
                </a:xfrm>
                <a:prstGeom prst="rect">
                  <a:avLst/>
                </a:prstGeom>
                <a:solidFill>
                  <a:schemeClr val="accent6">
                    <a:lumMod val="20000"/>
                    <a:lumOff val="80000"/>
                  </a:schemeClr>
                </a:solidFill>
                <a:ln>
                  <a:noFill/>
                </a:ln>
              </p:spPr>
              <p:txBody>
                <a:bodyPr wrap="square" lIns="91440" tIns="45720" rIns="91440" bIns="45720" anchor="ctr">
                  <a:spAutoFit/>
                </a:bodyPr>
                <a:lstStyle/>
                <a:p>
                  <a:pPr algn="ctr"/>
                  <a:r>
                    <a:rPr lang="en-US" altLang="zh-TW" sz="2400" b="1">
                      <a:solidFill>
                        <a:srgbClr val="E36C09"/>
                      </a:solidFill>
                      <a:latin typeface="Calibri"/>
                      <a:ea typeface="Calibri"/>
                      <a:cs typeface="Calibri"/>
                    </a:rPr>
                    <a:t>U</a:t>
                  </a:r>
                  <a:endParaRPr lang="en-US" altLang="zh-TW" sz="2400" b="1" i="0">
                    <a:solidFill>
                      <a:srgbClr val="E36C09"/>
                    </a:solidFill>
                    <a:latin typeface="Calibri"/>
                    <a:ea typeface="Calibri"/>
                    <a:cs typeface="Calibri"/>
                  </a:endParaRPr>
                </a:p>
              </p:txBody>
            </p:sp>
          </p:grpSp>
          <p:sp>
            <p:nvSpPr>
              <p:cNvPr id="29" name="文字方塊 28">
                <a:extLst>
                  <a:ext uri="{FF2B5EF4-FFF2-40B4-BE49-F238E27FC236}">
                    <a16:creationId xmlns:a16="http://schemas.microsoft.com/office/drawing/2014/main" id="{B277552F-75C0-C037-EA5B-73F4C709FA9C}"/>
                  </a:ext>
                </a:extLst>
              </p:cNvPr>
              <p:cNvSpPr txBox="1"/>
              <p:nvPr/>
            </p:nvSpPr>
            <p:spPr>
              <a:xfrm>
                <a:off x="7838159" y="3897088"/>
                <a:ext cx="1625807" cy="307777"/>
              </a:xfrm>
              <a:prstGeom prst="rect">
                <a:avLst/>
              </a:prstGeom>
              <a:noFill/>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lang="zh-TW" sz="1400">
                    <a:solidFill>
                      <a:srgbClr val="E36C09"/>
                    </a:solidFill>
                    <a:latin typeface="Calibri"/>
                    <a:ea typeface="新細明體"/>
                    <a:cs typeface="Calibri"/>
                  </a:rPr>
                  <a:t>δ</a:t>
                </a:r>
                <a:r>
                  <a:rPr lang="en-US" altLang="zh-TW" sz="1400" baseline="-25000">
                    <a:solidFill>
                      <a:srgbClr val="E36C09"/>
                    </a:solidFill>
                    <a:latin typeface="Calibri"/>
                    <a:ea typeface="Calibri"/>
                    <a:cs typeface="Calibri"/>
                  </a:rPr>
                  <a:t>3</a:t>
                </a:r>
                <a:r>
                  <a:rPr lang="zh-TW" sz="1400">
                    <a:solidFill>
                      <a:srgbClr val="E36C09"/>
                    </a:solidFill>
                    <a:latin typeface="Calibri"/>
                    <a:ea typeface="新細明體"/>
                    <a:cs typeface="Calibri"/>
                  </a:rPr>
                  <a:t>(</a:t>
                </a:r>
                <a:r>
                  <a:rPr lang="en-US" altLang="zh-TW" sz="1400">
                    <a:solidFill>
                      <a:srgbClr val="E36C09"/>
                    </a:solidFill>
                    <a:latin typeface="Calibri"/>
                    <a:ea typeface="Calibri"/>
                    <a:cs typeface="Calibri"/>
                  </a:rPr>
                  <a:t>U</a:t>
                </a:r>
                <a:r>
                  <a:rPr lang="zh-TW" sz="1400">
                    <a:solidFill>
                      <a:srgbClr val="E36C09"/>
                    </a:solidFill>
                    <a:latin typeface="Calibri"/>
                    <a:ea typeface="新細明體"/>
                    <a:cs typeface="Calibri"/>
                  </a:rPr>
                  <a:t>) </a:t>
                </a:r>
                <a:r>
                  <a:rPr lang="en-US" altLang="zh-TW" sz="1400">
                    <a:solidFill>
                      <a:srgbClr val="E36C09"/>
                    </a:solidFill>
                    <a:latin typeface="Calibri"/>
                    <a:ea typeface="新細明體"/>
                    <a:cs typeface="Calibri"/>
                  </a:rPr>
                  <a:t>=</a:t>
                </a:r>
                <a:r>
                  <a:rPr lang="zh-TW" altLang="en-US" sz="1400" dirty="0">
                    <a:solidFill>
                      <a:srgbClr val="E36C09"/>
                    </a:solidFill>
                    <a:latin typeface="Calibri"/>
                    <a:ea typeface="新細明體"/>
                    <a:cs typeface="Calibri"/>
                  </a:rPr>
                  <a:t> </a:t>
                </a:r>
                <a:r>
                  <a:rPr lang="en-US" altLang="zh-TW" sz="1400">
                    <a:solidFill>
                      <a:srgbClr val="E36C09"/>
                    </a:solidFill>
                    <a:latin typeface="Calibri"/>
                    <a:ea typeface="新細明體"/>
                    <a:cs typeface="Calibri"/>
                  </a:rPr>
                  <a:t>0.00045</a:t>
                </a:r>
                <a:endParaRPr lang="zh-TW" altLang="en-US" sz="1400">
                  <a:solidFill>
                    <a:srgbClr val="E36C09"/>
                  </a:solidFill>
                  <a:latin typeface="Calibri"/>
                  <a:ea typeface="新細明體"/>
                  <a:cs typeface="Calibri"/>
                </a:endParaRPr>
              </a:p>
            </p:txBody>
          </p:sp>
        </p:grpSp>
        <p:sp>
          <p:nvSpPr>
            <p:cNvPr id="42" name="文字方塊 41">
              <a:extLst>
                <a:ext uri="{FF2B5EF4-FFF2-40B4-BE49-F238E27FC236}">
                  <a16:creationId xmlns:a16="http://schemas.microsoft.com/office/drawing/2014/main" id="{374E3ADC-C93F-11D6-BF34-7549AB833326}"/>
                </a:ext>
              </a:extLst>
            </p:cNvPr>
            <p:cNvSpPr txBox="1"/>
            <p:nvPr/>
          </p:nvSpPr>
          <p:spPr>
            <a:xfrm>
              <a:off x="7938925" y="2710592"/>
              <a:ext cx="1415171"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altLang="zh-TW" sz="1200">
                  <a:solidFill>
                    <a:srgbClr val="E36C09"/>
                  </a:solidFill>
                  <a:ea typeface="+mn-lt"/>
                  <a:cs typeface="+mn-lt"/>
                </a:rPr>
                <a:t>B</a:t>
              </a:r>
              <a:r>
                <a:rPr lang="en-US" altLang="zh-TW" sz="1200" baseline="-25000">
                  <a:solidFill>
                    <a:srgbClr val="E36C09"/>
                  </a:solidFill>
                  <a:ea typeface="+mn-lt"/>
                  <a:cs typeface="+mn-lt"/>
                </a:rPr>
                <a:t>U</a:t>
              </a:r>
              <a:r>
                <a:rPr lang="en-US" altLang="zh-TW" sz="1200">
                  <a:solidFill>
                    <a:srgbClr val="E36C09"/>
                  </a:solidFill>
                  <a:ea typeface="+mn-lt"/>
                  <a:cs typeface="+mn-lt"/>
                </a:rPr>
                <a:t>(x</a:t>
              </a:r>
              <a:r>
                <a:rPr lang="en-US" altLang="zh-TW" sz="1200" baseline="-25000">
                  <a:solidFill>
                    <a:srgbClr val="E36C09"/>
                  </a:solidFill>
                  <a:ea typeface="+mn-lt"/>
                  <a:cs typeface="+mn-lt"/>
                </a:rPr>
                <a:t>3</a:t>
              </a:r>
              <a:r>
                <a:rPr lang="en-US" altLang="zh-TW" sz="1200">
                  <a:solidFill>
                    <a:srgbClr val="E36C09"/>
                  </a:solidFill>
                  <a:ea typeface="+mn-lt"/>
                  <a:cs typeface="+mn-lt"/>
                </a:rPr>
                <a:t>) = 0.02</a:t>
              </a:r>
              <a:endParaRPr lang="zh-TW">
                <a:solidFill>
                  <a:srgbClr val="E36C09"/>
                </a:solidFill>
                <a:cs typeface="Calibri"/>
              </a:endParaRPr>
            </a:p>
          </p:txBody>
        </p:sp>
      </p:grpSp>
      <p:grpSp>
        <p:nvGrpSpPr>
          <p:cNvPr id="57" name="群組 56">
            <a:extLst>
              <a:ext uri="{FF2B5EF4-FFF2-40B4-BE49-F238E27FC236}">
                <a16:creationId xmlns:a16="http://schemas.microsoft.com/office/drawing/2014/main" id="{7A22F9DD-4A4A-0FD6-C178-CC775C3FAD21}"/>
              </a:ext>
            </a:extLst>
          </p:cNvPr>
          <p:cNvGrpSpPr/>
          <p:nvPr/>
        </p:nvGrpSpPr>
        <p:grpSpPr>
          <a:xfrm>
            <a:off x="5014256" y="2710592"/>
            <a:ext cx="1639173" cy="1493506"/>
            <a:chOff x="5014256" y="2710592"/>
            <a:chExt cx="1639173" cy="1493506"/>
          </a:xfrm>
        </p:grpSpPr>
        <p:grpSp>
          <p:nvGrpSpPr>
            <p:cNvPr id="11" name="群組 10">
              <a:extLst>
                <a:ext uri="{FF2B5EF4-FFF2-40B4-BE49-F238E27FC236}">
                  <a16:creationId xmlns:a16="http://schemas.microsoft.com/office/drawing/2014/main" id="{DCEC35E7-E46D-EE76-F8CE-CBF08AD6F2A8}"/>
                </a:ext>
              </a:extLst>
            </p:cNvPr>
            <p:cNvGrpSpPr/>
            <p:nvPr/>
          </p:nvGrpSpPr>
          <p:grpSpPr>
            <a:xfrm>
              <a:off x="5014256" y="3007849"/>
              <a:ext cx="1639173" cy="1196249"/>
              <a:chOff x="5014256" y="3007849"/>
              <a:chExt cx="1639173" cy="1196249"/>
            </a:xfrm>
          </p:grpSpPr>
          <p:grpSp>
            <p:nvGrpSpPr>
              <p:cNvPr id="91" name="群組 90">
                <a:extLst>
                  <a:ext uri="{FF2B5EF4-FFF2-40B4-BE49-F238E27FC236}">
                    <a16:creationId xmlns:a16="http://schemas.microsoft.com/office/drawing/2014/main" id="{5904A01B-711C-7B4D-BC49-6F4614051110}"/>
                  </a:ext>
                </a:extLst>
              </p:cNvPr>
              <p:cNvGrpSpPr/>
              <p:nvPr/>
            </p:nvGrpSpPr>
            <p:grpSpPr>
              <a:xfrm>
                <a:off x="5423853" y="3007849"/>
                <a:ext cx="819720" cy="819736"/>
                <a:chOff x="1501025" y="4207455"/>
                <a:chExt cx="806771" cy="833214"/>
              </a:xfrm>
            </p:grpSpPr>
            <p:sp>
              <p:nvSpPr>
                <p:cNvPr id="92" name="Oval 6">
                  <a:extLst>
                    <a:ext uri="{FF2B5EF4-FFF2-40B4-BE49-F238E27FC236}">
                      <a16:creationId xmlns:a16="http://schemas.microsoft.com/office/drawing/2014/main" id="{145EE91E-6E45-58E3-0BF3-E9730EB0D30C}"/>
                    </a:ext>
                  </a:extLst>
                </p:cNvPr>
                <p:cNvSpPr/>
                <p:nvPr/>
              </p:nvSpPr>
              <p:spPr>
                <a:xfrm>
                  <a:off x="1501025" y="4207455"/>
                  <a:ext cx="806771" cy="833214"/>
                </a:xfrm>
                <a:prstGeom prst="ellipse">
                  <a:avLst/>
                </a:prstGeom>
                <a:solidFill>
                  <a:schemeClr val="accent6">
                    <a:lumMod val="20000"/>
                    <a:lumOff val="80000"/>
                  </a:schemeClr>
                </a:solidFill>
                <a:ln w="28575">
                  <a:solidFill>
                    <a:schemeClr val="accent6">
                      <a:lumMod val="7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rgbClr val="E36C09"/>
                    </a:solidFill>
                  </a:endParaRPr>
                </a:p>
              </p:txBody>
            </p:sp>
            <p:sp>
              <p:nvSpPr>
                <p:cNvPr id="93" name="TextBox 7">
                  <a:extLst>
                    <a:ext uri="{FF2B5EF4-FFF2-40B4-BE49-F238E27FC236}">
                      <a16:creationId xmlns:a16="http://schemas.microsoft.com/office/drawing/2014/main" id="{364BE2CE-1797-48DE-5E02-C7A4CC766CDA}"/>
                    </a:ext>
                  </a:extLst>
                </p:cNvPr>
                <p:cNvSpPr txBox="1"/>
                <p:nvPr/>
              </p:nvSpPr>
              <p:spPr>
                <a:xfrm>
                  <a:off x="1611805" y="4413896"/>
                  <a:ext cx="585216" cy="420335"/>
                </a:xfrm>
                <a:prstGeom prst="rect">
                  <a:avLst/>
                </a:prstGeom>
                <a:solidFill>
                  <a:schemeClr val="accent6">
                    <a:lumMod val="20000"/>
                    <a:lumOff val="80000"/>
                  </a:schemeClr>
                </a:solidFill>
                <a:ln>
                  <a:noFill/>
                </a:ln>
              </p:spPr>
              <p:txBody>
                <a:bodyPr wrap="square" lIns="91440" tIns="45720" rIns="91440" bIns="45720" anchor="ctr">
                  <a:spAutoFit/>
                </a:bodyPr>
                <a:lstStyle/>
                <a:p>
                  <a:pPr algn="ctr"/>
                  <a:r>
                    <a:rPr lang="en-US" altLang="zh-TW" sz="2400" b="1">
                      <a:solidFill>
                        <a:srgbClr val="E36C09"/>
                      </a:solidFill>
                      <a:latin typeface="Calibri"/>
                      <a:ea typeface="Calibri"/>
                      <a:cs typeface="Calibri"/>
                    </a:rPr>
                    <a:t>U</a:t>
                  </a:r>
                  <a:endParaRPr lang="en-US" altLang="zh-TW" sz="2400" b="1" i="0">
                    <a:solidFill>
                      <a:srgbClr val="E36C09"/>
                    </a:solidFill>
                    <a:latin typeface="Calibri"/>
                    <a:ea typeface="Calibri"/>
                    <a:cs typeface="Calibri"/>
                  </a:endParaRPr>
                </a:p>
              </p:txBody>
            </p:sp>
          </p:grpSp>
          <p:sp>
            <p:nvSpPr>
              <p:cNvPr id="28" name="文字方塊 27">
                <a:extLst>
                  <a:ext uri="{FF2B5EF4-FFF2-40B4-BE49-F238E27FC236}">
                    <a16:creationId xmlns:a16="http://schemas.microsoft.com/office/drawing/2014/main" id="{133EB942-C1F4-A554-072D-DE7CD3C1E706}"/>
                  </a:ext>
                </a:extLst>
              </p:cNvPr>
              <p:cNvSpPr txBox="1"/>
              <p:nvPr/>
            </p:nvSpPr>
            <p:spPr>
              <a:xfrm>
                <a:off x="5014256" y="3896321"/>
                <a:ext cx="1639173" cy="307777"/>
              </a:xfrm>
              <a:prstGeom prst="rect">
                <a:avLst/>
              </a:prstGeom>
              <a:noFill/>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lang="zh-TW" sz="1400" dirty="0">
                    <a:solidFill>
                      <a:srgbClr val="E36C09"/>
                    </a:solidFill>
                    <a:latin typeface="Calibri"/>
                    <a:ea typeface="新細明體"/>
                    <a:cs typeface="Calibri"/>
                  </a:rPr>
                  <a:t>δ</a:t>
                </a:r>
                <a:r>
                  <a:rPr lang="zh-TW" sz="1400" baseline="-25000" dirty="0">
                    <a:solidFill>
                      <a:srgbClr val="E36C09"/>
                    </a:solidFill>
                    <a:latin typeface="Calibri"/>
                    <a:ea typeface="新細明體"/>
                    <a:cs typeface="Calibri"/>
                  </a:rPr>
                  <a:t>2</a:t>
                </a:r>
                <a:r>
                  <a:rPr lang="zh-TW" sz="1400" dirty="0">
                    <a:solidFill>
                      <a:srgbClr val="E36C09"/>
                    </a:solidFill>
                    <a:latin typeface="Calibri"/>
                    <a:ea typeface="新細明體"/>
                    <a:cs typeface="Calibri"/>
                  </a:rPr>
                  <a:t>(</a:t>
                </a:r>
                <a:r>
                  <a:rPr lang="en-US" altLang="zh-TW" sz="1400" dirty="0">
                    <a:solidFill>
                      <a:srgbClr val="E36C09"/>
                    </a:solidFill>
                    <a:latin typeface="Calibri"/>
                    <a:ea typeface="Calibri"/>
                    <a:cs typeface="Calibri"/>
                  </a:rPr>
                  <a:t>U</a:t>
                </a:r>
                <a:r>
                  <a:rPr lang="zh-TW" sz="1400" dirty="0">
                    <a:solidFill>
                      <a:srgbClr val="E36C09"/>
                    </a:solidFill>
                    <a:latin typeface="Calibri"/>
                    <a:ea typeface="新細明體"/>
                    <a:cs typeface="Calibri"/>
                  </a:rPr>
                  <a:t>) = </a:t>
                </a:r>
                <a:r>
                  <a:rPr lang="zh-TW" altLang="en-US" sz="1400">
                    <a:solidFill>
                      <a:srgbClr val="E36C09"/>
                    </a:solidFill>
                    <a:latin typeface="Calibri"/>
                    <a:ea typeface="新細明體"/>
                    <a:cs typeface="Calibri"/>
                  </a:rPr>
                  <a:t>0.03</a:t>
                </a:r>
                <a:endParaRPr lang="zh-TW" altLang="en-US" sz="1400" baseline="30000">
                  <a:solidFill>
                    <a:srgbClr val="E36C09"/>
                  </a:solidFill>
                  <a:latin typeface="Calibri"/>
                  <a:ea typeface="新細明體"/>
                  <a:cs typeface="Calibri"/>
                </a:endParaRPr>
              </a:p>
            </p:txBody>
          </p:sp>
          <p:sp>
            <p:nvSpPr>
              <p:cNvPr id="19" name="文字方塊 18">
                <a:extLst>
                  <a:ext uri="{FF2B5EF4-FFF2-40B4-BE49-F238E27FC236}">
                    <a16:creationId xmlns:a16="http://schemas.microsoft.com/office/drawing/2014/main" id="{C5A63FB7-0312-257B-5DBF-5A3F1999B77E}"/>
                  </a:ext>
                </a:extLst>
              </p:cNvPr>
              <p:cNvSpPr txBox="1"/>
              <p:nvPr/>
            </p:nvSpPr>
            <p:spPr>
              <a:xfrm>
                <a:off x="5552678" y="3536762"/>
                <a:ext cx="563105"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tLang="zh-TW" sz="1200">
                    <a:ea typeface="+mn-lt"/>
                    <a:cs typeface="+mn-lt"/>
                  </a:rPr>
                  <a:t>Ψ</a:t>
                </a:r>
                <a:r>
                  <a:rPr lang="zh-TW" sz="1200">
                    <a:ea typeface="+mn-lt"/>
                    <a:cs typeface="+mn-lt"/>
                  </a:rPr>
                  <a:t> </a:t>
                </a:r>
                <a:r>
                  <a:rPr lang="en-US" altLang="zh-TW" sz="1200">
                    <a:ea typeface="+mn-lt"/>
                    <a:cs typeface="+mn-lt"/>
                  </a:rPr>
                  <a:t>=</a:t>
                </a:r>
                <a:r>
                  <a:rPr lang="zh-TW" altLang="en-US" sz="1200">
                    <a:ea typeface="+mn-lt"/>
                    <a:cs typeface="+mn-lt"/>
                  </a:rPr>
                  <a:t> U</a:t>
                </a:r>
                <a:endParaRPr lang="zh-TW" sz="1200">
                  <a:ea typeface="新細明體"/>
                  <a:cs typeface="Calibri"/>
                </a:endParaRPr>
              </a:p>
            </p:txBody>
          </p:sp>
        </p:grpSp>
        <p:sp>
          <p:nvSpPr>
            <p:cNvPr id="43" name="文字方塊 42">
              <a:extLst>
                <a:ext uri="{FF2B5EF4-FFF2-40B4-BE49-F238E27FC236}">
                  <a16:creationId xmlns:a16="http://schemas.microsoft.com/office/drawing/2014/main" id="{27FCE23C-7675-C7D2-58B5-6F0C71CB7FCF}"/>
                </a:ext>
              </a:extLst>
            </p:cNvPr>
            <p:cNvSpPr txBox="1"/>
            <p:nvPr/>
          </p:nvSpPr>
          <p:spPr>
            <a:xfrm>
              <a:off x="5126147" y="2710592"/>
              <a:ext cx="1415171"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altLang="zh-TW" sz="1200" dirty="0">
                  <a:solidFill>
                    <a:srgbClr val="E36C09"/>
                  </a:solidFill>
                  <a:ea typeface="+mn-lt"/>
                  <a:cs typeface="+mn-lt"/>
                </a:rPr>
                <a:t>B</a:t>
              </a:r>
              <a:r>
                <a:rPr lang="en-US" altLang="zh-TW" sz="1200" baseline="-25000" dirty="0">
                  <a:solidFill>
                    <a:srgbClr val="E36C09"/>
                  </a:solidFill>
                  <a:ea typeface="+mn-lt"/>
                  <a:cs typeface="+mn-lt"/>
                </a:rPr>
                <a:t>U</a:t>
              </a:r>
              <a:r>
                <a:rPr lang="en-US" altLang="zh-TW" sz="1200" dirty="0">
                  <a:solidFill>
                    <a:srgbClr val="E36C09"/>
                  </a:solidFill>
                  <a:ea typeface="+mn-lt"/>
                  <a:cs typeface="+mn-lt"/>
                </a:rPr>
                <a:t>(x</a:t>
              </a:r>
              <a:r>
                <a:rPr lang="en-US" altLang="zh-TW" sz="1200" baseline="-25000" dirty="0">
                  <a:solidFill>
                    <a:srgbClr val="E36C09"/>
                  </a:solidFill>
                  <a:ea typeface="+mn-lt"/>
                  <a:cs typeface="+mn-lt"/>
                </a:rPr>
                <a:t>2</a:t>
              </a:r>
              <a:r>
                <a:rPr lang="en-US" altLang="zh-TW" sz="1200">
                  <a:solidFill>
                    <a:srgbClr val="E36C09"/>
                  </a:solidFill>
                  <a:ea typeface="+mn-lt"/>
                  <a:cs typeface="+mn-lt"/>
                </a:rPr>
                <a:t>) = 0.3</a:t>
              </a:r>
              <a:endParaRPr lang="zh-TW">
                <a:solidFill>
                  <a:srgbClr val="E36C09"/>
                </a:solidFill>
                <a:cs typeface="Calibri"/>
              </a:endParaRPr>
            </a:p>
          </p:txBody>
        </p:sp>
      </p:grpSp>
      <p:grpSp>
        <p:nvGrpSpPr>
          <p:cNvPr id="56" name="群組 55">
            <a:extLst>
              <a:ext uri="{FF2B5EF4-FFF2-40B4-BE49-F238E27FC236}">
                <a16:creationId xmlns:a16="http://schemas.microsoft.com/office/drawing/2014/main" id="{BD7D4422-66F4-2AC5-E44C-019EACC65692}"/>
              </a:ext>
            </a:extLst>
          </p:cNvPr>
          <p:cNvGrpSpPr/>
          <p:nvPr/>
        </p:nvGrpSpPr>
        <p:grpSpPr>
          <a:xfrm>
            <a:off x="5024166" y="4528893"/>
            <a:ext cx="1619123" cy="1413614"/>
            <a:chOff x="5024166" y="4528893"/>
            <a:chExt cx="1619123" cy="1413614"/>
          </a:xfrm>
        </p:grpSpPr>
        <p:grpSp>
          <p:nvGrpSpPr>
            <p:cNvPr id="10" name="群組 9">
              <a:extLst>
                <a:ext uri="{FF2B5EF4-FFF2-40B4-BE49-F238E27FC236}">
                  <a16:creationId xmlns:a16="http://schemas.microsoft.com/office/drawing/2014/main" id="{86434E42-D004-6AC9-3955-6527D2A4109D}"/>
                </a:ext>
              </a:extLst>
            </p:cNvPr>
            <p:cNvGrpSpPr/>
            <p:nvPr/>
          </p:nvGrpSpPr>
          <p:grpSpPr>
            <a:xfrm>
              <a:off x="5024166" y="4798056"/>
              <a:ext cx="1619123" cy="1144451"/>
              <a:chOff x="5024166" y="4798056"/>
              <a:chExt cx="1619123" cy="1144451"/>
            </a:xfrm>
          </p:grpSpPr>
          <p:grpSp>
            <p:nvGrpSpPr>
              <p:cNvPr id="94" name="群組 93">
                <a:extLst>
                  <a:ext uri="{FF2B5EF4-FFF2-40B4-BE49-F238E27FC236}">
                    <a16:creationId xmlns:a16="http://schemas.microsoft.com/office/drawing/2014/main" id="{5B22CE4B-9514-150D-1FFD-A5BBDC5C1B40}"/>
                  </a:ext>
                </a:extLst>
              </p:cNvPr>
              <p:cNvGrpSpPr/>
              <p:nvPr/>
            </p:nvGrpSpPr>
            <p:grpSpPr>
              <a:xfrm>
                <a:off x="5423853" y="4798056"/>
                <a:ext cx="819720" cy="819736"/>
                <a:chOff x="1501025" y="4207455"/>
                <a:chExt cx="806771" cy="833214"/>
              </a:xfrm>
            </p:grpSpPr>
            <p:sp>
              <p:nvSpPr>
                <p:cNvPr id="95" name="Oval 6">
                  <a:extLst>
                    <a:ext uri="{FF2B5EF4-FFF2-40B4-BE49-F238E27FC236}">
                      <a16:creationId xmlns:a16="http://schemas.microsoft.com/office/drawing/2014/main" id="{A8947017-673C-E95D-AF9B-EAC0E1E8CB93}"/>
                    </a:ext>
                  </a:extLst>
                </p:cNvPr>
                <p:cNvSpPr/>
                <p:nvPr/>
              </p:nvSpPr>
              <p:spPr>
                <a:xfrm>
                  <a:off x="1501025" y="4207455"/>
                  <a:ext cx="806771" cy="833214"/>
                </a:xfrm>
                <a:prstGeom prst="ellipse">
                  <a:avLst/>
                </a:prstGeom>
                <a:solidFill>
                  <a:schemeClr val="accent3">
                    <a:lumMod val="40000"/>
                    <a:lumOff val="60000"/>
                  </a:schemeClr>
                </a:solidFill>
                <a:ln w="28575">
                  <a:solidFill>
                    <a:schemeClr val="accent3">
                      <a:lumMod val="7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rgbClr val="4F6128"/>
                    </a:solidFill>
                  </a:endParaRPr>
                </a:p>
              </p:txBody>
            </p:sp>
            <p:sp>
              <p:nvSpPr>
                <p:cNvPr id="96" name="TextBox 7">
                  <a:extLst>
                    <a:ext uri="{FF2B5EF4-FFF2-40B4-BE49-F238E27FC236}">
                      <a16:creationId xmlns:a16="http://schemas.microsoft.com/office/drawing/2014/main" id="{F7B0AA94-C1C4-CF1D-BCB3-44028CCB5257}"/>
                    </a:ext>
                  </a:extLst>
                </p:cNvPr>
                <p:cNvSpPr txBox="1"/>
                <p:nvPr/>
              </p:nvSpPr>
              <p:spPr>
                <a:xfrm>
                  <a:off x="1611805" y="4413896"/>
                  <a:ext cx="585216" cy="420335"/>
                </a:xfrm>
                <a:prstGeom prst="rect">
                  <a:avLst/>
                </a:prstGeom>
                <a:solidFill>
                  <a:schemeClr val="accent3">
                    <a:lumMod val="40000"/>
                    <a:lumOff val="60000"/>
                  </a:schemeClr>
                </a:solidFill>
                <a:ln>
                  <a:noFill/>
                </a:ln>
              </p:spPr>
              <p:txBody>
                <a:bodyPr wrap="square" lIns="91440" tIns="45720" rIns="91440" bIns="45720" anchor="ctr">
                  <a:spAutoFit/>
                </a:bodyPr>
                <a:lstStyle/>
                <a:p>
                  <a:pPr algn="ctr"/>
                  <a:r>
                    <a:rPr lang="en-US" altLang="zh-TW" sz="2400" b="1">
                      <a:solidFill>
                        <a:srgbClr val="4F6128"/>
                      </a:solidFill>
                      <a:latin typeface="Calibri"/>
                      <a:ea typeface="Calibri"/>
                      <a:cs typeface="Calibri"/>
                    </a:rPr>
                    <a:t>M</a:t>
                  </a:r>
                  <a:endParaRPr lang="en-US" altLang="zh-TW" sz="2400" b="1" i="0" baseline="-25000">
                    <a:solidFill>
                      <a:srgbClr val="4F6128"/>
                    </a:solidFill>
                    <a:latin typeface="Calibri"/>
                    <a:ea typeface="Calibri"/>
                    <a:cs typeface="Calibri"/>
                  </a:endParaRPr>
                </a:p>
              </p:txBody>
            </p:sp>
          </p:grpSp>
          <p:sp>
            <p:nvSpPr>
              <p:cNvPr id="33" name="文字方塊 32">
                <a:extLst>
                  <a:ext uri="{FF2B5EF4-FFF2-40B4-BE49-F238E27FC236}">
                    <a16:creationId xmlns:a16="http://schemas.microsoft.com/office/drawing/2014/main" id="{306B19F0-0E83-865A-7BD6-091D13C41C83}"/>
                  </a:ext>
                </a:extLst>
              </p:cNvPr>
              <p:cNvSpPr txBox="1"/>
              <p:nvPr/>
            </p:nvSpPr>
            <p:spPr>
              <a:xfrm>
                <a:off x="5024166" y="5634730"/>
                <a:ext cx="1619123" cy="307777"/>
              </a:xfrm>
              <a:prstGeom prst="rect">
                <a:avLst/>
              </a:prstGeom>
              <a:noFill/>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lang="en-US" sz="1400">
                    <a:solidFill>
                      <a:srgbClr val="76923C"/>
                    </a:solidFill>
                    <a:latin typeface="Calibri"/>
                    <a:ea typeface="Calibri"/>
                    <a:cs typeface="Calibri"/>
                  </a:rPr>
                  <a:t>δ</a:t>
                </a:r>
                <a:r>
                  <a:rPr lang="en-US" sz="1400" baseline="-25000">
                    <a:solidFill>
                      <a:srgbClr val="76923C"/>
                    </a:solidFill>
                    <a:latin typeface="Calibri"/>
                    <a:ea typeface="Calibri"/>
                    <a:cs typeface="Calibri"/>
                  </a:rPr>
                  <a:t>2</a:t>
                </a:r>
                <a:r>
                  <a:rPr lang="en-US" sz="1400">
                    <a:solidFill>
                      <a:srgbClr val="76923C"/>
                    </a:solidFill>
                    <a:latin typeface="Calibri"/>
                    <a:ea typeface="Calibri"/>
                    <a:cs typeface="Calibri"/>
                  </a:rPr>
                  <a:t>(M) =0.0017</a:t>
                </a:r>
                <a:endParaRPr lang="en-US" altLang="zh-TW" sz="1400" baseline="30000">
                  <a:solidFill>
                    <a:schemeClr val="accent3">
                      <a:lumMod val="76000"/>
                    </a:schemeClr>
                  </a:solidFill>
                  <a:latin typeface="Calibri"/>
                  <a:ea typeface="Calibri"/>
                  <a:cs typeface="Calibri"/>
                </a:endParaRPr>
              </a:p>
            </p:txBody>
          </p:sp>
          <p:sp>
            <p:nvSpPr>
              <p:cNvPr id="6" name="文字方塊 5">
                <a:extLst>
                  <a:ext uri="{FF2B5EF4-FFF2-40B4-BE49-F238E27FC236}">
                    <a16:creationId xmlns:a16="http://schemas.microsoft.com/office/drawing/2014/main" id="{DE326C23-1F6B-2E15-7F03-F52CCA89A483}"/>
                  </a:ext>
                </a:extLst>
              </p:cNvPr>
              <p:cNvSpPr txBox="1"/>
              <p:nvPr/>
            </p:nvSpPr>
            <p:spPr>
              <a:xfrm>
                <a:off x="5579549" y="5339638"/>
                <a:ext cx="563105"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tLang="zh-TW" sz="1200">
                    <a:ea typeface="+mn-lt"/>
                    <a:cs typeface="+mn-lt"/>
                  </a:rPr>
                  <a:t>Ψ</a:t>
                </a:r>
                <a:r>
                  <a:rPr lang="zh-TW" sz="1200">
                    <a:ea typeface="+mn-lt"/>
                    <a:cs typeface="+mn-lt"/>
                  </a:rPr>
                  <a:t> </a:t>
                </a:r>
                <a:r>
                  <a:rPr lang="en-US" altLang="zh-TW" sz="1200">
                    <a:ea typeface="+mn-lt"/>
                    <a:cs typeface="+mn-lt"/>
                  </a:rPr>
                  <a:t>=</a:t>
                </a:r>
                <a:r>
                  <a:rPr lang="zh-TW" altLang="en-US" sz="1200">
                    <a:ea typeface="+mn-lt"/>
                    <a:cs typeface="+mn-lt"/>
                  </a:rPr>
                  <a:t> U</a:t>
                </a:r>
                <a:endParaRPr lang="zh-TW" sz="1200">
                  <a:ea typeface="新細明體"/>
                  <a:cs typeface="Calibri"/>
                </a:endParaRPr>
              </a:p>
            </p:txBody>
          </p:sp>
        </p:grpSp>
        <p:sp>
          <p:nvSpPr>
            <p:cNvPr id="44" name="文字方塊 43">
              <a:extLst>
                <a:ext uri="{FF2B5EF4-FFF2-40B4-BE49-F238E27FC236}">
                  <a16:creationId xmlns:a16="http://schemas.microsoft.com/office/drawing/2014/main" id="{092D8BE3-FF09-BE10-13D5-448B3D3C1BC4}"/>
                </a:ext>
              </a:extLst>
            </p:cNvPr>
            <p:cNvSpPr txBox="1"/>
            <p:nvPr/>
          </p:nvSpPr>
          <p:spPr>
            <a:xfrm>
              <a:off x="5126175" y="4528893"/>
              <a:ext cx="1415171"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altLang="zh-TW" sz="1200" dirty="0">
                  <a:solidFill>
                    <a:srgbClr val="76923C"/>
                  </a:solidFill>
                  <a:ea typeface="+mn-lt"/>
                  <a:cs typeface="+mn-lt"/>
                </a:rPr>
                <a:t>B</a:t>
              </a:r>
              <a:r>
                <a:rPr lang="en-US" altLang="zh-TW" sz="1200" baseline="-25000" dirty="0">
                  <a:solidFill>
                    <a:srgbClr val="76923C"/>
                  </a:solidFill>
                  <a:ea typeface="+mn-lt"/>
                  <a:cs typeface="+mn-lt"/>
                </a:rPr>
                <a:t>M</a:t>
              </a:r>
              <a:r>
                <a:rPr lang="en-US" altLang="zh-TW" sz="1200" dirty="0">
                  <a:solidFill>
                    <a:srgbClr val="76923C"/>
                  </a:solidFill>
                  <a:ea typeface="+mn-lt"/>
                  <a:cs typeface="+mn-lt"/>
                </a:rPr>
                <a:t>(x</a:t>
              </a:r>
              <a:r>
                <a:rPr lang="en-US" altLang="zh-TW" sz="1200" baseline="-25000" dirty="0">
                  <a:solidFill>
                    <a:srgbClr val="76923C"/>
                  </a:solidFill>
                  <a:ea typeface="+mn-lt"/>
                  <a:cs typeface="+mn-lt"/>
                </a:rPr>
                <a:t>2</a:t>
              </a:r>
              <a:r>
                <a:rPr lang="en-US" altLang="zh-TW" sz="1200">
                  <a:solidFill>
                    <a:srgbClr val="76923C"/>
                  </a:solidFill>
                  <a:ea typeface="+mn-lt"/>
                  <a:cs typeface="+mn-lt"/>
                </a:rPr>
                <a:t>) = 0.05</a:t>
              </a:r>
              <a:endParaRPr lang="zh-TW">
                <a:solidFill>
                  <a:srgbClr val="76923C"/>
                </a:solidFill>
                <a:cs typeface="Calibri"/>
              </a:endParaRPr>
            </a:p>
          </p:txBody>
        </p:sp>
      </p:grpSp>
      <p:grpSp>
        <p:nvGrpSpPr>
          <p:cNvPr id="59" name="群組 58">
            <a:extLst>
              <a:ext uri="{FF2B5EF4-FFF2-40B4-BE49-F238E27FC236}">
                <a16:creationId xmlns:a16="http://schemas.microsoft.com/office/drawing/2014/main" id="{106EC68D-DB72-CD88-E774-F32B07F41AD1}"/>
              </a:ext>
            </a:extLst>
          </p:cNvPr>
          <p:cNvGrpSpPr/>
          <p:nvPr/>
        </p:nvGrpSpPr>
        <p:grpSpPr>
          <a:xfrm>
            <a:off x="7772095" y="4485941"/>
            <a:ext cx="1752773" cy="1453953"/>
            <a:chOff x="7772095" y="4485941"/>
            <a:chExt cx="1752773" cy="1453953"/>
          </a:xfrm>
        </p:grpSpPr>
        <p:grpSp>
          <p:nvGrpSpPr>
            <p:cNvPr id="14" name="群組 13">
              <a:extLst>
                <a:ext uri="{FF2B5EF4-FFF2-40B4-BE49-F238E27FC236}">
                  <a16:creationId xmlns:a16="http://schemas.microsoft.com/office/drawing/2014/main" id="{AF65CFC6-1277-E661-CA40-AA1C22AA2520}"/>
                </a:ext>
              </a:extLst>
            </p:cNvPr>
            <p:cNvGrpSpPr/>
            <p:nvPr/>
          </p:nvGrpSpPr>
          <p:grpSpPr>
            <a:xfrm>
              <a:off x="7772095" y="4755104"/>
              <a:ext cx="1752773" cy="1184790"/>
              <a:chOff x="7772095" y="4755104"/>
              <a:chExt cx="1752773" cy="1184790"/>
            </a:xfrm>
          </p:grpSpPr>
          <p:grpSp>
            <p:nvGrpSpPr>
              <p:cNvPr id="100" name="群組 99">
                <a:extLst>
                  <a:ext uri="{FF2B5EF4-FFF2-40B4-BE49-F238E27FC236}">
                    <a16:creationId xmlns:a16="http://schemas.microsoft.com/office/drawing/2014/main" id="{2FEA798D-9720-89AF-0766-9C2F3B143E10}"/>
                  </a:ext>
                </a:extLst>
              </p:cNvPr>
              <p:cNvGrpSpPr/>
              <p:nvPr/>
            </p:nvGrpSpPr>
            <p:grpSpPr>
              <a:xfrm>
                <a:off x="8241150" y="4755104"/>
                <a:ext cx="819720" cy="826343"/>
                <a:chOff x="1501025" y="4207455"/>
                <a:chExt cx="806771" cy="833214"/>
              </a:xfrm>
            </p:grpSpPr>
            <p:sp>
              <p:nvSpPr>
                <p:cNvPr id="101" name="Oval 6">
                  <a:extLst>
                    <a:ext uri="{FF2B5EF4-FFF2-40B4-BE49-F238E27FC236}">
                      <a16:creationId xmlns:a16="http://schemas.microsoft.com/office/drawing/2014/main" id="{B29CF522-FF3F-FEBE-3584-45DF2A920D97}"/>
                    </a:ext>
                  </a:extLst>
                </p:cNvPr>
                <p:cNvSpPr/>
                <p:nvPr/>
              </p:nvSpPr>
              <p:spPr>
                <a:xfrm>
                  <a:off x="1501025" y="4207455"/>
                  <a:ext cx="806771" cy="833214"/>
                </a:xfrm>
                <a:prstGeom prst="ellipse">
                  <a:avLst/>
                </a:prstGeom>
                <a:solidFill>
                  <a:schemeClr val="accent3">
                    <a:lumMod val="40000"/>
                    <a:lumOff val="60000"/>
                  </a:schemeClr>
                </a:solidFill>
                <a:ln w="28575">
                  <a:solidFill>
                    <a:schemeClr val="accent3">
                      <a:lumMod val="7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rgbClr val="4F6128"/>
                    </a:solidFill>
                  </a:endParaRPr>
                </a:p>
              </p:txBody>
            </p:sp>
            <p:sp>
              <p:nvSpPr>
                <p:cNvPr id="102" name="TextBox 7">
                  <a:extLst>
                    <a:ext uri="{FF2B5EF4-FFF2-40B4-BE49-F238E27FC236}">
                      <a16:creationId xmlns:a16="http://schemas.microsoft.com/office/drawing/2014/main" id="{125D6F78-BC21-715B-6CBE-62D7545D218D}"/>
                    </a:ext>
                  </a:extLst>
                </p:cNvPr>
                <p:cNvSpPr txBox="1"/>
                <p:nvPr/>
              </p:nvSpPr>
              <p:spPr>
                <a:xfrm>
                  <a:off x="1611805" y="4413896"/>
                  <a:ext cx="585216" cy="420335"/>
                </a:xfrm>
                <a:prstGeom prst="rect">
                  <a:avLst/>
                </a:prstGeom>
                <a:solidFill>
                  <a:schemeClr val="accent3">
                    <a:lumMod val="40000"/>
                    <a:lumOff val="60000"/>
                  </a:schemeClr>
                </a:solidFill>
                <a:ln>
                  <a:noFill/>
                </a:ln>
              </p:spPr>
              <p:txBody>
                <a:bodyPr wrap="square" lIns="91440" tIns="45720" rIns="91440" bIns="45720" anchor="ctr">
                  <a:spAutoFit/>
                </a:bodyPr>
                <a:lstStyle/>
                <a:p>
                  <a:pPr algn="ctr"/>
                  <a:r>
                    <a:rPr lang="en-US" altLang="zh-TW" sz="2400" b="1">
                      <a:solidFill>
                        <a:srgbClr val="4F6128"/>
                      </a:solidFill>
                      <a:latin typeface="Calibri"/>
                      <a:ea typeface="Calibri"/>
                      <a:cs typeface="Calibri"/>
                    </a:rPr>
                    <a:t>M</a:t>
                  </a:r>
                  <a:endParaRPr lang="en-US" altLang="zh-TW" sz="2400" b="1" i="0" baseline="-25000">
                    <a:solidFill>
                      <a:srgbClr val="4F6128"/>
                    </a:solidFill>
                    <a:latin typeface="Calibri"/>
                    <a:ea typeface="Calibri"/>
                    <a:cs typeface="Calibri"/>
                  </a:endParaRPr>
                </a:p>
              </p:txBody>
            </p:sp>
          </p:grpSp>
          <p:sp>
            <p:nvSpPr>
              <p:cNvPr id="34" name="文字方塊 33">
                <a:extLst>
                  <a:ext uri="{FF2B5EF4-FFF2-40B4-BE49-F238E27FC236}">
                    <a16:creationId xmlns:a16="http://schemas.microsoft.com/office/drawing/2014/main" id="{20CA3440-AC57-C10D-B3D4-4286FD135384}"/>
                  </a:ext>
                </a:extLst>
              </p:cNvPr>
              <p:cNvSpPr txBox="1"/>
              <p:nvPr/>
            </p:nvSpPr>
            <p:spPr>
              <a:xfrm>
                <a:off x="7772095" y="5632117"/>
                <a:ext cx="1752773" cy="307777"/>
              </a:xfrm>
              <a:prstGeom prst="rect">
                <a:avLst/>
              </a:prstGeom>
              <a:noFill/>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lang="en-US" sz="1400" dirty="0">
                    <a:solidFill>
                      <a:srgbClr val="76923C"/>
                    </a:solidFill>
                    <a:latin typeface="Calibri"/>
                    <a:ea typeface="Calibri"/>
                    <a:cs typeface="Calibri"/>
                  </a:rPr>
                  <a:t>δ</a:t>
                </a:r>
                <a:r>
                  <a:rPr lang="en-US" sz="1400" baseline="-25000" dirty="0">
                    <a:solidFill>
                      <a:srgbClr val="76923C"/>
                    </a:solidFill>
                    <a:latin typeface="Calibri"/>
                    <a:ea typeface="Calibri"/>
                    <a:cs typeface="Calibri"/>
                  </a:rPr>
                  <a:t>3</a:t>
                </a:r>
                <a:r>
                  <a:rPr lang="en-US" sz="1400">
                    <a:solidFill>
                      <a:srgbClr val="76923C"/>
                    </a:solidFill>
                    <a:latin typeface="Calibri"/>
                    <a:ea typeface="Calibri"/>
                    <a:cs typeface="Calibri"/>
                  </a:rPr>
                  <a:t>(M) = 0.003</a:t>
                </a:r>
                <a:endParaRPr lang="en-US" altLang="zh-TW" sz="1400" baseline="30000">
                  <a:solidFill>
                    <a:srgbClr val="76923C"/>
                  </a:solidFill>
                  <a:latin typeface="Calibri"/>
                  <a:ea typeface="Calibri"/>
                  <a:cs typeface="Calibri"/>
                </a:endParaRPr>
              </a:p>
            </p:txBody>
          </p:sp>
          <p:sp>
            <p:nvSpPr>
              <p:cNvPr id="21" name="文字方塊 20">
                <a:extLst>
                  <a:ext uri="{FF2B5EF4-FFF2-40B4-BE49-F238E27FC236}">
                    <a16:creationId xmlns:a16="http://schemas.microsoft.com/office/drawing/2014/main" id="{291D02D6-FC11-6300-BC50-6FF172131800}"/>
                  </a:ext>
                </a:extLst>
              </p:cNvPr>
              <p:cNvSpPr txBox="1"/>
              <p:nvPr/>
            </p:nvSpPr>
            <p:spPr>
              <a:xfrm>
                <a:off x="8369975" y="5295783"/>
                <a:ext cx="563105"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tLang="zh-TW" sz="1200">
                    <a:ea typeface="+mn-lt"/>
                    <a:cs typeface="+mn-lt"/>
                  </a:rPr>
                  <a:t>Ψ</a:t>
                </a:r>
                <a:r>
                  <a:rPr lang="zh-TW" sz="1200">
                    <a:ea typeface="+mn-lt"/>
                    <a:cs typeface="+mn-lt"/>
                  </a:rPr>
                  <a:t> </a:t>
                </a:r>
                <a:r>
                  <a:rPr lang="en-US" altLang="zh-TW" sz="1200">
                    <a:ea typeface="+mn-lt"/>
                    <a:cs typeface="+mn-lt"/>
                  </a:rPr>
                  <a:t>=</a:t>
                </a:r>
                <a:r>
                  <a:rPr lang="zh-TW" altLang="en-US" sz="1200">
                    <a:ea typeface="+mn-lt"/>
                    <a:cs typeface="+mn-lt"/>
                  </a:rPr>
                  <a:t> U</a:t>
                </a:r>
                <a:endParaRPr lang="zh-TW" sz="1200">
                  <a:ea typeface="新細明體"/>
                  <a:cs typeface="Calibri"/>
                </a:endParaRPr>
              </a:p>
            </p:txBody>
          </p:sp>
        </p:grpSp>
        <p:sp>
          <p:nvSpPr>
            <p:cNvPr id="45" name="文字方塊 44">
              <a:extLst>
                <a:ext uri="{FF2B5EF4-FFF2-40B4-BE49-F238E27FC236}">
                  <a16:creationId xmlns:a16="http://schemas.microsoft.com/office/drawing/2014/main" id="{21B8D528-A64A-8E61-33C7-AF3CC8A04DE9}"/>
                </a:ext>
              </a:extLst>
            </p:cNvPr>
            <p:cNvSpPr txBox="1"/>
            <p:nvPr/>
          </p:nvSpPr>
          <p:spPr>
            <a:xfrm>
              <a:off x="7967638" y="4485941"/>
              <a:ext cx="1415171"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altLang="zh-TW" sz="1200" dirty="0">
                  <a:solidFill>
                    <a:srgbClr val="76923C"/>
                  </a:solidFill>
                  <a:ea typeface="+mn-lt"/>
                  <a:cs typeface="+mn-lt"/>
                </a:rPr>
                <a:t>B</a:t>
              </a:r>
              <a:r>
                <a:rPr lang="en-US" altLang="zh-TW" sz="1200" baseline="-25000" dirty="0">
                  <a:solidFill>
                    <a:srgbClr val="76923C"/>
                  </a:solidFill>
                  <a:ea typeface="+mn-lt"/>
                  <a:cs typeface="+mn-lt"/>
                </a:rPr>
                <a:t>M</a:t>
              </a:r>
              <a:r>
                <a:rPr lang="en-US" altLang="zh-TW" sz="1200" dirty="0">
                  <a:solidFill>
                    <a:srgbClr val="76923C"/>
                  </a:solidFill>
                  <a:ea typeface="+mn-lt"/>
                  <a:cs typeface="+mn-lt"/>
                </a:rPr>
                <a:t>(x</a:t>
              </a:r>
              <a:r>
                <a:rPr lang="en-US" altLang="zh-TW" sz="1200" baseline="-25000" dirty="0">
                  <a:solidFill>
                    <a:srgbClr val="76923C"/>
                  </a:solidFill>
                  <a:ea typeface="+mn-lt"/>
                  <a:cs typeface="+mn-lt"/>
                </a:rPr>
                <a:t>3</a:t>
              </a:r>
              <a:r>
                <a:rPr lang="en-US" altLang="zh-TW" sz="1200">
                  <a:solidFill>
                    <a:srgbClr val="76923C"/>
                  </a:solidFill>
                  <a:ea typeface="+mn-lt"/>
                  <a:cs typeface="+mn-lt"/>
                </a:rPr>
                <a:t>) = 0.4</a:t>
              </a:r>
              <a:endParaRPr lang="zh-TW">
                <a:solidFill>
                  <a:srgbClr val="76923C"/>
                </a:solidFill>
                <a:cs typeface="Calibri"/>
              </a:endParaRPr>
            </a:p>
          </p:txBody>
        </p:sp>
      </p:grpSp>
      <p:grpSp>
        <p:nvGrpSpPr>
          <p:cNvPr id="52" name="群組 51">
            <a:extLst>
              <a:ext uri="{FF2B5EF4-FFF2-40B4-BE49-F238E27FC236}">
                <a16:creationId xmlns:a16="http://schemas.microsoft.com/office/drawing/2014/main" id="{E8A176B6-9AD0-5A02-112F-D00F52F4A9EA}"/>
              </a:ext>
            </a:extLst>
          </p:cNvPr>
          <p:cNvGrpSpPr/>
          <p:nvPr/>
        </p:nvGrpSpPr>
        <p:grpSpPr>
          <a:xfrm>
            <a:off x="3516103" y="3155504"/>
            <a:ext cx="1769225" cy="2058573"/>
            <a:chOff x="3516103" y="3155504"/>
            <a:chExt cx="1769225" cy="2058573"/>
          </a:xfrm>
        </p:grpSpPr>
        <p:grpSp>
          <p:nvGrpSpPr>
            <p:cNvPr id="9" name="群組 8">
              <a:extLst>
                <a:ext uri="{FF2B5EF4-FFF2-40B4-BE49-F238E27FC236}">
                  <a16:creationId xmlns:a16="http://schemas.microsoft.com/office/drawing/2014/main" id="{6FBCB0A8-07D6-A22D-FC38-9418C81FA479}"/>
                </a:ext>
              </a:extLst>
            </p:cNvPr>
            <p:cNvGrpSpPr/>
            <p:nvPr/>
          </p:nvGrpSpPr>
          <p:grpSpPr>
            <a:xfrm>
              <a:off x="3516103" y="3393020"/>
              <a:ext cx="1769225" cy="1821057"/>
              <a:chOff x="3516103" y="3393020"/>
              <a:chExt cx="1769225" cy="1821057"/>
            </a:xfrm>
          </p:grpSpPr>
          <p:cxnSp>
            <p:nvCxnSpPr>
              <p:cNvPr id="83" name="直線單箭頭接點 82">
                <a:extLst>
                  <a:ext uri="{FF2B5EF4-FFF2-40B4-BE49-F238E27FC236}">
                    <a16:creationId xmlns:a16="http://schemas.microsoft.com/office/drawing/2014/main" id="{C05ECC7B-27C0-2BCF-8861-32E72DEDC3E9}"/>
                  </a:ext>
                </a:extLst>
              </p:cNvPr>
              <p:cNvCxnSpPr/>
              <p:nvPr/>
            </p:nvCxnSpPr>
            <p:spPr>
              <a:xfrm flipV="1">
                <a:off x="3516103" y="3393020"/>
                <a:ext cx="1769225" cy="14784"/>
              </a:xfrm>
              <a:prstGeom prst="straightConnector1">
                <a:avLst/>
              </a:prstGeom>
              <a:solidFill>
                <a:schemeClr val="bg1">
                  <a:lumMod val="85000"/>
                </a:schemeClr>
              </a:solidFill>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84" name="直線單箭頭接點 83">
                <a:extLst>
                  <a:ext uri="{FF2B5EF4-FFF2-40B4-BE49-F238E27FC236}">
                    <a16:creationId xmlns:a16="http://schemas.microsoft.com/office/drawing/2014/main" id="{18B4D8D0-EC39-819C-1FB9-61BE54798D7A}"/>
                  </a:ext>
                </a:extLst>
              </p:cNvPr>
              <p:cNvCxnSpPr>
                <a:cxnSpLocks/>
              </p:cNvCxnSpPr>
              <p:nvPr/>
            </p:nvCxnSpPr>
            <p:spPr>
              <a:xfrm>
                <a:off x="3516887" y="5207387"/>
                <a:ext cx="1751058" cy="6690"/>
              </a:xfrm>
              <a:prstGeom prst="straightConnector1">
                <a:avLst/>
              </a:prstGeom>
              <a:solidFill>
                <a:schemeClr val="bg1">
                  <a:lumMod val="85000"/>
                </a:schemeClr>
              </a:solidFill>
              <a:ln>
                <a:solidFill>
                  <a:schemeClr val="bg1">
                    <a:lumMod val="85000"/>
                  </a:schemeClr>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107" name="直線單箭頭接點 106">
                <a:extLst>
                  <a:ext uri="{FF2B5EF4-FFF2-40B4-BE49-F238E27FC236}">
                    <a16:creationId xmlns:a16="http://schemas.microsoft.com/office/drawing/2014/main" id="{4505727C-06C1-AD80-7325-1AE319E61D8C}"/>
                  </a:ext>
                </a:extLst>
              </p:cNvPr>
              <p:cNvCxnSpPr>
                <a:cxnSpLocks/>
              </p:cNvCxnSpPr>
              <p:nvPr/>
            </p:nvCxnSpPr>
            <p:spPr>
              <a:xfrm flipV="1">
                <a:off x="3534086" y="3564825"/>
                <a:ext cx="1720777" cy="1499387"/>
              </a:xfrm>
              <a:prstGeom prst="straightConnector1">
                <a:avLst/>
              </a:prstGeom>
              <a:solidFill>
                <a:schemeClr val="bg1">
                  <a:lumMod val="85000"/>
                </a:schemeClr>
              </a:solidFill>
              <a:ln>
                <a:solidFill>
                  <a:schemeClr val="bg1">
                    <a:lumMod val="85000"/>
                  </a:schemeClr>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108" name="直線單箭頭接點 107">
                <a:extLst>
                  <a:ext uri="{FF2B5EF4-FFF2-40B4-BE49-F238E27FC236}">
                    <a16:creationId xmlns:a16="http://schemas.microsoft.com/office/drawing/2014/main" id="{7E82A97A-9F4C-9A68-717B-D631F4B36CB1}"/>
                  </a:ext>
                </a:extLst>
              </p:cNvPr>
              <p:cNvCxnSpPr>
                <a:cxnSpLocks/>
              </p:cNvCxnSpPr>
              <p:nvPr/>
            </p:nvCxnSpPr>
            <p:spPr>
              <a:xfrm>
                <a:off x="3541272" y="3494271"/>
                <a:ext cx="1714171" cy="1579930"/>
              </a:xfrm>
              <a:prstGeom prst="straightConnector1">
                <a:avLst/>
              </a:prstGeom>
              <a:solidFill>
                <a:schemeClr val="bg1">
                  <a:lumMod val="85000"/>
                </a:schemeClr>
              </a:solidFill>
              <a:ln w="28575">
                <a:solidFill>
                  <a:schemeClr val="bg1">
                    <a:lumMod val="85000"/>
                  </a:schemeClr>
                </a:solidFill>
                <a:prstDash val="solid"/>
                <a:tailEnd type="triangle"/>
              </a:ln>
            </p:spPr>
            <p:style>
              <a:lnRef idx="2">
                <a:schemeClr val="accent1"/>
              </a:lnRef>
              <a:fillRef idx="0">
                <a:schemeClr val="accent1"/>
              </a:fillRef>
              <a:effectRef idx="1">
                <a:schemeClr val="accent1"/>
              </a:effectRef>
              <a:fontRef idx="minor">
                <a:schemeClr val="tx1"/>
              </a:fontRef>
            </p:style>
          </p:cxnSp>
        </p:grpSp>
        <p:sp>
          <p:nvSpPr>
            <p:cNvPr id="47" name="文字方塊 46">
              <a:extLst>
                <a:ext uri="{FF2B5EF4-FFF2-40B4-BE49-F238E27FC236}">
                  <a16:creationId xmlns:a16="http://schemas.microsoft.com/office/drawing/2014/main" id="{77EF93A0-824A-6509-7796-DC62D731AA89}"/>
                </a:ext>
              </a:extLst>
            </p:cNvPr>
            <p:cNvSpPr txBox="1"/>
            <p:nvPr/>
          </p:nvSpPr>
          <p:spPr>
            <a:xfrm>
              <a:off x="3873159" y="3155504"/>
              <a:ext cx="1136038"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zh-TW" sz="1200" dirty="0">
                  <a:ea typeface="+mn-lt"/>
                  <a:cs typeface="+mn-lt"/>
                </a:rPr>
                <a:t>0.</a:t>
              </a:r>
              <a:r>
                <a:rPr lang="en-US" altLang="zh-TW" sz="1200">
                  <a:ea typeface="+mn-lt"/>
                  <a:cs typeface="+mn-lt"/>
                </a:rPr>
                <a:t>135 x 0.75</a:t>
              </a:r>
              <a:endParaRPr lang="zh-TW" sz="1200">
                <a:ea typeface="新細明體"/>
                <a:cs typeface="Calibri"/>
              </a:endParaRPr>
            </a:p>
          </p:txBody>
        </p:sp>
        <p:sp>
          <p:nvSpPr>
            <p:cNvPr id="48" name="文字方塊 47">
              <a:extLst>
                <a:ext uri="{FF2B5EF4-FFF2-40B4-BE49-F238E27FC236}">
                  <a16:creationId xmlns:a16="http://schemas.microsoft.com/office/drawing/2014/main" id="{8A983D04-49E6-D609-6A6A-A9499D121FD3}"/>
                </a:ext>
              </a:extLst>
            </p:cNvPr>
            <p:cNvSpPr txBox="1"/>
            <p:nvPr/>
          </p:nvSpPr>
          <p:spPr>
            <a:xfrm rot="-2580000">
              <a:off x="4052874" y="3814101"/>
              <a:ext cx="1136038"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zh-TW" sz="1200" dirty="0">
                  <a:ea typeface="+mn-lt"/>
                  <a:cs typeface="+mn-lt"/>
                </a:rPr>
                <a:t>0.</a:t>
              </a:r>
              <a:r>
                <a:rPr lang="en-US" altLang="zh-TW" sz="1200">
                  <a:ea typeface="+mn-lt"/>
                  <a:cs typeface="+mn-lt"/>
                </a:rPr>
                <a:t>014 x 0.15</a:t>
              </a:r>
              <a:endParaRPr lang="zh-TW">
                <a:cs typeface="Calibri"/>
              </a:endParaRPr>
            </a:p>
          </p:txBody>
        </p:sp>
      </p:grpSp>
      <p:grpSp>
        <p:nvGrpSpPr>
          <p:cNvPr id="53" name="群組 52">
            <a:extLst>
              <a:ext uri="{FF2B5EF4-FFF2-40B4-BE49-F238E27FC236}">
                <a16:creationId xmlns:a16="http://schemas.microsoft.com/office/drawing/2014/main" id="{76189AF1-94EB-F17B-E8ED-F796ED5AD1F5}"/>
              </a:ext>
            </a:extLst>
          </p:cNvPr>
          <p:cNvGrpSpPr/>
          <p:nvPr/>
        </p:nvGrpSpPr>
        <p:grpSpPr>
          <a:xfrm>
            <a:off x="6286199" y="3369886"/>
            <a:ext cx="2026320" cy="1838571"/>
            <a:chOff x="6286199" y="3369886"/>
            <a:chExt cx="2026320" cy="1838571"/>
          </a:xfrm>
        </p:grpSpPr>
        <p:grpSp>
          <p:nvGrpSpPr>
            <p:cNvPr id="16" name="群組 15">
              <a:extLst>
                <a:ext uri="{FF2B5EF4-FFF2-40B4-BE49-F238E27FC236}">
                  <a16:creationId xmlns:a16="http://schemas.microsoft.com/office/drawing/2014/main" id="{2D855973-3DF7-BD2F-8CD3-A3FC19C8E3A4}"/>
                </a:ext>
              </a:extLst>
            </p:cNvPr>
            <p:cNvGrpSpPr/>
            <p:nvPr/>
          </p:nvGrpSpPr>
          <p:grpSpPr>
            <a:xfrm>
              <a:off x="6286199" y="3369886"/>
              <a:ext cx="1776866" cy="1836480"/>
              <a:chOff x="6286199" y="3369886"/>
              <a:chExt cx="1776866" cy="1836480"/>
            </a:xfrm>
          </p:grpSpPr>
          <p:cxnSp>
            <p:nvCxnSpPr>
              <p:cNvPr id="103" name="直線單箭頭接點 102">
                <a:extLst>
                  <a:ext uri="{FF2B5EF4-FFF2-40B4-BE49-F238E27FC236}">
                    <a16:creationId xmlns:a16="http://schemas.microsoft.com/office/drawing/2014/main" id="{4CF690D3-40AC-F42C-CB84-0353E1DD596A}"/>
                  </a:ext>
                </a:extLst>
              </p:cNvPr>
              <p:cNvCxnSpPr>
                <a:cxnSpLocks/>
              </p:cNvCxnSpPr>
              <p:nvPr/>
            </p:nvCxnSpPr>
            <p:spPr>
              <a:xfrm flipV="1">
                <a:off x="6286199" y="3369886"/>
                <a:ext cx="1762618" cy="21391"/>
              </a:xfrm>
              <a:prstGeom prst="straightConnector1">
                <a:avLst/>
              </a:prstGeom>
              <a:ln>
                <a:solidFill>
                  <a:schemeClr val="bg1">
                    <a:lumMod val="85000"/>
                  </a:schemeClr>
                </a:solidFill>
                <a:prstDash val="solid"/>
                <a:tailEnd type="triangle"/>
              </a:ln>
            </p:spPr>
            <p:style>
              <a:lnRef idx="2">
                <a:schemeClr val="accent1"/>
              </a:lnRef>
              <a:fillRef idx="0">
                <a:schemeClr val="accent1"/>
              </a:fillRef>
              <a:effectRef idx="1">
                <a:schemeClr val="accent1"/>
              </a:effectRef>
              <a:fontRef idx="minor">
                <a:schemeClr val="tx1"/>
              </a:fontRef>
            </p:style>
          </p:cxnSp>
          <p:cxnSp>
            <p:nvCxnSpPr>
              <p:cNvPr id="104" name="直線單箭頭接點 103">
                <a:extLst>
                  <a:ext uri="{FF2B5EF4-FFF2-40B4-BE49-F238E27FC236}">
                    <a16:creationId xmlns:a16="http://schemas.microsoft.com/office/drawing/2014/main" id="{93FAB027-EB94-9EFB-5B43-5E69436487B4}"/>
                  </a:ext>
                </a:extLst>
              </p:cNvPr>
              <p:cNvCxnSpPr>
                <a:cxnSpLocks/>
              </p:cNvCxnSpPr>
              <p:nvPr/>
            </p:nvCxnSpPr>
            <p:spPr>
              <a:xfrm>
                <a:off x="6294140" y="5201332"/>
                <a:ext cx="1749406" cy="5034"/>
              </a:xfrm>
              <a:prstGeom prst="straightConnector1">
                <a:avLst/>
              </a:prstGeom>
              <a:ln>
                <a:solidFill>
                  <a:schemeClr val="bg1">
                    <a:lumMod val="85000"/>
                  </a:schemeClr>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105" name="直線單箭頭接點 104">
                <a:extLst>
                  <a:ext uri="{FF2B5EF4-FFF2-40B4-BE49-F238E27FC236}">
                    <a16:creationId xmlns:a16="http://schemas.microsoft.com/office/drawing/2014/main" id="{2420DDDD-4328-1C34-8E71-8793A5B71005}"/>
                  </a:ext>
                </a:extLst>
              </p:cNvPr>
              <p:cNvCxnSpPr>
                <a:cxnSpLocks/>
              </p:cNvCxnSpPr>
              <p:nvPr/>
            </p:nvCxnSpPr>
            <p:spPr>
              <a:xfrm flipV="1">
                <a:off x="6297115" y="3570328"/>
                <a:ext cx="1732889" cy="1546740"/>
              </a:xfrm>
              <a:prstGeom prst="straightConnector1">
                <a:avLst/>
              </a:prstGeom>
              <a:ln>
                <a:solidFill>
                  <a:schemeClr val="bg1">
                    <a:lumMod val="85000"/>
                  </a:schemeClr>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106" name="直線單箭頭接點 105">
                <a:extLst>
                  <a:ext uri="{FF2B5EF4-FFF2-40B4-BE49-F238E27FC236}">
                    <a16:creationId xmlns:a16="http://schemas.microsoft.com/office/drawing/2014/main" id="{CCDFA8DE-5AC6-3A61-542B-BF798FCD9EA0}"/>
                  </a:ext>
                </a:extLst>
              </p:cNvPr>
              <p:cNvCxnSpPr>
                <a:cxnSpLocks/>
              </p:cNvCxnSpPr>
              <p:nvPr/>
            </p:nvCxnSpPr>
            <p:spPr>
              <a:xfrm>
                <a:off x="6303200" y="3490963"/>
                <a:ext cx="1759865" cy="153699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p:sp>
          <p:nvSpPr>
            <p:cNvPr id="37" name="文字方塊 36">
              <a:extLst>
                <a:ext uri="{FF2B5EF4-FFF2-40B4-BE49-F238E27FC236}">
                  <a16:creationId xmlns:a16="http://schemas.microsoft.com/office/drawing/2014/main" id="{F3B20FAD-1FF3-5A47-20B5-FAD5323B063E}"/>
                </a:ext>
              </a:extLst>
            </p:cNvPr>
            <p:cNvSpPr txBox="1"/>
            <p:nvPr/>
          </p:nvSpPr>
          <p:spPr>
            <a:xfrm rot="2460000">
              <a:off x="7119223" y="4437510"/>
              <a:ext cx="1193296"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zh-TW" sz="1200" dirty="0">
                  <a:ea typeface="+mn-lt"/>
                  <a:cs typeface="+mn-lt"/>
                </a:rPr>
                <a:t>0.0</a:t>
              </a:r>
              <a:r>
                <a:rPr lang="en-US" altLang="zh-TW" sz="1200">
                  <a:ea typeface="+mn-lt"/>
                  <a:cs typeface="+mn-lt"/>
                </a:rPr>
                <a:t>3 </a:t>
              </a:r>
              <a:r>
                <a:rPr lang="zh-TW" sz="1200">
                  <a:ea typeface="+mn-lt"/>
                  <a:cs typeface="+mn-lt"/>
                </a:rPr>
                <a:t>× 0.</a:t>
              </a:r>
              <a:r>
                <a:rPr lang="en-US" altLang="zh-TW" sz="1200">
                  <a:ea typeface="+mn-lt"/>
                  <a:cs typeface="+mn-lt"/>
                </a:rPr>
                <a:t>25</a:t>
              </a:r>
              <a:endParaRPr lang="zh-TW" sz="1200">
                <a:ea typeface="新細明體"/>
                <a:cs typeface="Calibri"/>
              </a:endParaRPr>
            </a:p>
          </p:txBody>
        </p:sp>
        <p:sp>
          <p:nvSpPr>
            <p:cNvPr id="49" name="文字方塊 48">
              <a:extLst>
                <a:ext uri="{FF2B5EF4-FFF2-40B4-BE49-F238E27FC236}">
                  <a16:creationId xmlns:a16="http://schemas.microsoft.com/office/drawing/2014/main" id="{1286F352-9FAA-88FC-8AAC-62C042576737}"/>
                </a:ext>
              </a:extLst>
            </p:cNvPr>
            <p:cNvSpPr txBox="1"/>
            <p:nvPr/>
          </p:nvSpPr>
          <p:spPr>
            <a:xfrm>
              <a:off x="6741305" y="4931458"/>
              <a:ext cx="1193296"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zh-TW" sz="1200" dirty="0">
                  <a:ea typeface="+mn-lt"/>
                  <a:cs typeface="+mn-lt"/>
                </a:rPr>
                <a:t>0.</a:t>
              </a:r>
              <a:r>
                <a:rPr lang="en-US" altLang="zh-TW" sz="1200">
                  <a:ea typeface="+mn-lt"/>
                  <a:cs typeface="+mn-lt"/>
                </a:rPr>
                <a:t>0017 </a:t>
              </a:r>
              <a:r>
                <a:rPr lang="zh-TW" sz="1200">
                  <a:ea typeface="+mn-lt"/>
                  <a:cs typeface="+mn-lt"/>
                </a:rPr>
                <a:t>× 0.</a:t>
              </a:r>
              <a:r>
                <a:rPr lang="en-US" altLang="zh-TW" sz="1200">
                  <a:ea typeface="+mn-lt"/>
                  <a:cs typeface="+mn-lt"/>
                </a:rPr>
                <a:t>85</a:t>
              </a:r>
              <a:endParaRPr lang="en-US" altLang="zh-TW" sz="1200" dirty="0">
                <a:ea typeface="Calibri"/>
                <a:cs typeface="Calibri"/>
              </a:endParaRPr>
            </a:p>
          </p:txBody>
        </p:sp>
      </p:grpSp>
    </p:spTree>
    <p:extLst>
      <p:ext uri="{BB962C8B-B14F-4D97-AF65-F5344CB8AC3E}">
        <p14:creationId xmlns:p14="http://schemas.microsoft.com/office/powerpoint/2010/main" val="35679834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0"/>
                                        </p:tgtEl>
                                        <p:attrNameLst>
                                          <p:attrName>style.visibility</p:attrName>
                                        </p:attrNameLst>
                                      </p:cBhvr>
                                      <p:to>
                                        <p:strVal val="visible"/>
                                      </p:to>
                                    </p:set>
                                    <p:animEffect transition="in" filter="fade">
                                      <p:cBhvr>
                                        <p:cTn id="7" dur="500"/>
                                        <p:tgtEl>
                                          <p:spTgt spid="50"/>
                                        </p:tgtEl>
                                      </p:cBhvr>
                                    </p:animEffect>
                                  </p:childTnLst>
                                </p:cTn>
                              </p:par>
                              <p:par>
                                <p:cTn id="8" presetID="10" presetClass="entr" presetSubtype="0" fill="hold" nodeType="withEffect">
                                  <p:stCondLst>
                                    <p:cond delay="0"/>
                                  </p:stCondLst>
                                  <p:childTnLst>
                                    <p:set>
                                      <p:cBhvr>
                                        <p:cTn id="9" dur="1" fill="hold">
                                          <p:stCondLst>
                                            <p:cond delay="0"/>
                                          </p:stCondLst>
                                        </p:cTn>
                                        <p:tgtEl>
                                          <p:spTgt spid="54"/>
                                        </p:tgtEl>
                                        <p:attrNameLst>
                                          <p:attrName>style.visibility</p:attrName>
                                        </p:attrNameLst>
                                      </p:cBhvr>
                                      <p:to>
                                        <p:strVal val="visible"/>
                                      </p:to>
                                    </p:set>
                                    <p:animEffect transition="in" filter="fade">
                                      <p:cBhvr>
                                        <p:cTn id="10" dur="500"/>
                                        <p:tgtEl>
                                          <p:spTgt spid="54"/>
                                        </p:tgtEl>
                                      </p:cBhvr>
                                    </p:animEffect>
                                  </p:childTnLst>
                                </p:cTn>
                              </p:par>
                              <p:par>
                                <p:cTn id="11" presetID="10" presetClass="entr" presetSubtype="0" fill="hold" nodeType="withEffect">
                                  <p:stCondLst>
                                    <p:cond delay="0"/>
                                  </p:stCondLst>
                                  <p:childTnLst>
                                    <p:set>
                                      <p:cBhvr>
                                        <p:cTn id="12" dur="1" fill="hold">
                                          <p:stCondLst>
                                            <p:cond delay="0"/>
                                          </p:stCondLst>
                                        </p:cTn>
                                        <p:tgtEl>
                                          <p:spTgt spid="24"/>
                                        </p:tgtEl>
                                        <p:attrNameLst>
                                          <p:attrName>style.visibility</p:attrName>
                                        </p:attrNameLst>
                                      </p:cBhvr>
                                      <p:to>
                                        <p:strVal val="visible"/>
                                      </p:to>
                                    </p:set>
                                    <p:animEffect transition="in" filter="fade">
                                      <p:cBhvr>
                                        <p:cTn id="13" dur="500"/>
                                        <p:tgtEl>
                                          <p:spTgt spid="24"/>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7"/>
                                        </p:tgtEl>
                                        <p:attrNameLst>
                                          <p:attrName>style.visibility</p:attrName>
                                        </p:attrNameLst>
                                      </p:cBhvr>
                                      <p:to>
                                        <p:strVal val="visible"/>
                                      </p:to>
                                    </p:set>
                                    <p:animEffect transition="in" filter="fade">
                                      <p:cBhvr>
                                        <p:cTn id="16" dur="500"/>
                                        <p:tgtEl>
                                          <p:spTgt spid="17"/>
                                        </p:tgtEl>
                                      </p:cBhvr>
                                    </p:animEffect>
                                  </p:childTnLst>
                                </p:cTn>
                              </p:par>
                              <p:par>
                                <p:cTn id="17" presetID="10" presetClass="entr" presetSubtype="0" fill="hold" nodeType="withEffect">
                                  <p:stCondLst>
                                    <p:cond delay="0"/>
                                  </p:stCondLst>
                                  <p:childTnLst>
                                    <p:set>
                                      <p:cBhvr>
                                        <p:cTn id="18" dur="1" fill="hold">
                                          <p:stCondLst>
                                            <p:cond delay="0"/>
                                          </p:stCondLst>
                                        </p:cTn>
                                        <p:tgtEl>
                                          <p:spTgt spid="51"/>
                                        </p:tgtEl>
                                        <p:attrNameLst>
                                          <p:attrName>style.visibility</p:attrName>
                                        </p:attrNameLst>
                                      </p:cBhvr>
                                      <p:to>
                                        <p:strVal val="visible"/>
                                      </p:to>
                                    </p:set>
                                    <p:animEffect transition="in" filter="fade">
                                      <p:cBhvr>
                                        <p:cTn id="19" dur="500"/>
                                        <p:tgtEl>
                                          <p:spTgt spid="51"/>
                                        </p:tgtEl>
                                      </p:cBhvr>
                                    </p:animEffect>
                                  </p:childTnLst>
                                </p:cTn>
                              </p:par>
                              <p:par>
                                <p:cTn id="20" presetID="10" presetClass="entr" presetSubtype="0" fill="hold" nodeType="withEffect">
                                  <p:stCondLst>
                                    <p:cond delay="0"/>
                                  </p:stCondLst>
                                  <p:childTnLst>
                                    <p:set>
                                      <p:cBhvr>
                                        <p:cTn id="21" dur="1" fill="hold">
                                          <p:stCondLst>
                                            <p:cond delay="0"/>
                                          </p:stCondLst>
                                        </p:cTn>
                                        <p:tgtEl>
                                          <p:spTgt spid="55"/>
                                        </p:tgtEl>
                                        <p:attrNameLst>
                                          <p:attrName>style.visibility</p:attrName>
                                        </p:attrNameLst>
                                      </p:cBhvr>
                                      <p:to>
                                        <p:strVal val="visible"/>
                                      </p:to>
                                    </p:set>
                                    <p:animEffect transition="in" filter="fade">
                                      <p:cBhvr>
                                        <p:cTn id="22" dur="500"/>
                                        <p:tgtEl>
                                          <p:spTgt spid="55"/>
                                        </p:tgtEl>
                                      </p:cBhvr>
                                    </p:animEffect>
                                  </p:childTnLst>
                                </p:cTn>
                              </p:par>
                              <p:par>
                                <p:cTn id="23" presetID="10" presetClass="entr" presetSubtype="0" fill="hold" nodeType="withEffect">
                                  <p:stCondLst>
                                    <p:cond delay="0"/>
                                  </p:stCondLst>
                                  <p:childTnLst>
                                    <p:set>
                                      <p:cBhvr>
                                        <p:cTn id="24" dur="1" fill="hold">
                                          <p:stCondLst>
                                            <p:cond delay="0"/>
                                          </p:stCondLst>
                                        </p:cTn>
                                        <p:tgtEl>
                                          <p:spTgt spid="35"/>
                                        </p:tgtEl>
                                        <p:attrNameLst>
                                          <p:attrName>style.visibility</p:attrName>
                                        </p:attrNameLst>
                                      </p:cBhvr>
                                      <p:to>
                                        <p:strVal val="visible"/>
                                      </p:to>
                                    </p:set>
                                    <p:animEffect transition="in" filter="fade">
                                      <p:cBhvr>
                                        <p:cTn id="25" dur="500"/>
                                        <p:tgtEl>
                                          <p:spTgt spid="35"/>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52"/>
                                        </p:tgtEl>
                                        <p:attrNameLst>
                                          <p:attrName>style.visibility</p:attrName>
                                        </p:attrNameLst>
                                      </p:cBhvr>
                                      <p:to>
                                        <p:strVal val="visible"/>
                                      </p:to>
                                    </p:set>
                                    <p:animEffect transition="in" filter="fade">
                                      <p:cBhvr>
                                        <p:cTn id="30" dur="500"/>
                                        <p:tgtEl>
                                          <p:spTgt spid="52"/>
                                        </p:tgtEl>
                                      </p:cBhvr>
                                    </p:animEffect>
                                  </p:childTnLst>
                                </p:cTn>
                              </p:par>
                              <p:par>
                                <p:cTn id="31" presetID="10" presetClass="entr" presetSubtype="0" fill="hold" nodeType="withEffect">
                                  <p:stCondLst>
                                    <p:cond delay="0"/>
                                  </p:stCondLst>
                                  <p:childTnLst>
                                    <p:set>
                                      <p:cBhvr>
                                        <p:cTn id="32" dur="1" fill="hold">
                                          <p:stCondLst>
                                            <p:cond delay="0"/>
                                          </p:stCondLst>
                                        </p:cTn>
                                        <p:tgtEl>
                                          <p:spTgt spid="57"/>
                                        </p:tgtEl>
                                        <p:attrNameLst>
                                          <p:attrName>style.visibility</p:attrName>
                                        </p:attrNameLst>
                                      </p:cBhvr>
                                      <p:to>
                                        <p:strVal val="visible"/>
                                      </p:to>
                                    </p:set>
                                    <p:animEffect transition="in" filter="fade">
                                      <p:cBhvr>
                                        <p:cTn id="33" dur="500"/>
                                        <p:tgtEl>
                                          <p:spTgt spid="57"/>
                                        </p:tgtEl>
                                      </p:cBhvr>
                                    </p:animEffect>
                                  </p:childTnLst>
                                </p:cTn>
                              </p:par>
                              <p:par>
                                <p:cTn id="34" presetID="10" presetClass="entr" presetSubtype="0" fill="hold" nodeType="withEffect">
                                  <p:stCondLst>
                                    <p:cond delay="0"/>
                                  </p:stCondLst>
                                  <p:childTnLst>
                                    <p:set>
                                      <p:cBhvr>
                                        <p:cTn id="35" dur="1" fill="hold">
                                          <p:stCondLst>
                                            <p:cond delay="0"/>
                                          </p:stCondLst>
                                        </p:cTn>
                                        <p:tgtEl>
                                          <p:spTgt spid="26"/>
                                        </p:tgtEl>
                                        <p:attrNameLst>
                                          <p:attrName>style.visibility</p:attrName>
                                        </p:attrNameLst>
                                      </p:cBhvr>
                                      <p:to>
                                        <p:strVal val="visible"/>
                                      </p:to>
                                    </p:set>
                                    <p:animEffect transition="in" filter="fade">
                                      <p:cBhvr>
                                        <p:cTn id="36" dur="500"/>
                                        <p:tgtEl>
                                          <p:spTgt spid="26"/>
                                        </p:tgtEl>
                                      </p:cBhvr>
                                    </p:animEffect>
                                  </p:childTnLst>
                                </p:cTn>
                              </p:par>
                              <p:par>
                                <p:cTn id="37" presetID="10" presetClass="entr" presetSubtype="0" fill="hold" nodeType="withEffect">
                                  <p:stCondLst>
                                    <p:cond delay="0"/>
                                  </p:stCondLst>
                                  <p:childTnLst>
                                    <p:set>
                                      <p:cBhvr>
                                        <p:cTn id="38" dur="1" fill="hold">
                                          <p:stCondLst>
                                            <p:cond delay="0"/>
                                          </p:stCondLst>
                                        </p:cTn>
                                        <p:tgtEl>
                                          <p:spTgt spid="56"/>
                                        </p:tgtEl>
                                        <p:attrNameLst>
                                          <p:attrName>style.visibility</p:attrName>
                                        </p:attrNameLst>
                                      </p:cBhvr>
                                      <p:to>
                                        <p:strVal val="visible"/>
                                      </p:to>
                                    </p:set>
                                    <p:animEffect transition="in" filter="fade">
                                      <p:cBhvr>
                                        <p:cTn id="39" dur="500"/>
                                        <p:tgtEl>
                                          <p:spTgt spid="56"/>
                                        </p:tgtEl>
                                      </p:cBhvr>
                                    </p:animEffect>
                                  </p:childTnLst>
                                </p:cTn>
                              </p:par>
                              <p:par>
                                <p:cTn id="40" presetID="10" presetClass="entr" presetSubtype="0" fill="hold" nodeType="withEffect">
                                  <p:stCondLst>
                                    <p:cond delay="0"/>
                                  </p:stCondLst>
                                  <p:childTnLst>
                                    <p:set>
                                      <p:cBhvr>
                                        <p:cTn id="41" dur="1" fill="hold">
                                          <p:stCondLst>
                                            <p:cond delay="0"/>
                                          </p:stCondLst>
                                        </p:cTn>
                                        <p:tgtEl>
                                          <p:spTgt spid="32"/>
                                        </p:tgtEl>
                                        <p:attrNameLst>
                                          <p:attrName>style.visibility</p:attrName>
                                        </p:attrNameLst>
                                      </p:cBhvr>
                                      <p:to>
                                        <p:strVal val="visible"/>
                                      </p:to>
                                    </p:set>
                                    <p:animEffect transition="in" filter="fade">
                                      <p:cBhvr>
                                        <p:cTn id="42" dur="500"/>
                                        <p:tgtEl>
                                          <p:spTgt spid="32"/>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53"/>
                                        </p:tgtEl>
                                        <p:attrNameLst>
                                          <p:attrName>style.visibility</p:attrName>
                                        </p:attrNameLst>
                                      </p:cBhvr>
                                      <p:to>
                                        <p:strVal val="visible"/>
                                      </p:to>
                                    </p:set>
                                    <p:animEffect transition="in" filter="fade">
                                      <p:cBhvr>
                                        <p:cTn id="47" dur="500"/>
                                        <p:tgtEl>
                                          <p:spTgt spid="53"/>
                                        </p:tgtEl>
                                      </p:cBhvr>
                                    </p:animEffect>
                                  </p:childTnLst>
                                </p:cTn>
                              </p:par>
                              <p:par>
                                <p:cTn id="48" presetID="10" presetClass="entr" presetSubtype="0" fill="hold" nodeType="withEffect">
                                  <p:stCondLst>
                                    <p:cond delay="0"/>
                                  </p:stCondLst>
                                  <p:childTnLst>
                                    <p:set>
                                      <p:cBhvr>
                                        <p:cTn id="49" dur="1" fill="hold">
                                          <p:stCondLst>
                                            <p:cond delay="0"/>
                                          </p:stCondLst>
                                        </p:cTn>
                                        <p:tgtEl>
                                          <p:spTgt spid="58"/>
                                        </p:tgtEl>
                                        <p:attrNameLst>
                                          <p:attrName>style.visibility</p:attrName>
                                        </p:attrNameLst>
                                      </p:cBhvr>
                                      <p:to>
                                        <p:strVal val="visible"/>
                                      </p:to>
                                    </p:set>
                                    <p:animEffect transition="in" filter="fade">
                                      <p:cBhvr>
                                        <p:cTn id="50" dur="500"/>
                                        <p:tgtEl>
                                          <p:spTgt spid="58"/>
                                        </p:tgtEl>
                                      </p:cBhvr>
                                    </p:animEffect>
                                  </p:childTnLst>
                                </p:cTn>
                              </p:par>
                              <p:par>
                                <p:cTn id="51" presetID="10" presetClass="entr" presetSubtype="0" fill="hold" nodeType="withEffect">
                                  <p:stCondLst>
                                    <p:cond delay="0"/>
                                  </p:stCondLst>
                                  <p:childTnLst>
                                    <p:set>
                                      <p:cBhvr>
                                        <p:cTn id="52" dur="1" fill="hold">
                                          <p:stCondLst>
                                            <p:cond delay="0"/>
                                          </p:stCondLst>
                                        </p:cTn>
                                        <p:tgtEl>
                                          <p:spTgt spid="36"/>
                                        </p:tgtEl>
                                        <p:attrNameLst>
                                          <p:attrName>style.visibility</p:attrName>
                                        </p:attrNameLst>
                                      </p:cBhvr>
                                      <p:to>
                                        <p:strVal val="visible"/>
                                      </p:to>
                                    </p:set>
                                    <p:animEffect transition="in" filter="fade">
                                      <p:cBhvr>
                                        <p:cTn id="53" dur="500"/>
                                        <p:tgtEl>
                                          <p:spTgt spid="36"/>
                                        </p:tgtEl>
                                      </p:cBhvr>
                                    </p:animEffect>
                                  </p:childTnLst>
                                </p:cTn>
                              </p:par>
                              <p:par>
                                <p:cTn id="54" presetID="10" presetClass="entr" presetSubtype="0" fill="hold" nodeType="withEffect">
                                  <p:stCondLst>
                                    <p:cond delay="0"/>
                                  </p:stCondLst>
                                  <p:childTnLst>
                                    <p:set>
                                      <p:cBhvr>
                                        <p:cTn id="55" dur="1" fill="hold">
                                          <p:stCondLst>
                                            <p:cond delay="0"/>
                                          </p:stCondLst>
                                        </p:cTn>
                                        <p:tgtEl>
                                          <p:spTgt spid="59"/>
                                        </p:tgtEl>
                                        <p:attrNameLst>
                                          <p:attrName>style.visibility</p:attrName>
                                        </p:attrNameLst>
                                      </p:cBhvr>
                                      <p:to>
                                        <p:strVal val="visible"/>
                                      </p:to>
                                    </p:set>
                                    <p:animEffect transition="in" filter="fade">
                                      <p:cBhvr>
                                        <p:cTn id="56" dur="500"/>
                                        <p:tgtEl>
                                          <p:spTgt spid="59"/>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8"/>
                                        </p:tgtEl>
                                        <p:attrNameLst>
                                          <p:attrName>style.visibility</p:attrName>
                                        </p:attrNameLst>
                                      </p:cBhvr>
                                      <p:to>
                                        <p:strVal val="visible"/>
                                      </p:to>
                                    </p:set>
                                    <p:animEffect transition="in" filter="fade">
                                      <p:cBhvr>
                                        <p:cTn id="59"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8"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02920" y="228600"/>
            <a:ext cx="11155680" cy="615553"/>
          </a:xfrm>
          <a:prstGeom prst="rect">
            <a:avLst/>
          </a:prstGeom>
          <a:noFill/>
        </p:spPr>
        <p:txBody>
          <a:bodyPr wrap="square" lIns="91440" tIns="45720" rIns="91440" bIns="45720" anchor="t">
            <a:spAutoFit/>
          </a:bodyPr>
          <a:lstStyle/>
          <a:p>
            <a:pPr algn="l"/>
            <a:r>
              <a:rPr lang="af-ZA" sz="3400" b="1">
                <a:solidFill>
                  <a:srgbClr val="1A2B47"/>
                </a:solidFill>
                <a:latin typeface="Calibri"/>
                <a:ea typeface="Calibri"/>
                <a:cs typeface="Calibri"/>
              </a:rPr>
              <a:t>HMM</a:t>
            </a:r>
            <a:r>
              <a:rPr sz="3400" b="1" i="0">
                <a:solidFill>
                  <a:srgbClr val="1A2B47"/>
                </a:solidFill>
                <a:latin typeface="Calibri"/>
                <a:ea typeface="Calibri"/>
                <a:cs typeface="Calibri"/>
              </a:rPr>
              <a:t> in Practice — Clinical Trajectories</a:t>
            </a:r>
            <a:endParaRPr lang="zh-TW" altLang="en-US" sz="3400" b="1" i="0">
              <a:solidFill>
                <a:srgbClr val="1A2B47"/>
              </a:solidFill>
              <a:latin typeface="Calibri"/>
              <a:cs typeface="Calibri"/>
            </a:endParaRPr>
          </a:p>
        </p:txBody>
      </p:sp>
      <p:cxnSp>
        <p:nvCxnSpPr>
          <p:cNvPr id="5" name="Connector 4"/>
          <p:cNvCxnSpPr/>
          <p:nvPr/>
        </p:nvCxnSpPr>
        <p:spPr>
          <a:xfrm>
            <a:off x="502920" y="1572855"/>
            <a:ext cx="11183112" cy="0"/>
          </a:xfrm>
          <a:prstGeom prst="line">
            <a:avLst/>
          </a:prstGeom>
          <a:ln w="9525">
            <a:solidFill>
              <a:srgbClr val="CCD9E8"/>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11480" y="1648046"/>
            <a:ext cx="10972800" cy="292388"/>
          </a:xfrm>
          <a:prstGeom prst="rect">
            <a:avLst/>
          </a:prstGeom>
          <a:noFill/>
        </p:spPr>
        <p:txBody>
          <a:bodyPr wrap="square" lIns="91440" tIns="45720" rIns="91440" bIns="45720" anchor="t">
            <a:spAutoFit/>
          </a:bodyPr>
          <a:lstStyle/>
          <a:p>
            <a:pPr algn="l"/>
            <a:r>
              <a:rPr sz="1300" b="1" i="0">
                <a:solidFill>
                  <a:srgbClr val="C03A2B"/>
                </a:solidFill>
                <a:latin typeface="Calibri"/>
                <a:ea typeface="Calibri"/>
                <a:cs typeface="Calibri"/>
              </a:rPr>
              <a:t>LEP patient</a:t>
            </a:r>
            <a:r>
              <a:rPr lang="en-US" sz="1300" b="1">
                <a:solidFill>
                  <a:srgbClr val="C03A2B"/>
                </a:solidFill>
                <a:latin typeface="Calibri"/>
                <a:ea typeface="Calibri"/>
                <a:cs typeface="Calibri"/>
              </a:rPr>
              <a:t>:</a:t>
            </a:r>
            <a:r>
              <a:rPr sz="1300" b="1" i="0">
                <a:solidFill>
                  <a:srgbClr val="C03A2B"/>
                </a:solidFill>
                <a:latin typeface="Calibri"/>
                <a:ea typeface="Calibri"/>
                <a:cs typeface="Calibri"/>
              </a:rPr>
              <a:t> pain rises to 8/10 but MME stays near zero</a:t>
            </a:r>
            <a:endParaRPr lang="zh-TW" altLang="en-US" sz="1300" b="1" i="0">
              <a:solidFill>
                <a:srgbClr val="C03A2B"/>
              </a:solidFill>
              <a:latin typeface="Calibri"/>
              <a:cs typeface="Calibri"/>
            </a:endParaRPr>
          </a:p>
        </p:txBody>
      </p:sp>
      <p:sp>
        <p:nvSpPr>
          <p:cNvPr id="7" name="Rectangle 6"/>
          <p:cNvSpPr/>
          <p:nvPr/>
        </p:nvSpPr>
        <p:spPr>
          <a:xfrm>
            <a:off x="411480" y="2059526"/>
            <a:ext cx="1275894" cy="777240"/>
          </a:xfrm>
          <a:prstGeom prst="rect">
            <a:avLst/>
          </a:prstGeom>
          <a:solidFill>
            <a:srgbClr val="F4F7FB"/>
          </a:solidFill>
          <a:ln w="9525">
            <a:solidFill>
              <a:srgbClr val="CCD9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17033" y="2114390"/>
            <a:ext cx="1275382" cy="292388"/>
          </a:xfrm>
          <a:prstGeom prst="rect">
            <a:avLst/>
          </a:prstGeom>
          <a:noFill/>
        </p:spPr>
        <p:txBody>
          <a:bodyPr wrap="square" lIns="91440" tIns="45720" rIns="91440" bIns="45720" anchor="ctr">
            <a:spAutoFit/>
          </a:bodyPr>
          <a:lstStyle/>
          <a:p>
            <a:pPr algn="ctr"/>
            <a:r>
              <a:rPr sz="1300" b="1" i="0">
                <a:solidFill>
                  <a:srgbClr val="1A2B47"/>
                </a:solidFill>
                <a:latin typeface="Calibri"/>
              </a:rPr>
              <a:t>pain: 3</a:t>
            </a:r>
          </a:p>
        </p:txBody>
      </p:sp>
      <p:sp>
        <p:nvSpPr>
          <p:cNvPr id="9" name="TextBox 8"/>
          <p:cNvSpPr txBox="1"/>
          <p:nvPr/>
        </p:nvSpPr>
        <p:spPr>
          <a:xfrm>
            <a:off x="417033" y="2443574"/>
            <a:ext cx="1275382" cy="261610"/>
          </a:xfrm>
          <a:prstGeom prst="rect">
            <a:avLst/>
          </a:prstGeom>
          <a:noFill/>
        </p:spPr>
        <p:txBody>
          <a:bodyPr wrap="square" lIns="91440" tIns="45720" rIns="91440" bIns="45720" anchor="ctr">
            <a:spAutoFit/>
          </a:bodyPr>
          <a:lstStyle/>
          <a:p>
            <a:pPr algn="ctr"/>
            <a:r>
              <a:rPr sz="1100" b="0" i="0">
                <a:solidFill>
                  <a:srgbClr val="4A6A8A"/>
                </a:solidFill>
                <a:latin typeface="Calibri"/>
              </a:rPr>
              <a:t>0 MME</a:t>
            </a:r>
          </a:p>
        </p:txBody>
      </p:sp>
      <p:sp>
        <p:nvSpPr>
          <p:cNvPr id="10" name="TextBox 9"/>
          <p:cNvSpPr txBox="1"/>
          <p:nvPr/>
        </p:nvSpPr>
        <p:spPr>
          <a:xfrm>
            <a:off x="881365" y="2796815"/>
            <a:ext cx="320040" cy="292608"/>
          </a:xfrm>
          <a:prstGeom prst="rect">
            <a:avLst/>
          </a:prstGeom>
          <a:noFill/>
        </p:spPr>
        <p:txBody>
          <a:bodyPr wrap="square">
            <a:spAutoFit/>
          </a:bodyPr>
          <a:lstStyle/>
          <a:p>
            <a:pPr algn="ctr"/>
            <a:r>
              <a:rPr sz="1300" b="0" i="0">
                <a:solidFill>
                  <a:srgbClr val="7A96B2"/>
                </a:solidFill>
                <a:latin typeface="Calibri"/>
              </a:rPr>
              <a:t>↓</a:t>
            </a:r>
          </a:p>
        </p:txBody>
      </p:sp>
      <p:grpSp>
        <p:nvGrpSpPr>
          <p:cNvPr id="44" name="群組 43">
            <a:extLst>
              <a:ext uri="{FF2B5EF4-FFF2-40B4-BE49-F238E27FC236}">
                <a16:creationId xmlns:a16="http://schemas.microsoft.com/office/drawing/2014/main" id="{71C6D053-0F8C-6BB8-F437-75A7427D729E}"/>
              </a:ext>
            </a:extLst>
          </p:cNvPr>
          <p:cNvGrpSpPr/>
          <p:nvPr/>
        </p:nvGrpSpPr>
        <p:grpSpPr>
          <a:xfrm>
            <a:off x="411480" y="3037934"/>
            <a:ext cx="1288881" cy="596651"/>
            <a:chOff x="411480" y="3037934"/>
            <a:chExt cx="1288881" cy="596651"/>
          </a:xfrm>
        </p:grpSpPr>
        <p:sp>
          <p:nvSpPr>
            <p:cNvPr id="11" name="Rectangle 10"/>
            <p:cNvSpPr/>
            <p:nvPr/>
          </p:nvSpPr>
          <p:spPr>
            <a:xfrm>
              <a:off x="411480" y="3037934"/>
              <a:ext cx="1275894" cy="566928"/>
            </a:xfrm>
            <a:prstGeom prst="rect">
              <a:avLst/>
            </a:prstGeom>
            <a:solidFill>
              <a:srgbClr val="FDF0D5"/>
            </a:solidFill>
            <a:ln w="15240">
              <a:solidFill>
                <a:srgbClr val="E88C1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23400" y="3158009"/>
              <a:ext cx="1276961" cy="276999"/>
            </a:xfrm>
            <a:prstGeom prst="rect">
              <a:avLst/>
            </a:prstGeom>
            <a:noFill/>
          </p:spPr>
          <p:txBody>
            <a:bodyPr wrap="square">
              <a:spAutoFit/>
            </a:bodyPr>
            <a:lstStyle/>
            <a:p>
              <a:pPr algn="ctr"/>
              <a:r>
                <a:rPr sz="1200" b="1" i="0">
                  <a:solidFill>
                    <a:srgbClr val="E88C10"/>
                  </a:solidFill>
                  <a:latin typeface="Calibri"/>
                  <a:ea typeface="Calibri"/>
                  <a:cs typeface="Calibri"/>
                </a:rPr>
                <a:t>Undertreated</a:t>
              </a:r>
            </a:p>
          </p:txBody>
        </p:sp>
        <p:sp>
          <p:nvSpPr>
            <p:cNvPr id="13" name="TextBox 12"/>
            <p:cNvSpPr txBox="1"/>
            <p:nvPr/>
          </p:nvSpPr>
          <p:spPr>
            <a:xfrm>
              <a:off x="805437" y="3378553"/>
              <a:ext cx="502920" cy="256032"/>
            </a:xfrm>
            <a:prstGeom prst="rect">
              <a:avLst/>
            </a:prstGeom>
            <a:noFill/>
          </p:spPr>
          <p:txBody>
            <a:bodyPr wrap="square">
              <a:spAutoFit/>
            </a:bodyPr>
            <a:lstStyle/>
            <a:p>
              <a:pPr algn="ctr"/>
              <a:r>
                <a:rPr sz="1000" b="0" i="0">
                  <a:solidFill>
                    <a:srgbClr val="7A96B2"/>
                  </a:solidFill>
                  <a:latin typeface="Calibri"/>
                </a:rPr>
                <a:t>t=1</a:t>
              </a:r>
            </a:p>
          </p:txBody>
        </p:sp>
      </p:grpSp>
      <p:sp>
        <p:nvSpPr>
          <p:cNvPr id="15" name="Rectangle 14"/>
          <p:cNvSpPr/>
          <p:nvPr/>
        </p:nvSpPr>
        <p:spPr>
          <a:xfrm>
            <a:off x="1916599" y="2059526"/>
            <a:ext cx="1283051" cy="777240"/>
          </a:xfrm>
          <a:prstGeom prst="rect">
            <a:avLst/>
          </a:prstGeom>
          <a:solidFill>
            <a:srgbClr val="F4F7FB"/>
          </a:solidFill>
          <a:ln w="9525">
            <a:solidFill>
              <a:srgbClr val="CCD9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922152" y="2114390"/>
            <a:ext cx="1282539" cy="292388"/>
          </a:xfrm>
          <a:prstGeom prst="rect">
            <a:avLst/>
          </a:prstGeom>
          <a:noFill/>
        </p:spPr>
        <p:txBody>
          <a:bodyPr wrap="square" lIns="91440" tIns="45720" rIns="91440" bIns="45720" anchor="ctr">
            <a:spAutoFit/>
          </a:bodyPr>
          <a:lstStyle/>
          <a:p>
            <a:pPr algn="ctr"/>
            <a:r>
              <a:rPr sz="1300" b="1" i="0">
                <a:solidFill>
                  <a:srgbClr val="1A2B47"/>
                </a:solidFill>
                <a:latin typeface="Calibri"/>
              </a:rPr>
              <a:t>pain: 5</a:t>
            </a:r>
          </a:p>
        </p:txBody>
      </p:sp>
      <p:sp>
        <p:nvSpPr>
          <p:cNvPr id="17" name="TextBox 16"/>
          <p:cNvSpPr txBox="1"/>
          <p:nvPr/>
        </p:nvSpPr>
        <p:spPr>
          <a:xfrm>
            <a:off x="1922152" y="2443574"/>
            <a:ext cx="1282539" cy="261610"/>
          </a:xfrm>
          <a:prstGeom prst="rect">
            <a:avLst/>
          </a:prstGeom>
          <a:noFill/>
        </p:spPr>
        <p:txBody>
          <a:bodyPr wrap="square" lIns="91440" tIns="45720" rIns="91440" bIns="45720" anchor="ctr">
            <a:spAutoFit/>
          </a:bodyPr>
          <a:lstStyle/>
          <a:p>
            <a:pPr algn="ctr"/>
            <a:r>
              <a:rPr sz="1100" b="0" i="0">
                <a:solidFill>
                  <a:srgbClr val="4A6A8A"/>
                </a:solidFill>
                <a:latin typeface="Calibri"/>
              </a:rPr>
              <a:t>0 MME</a:t>
            </a:r>
          </a:p>
        </p:txBody>
      </p:sp>
      <p:sp>
        <p:nvSpPr>
          <p:cNvPr id="18" name="TextBox 17"/>
          <p:cNvSpPr txBox="1"/>
          <p:nvPr/>
        </p:nvSpPr>
        <p:spPr>
          <a:xfrm>
            <a:off x="2386484" y="2796815"/>
            <a:ext cx="320040" cy="292608"/>
          </a:xfrm>
          <a:prstGeom prst="rect">
            <a:avLst/>
          </a:prstGeom>
          <a:noFill/>
        </p:spPr>
        <p:txBody>
          <a:bodyPr wrap="square">
            <a:spAutoFit/>
          </a:bodyPr>
          <a:lstStyle/>
          <a:p>
            <a:pPr algn="ctr"/>
            <a:r>
              <a:rPr sz="1300" b="0" i="0">
                <a:solidFill>
                  <a:srgbClr val="7A96B2"/>
                </a:solidFill>
                <a:latin typeface="Calibri"/>
              </a:rPr>
              <a:t>↓</a:t>
            </a:r>
          </a:p>
        </p:txBody>
      </p:sp>
      <p:grpSp>
        <p:nvGrpSpPr>
          <p:cNvPr id="43" name="群組 42">
            <a:extLst>
              <a:ext uri="{FF2B5EF4-FFF2-40B4-BE49-F238E27FC236}">
                <a16:creationId xmlns:a16="http://schemas.microsoft.com/office/drawing/2014/main" id="{73BD27DB-5B7D-5FF5-F790-C4073C22885B}"/>
              </a:ext>
            </a:extLst>
          </p:cNvPr>
          <p:cNvGrpSpPr/>
          <p:nvPr/>
        </p:nvGrpSpPr>
        <p:grpSpPr>
          <a:xfrm>
            <a:off x="1916599" y="3037934"/>
            <a:ext cx="1288881" cy="596651"/>
            <a:chOff x="2331720" y="3037934"/>
            <a:chExt cx="1288881" cy="596651"/>
          </a:xfrm>
        </p:grpSpPr>
        <p:sp>
          <p:nvSpPr>
            <p:cNvPr id="19" name="Rectangle 18"/>
            <p:cNvSpPr/>
            <p:nvPr/>
          </p:nvSpPr>
          <p:spPr>
            <a:xfrm>
              <a:off x="2331720" y="3037934"/>
              <a:ext cx="1283051" cy="566928"/>
            </a:xfrm>
            <a:prstGeom prst="rect">
              <a:avLst/>
            </a:prstGeom>
            <a:solidFill>
              <a:srgbClr val="FDF0D5"/>
            </a:solidFill>
            <a:ln w="15240">
              <a:solidFill>
                <a:srgbClr val="E88C1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2343640" y="3158009"/>
              <a:ext cx="1276961" cy="276999"/>
            </a:xfrm>
            <a:prstGeom prst="rect">
              <a:avLst/>
            </a:prstGeom>
            <a:noFill/>
          </p:spPr>
          <p:txBody>
            <a:bodyPr wrap="square">
              <a:spAutoFit/>
            </a:bodyPr>
            <a:lstStyle/>
            <a:p>
              <a:pPr algn="ctr"/>
              <a:r>
                <a:rPr sz="1200" b="1" i="0">
                  <a:solidFill>
                    <a:srgbClr val="E88C10"/>
                  </a:solidFill>
                  <a:latin typeface="Calibri"/>
                  <a:ea typeface="Calibri"/>
                  <a:cs typeface="Calibri"/>
                </a:rPr>
                <a:t>Undertreated</a:t>
              </a:r>
            </a:p>
          </p:txBody>
        </p:sp>
        <p:sp>
          <p:nvSpPr>
            <p:cNvPr id="21" name="TextBox 20"/>
            <p:cNvSpPr txBox="1"/>
            <p:nvPr/>
          </p:nvSpPr>
          <p:spPr>
            <a:xfrm>
              <a:off x="2725677" y="3378553"/>
              <a:ext cx="502920" cy="256032"/>
            </a:xfrm>
            <a:prstGeom prst="rect">
              <a:avLst/>
            </a:prstGeom>
            <a:noFill/>
          </p:spPr>
          <p:txBody>
            <a:bodyPr wrap="square">
              <a:spAutoFit/>
            </a:bodyPr>
            <a:lstStyle/>
            <a:p>
              <a:pPr algn="ctr"/>
              <a:r>
                <a:rPr sz="1000" b="0" i="0">
                  <a:solidFill>
                    <a:srgbClr val="7A96B2"/>
                  </a:solidFill>
                  <a:latin typeface="Calibri"/>
                </a:rPr>
                <a:t>t=2</a:t>
              </a:r>
            </a:p>
          </p:txBody>
        </p:sp>
      </p:grpSp>
      <p:sp>
        <p:nvSpPr>
          <p:cNvPr id="23" name="Rectangle 22"/>
          <p:cNvSpPr/>
          <p:nvPr/>
        </p:nvSpPr>
        <p:spPr>
          <a:xfrm>
            <a:off x="3421717" y="2059526"/>
            <a:ext cx="1275894" cy="777240"/>
          </a:xfrm>
          <a:prstGeom prst="rect">
            <a:avLst/>
          </a:prstGeom>
          <a:solidFill>
            <a:srgbClr val="F4F7FB"/>
          </a:solidFill>
          <a:ln w="9525">
            <a:solidFill>
              <a:srgbClr val="CCD9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3427270" y="2114390"/>
            <a:ext cx="1282539" cy="292388"/>
          </a:xfrm>
          <a:prstGeom prst="rect">
            <a:avLst/>
          </a:prstGeom>
          <a:noFill/>
        </p:spPr>
        <p:txBody>
          <a:bodyPr wrap="square" lIns="91440" tIns="45720" rIns="91440" bIns="45720" anchor="ctr">
            <a:spAutoFit/>
          </a:bodyPr>
          <a:lstStyle/>
          <a:p>
            <a:pPr algn="ctr"/>
            <a:r>
              <a:rPr sz="1300" b="1" i="0">
                <a:solidFill>
                  <a:srgbClr val="1A2B47"/>
                </a:solidFill>
                <a:latin typeface="Calibri"/>
              </a:rPr>
              <a:t>pain: 7</a:t>
            </a:r>
          </a:p>
        </p:txBody>
      </p:sp>
      <p:sp>
        <p:nvSpPr>
          <p:cNvPr id="25" name="TextBox 24"/>
          <p:cNvSpPr txBox="1"/>
          <p:nvPr/>
        </p:nvSpPr>
        <p:spPr>
          <a:xfrm>
            <a:off x="3427270" y="2443574"/>
            <a:ext cx="1282539" cy="261610"/>
          </a:xfrm>
          <a:prstGeom prst="rect">
            <a:avLst/>
          </a:prstGeom>
          <a:noFill/>
        </p:spPr>
        <p:txBody>
          <a:bodyPr wrap="square" lIns="91440" tIns="45720" rIns="91440" bIns="45720" anchor="ctr">
            <a:spAutoFit/>
          </a:bodyPr>
          <a:lstStyle/>
          <a:p>
            <a:pPr algn="ctr"/>
            <a:r>
              <a:rPr sz="1100" b="0" i="0">
                <a:solidFill>
                  <a:srgbClr val="4A6A8A"/>
                </a:solidFill>
                <a:latin typeface="Calibri"/>
              </a:rPr>
              <a:t>0 MME</a:t>
            </a:r>
          </a:p>
        </p:txBody>
      </p:sp>
      <p:sp>
        <p:nvSpPr>
          <p:cNvPr id="26" name="TextBox 25"/>
          <p:cNvSpPr txBox="1"/>
          <p:nvPr/>
        </p:nvSpPr>
        <p:spPr>
          <a:xfrm>
            <a:off x="3891602" y="2796815"/>
            <a:ext cx="320040" cy="292608"/>
          </a:xfrm>
          <a:prstGeom prst="rect">
            <a:avLst/>
          </a:prstGeom>
          <a:noFill/>
        </p:spPr>
        <p:txBody>
          <a:bodyPr wrap="square">
            <a:spAutoFit/>
          </a:bodyPr>
          <a:lstStyle/>
          <a:p>
            <a:pPr algn="ctr"/>
            <a:r>
              <a:rPr sz="1300" b="0" i="0">
                <a:solidFill>
                  <a:srgbClr val="7A96B2"/>
                </a:solidFill>
                <a:latin typeface="Calibri"/>
              </a:rPr>
              <a:t>↓</a:t>
            </a:r>
          </a:p>
        </p:txBody>
      </p:sp>
      <p:grpSp>
        <p:nvGrpSpPr>
          <p:cNvPr id="42" name="群組 41">
            <a:extLst>
              <a:ext uri="{FF2B5EF4-FFF2-40B4-BE49-F238E27FC236}">
                <a16:creationId xmlns:a16="http://schemas.microsoft.com/office/drawing/2014/main" id="{8D509B86-4B3D-666A-0BC7-FCDB7C201D49}"/>
              </a:ext>
            </a:extLst>
          </p:cNvPr>
          <p:cNvGrpSpPr/>
          <p:nvPr/>
        </p:nvGrpSpPr>
        <p:grpSpPr>
          <a:xfrm>
            <a:off x="3421717" y="3037934"/>
            <a:ext cx="1288881" cy="596651"/>
            <a:chOff x="4251960" y="3037934"/>
            <a:chExt cx="1288881" cy="596651"/>
          </a:xfrm>
        </p:grpSpPr>
        <p:sp>
          <p:nvSpPr>
            <p:cNvPr id="27" name="Rectangle 26"/>
            <p:cNvSpPr/>
            <p:nvPr/>
          </p:nvSpPr>
          <p:spPr>
            <a:xfrm>
              <a:off x="4251960" y="3037934"/>
              <a:ext cx="1275894" cy="566928"/>
            </a:xfrm>
            <a:prstGeom prst="rect">
              <a:avLst/>
            </a:prstGeom>
            <a:solidFill>
              <a:srgbClr val="FDF0D5"/>
            </a:solidFill>
            <a:ln w="15240">
              <a:solidFill>
                <a:srgbClr val="E88C1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4263880" y="3158009"/>
              <a:ext cx="1276961" cy="276999"/>
            </a:xfrm>
            <a:prstGeom prst="rect">
              <a:avLst/>
            </a:prstGeom>
            <a:noFill/>
          </p:spPr>
          <p:txBody>
            <a:bodyPr wrap="square">
              <a:spAutoFit/>
            </a:bodyPr>
            <a:lstStyle/>
            <a:p>
              <a:pPr algn="ctr"/>
              <a:r>
                <a:rPr sz="1200" b="1" i="0">
                  <a:solidFill>
                    <a:srgbClr val="E88C10"/>
                  </a:solidFill>
                  <a:latin typeface="Calibri"/>
                  <a:ea typeface="Calibri"/>
                  <a:cs typeface="Calibri"/>
                </a:rPr>
                <a:t>Undertreated</a:t>
              </a:r>
            </a:p>
          </p:txBody>
        </p:sp>
        <p:sp>
          <p:nvSpPr>
            <p:cNvPr id="29" name="TextBox 28"/>
            <p:cNvSpPr txBox="1"/>
            <p:nvPr/>
          </p:nvSpPr>
          <p:spPr>
            <a:xfrm>
              <a:off x="4645917" y="3378553"/>
              <a:ext cx="502920" cy="256032"/>
            </a:xfrm>
            <a:prstGeom prst="rect">
              <a:avLst/>
            </a:prstGeom>
            <a:noFill/>
          </p:spPr>
          <p:txBody>
            <a:bodyPr wrap="square">
              <a:spAutoFit/>
            </a:bodyPr>
            <a:lstStyle/>
            <a:p>
              <a:pPr algn="ctr"/>
              <a:r>
                <a:rPr sz="1000" b="0" i="0">
                  <a:solidFill>
                    <a:srgbClr val="7A96B2"/>
                  </a:solidFill>
                  <a:latin typeface="Calibri"/>
                </a:rPr>
                <a:t>t=3</a:t>
              </a:r>
            </a:p>
          </p:txBody>
        </p:sp>
      </p:grpSp>
      <p:sp>
        <p:nvSpPr>
          <p:cNvPr id="31" name="Rectangle 30"/>
          <p:cNvSpPr/>
          <p:nvPr/>
        </p:nvSpPr>
        <p:spPr>
          <a:xfrm>
            <a:off x="4912521" y="2059526"/>
            <a:ext cx="1275894" cy="777240"/>
          </a:xfrm>
          <a:prstGeom prst="rect">
            <a:avLst/>
          </a:prstGeom>
          <a:solidFill>
            <a:srgbClr val="F4F7FB"/>
          </a:solidFill>
          <a:ln w="9525">
            <a:solidFill>
              <a:srgbClr val="CCD9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4918074" y="2114390"/>
            <a:ext cx="1275382" cy="292388"/>
          </a:xfrm>
          <a:prstGeom prst="rect">
            <a:avLst/>
          </a:prstGeom>
          <a:noFill/>
        </p:spPr>
        <p:txBody>
          <a:bodyPr wrap="square" lIns="91440" tIns="45720" rIns="91440" bIns="45720" anchor="ctr">
            <a:spAutoFit/>
          </a:bodyPr>
          <a:lstStyle/>
          <a:p>
            <a:pPr algn="ctr"/>
            <a:r>
              <a:rPr sz="1300" b="1" i="0">
                <a:solidFill>
                  <a:srgbClr val="1A2B47"/>
                </a:solidFill>
                <a:latin typeface="Calibri"/>
              </a:rPr>
              <a:t>pain: 8</a:t>
            </a:r>
          </a:p>
        </p:txBody>
      </p:sp>
      <p:sp>
        <p:nvSpPr>
          <p:cNvPr id="33" name="TextBox 32"/>
          <p:cNvSpPr txBox="1"/>
          <p:nvPr/>
        </p:nvSpPr>
        <p:spPr>
          <a:xfrm>
            <a:off x="4918074" y="2443574"/>
            <a:ext cx="1275382" cy="261610"/>
          </a:xfrm>
          <a:prstGeom prst="rect">
            <a:avLst/>
          </a:prstGeom>
          <a:noFill/>
        </p:spPr>
        <p:txBody>
          <a:bodyPr wrap="square" lIns="91440" tIns="45720" rIns="91440" bIns="45720" anchor="ctr">
            <a:spAutoFit/>
          </a:bodyPr>
          <a:lstStyle/>
          <a:p>
            <a:pPr algn="ctr"/>
            <a:r>
              <a:rPr sz="1100" b="0" i="0">
                <a:solidFill>
                  <a:srgbClr val="4A6A8A"/>
                </a:solidFill>
                <a:latin typeface="Calibri"/>
              </a:rPr>
              <a:t>5 </a:t>
            </a:r>
            <a:r>
              <a:rPr lang="af-ZA" sz="1100">
                <a:solidFill>
                  <a:srgbClr val="4A6A8A"/>
                </a:solidFill>
                <a:latin typeface="Calibri"/>
              </a:rPr>
              <a:t>g</a:t>
            </a:r>
            <a:r>
              <a:rPr sz="1100" b="0" i="0">
                <a:solidFill>
                  <a:srgbClr val="4A6A8A"/>
                </a:solidFill>
                <a:latin typeface="Calibri"/>
              </a:rPr>
              <a:t> </a:t>
            </a:r>
            <a:r>
              <a:rPr lang="af-ZA" sz="1100">
                <a:solidFill>
                  <a:srgbClr val="4A6A8A"/>
                </a:solidFill>
                <a:latin typeface="Calibri"/>
              </a:rPr>
              <a:t>MME</a:t>
            </a:r>
            <a:endParaRPr lang="zh-TW" altLang="en-US"/>
          </a:p>
        </p:txBody>
      </p:sp>
      <p:sp>
        <p:nvSpPr>
          <p:cNvPr id="34" name="TextBox 33"/>
          <p:cNvSpPr txBox="1"/>
          <p:nvPr/>
        </p:nvSpPr>
        <p:spPr>
          <a:xfrm>
            <a:off x="5382406" y="2796815"/>
            <a:ext cx="320040" cy="292608"/>
          </a:xfrm>
          <a:prstGeom prst="rect">
            <a:avLst/>
          </a:prstGeom>
          <a:noFill/>
        </p:spPr>
        <p:txBody>
          <a:bodyPr wrap="square">
            <a:spAutoFit/>
          </a:bodyPr>
          <a:lstStyle/>
          <a:p>
            <a:pPr algn="ctr"/>
            <a:r>
              <a:rPr sz="1300" b="0" i="0">
                <a:solidFill>
                  <a:srgbClr val="7A96B2"/>
                </a:solidFill>
                <a:latin typeface="Calibri"/>
              </a:rPr>
              <a:t>↓</a:t>
            </a:r>
          </a:p>
        </p:txBody>
      </p:sp>
      <p:grpSp>
        <p:nvGrpSpPr>
          <p:cNvPr id="41" name="群組 40">
            <a:extLst>
              <a:ext uri="{FF2B5EF4-FFF2-40B4-BE49-F238E27FC236}">
                <a16:creationId xmlns:a16="http://schemas.microsoft.com/office/drawing/2014/main" id="{269D0ADA-4604-9B11-F1CC-3D5DB059B0DD}"/>
              </a:ext>
            </a:extLst>
          </p:cNvPr>
          <p:cNvGrpSpPr/>
          <p:nvPr/>
        </p:nvGrpSpPr>
        <p:grpSpPr>
          <a:xfrm>
            <a:off x="4912521" y="3037934"/>
            <a:ext cx="1292602" cy="596651"/>
            <a:chOff x="6172200" y="3037934"/>
            <a:chExt cx="1292602" cy="596651"/>
          </a:xfrm>
        </p:grpSpPr>
        <p:sp>
          <p:nvSpPr>
            <p:cNvPr id="35" name="Rectangle 34"/>
            <p:cNvSpPr/>
            <p:nvPr/>
          </p:nvSpPr>
          <p:spPr>
            <a:xfrm>
              <a:off x="6172200" y="3037934"/>
              <a:ext cx="1275894" cy="566928"/>
            </a:xfrm>
            <a:prstGeom prst="rect">
              <a:avLst/>
            </a:prstGeom>
            <a:solidFill>
              <a:srgbClr val="FDF0D5"/>
            </a:solidFill>
            <a:ln w="15240">
              <a:solidFill>
                <a:srgbClr val="E88C1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6184120" y="3158009"/>
              <a:ext cx="1280682" cy="276999"/>
            </a:xfrm>
            <a:prstGeom prst="rect">
              <a:avLst/>
            </a:prstGeom>
            <a:noFill/>
          </p:spPr>
          <p:txBody>
            <a:bodyPr wrap="square">
              <a:spAutoFit/>
            </a:bodyPr>
            <a:lstStyle/>
            <a:p>
              <a:pPr algn="ctr"/>
              <a:r>
                <a:rPr sz="1200" b="1" i="0">
                  <a:solidFill>
                    <a:srgbClr val="E88C10"/>
                  </a:solidFill>
                  <a:latin typeface="Calibri"/>
                  <a:ea typeface="Calibri"/>
                  <a:cs typeface="Calibri"/>
                </a:rPr>
                <a:t>Undertreated</a:t>
              </a:r>
            </a:p>
          </p:txBody>
        </p:sp>
        <p:sp>
          <p:nvSpPr>
            <p:cNvPr id="37" name="TextBox 36"/>
            <p:cNvSpPr txBox="1"/>
            <p:nvPr/>
          </p:nvSpPr>
          <p:spPr>
            <a:xfrm>
              <a:off x="6566157" y="3378553"/>
              <a:ext cx="502920" cy="256032"/>
            </a:xfrm>
            <a:prstGeom prst="rect">
              <a:avLst/>
            </a:prstGeom>
            <a:noFill/>
          </p:spPr>
          <p:txBody>
            <a:bodyPr wrap="square">
              <a:spAutoFit/>
            </a:bodyPr>
            <a:lstStyle/>
            <a:p>
              <a:pPr algn="ctr"/>
              <a:r>
                <a:rPr sz="1000" b="0" i="0">
                  <a:solidFill>
                    <a:srgbClr val="7A96B2"/>
                  </a:solidFill>
                  <a:latin typeface="Calibri"/>
                </a:rPr>
                <a:t>t=4</a:t>
              </a:r>
            </a:p>
          </p:txBody>
        </p:sp>
      </p:grpSp>
      <p:sp>
        <p:nvSpPr>
          <p:cNvPr id="54" name="TextBox 53"/>
          <p:cNvSpPr txBox="1"/>
          <p:nvPr/>
        </p:nvSpPr>
        <p:spPr>
          <a:xfrm>
            <a:off x="433346" y="3934045"/>
            <a:ext cx="6571164" cy="292388"/>
          </a:xfrm>
          <a:prstGeom prst="rect">
            <a:avLst/>
          </a:prstGeom>
          <a:noFill/>
        </p:spPr>
        <p:txBody>
          <a:bodyPr wrap="square" lIns="91440" tIns="45720" rIns="91440" bIns="45720" anchor="t">
            <a:spAutoFit/>
          </a:bodyPr>
          <a:lstStyle/>
          <a:p>
            <a:r>
              <a:rPr sz="1300" b="1" i="0">
                <a:solidFill>
                  <a:srgbClr val="1A7A4A"/>
                </a:solidFill>
                <a:latin typeface="Calibri"/>
                <a:ea typeface="Calibri"/>
                <a:cs typeface="Calibri"/>
              </a:rPr>
              <a:t>English-proficient</a:t>
            </a:r>
            <a:r>
              <a:rPr lang="en-US" altLang="zh-TW" sz="1300" b="1">
                <a:solidFill>
                  <a:srgbClr val="1A7A4A"/>
                </a:solidFill>
                <a:latin typeface="Calibri"/>
                <a:ea typeface="Calibri"/>
                <a:cs typeface="Calibri"/>
              </a:rPr>
              <a:t>:</a:t>
            </a:r>
            <a:r>
              <a:rPr lang="zh-TW" sz="1300" b="1">
                <a:solidFill>
                  <a:srgbClr val="1A7A4A"/>
                </a:solidFill>
                <a:latin typeface="Calibri"/>
                <a:ea typeface="新細明體"/>
                <a:cs typeface="Calibri"/>
              </a:rPr>
              <a:t> </a:t>
            </a:r>
            <a:r>
              <a:rPr sz="1300" b="1" i="0">
                <a:solidFill>
                  <a:srgbClr val="1A7A4A"/>
                </a:solidFill>
                <a:latin typeface="Calibri"/>
                <a:ea typeface="Calibri"/>
                <a:cs typeface="Calibri"/>
              </a:rPr>
              <a:t>same pain trajectory, but </a:t>
            </a:r>
            <a:r>
              <a:rPr lang="af-ZA" sz="1300" b="1">
                <a:solidFill>
                  <a:srgbClr val="1A7A4A"/>
                </a:solidFill>
                <a:latin typeface="Calibri"/>
                <a:ea typeface="Calibri"/>
                <a:cs typeface="Calibri"/>
              </a:rPr>
              <a:t>MME</a:t>
            </a:r>
            <a:r>
              <a:rPr sz="1300" b="1" i="0">
                <a:solidFill>
                  <a:srgbClr val="1A7A4A"/>
                </a:solidFill>
                <a:latin typeface="Calibri"/>
                <a:ea typeface="Calibri"/>
                <a:cs typeface="Calibri"/>
              </a:rPr>
              <a:t> rises → state transitions</a:t>
            </a:r>
            <a:endParaRPr lang="zh-TW" altLang="en-US" sz="1300" b="1" i="0">
              <a:solidFill>
                <a:srgbClr val="1A7A4A"/>
              </a:solidFill>
              <a:latin typeface="Calibri"/>
              <a:cs typeface="Calibri"/>
            </a:endParaRPr>
          </a:p>
        </p:txBody>
      </p:sp>
      <p:sp>
        <p:nvSpPr>
          <p:cNvPr id="55" name="Rectangle 54"/>
          <p:cNvSpPr/>
          <p:nvPr/>
        </p:nvSpPr>
        <p:spPr>
          <a:xfrm>
            <a:off x="411480" y="4345526"/>
            <a:ext cx="1275894" cy="777240"/>
          </a:xfrm>
          <a:prstGeom prst="rect">
            <a:avLst/>
          </a:prstGeom>
          <a:solidFill>
            <a:srgbClr val="F4F7FB"/>
          </a:solidFill>
          <a:ln w="9525">
            <a:solidFill>
              <a:srgbClr val="CCD9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417033" y="4400389"/>
            <a:ext cx="1275382" cy="292388"/>
          </a:xfrm>
          <a:prstGeom prst="rect">
            <a:avLst/>
          </a:prstGeom>
          <a:noFill/>
        </p:spPr>
        <p:txBody>
          <a:bodyPr wrap="square" lIns="91440" tIns="45720" rIns="91440" bIns="45720" anchor="ctr">
            <a:spAutoFit/>
          </a:bodyPr>
          <a:lstStyle/>
          <a:p>
            <a:pPr algn="ctr"/>
            <a:r>
              <a:rPr sz="1300" b="1" i="0">
                <a:solidFill>
                  <a:srgbClr val="1A2B47"/>
                </a:solidFill>
                <a:latin typeface="Calibri"/>
              </a:rPr>
              <a:t>pain: 3</a:t>
            </a:r>
          </a:p>
        </p:txBody>
      </p:sp>
      <p:sp>
        <p:nvSpPr>
          <p:cNvPr id="57" name="TextBox 56"/>
          <p:cNvSpPr txBox="1"/>
          <p:nvPr/>
        </p:nvSpPr>
        <p:spPr>
          <a:xfrm>
            <a:off x="417033" y="4729574"/>
            <a:ext cx="1275382" cy="261610"/>
          </a:xfrm>
          <a:prstGeom prst="rect">
            <a:avLst/>
          </a:prstGeom>
          <a:noFill/>
        </p:spPr>
        <p:txBody>
          <a:bodyPr wrap="square" lIns="91440" tIns="45720" rIns="91440" bIns="45720" anchor="ctr">
            <a:spAutoFit/>
          </a:bodyPr>
          <a:lstStyle/>
          <a:p>
            <a:pPr algn="ctr"/>
            <a:r>
              <a:rPr sz="1100" b="0" i="0">
                <a:solidFill>
                  <a:srgbClr val="4A6A8A"/>
                </a:solidFill>
                <a:latin typeface="Calibri"/>
              </a:rPr>
              <a:t>0 </a:t>
            </a:r>
            <a:r>
              <a:rPr lang="af-ZA" sz="1100">
                <a:solidFill>
                  <a:srgbClr val="4A6A8A"/>
                </a:solidFill>
                <a:latin typeface="Calibri"/>
              </a:rPr>
              <a:t>MME</a:t>
            </a:r>
            <a:endParaRPr lang="zh-TW" altLang="en-US"/>
          </a:p>
        </p:txBody>
      </p:sp>
      <p:sp>
        <p:nvSpPr>
          <p:cNvPr id="58" name="TextBox 57"/>
          <p:cNvSpPr txBox="1"/>
          <p:nvPr/>
        </p:nvSpPr>
        <p:spPr>
          <a:xfrm>
            <a:off x="881365" y="5082814"/>
            <a:ext cx="320040" cy="292608"/>
          </a:xfrm>
          <a:prstGeom prst="rect">
            <a:avLst/>
          </a:prstGeom>
          <a:noFill/>
        </p:spPr>
        <p:txBody>
          <a:bodyPr wrap="square">
            <a:spAutoFit/>
          </a:bodyPr>
          <a:lstStyle/>
          <a:p>
            <a:pPr algn="ctr"/>
            <a:r>
              <a:rPr sz="1300" b="0" i="0">
                <a:solidFill>
                  <a:srgbClr val="7A96B2"/>
                </a:solidFill>
                <a:latin typeface="Calibri"/>
              </a:rPr>
              <a:t>↓</a:t>
            </a:r>
          </a:p>
        </p:txBody>
      </p:sp>
      <p:grpSp>
        <p:nvGrpSpPr>
          <p:cNvPr id="2" name="群組 1">
            <a:extLst>
              <a:ext uri="{FF2B5EF4-FFF2-40B4-BE49-F238E27FC236}">
                <a16:creationId xmlns:a16="http://schemas.microsoft.com/office/drawing/2014/main" id="{B86FA9C4-F73D-0E59-CD83-D44A38325824}"/>
              </a:ext>
            </a:extLst>
          </p:cNvPr>
          <p:cNvGrpSpPr/>
          <p:nvPr/>
        </p:nvGrpSpPr>
        <p:grpSpPr>
          <a:xfrm>
            <a:off x="411480" y="5350568"/>
            <a:ext cx="1288881" cy="625315"/>
            <a:chOff x="411480" y="5350568"/>
            <a:chExt cx="1288881" cy="625315"/>
          </a:xfrm>
        </p:grpSpPr>
        <p:sp>
          <p:nvSpPr>
            <p:cNvPr id="59" name="Rectangle 58"/>
            <p:cNvSpPr/>
            <p:nvPr/>
          </p:nvSpPr>
          <p:spPr>
            <a:xfrm>
              <a:off x="411480" y="5350568"/>
              <a:ext cx="1275894" cy="566928"/>
            </a:xfrm>
            <a:prstGeom prst="rect">
              <a:avLst/>
            </a:prstGeom>
            <a:solidFill>
              <a:srgbClr val="FDF0D5"/>
            </a:solidFill>
            <a:ln w="15240">
              <a:solidFill>
                <a:srgbClr val="E88C1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423400" y="5485581"/>
              <a:ext cx="1276961" cy="276999"/>
            </a:xfrm>
            <a:prstGeom prst="rect">
              <a:avLst/>
            </a:prstGeom>
            <a:noFill/>
          </p:spPr>
          <p:txBody>
            <a:bodyPr wrap="square">
              <a:spAutoFit/>
            </a:bodyPr>
            <a:lstStyle/>
            <a:p>
              <a:pPr algn="ctr"/>
              <a:r>
                <a:rPr sz="1200" b="1" i="0">
                  <a:solidFill>
                    <a:srgbClr val="E88C10"/>
                  </a:solidFill>
                  <a:latin typeface="Calibri"/>
                  <a:ea typeface="Calibri"/>
                  <a:cs typeface="Calibri"/>
                </a:rPr>
                <a:t>Undertreated</a:t>
              </a:r>
            </a:p>
          </p:txBody>
        </p:sp>
        <p:sp>
          <p:nvSpPr>
            <p:cNvPr id="61" name="TextBox 60"/>
            <p:cNvSpPr txBox="1"/>
            <p:nvPr/>
          </p:nvSpPr>
          <p:spPr>
            <a:xfrm>
              <a:off x="805437" y="5719851"/>
              <a:ext cx="502920" cy="256032"/>
            </a:xfrm>
            <a:prstGeom prst="rect">
              <a:avLst/>
            </a:prstGeom>
            <a:noFill/>
          </p:spPr>
          <p:txBody>
            <a:bodyPr wrap="square">
              <a:spAutoFit/>
            </a:bodyPr>
            <a:lstStyle/>
            <a:p>
              <a:pPr algn="ctr"/>
              <a:r>
                <a:rPr sz="1000" b="0" i="0">
                  <a:solidFill>
                    <a:srgbClr val="7A96B2"/>
                  </a:solidFill>
                  <a:latin typeface="Calibri"/>
                </a:rPr>
                <a:t>t=1</a:t>
              </a:r>
            </a:p>
          </p:txBody>
        </p:sp>
      </p:grpSp>
      <p:sp>
        <p:nvSpPr>
          <p:cNvPr id="63" name="Rectangle 62"/>
          <p:cNvSpPr/>
          <p:nvPr/>
        </p:nvSpPr>
        <p:spPr>
          <a:xfrm>
            <a:off x="1902284" y="4345526"/>
            <a:ext cx="1283051" cy="777240"/>
          </a:xfrm>
          <a:prstGeom prst="rect">
            <a:avLst/>
          </a:prstGeom>
          <a:solidFill>
            <a:srgbClr val="F4F7FB"/>
          </a:solidFill>
          <a:ln w="9525">
            <a:solidFill>
              <a:srgbClr val="CCD9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63"/>
          <p:cNvSpPr txBox="1"/>
          <p:nvPr/>
        </p:nvSpPr>
        <p:spPr>
          <a:xfrm>
            <a:off x="1907837" y="4400389"/>
            <a:ext cx="1282539" cy="292388"/>
          </a:xfrm>
          <a:prstGeom prst="rect">
            <a:avLst/>
          </a:prstGeom>
          <a:noFill/>
        </p:spPr>
        <p:txBody>
          <a:bodyPr wrap="square" lIns="91440" tIns="45720" rIns="91440" bIns="45720" anchor="ctr">
            <a:spAutoFit/>
          </a:bodyPr>
          <a:lstStyle/>
          <a:p>
            <a:pPr algn="ctr"/>
            <a:r>
              <a:rPr sz="1300" b="1" i="0">
                <a:solidFill>
                  <a:srgbClr val="1A2B47"/>
                </a:solidFill>
                <a:latin typeface="Calibri"/>
              </a:rPr>
              <a:t>pain: 5</a:t>
            </a:r>
          </a:p>
        </p:txBody>
      </p:sp>
      <p:sp>
        <p:nvSpPr>
          <p:cNvPr id="65" name="TextBox 64"/>
          <p:cNvSpPr txBox="1"/>
          <p:nvPr/>
        </p:nvSpPr>
        <p:spPr>
          <a:xfrm>
            <a:off x="1907837" y="4729574"/>
            <a:ext cx="1282539" cy="261610"/>
          </a:xfrm>
          <a:prstGeom prst="rect">
            <a:avLst/>
          </a:prstGeom>
          <a:noFill/>
        </p:spPr>
        <p:txBody>
          <a:bodyPr wrap="square" lIns="91440" tIns="45720" rIns="91440" bIns="45720" anchor="ctr">
            <a:spAutoFit/>
          </a:bodyPr>
          <a:lstStyle/>
          <a:p>
            <a:pPr algn="ctr"/>
            <a:r>
              <a:rPr sz="1100" b="0" i="0">
                <a:solidFill>
                  <a:srgbClr val="4A6A8A"/>
                </a:solidFill>
                <a:latin typeface="Calibri"/>
              </a:rPr>
              <a:t>0 MME</a:t>
            </a:r>
          </a:p>
        </p:txBody>
      </p:sp>
      <p:sp>
        <p:nvSpPr>
          <p:cNvPr id="66" name="TextBox 65"/>
          <p:cNvSpPr txBox="1"/>
          <p:nvPr/>
        </p:nvSpPr>
        <p:spPr>
          <a:xfrm>
            <a:off x="2372169" y="5082814"/>
            <a:ext cx="320040" cy="292608"/>
          </a:xfrm>
          <a:prstGeom prst="rect">
            <a:avLst/>
          </a:prstGeom>
          <a:noFill/>
        </p:spPr>
        <p:txBody>
          <a:bodyPr wrap="square">
            <a:spAutoFit/>
          </a:bodyPr>
          <a:lstStyle/>
          <a:p>
            <a:pPr algn="ctr"/>
            <a:r>
              <a:rPr sz="1300" b="0" i="0">
                <a:solidFill>
                  <a:srgbClr val="7A96B2"/>
                </a:solidFill>
                <a:latin typeface="Calibri"/>
              </a:rPr>
              <a:t>↓</a:t>
            </a:r>
          </a:p>
        </p:txBody>
      </p:sp>
      <p:grpSp>
        <p:nvGrpSpPr>
          <p:cNvPr id="4" name="群組 3">
            <a:extLst>
              <a:ext uri="{FF2B5EF4-FFF2-40B4-BE49-F238E27FC236}">
                <a16:creationId xmlns:a16="http://schemas.microsoft.com/office/drawing/2014/main" id="{CEEBD519-ABC5-D360-D14E-C755725A61B0}"/>
              </a:ext>
            </a:extLst>
          </p:cNvPr>
          <p:cNvGrpSpPr/>
          <p:nvPr/>
        </p:nvGrpSpPr>
        <p:grpSpPr>
          <a:xfrm>
            <a:off x="1902284" y="5350568"/>
            <a:ext cx="1288881" cy="625315"/>
            <a:chOff x="2331720" y="5350568"/>
            <a:chExt cx="1288881" cy="625315"/>
          </a:xfrm>
        </p:grpSpPr>
        <p:sp>
          <p:nvSpPr>
            <p:cNvPr id="67" name="Rectangle 66"/>
            <p:cNvSpPr/>
            <p:nvPr/>
          </p:nvSpPr>
          <p:spPr>
            <a:xfrm>
              <a:off x="2331720" y="5350568"/>
              <a:ext cx="1283051" cy="566928"/>
            </a:xfrm>
            <a:prstGeom prst="rect">
              <a:avLst/>
            </a:prstGeom>
            <a:solidFill>
              <a:srgbClr val="FDF0D5"/>
            </a:solidFill>
            <a:ln w="15240">
              <a:solidFill>
                <a:srgbClr val="E88C1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TextBox 67"/>
            <p:cNvSpPr txBox="1"/>
            <p:nvPr/>
          </p:nvSpPr>
          <p:spPr>
            <a:xfrm>
              <a:off x="2343640" y="5485581"/>
              <a:ext cx="1276961" cy="276999"/>
            </a:xfrm>
            <a:prstGeom prst="rect">
              <a:avLst/>
            </a:prstGeom>
            <a:noFill/>
          </p:spPr>
          <p:txBody>
            <a:bodyPr wrap="square">
              <a:spAutoFit/>
            </a:bodyPr>
            <a:lstStyle/>
            <a:p>
              <a:pPr algn="ctr"/>
              <a:r>
                <a:rPr sz="1200" b="1" i="0">
                  <a:solidFill>
                    <a:srgbClr val="E88C10"/>
                  </a:solidFill>
                  <a:latin typeface="Calibri"/>
                  <a:ea typeface="Calibri"/>
                  <a:cs typeface="Calibri"/>
                </a:rPr>
                <a:t>Undertreated</a:t>
              </a:r>
            </a:p>
          </p:txBody>
        </p:sp>
        <p:sp>
          <p:nvSpPr>
            <p:cNvPr id="69" name="TextBox 68"/>
            <p:cNvSpPr txBox="1"/>
            <p:nvPr/>
          </p:nvSpPr>
          <p:spPr>
            <a:xfrm>
              <a:off x="2725677" y="5719851"/>
              <a:ext cx="502920" cy="256032"/>
            </a:xfrm>
            <a:prstGeom prst="rect">
              <a:avLst/>
            </a:prstGeom>
            <a:noFill/>
          </p:spPr>
          <p:txBody>
            <a:bodyPr wrap="square">
              <a:spAutoFit/>
            </a:bodyPr>
            <a:lstStyle/>
            <a:p>
              <a:pPr algn="ctr"/>
              <a:r>
                <a:rPr sz="1000" b="0" i="0">
                  <a:solidFill>
                    <a:srgbClr val="7A96B2"/>
                  </a:solidFill>
                  <a:latin typeface="Calibri"/>
                </a:rPr>
                <a:t>t=2</a:t>
              </a:r>
            </a:p>
          </p:txBody>
        </p:sp>
      </p:grpSp>
      <p:sp>
        <p:nvSpPr>
          <p:cNvPr id="71" name="Rectangle 70"/>
          <p:cNvSpPr/>
          <p:nvPr/>
        </p:nvSpPr>
        <p:spPr>
          <a:xfrm>
            <a:off x="3421717" y="4345526"/>
            <a:ext cx="1275894" cy="777240"/>
          </a:xfrm>
          <a:prstGeom prst="rect">
            <a:avLst/>
          </a:prstGeom>
          <a:solidFill>
            <a:srgbClr val="F4F7FB"/>
          </a:solidFill>
          <a:ln w="9525">
            <a:solidFill>
              <a:srgbClr val="CCD9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TextBox 71"/>
          <p:cNvSpPr txBox="1"/>
          <p:nvPr/>
        </p:nvSpPr>
        <p:spPr>
          <a:xfrm>
            <a:off x="3427270" y="4400389"/>
            <a:ext cx="1282539" cy="292388"/>
          </a:xfrm>
          <a:prstGeom prst="rect">
            <a:avLst/>
          </a:prstGeom>
          <a:noFill/>
        </p:spPr>
        <p:txBody>
          <a:bodyPr wrap="square" lIns="91440" tIns="45720" rIns="91440" bIns="45720" anchor="ctr">
            <a:spAutoFit/>
          </a:bodyPr>
          <a:lstStyle/>
          <a:p>
            <a:pPr algn="ctr"/>
            <a:r>
              <a:rPr sz="1300" b="1" i="0">
                <a:solidFill>
                  <a:srgbClr val="1A2B47"/>
                </a:solidFill>
                <a:latin typeface="Calibri"/>
              </a:rPr>
              <a:t>pain: 7</a:t>
            </a:r>
          </a:p>
        </p:txBody>
      </p:sp>
      <p:sp>
        <p:nvSpPr>
          <p:cNvPr id="73" name="TextBox 72"/>
          <p:cNvSpPr txBox="1"/>
          <p:nvPr/>
        </p:nvSpPr>
        <p:spPr>
          <a:xfrm>
            <a:off x="3427270" y="4729574"/>
            <a:ext cx="1282539" cy="261610"/>
          </a:xfrm>
          <a:prstGeom prst="rect">
            <a:avLst/>
          </a:prstGeom>
          <a:noFill/>
        </p:spPr>
        <p:txBody>
          <a:bodyPr wrap="square" lIns="91440" tIns="45720" rIns="91440" bIns="45720" anchor="ctr">
            <a:spAutoFit/>
          </a:bodyPr>
          <a:lstStyle/>
          <a:p>
            <a:pPr algn="ctr"/>
            <a:r>
              <a:rPr sz="1100" b="0" i="0">
                <a:solidFill>
                  <a:srgbClr val="4A6A8A"/>
                </a:solidFill>
                <a:latin typeface="Calibri"/>
              </a:rPr>
              <a:t>8 MME</a:t>
            </a:r>
          </a:p>
        </p:txBody>
      </p:sp>
      <p:sp>
        <p:nvSpPr>
          <p:cNvPr id="74" name="TextBox 73"/>
          <p:cNvSpPr txBox="1"/>
          <p:nvPr/>
        </p:nvSpPr>
        <p:spPr>
          <a:xfrm>
            <a:off x="3891602" y="5082814"/>
            <a:ext cx="320040" cy="292608"/>
          </a:xfrm>
          <a:prstGeom prst="rect">
            <a:avLst/>
          </a:prstGeom>
          <a:noFill/>
        </p:spPr>
        <p:txBody>
          <a:bodyPr wrap="square">
            <a:spAutoFit/>
          </a:bodyPr>
          <a:lstStyle/>
          <a:p>
            <a:pPr algn="ctr"/>
            <a:r>
              <a:rPr sz="1300" b="0" i="0">
                <a:solidFill>
                  <a:srgbClr val="7A96B2"/>
                </a:solidFill>
                <a:latin typeface="Calibri"/>
              </a:rPr>
              <a:t>↓</a:t>
            </a:r>
          </a:p>
        </p:txBody>
      </p:sp>
      <p:sp>
        <p:nvSpPr>
          <p:cNvPr id="79" name="Rectangle 78"/>
          <p:cNvSpPr/>
          <p:nvPr/>
        </p:nvSpPr>
        <p:spPr>
          <a:xfrm>
            <a:off x="4912521" y="4345526"/>
            <a:ext cx="1275894" cy="777240"/>
          </a:xfrm>
          <a:prstGeom prst="rect">
            <a:avLst/>
          </a:prstGeom>
          <a:solidFill>
            <a:srgbClr val="F4F7FB"/>
          </a:solidFill>
          <a:ln w="9525">
            <a:solidFill>
              <a:srgbClr val="CCD9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 name="TextBox 79"/>
          <p:cNvSpPr txBox="1"/>
          <p:nvPr/>
        </p:nvSpPr>
        <p:spPr>
          <a:xfrm>
            <a:off x="4918074" y="4400389"/>
            <a:ext cx="1275382" cy="292388"/>
          </a:xfrm>
          <a:prstGeom prst="rect">
            <a:avLst/>
          </a:prstGeom>
          <a:noFill/>
        </p:spPr>
        <p:txBody>
          <a:bodyPr wrap="square" lIns="91440" tIns="45720" rIns="91440" bIns="45720" anchor="ctr">
            <a:spAutoFit/>
          </a:bodyPr>
          <a:lstStyle/>
          <a:p>
            <a:pPr algn="ctr"/>
            <a:r>
              <a:rPr sz="1300" b="1" i="0">
                <a:solidFill>
                  <a:srgbClr val="1A2B47"/>
                </a:solidFill>
                <a:latin typeface="Calibri"/>
              </a:rPr>
              <a:t>pain: 8</a:t>
            </a:r>
          </a:p>
        </p:txBody>
      </p:sp>
      <p:sp>
        <p:nvSpPr>
          <p:cNvPr id="81" name="TextBox 80"/>
          <p:cNvSpPr txBox="1"/>
          <p:nvPr/>
        </p:nvSpPr>
        <p:spPr>
          <a:xfrm>
            <a:off x="4918074" y="4729574"/>
            <a:ext cx="1275382" cy="261610"/>
          </a:xfrm>
          <a:prstGeom prst="rect">
            <a:avLst/>
          </a:prstGeom>
          <a:noFill/>
        </p:spPr>
        <p:txBody>
          <a:bodyPr wrap="square" lIns="91440" tIns="45720" rIns="91440" bIns="45720" anchor="ctr">
            <a:spAutoFit/>
          </a:bodyPr>
          <a:lstStyle/>
          <a:p>
            <a:pPr algn="ctr"/>
            <a:r>
              <a:rPr sz="1100" b="0" i="0">
                <a:solidFill>
                  <a:srgbClr val="4A6A8A"/>
                </a:solidFill>
                <a:latin typeface="Calibri"/>
              </a:rPr>
              <a:t>15 MME</a:t>
            </a:r>
          </a:p>
        </p:txBody>
      </p:sp>
      <p:sp>
        <p:nvSpPr>
          <p:cNvPr id="82" name="TextBox 81"/>
          <p:cNvSpPr txBox="1"/>
          <p:nvPr/>
        </p:nvSpPr>
        <p:spPr>
          <a:xfrm>
            <a:off x="5382406" y="5082814"/>
            <a:ext cx="320040" cy="292608"/>
          </a:xfrm>
          <a:prstGeom prst="rect">
            <a:avLst/>
          </a:prstGeom>
          <a:noFill/>
        </p:spPr>
        <p:txBody>
          <a:bodyPr wrap="square">
            <a:spAutoFit/>
          </a:bodyPr>
          <a:lstStyle/>
          <a:p>
            <a:pPr algn="ctr"/>
            <a:r>
              <a:rPr sz="1300" b="0" i="0">
                <a:solidFill>
                  <a:srgbClr val="7A96B2"/>
                </a:solidFill>
                <a:latin typeface="Calibri"/>
              </a:rPr>
              <a:t>↓</a:t>
            </a:r>
          </a:p>
        </p:txBody>
      </p:sp>
      <p:grpSp>
        <p:nvGrpSpPr>
          <p:cNvPr id="45" name="群組 44">
            <a:extLst>
              <a:ext uri="{FF2B5EF4-FFF2-40B4-BE49-F238E27FC236}">
                <a16:creationId xmlns:a16="http://schemas.microsoft.com/office/drawing/2014/main" id="{CB3417CB-6A8C-FD5C-3CE4-7D970FF21ED2}"/>
              </a:ext>
            </a:extLst>
          </p:cNvPr>
          <p:cNvGrpSpPr/>
          <p:nvPr/>
        </p:nvGrpSpPr>
        <p:grpSpPr>
          <a:xfrm>
            <a:off x="419800" y="6259532"/>
            <a:ext cx="11381470" cy="446553"/>
            <a:chOff x="419800" y="6259532"/>
            <a:chExt cx="11381470" cy="446553"/>
          </a:xfrm>
        </p:grpSpPr>
        <p:sp>
          <p:nvSpPr>
            <p:cNvPr id="102" name="Rectangle 101"/>
            <p:cNvSpPr/>
            <p:nvPr/>
          </p:nvSpPr>
          <p:spPr>
            <a:xfrm>
              <a:off x="419800" y="6259532"/>
              <a:ext cx="11381470" cy="446553"/>
            </a:xfrm>
            <a:prstGeom prst="rect">
              <a:avLst/>
            </a:prstGeom>
            <a:solidFill>
              <a:schemeClr val="accent1">
                <a:lumMod val="20000"/>
                <a:lumOff val="8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rgbClr val="262626"/>
                </a:solidFill>
              </a:endParaRPr>
            </a:p>
          </p:txBody>
        </p:sp>
        <p:sp>
          <p:nvSpPr>
            <p:cNvPr id="103" name="TextBox 102"/>
            <p:cNvSpPr txBox="1"/>
            <p:nvPr/>
          </p:nvSpPr>
          <p:spPr>
            <a:xfrm>
              <a:off x="625765" y="6318305"/>
              <a:ext cx="11064240" cy="338554"/>
            </a:xfrm>
            <a:prstGeom prst="rect">
              <a:avLst/>
            </a:prstGeom>
            <a:solidFill>
              <a:schemeClr val="accent1">
                <a:lumMod val="20000"/>
                <a:lumOff val="80000"/>
              </a:schemeClr>
            </a:solidFill>
          </p:spPr>
          <p:txBody>
            <a:bodyPr wrap="square" lIns="91440" tIns="45720" rIns="91440" bIns="45720" anchor="ctr">
              <a:spAutoFit/>
            </a:bodyPr>
            <a:lstStyle/>
            <a:p>
              <a:pPr algn="ctr"/>
              <a:r>
                <a:rPr sz="1600" b="1" i="1">
                  <a:solidFill>
                    <a:schemeClr val="tx1">
                      <a:lumMod val="76000"/>
                      <a:lumOff val="24000"/>
                    </a:schemeClr>
                  </a:solidFill>
                  <a:latin typeface="Calibri"/>
                </a:rPr>
                <a:t>Same pain trajectory </a:t>
              </a:r>
              <a:r>
                <a:rPr lang="af-ZA" sz="1600" b="1" i="1">
                  <a:solidFill>
                    <a:schemeClr val="tx1">
                      <a:lumMod val="76000"/>
                      <a:lumOff val="24000"/>
                    </a:schemeClr>
                  </a:solidFill>
                  <a:latin typeface="Calibri"/>
                </a:rPr>
                <a:t>but</a:t>
              </a:r>
              <a:r>
                <a:rPr lang="af-ZA" altLang="zh-TW" sz="1600" b="1" i="1">
                  <a:solidFill>
                    <a:schemeClr val="tx1">
                      <a:lumMod val="76000"/>
                      <a:lumOff val="24000"/>
                    </a:schemeClr>
                  </a:solidFill>
                  <a:latin typeface="Calibri"/>
                  <a:ea typeface="Calibri"/>
                </a:rPr>
                <a:t> </a:t>
              </a:r>
              <a:r>
                <a:rPr sz="1600" b="1" i="1">
                  <a:solidFill>
                    <a:schemeClr val="tx1">
                      <a:lumMod val="76000"/>
                      <a:lumOff val="24000"/>
                    </a:schemeClr>
                  </a:solidFill>
                  <a:latin typeface="Calibri"/>
                </a:rPr>
                <a:t>different state sequence. The HMM sees pain + </a:t>
              </a:r>
              <a:r>
                <a:rPr lang="af-ZA" sz="1600" b="1" i="1">
                  <a:solidFill>
                    <a:schemeClr val="tx1">
                      <a:lumMod val="76000"/>
                      <a:lumOff val="24000"/>
                    </a:schemeClr>
                  </a:solidFill>
                  <a:latin typeface="Calibri"/>
                </a:rPr>
                <a:t>MME</a:t>
              </a:r>
              <a:r>
                <a:rPr sz="1600" b="1" i="1">
                  <a:solidFill>
                    <a:schemeClr val="tx1">
                      <a:lumMod val="76000"/>
                      <a:lumOff val="24000"/>
                    </a:schemeClr>
                  </a:solidFill>
                  <a:latin typeface="Calibri"/>
                </a:rPr>
                <a:t> jointly to decode the hidden clinical path.</a:t>
              </a:r>
              <a:endParaRPr lang="zh-TW" altLang="en-US" sz="1600" b="1" i="1">
                <a:solidFill>
                  <a:schemeClr val="tx1">
                    <a:lumMod val="76000"/>
                    <a:lumOff val="24000"/>
                  </a:schemeClr>
                </a:solidFill>
                <a:ea typeface="新細明體"/>
                <a:cs typeface="Calibri"/>
              </a:endParaRPr>
            </a:p>
          </p:txBody>
        </p:sp>
      </p:grpSp>
      <p:grpSp>
        <p:nvGrpSpPr>
          <p:cNvPr id="39" name="群組 38">
            <a:extLst>
              <a:ext uri="{FF2B5EF4-FFF2-40B4-BE49-F238E27FC236}">
                <a16:creationId xmlns:a16="http://schemas.microsoft.com/office/drawing/2014/main" id="{09965142-BCD6-3700-5E5A-291DEDD51815}"/>
              </a:ext>
            </a:extLst>
          </p:cNvPr>
          <p:cNvGrpSpPr/>
          <p:nvPr/>
        </p:nvGrpSpPr>
        <p:grpSpPr>
          <a:xfrm>
            <a:off x="3430597" y="5357766"/>
            <a:ext cx="1288895" cy="618117"/>
            <a:chOff x="4260840" y="5357766"/>
            <a:chExt cx="1288895" cy="618117"/>
          </a:xfrm>
        </p:grpSpPr>
        <p:sp>
          <p:nvSpPr>
            <p:cNvPr id="110" name="Rectangle 90">
              <a:extLst>
                <a:ext uri="{FF2B5EF4-FFF2-40B4-BE49-F238E27FC236}">
                  <a16:creationId xmlns:a16="http://schemas.microsoft.com/office/drawing/2014/main" id="{EA7A272D-D229-5B03-5634-D35B7609ADBB}"/>
                </a:ext>
              </a:extLst>
            </p:cNvPr>
            <p:cNvSpPr/>
            <p:nvPr/>
          </p:nvSpPr>
          <p:spPr>
            <a:xfrm>
              <a:off x="4260840" y="5357766"/>
              <a:ext cx="1275894" cy="566928"/>
            </a:xfrm>
            <a:prstGeom prst="rect">
              <a:avLst/>
            </a:prstGeom>
            <a:solidFill>
              <a:srgbClr val="D4EDDF"/>
            </a:solidFill>
            <a:ln w="15240">
              <a:solidFill>
                <a:srgbClr val="1A7A4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TextBox 76"/>
            <p:cNvSpPr txBox="1"/>
            <p:nvPr/>
          </p:nvSpPr>
          <p:spPr>
            <a:xfrm>
              <a:off x="4645917" y="5719851"/>
              <a:ext cx="502920" cy="256032"/>
            </a:xfrm>
            <a:prstGeom prst="rect">
              <a:avLst/>
            </a:prstGeom>
            <a:noFill/>
          </p:spPr>
          <p:txBody>
            <a:bodyPr wrap="square">
              <a:spAutoFit/>
            </a:bodyPr>
            <a:lstStyle/>
            <a:p>
              <a:pPr algn="ctr"/>
              <a:r>
                <a:rPr sz="1000" b="0" i="0">
                  <a:solidFill>
                    <a:srgbClr val="7A96B2"/>
                  </a:solidFill>
                  <a:latin typeface="Calibri"/>
                </a:rPr>
                <a:t>t=3</a:t>
              </a:r>
            </a:p>
          </p:txBody>
        </p:sp>
        <p:sp>
          <p:nvSpPr>
            <p:cNvPr id="111" name="TextBox 91">
              <a:extLst>
                <a:ext uri="{FF2B5EF4-FFF2-40B4-BE49-F238E27FC236}">
                  <a16:creationId xmlns:a16="http://schemas.microsoft.com/office/drawing/2014/main" id="{427EA221-E46D-BA53-AFBB-8C61335D54AC}"/>
                </a:ext>
              </a:extLst>
            </p:cNvPr>
            <p:cNvSpPr txBox="1"/>
            <p:nvPr/>
          </p:nvSpPr>
          <p:spPr>
            <a:xfrm>
              <a:off x="4272774" y="5485581"/>
              <a:ext cx="1276961" cy="276999"/>
            </a:xfrm>
            <a:prstGeom prst="rect">
              <a:avLst/>
            </a:prstGeom>
            <a:noFill/>
          </p:spPr>
          <p:txBody>
            <a:bodyPr wrap="square">
              <a:spAutoFit/>
            </a:bodyPr>
            <a:lstStyle/>
            <a:p>
              <a:pPr algn="ctr"/>
              <a:r>
                <a:rPr sz="1200" b="1" i="0">
                  <a:solidFill>
                    <a:srgbClr val="1A7A4A"/>
                  </a:solidFill>
                  <a:latin typeface="Calibri"/>
                  <a:ea typeface="Calibri"/>
                  <a:cs typeface="Calibri"/>
                </a:rPr>
                <a:t>Managed</a:t>
              </a:r>
            </a:p>
          </p:txBody>
        </p:sp>
      </p:grpSp>
      <p:grpSp>
        <p:nvGrpSpPr>
          <p:cNvPr id="40" name="群組 39">
            <a:extLst>
              <a:ext uri="{FF2B5EF4-FFF2-40B4-BE49-F238E27FC236}">
                <a16:creationId xmlns:a16="http://schemas.microsoft.com/office/drawing/2014/main" id="{A472CF75-0D97-E5E2-9499-DB073A633A21}"/>
              </a:ext>
            </a:extLst>
          </p:cNvPr>
          <p:cNvGrpSpPr/>
          <p:nvPr/>
        </p:nvGrpSpPr>
        <p:grpSpPr>
          <a:xfrm>
            <a:off x="4921901" y="5357766"/>
            <a:ext cx="1288895" cy="618117"/>
            <a:chOff x="6181580" y="5357766"/>
            <a:chExt cx="1288895" cy="618117"/>
          </a:xfrm>
        </p:grpSpPr>
        <p:sp>
          <p:nvSpPr>
            <p:cNvPr id="113" name="Rectangle 98">
              <a:extLst>
                <a:ext uri="{FF2B5EF4-FFF2-40B4-BE49-F238E27FC236}">
                  <a16:creationId xmlns:a16="http://schemas.microsoft.com/office/drawing/2014/main" id="{13A1BFBE-3E4C-39AC-7C61-8B93BF6A8838}"/>
                </a:ext>
              </a:extLst>
            </p:cNvPr>
            <p:cNvSpPr/>
            <p:nvPr/>
          </p:nvSpPr>
          <p:spPr>
            <a:xfrm>
              <a:off x="6181580" y="5357766"/>
              <a:ext cx="1283051" cy="566928"/>
            </a:xfrm>
            <a:prstGeom prst="rect">
              <a:avLst/>
            </a:prstGeom>
            <a:solidFill>
              <a:srgbClr val="D4EDDF"/>
            </a:solidFill>
            <a:ln w="15240">
              <a:solidFill>
                <a:srgbClr val="1A7A4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TextBox 84"/>
            <p:cNvSpPr txBox="1"/>
            <p:nvPr/>
          </p:nvSpPr>
          <p:spPr>
            <a:xfrm>
              <a:off x="6566157" y="5719851"/>
              <a:ext cx="502920" cy="256032"/>
            </a:xfrm>
            <a:prstGeom prst="rect">
              <a:avLst/>
            </a:prstGeom>
            <a:noFill/>
          </p:spPr>
          <p:txBody>
            <a:bodyPr wrap="square">
              <a:spAutoFit/>
            </a:bodyPr>
            <a:lstStyle/>
            <a:p>
              <a:pPr algn="ctr"/>
              <a:r>
                <a:rPr sz="1000" b="0" i="0">
                  <a:solidFill>
                    <a:srgbClr val="7A96B2"/>
                  </a:solidFill>
                  <a:latin typeface="Calibri"/>
                </a:rPr>
                <a:t>t=4</a:t>
              </a:r>
            </a:p>
          </p:txBody>
        </p:sp>
        <p:sp>
          <p:nvSpPr>
            <p:cNvPr id="114" name="TextBox 99">
              <a:extLst>
                <a:ext uri="{FF2B5EF4-FFF2-40B4-BE49-F238E27FC236}">
                  <a16:creationId xmlns:a16="http://schemas.microsoft.com/office/drawing/2014/main" id="{80EC7912-5A53-21BE-4239-AB9273919023}"/>
                </a:ext>
              </a:extLst>
            </p:cNvPr>
            <p:cNvSpPr txBox="1"/>
            <p:nvPr/>
          </p:nvSpPr>
          <p:spPr>
            <a:xfrm>
              <a:off x="6193514" y="5485581"/>
              <a:ext cx="1276961" cy="276999"/>
            </a:xfrm>
            <a:prstGeom prst="rect">
              <a:avLst/>
            </a:prstGeom>
            <a:noFill/>
          </p:spPr>
          <p:txBody>
            <a:bodyPr wrap="square">
              <a:spAutoFit/>
            </a:bodyPr>
            <a:lstStyle/>
            <a:p>
              <a:pPr algn="ctr"/>
              <a:r>
                <a:rPr sz="1200" b="1" i="0">
                  <a:solidFill>
                    <a:srgbClr val="1A7A4A"/>
                  </a:solidFill>
                  <a:latin typeface="Calibri"/>
                  <a:ea typeface="Calibri"/>
                  <a:cs typeface="Calibri"/>
                </a:rPr>
                <a:t>Managed</a:t>
              </a:r>
            </a:p>
          </p:txBody>
        </p:sp>
      </p:grpSp>
      <p:grpSp>
        <p:nvGrpSpPr>
          <p:cNvPr id="129" name="群組 128">
            <a:extLst>
              <a:ext uri="{FF2B5EF4-FFF2-40B4-BE49-F238E27FC236}">
                <a16:creationId xmlns:a16="http://schemas.microsoft.com/office/drawing/2014/main" id="{246B4816-637C-7305-991E-183DB606DB1B}"/>
              </a:ext>
            </a:extLst>
          </p:cNvPr>
          <p:cNvGrpSpPr/>
          <p:nvPr/>
        </p:nvGrpSpPr>
        <p:grpSpPr>
          <a:xfrm>
            <a:off x="7158689" y="1805373"/>
            <a:ext cx="4819996" cy="4259700"/>
            <a:chOff x="6126480" y="2331720"/>
            <a:chExt cx="5650992" cy="4251960"/>
          </a:xfrm>
        </p:grpSpPr>
        <p:sp>
          <p:nvSpPr>
            <p:cNvPr id="127" name="Rectangle 25">
              <a:extLst>
                <a:ext uri="{FF2B5EF4-FFF2-40B4-BE49-F238E27FC236}">
                  <a16:creationId xmlns:a16="http://schemas.microsoft.com/office/drawing/2014/main" id="{7AB3A2DC-F5F2-518B-04FD-5C6ED2264A2C}"/>
                </a:ext>
              </a:extLst>
            </p:cNvPr>
            <p:cNvSpPr/>
            <p:nvPr/>
          </p:nvSpPr>
          <p:spPr>
            <a:xfrm>
              <a:off x="6126480" y="2331720"/>
              <a:ext cx="5650992" cy="4251960"/>
            </a:xfrm>
            <a:prstGeom prst="rect">
              <a:avLst/>
            </a:prstGeom>
            <a:solidFill>
              <a:srgbClr val="F4F7FB"/>
            </a:solidFill>
            <a:ln w="9525">
              <a:solidFill>
                <a:srgbClr val="CCD9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8" name="Rectangle 26">
              <a:extLst>
                <a:ext uri="{FF2B5EF4-FFF2-40B4-BE49-F238E27FC236}">
                  <a16:creationId xmlns:a16="http://schemas.microsoft.com/office/drawing/2014/main" id="{F7C5D897-FD68-5558-DA4E-DC8BFAE0E429}"/>
                </a:ext>
              </a:extLst>
            </p:cNvPr>
            <p:cNvSpPr/>
            <p:nvPr/>
          </p:nvSpPr>
          <p:spPr>
            <a:xfrm>
              <a:off x="6126480" y="2331720"/>
              <a:ext cx="91440" cy="4251960"/>
            </a:xfrm>
            <a:prstGeom prst="rect">
              <a:avLst/>
            </a:prstGeom>
            <a:solidFill>
              <a:schemeClr val="tx2">
                <a:lumMod val="7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sp>
        <p:nvSpPr>
          <p:cNvPr id="131" name="TextBox 27">
            <a:extLst>
              <a:ext uri="{FF2B5EF4-FFF2-40B4-BE49-F238E27FC236}">
                <a16:creationId xmlns:a16="http://schemas.microsoft.com/office/drawing/2014/main" id="{D7AB6A06-8CC1-755E-E942-F7D47A27A36A}"/>
              </a:ext>
            </a:extLst>
          </p:cNvPr>
          <p:cNvSpPr txBox="1"/>
          <p:nvPr/>
        </p:nvSpPr>
        <p:spPr>
          <a:xfrm>
            <a:off x="7490095" y="1927773"/>
            <a:ext cx="4348621" cy="338554"/>
          </a:xfrm>
          <a:prstGeom prst="rect">
            <a:avLst/>
          </a:prstGeom>
          <a:noFill/>
        </p:spPr>
        <p:txBody>
          <a:bodyPr wrap="square" lIns="91440" tIns="45720" rIns="91440" bIns="45720" anchor="t">
            <a:spAutoFit/>
          </a:bodyPr>
          <a:lstStyle/>
          <a:p>
            <a:r>
              <a:rPr lang="af-ZA" sz="1600" b="1">
                <a:solidFill>
                  <a:schemeClr val="tx2">
                    <a:lumMod val="49000"/>
                  </a:schemeClr>
                </a:solidFill>
                <a:latin typeface="Calibri"/>
                <a:ea typeface="Calibri"/>
                <a:cs typeface="Calibri"/>
              </a:rPr>
              <a:t>Why HMM?</a:t>
            </a:r>
            <a:endParaRPr lang="zh-TW" altLang="en-US" sz="1600" b="1" i="0">
              <a:solidFill>
                <a:schemeClr val="tx2">
                  <a:lumMod val="49000"/>
                </a:schemeClr>
              </a:solidFill>
              <a:latin typeface="Calibri"/>
              <a:ea typeface="新細明體"/>
              <a:cs typeface="Calibri"/>
            </a:endParaRPr>
          </a:p>
        </p:txBody>
      </p:sp>
      <p:grpSp>
        <p:nvGrpSpPr>
          <p:cNvPr id="136" name="群組 135">
            <a:extLst>
              <a:ext uri="{FF2B5EF4-FFF2-40B4-BE49-F238E27FC236}">
                <a16:creationId xmlns:a16="http://schemas.microsoft.com/office/drawing/2014/main" id="{67AE5251-8458-CAB6-E9E0-E546BD015DF9}"/>
              </a:ext>
            </a:extLst>
          </p:cNvPr>
          <p:cNvGrpSpPr/>
          <p:nvPr/>
        </p:nvGrpSpPr>
        <p:grpSpPr>
          <a:xfrm>
            <a:off x="7470983" y="2427886"/>
            <a:ext cx="4360886" cy="1063511"/>
            <a:chOff x="6297210" y="2915645"/>
            <a:chExt cx="5042199" cy="1078992"/>
          </a:xfrm>
        </p:grpSpPr>
        <p:sp>
          <p:nvSpPr>
            <p:cNvPr id="133" name="Rectangle 28">
              <a:extLst>
                <a:ext uri="{FF2B5EF4-FFF2-40B4-BE49-F238E27FC236}">
                  <a16:creationId xmlns:a16="http://schemas.microsoft.com/office/drawing/2014/main" id="{72DCD25F-AB87-87F5-11E9-F40E99D6B560}"/>
                </a:ext>
              </a:extLst>
            </p:cNvPr>
            <p:cNvSpPr/>
            <p:nvPr/>
          </p:nvSpPr>
          <p:spPr>
            <a:xfrm>
              <a:off x="6297210" y="2915645"/>
              <a:ext cx="5042199" cy="1078992"/>
            </a:xfrm>
            <a:prstGeom prst="rect">
              <a:avLst/>
            </a:prstGeom>
            <a:solidFill>
              <a:schemeClr val="bg1">
                <a:lumMod val="95000"/>
              </a:schemeClr>
            </a:solidFill>
            <a:ln>
              <a:noFill/>
            </a:ln>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a:endParaRPr/>
            </a:p>
          </p:txBody>
        </p:sp>
        <p:sp>
          <p:nvSpPr>
            <p:cNvPr id="134" name="TextBox 29">
              <a:extLst>
                <a:ext uri="{FF2B5EF4-FFF2-40B4-BE49-F238E27FC236}">
                  <a16:creationId xmlns:a16="http://schemas.microsoft.com/office/drawing/2014/main" id="{8174B91C-A674-C360-CBE5-8B337A771CCF}"/>
                </a:ext>
              </a:extLst>
            </p:cNvPr>
            <p:cNvSpPr txBox="1"/>
            <p:nvPr/>
          </p:nvSpPr>
          <p:spPr>
            <a:xfrm>
              <a:off x="6315981" y="2980944"/>
              <a:ext cx="4937759" cy="312257"/>
            </a:xfrm>
            <a:prstGeom prst="rect">
              <a:avLst/>
            </a:prstGeom>
            <a:solidFill>
              <a:schemeClr val="bg1">
                <a:lumMod val="95000"/>
              </a:schemeClr>
            </a:solidFill>
          </p:spPr>
          <p:txBody>
            <a:bodyPr wrap="square" lIns="91440" tIns="45720" rIns="91440" bIns="45720" anchor="t">
              <a:spAutoFit/>
            </a:bodyPr>
            <a:lstStyle/>
            <a:p>
              <a:pPr algn="l"/>
              <a:r>
                <a:rPr sz="1400" b="1" i="0">
                  <a:solidFill>
                    <a:schemeClr val="tx2">
                      <a:lumMod val="49000"/>
                    </a:schemeClr>
                  </a:solidFill>
                  <a:latin typeface="Calibri"/>
                </a:rPr>
                <a:t>Repeated measures per </a:t>
              </a:r>
              <a:r>
                <a:rPr lang="af-ZA" sz="1400" b="1">
                  <a:solidFill>
                    <a:schemeClr val="tx2">
                      <a:lumMod val="49000"/>
                    </a:schemeClr>
                  </a:solidFill>
                  <a:latin typeface="Calibri"/>
                </a:rPr>
                <a:t>encounter</a:t>
              </a:r>
              <a:endParaRPr lang="zh-TW" altLang="en-US" sz="1400" b="1" i="0">
                <a:solidFill>
                  <a:schemeClr val="tx2">
                    <a:lumMod val="49000"/>
                  </a:schemeClr>
                </a:solidFill>
                <a:latin typeface="Calibri"/>
                <a:ea typeface="新細明體"/>
                <a:cs typeface="Calibri"/>
              </a:endParaRPr>
            </a:p>
          </p:txBody>
        </p:sp>
        <p:sp>
          <p:nvSpPr>
            <p:cNvPr id="135" name="TextBox 30">
              <a:extLst>
                <a:ext uri="{FF2B5EF4-FFF2-40B4-BE49-F238E27FC236}">
                  <a16:creationId xmlns:a16="http://schemas.microsoft.com/office/drawing/2014/main" id="{44BC0933-90D6-2CE0-BA04-2A9759892E9A}"/>
                </a:ext>
              </a:extLst>
            </p:cNvPr>
            <p:cNvSpPr txBox="1"/>
            <p:nvPr/>
          </p:nvSpPr>
          <p:spPr>
            <a:xfrm>
              <a:off x="6335886" y="3291734"/>
              <a:ext cx="4998517" cy="530836"/>
            </a:xfrm>
            <a:prstGeom prst="rect">
              <a:avLst/>
            </a:prstGeom>
            <a:solidFill>
              <a:schemeClr val="bg1">
                <a:lumMod val="95000"/>
              </a:schemeClr>
            </a:solidFill>
          </p:spPr>
          <p:txBody>
            <a:bodyPr wrap="square" lIns="91440" tIns="45720" rIns="91440" bIns="45720" anchor="t">
              <a:spAutoFit/>
            </a:bodyPr>
            <a:lstStyle/>
            <a:p>
              <a:pPr algn="l"/>
              <a:r>
                <a:rPr sz="1400" b="0" i="0">
                  <a:solidFill>
                    <a:schemeClr val="tx2">
                      <a:lumMod val="49000"/>
                    </a:schemeClr>
                  </a:solidFill>
                  <a:latin typeface="Calibri"/>
                </a:rPr>
                <a:t>HMM treats each encounter as a time-ordered sequence of (pain, </a:t>
              </a:r>
              <a:r>
                <a:rPr lang="af-ZA" sz="1400">
                  <a:solidFill>
                    <a:schemeClr val="tx2">
                      <a:lumMod val="49000"/>
                    </a:schemeClr>
                  </a:solidFill>
                  <a:latin typeface="Calibri"/>
                </a:rPr>
                <a:t>MME</a:t>
              </a:r>
              <a:r>
                <a:rPr sz="1400" b="0" i="0">
                  <a:solidFill>
                    <a:schemeClr val="tx2">
                      <a:lumMod val="49000"/>
                    </a:schemeClr>
                  </a:solidFill>
                  <a:latin typeface="Calibri"/>
                </a:rPr>
                <a:t>) observations</a:t>
              </a:r>
              <a:endParaRPr lang="zh-TW" altLang="en-US" sz="1400" b="0" i="0">
                <a:solidFill>
                  <a:schemeClr val="tx2">
                    <a:lumMod val="49000"/>
                  </a:schemeClr>
                </a:solidFill>
                <a:latin typeface="Calibri"/>
                <a:ea typeface="新細明體"/>
                <a:cs typeface="Calibri"/>
              </a:endParaRPr>
            </a:p>
          </p:txBody>
        </p:sp>
      </p:grpSp>
      <p:grpSp>
        <p:nvGrpSpPr>
          <p:cNvPr id="141" name="群組 140">
            <a:extLst>
              <a:ext uri="{FF2B5EF4-FFF2-40B4-BE49-F238E27FC236}">
                <a16:creationId xmlns:a16="http://schemas.microsoft.com/office/drawing/2014/main" id="{760819EC-29D4-A917-D301-48983F263DE6}"/>
              </a:ext>
            </a:extLst>
          </p:cNvPr>
          <p:cNvGrpSpPr/>
          <p:nvPr/>
        </p:nvGrpSpPr>
        <p:grpSpPr>
          <a:xfrm>
            <a:off x="7470379" y="3628596"/>
            <a:ext cx="4364121" cy="1094473"/>
            <a:chOff x="6308368" y="4096512"/>
            <a:chExt cx="5286224" cy="1078992"/>
          </a:xfrm>
        </p:grpSpPr>
        <p:sp>
          <p:nvSpPr>
            <p:cNvPr id="138" name="Rectangle 31">
              <a:extLst>
                <a:ext uri="{FF2B5EF4-FFF2-40B4-BE49-F238E27FC236}">
                  <a16:creationId xmlns:a16="http://schemas.microsoft.com/office/drawing/2014/main" id="{33801FC7-6EE5-84E9-0711-0CEFAA002BBD}"/>
                </a:ext>
              </a:extLst>
            </p:cNvPr>
            <p:cNvSpPr/>
            <p:nvPr/>
          </p:nvSpPr>
          <p:spPr>
            <a:xfrm>
              <a:off x="6309360" y="4096512"/>
              <a:ext cx="5285232" cy="1078992"/>
            </a:xfrm>
            <a:prstGeom prst="rect">
              <a:avLst/>
            </a:prstGeom>
            <a:solidFill>
              <a:schemeClr val="bg1">
                <a:lumMod val="9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9" name="TextBox 32">
              <a:extLst>
                <a:ext uri="{FF2B5EF4-FFF2-40B4-BE49-F238E27FC236}">
                  <a16:creationId xmlns:a16="http://schemas.microsoft.com/office/drawing/2014/main" id="{61071DA3-6B7D-24A7-11C5-45ECFFEB18F3}"/>
                </a:ext>
              </a:extLst>
            </p:cNvPr>
            <p:cNvSpPr txBox="1"/>
            <p:nvPr/>
          </p:nvSpPr>
          <p:spPr>
            <a:xfrm>
              <a:off x="6346580" y="4162034"/>
              <a:ext cx="4937759" cy="307777"/>
            </a:xfrm>
            <a:prstGeom prst="rect">
              <a:avLst/>
            </a:prstGeom>
            <a:solidFill>
              <a:schemeClr val="bg1">
                <a:lumMod val="95000"/>
              </a:schemeClr>
            </a:solidFill>
          </p:spPr>
          <p:txBody>
            <a:bodyPr wrap="square" lIns="91440" tIns="45720" rIns="91440" bIns="45720" anchor="t">
              <a:spAutoFit/>
            </a:bodyPr>
            <a:lstStyle/>
            <a:p>
              <a:pPr algn="l"/>
              <a:r>
                <a:rPr sz="1400" b="1" i="0">
                  <a:solidFill>
                    <a:schemeClr val="tx2">
                      <a:lumMod val="49000"/>
                    </a:schemeClr>
                  </a:solidFill>
                  <a:latin typeface="Calibri"/>
                </a:rPr>
                <a:t>No labeled states needed</a:t>
              </a:r>
              <a:endParaRPr lang="zh-TW" altLang="en-US" sz="1400" b="1" i="0">
                <a:solidFill>
                  <a:schemeClr val="tx2">
                    <a:lumMod val="49000"/>
                  </a:schemeClr>
                </a:solidFill>
                <a:latin typeface="Calibri"/>
                <a:ea typeface="新細明體"/>
                <a:cs typeface="Calibri"/>
              </a:endParaRPr>
            </a:p>
          </p:txBody>
        </p:sp>
        <p:sp>
          <p:nvSpPr>
            <p:cNvPr id="140" name="TextBox 33">
              <a:extLst>
                <a:ext uri="{FF2B5EF4-FFF2-40B4-BE49-F238E27FC236}">
                  <a16:creationId xmlns:a16="http://schemas.microsoft.com/office/drawing/2014/main" id="{89920F91-77F1-9A6A-196D-B57AE849A946}"/>
                </a:ext>
              </a:extLst>
            </p:cNvPr>
            <p:cNvSpPr txBox="1"/>
            <p:nvPr/>
          </p:nvSpPr>
          <p:spPr>
            <a:xfrm>
              <a:off x="6308368" y="4413328"/>
              <a:ext cx="4988709" cy="303424"/>
            </a:xfrm>
            <a:prstGeom prst="rect">
              <a:avLst/>
            </a:prstGeom>
            <a:solidFill>
              <a:schemeClr val="bg1">
                <a:lumMod val="95000"/>
              </a:schemeClr>
            </a:solidFill>
          </p:spPr>
          <p:txBody>
            <a:bodyPr wrap="square" lIns="91440" tIns="45720" rIns="91440" bIns="45720" anchor="t">
              <a:spAutoFit/>
            </a:bodyPr>
            <a:lstStyle/>
            <a:p>
              <a:pPr algn="l"/>
              <a:r>
                <a:rPr sz="1400" b="0" i="0">
                  <a:solidFill>
                    <a:srgbClr val="1A2B47"/>
                  </a:solidFill>
                  <a:latin typeface="Calibri"/>
                </a:rPr>
                <a:t>HMM discovers </a:t>
              </a:r>
              <a:r>
                <a:rPr lang="af-ZA" sz="1400">
                  <a:solidFill>
                    <a:srgbClr val="1A2B47"/>
                  </a:solidFill>
                  <a:latin typeface="Calibri"/>
                </a:rPr>
                <a:t>different</a:t>
              </a:r>
              <a:r>
                <a:rPr sz="1400" b="0" i="0">
                  <a:solidFill>
                    <a:srgbClr val="1A2B47"/>
                  </a:solidFill>
                  <a:latin typeface="Calibri"/>
                </a:rPr>
                <a:t> states directly from the data</a:t>
              </a:r>
              <a:endParaRPr lang="zh-TW" altLang="en-US" sz="1400" b="0" i="0">
                <a:solidFill>
                  <a:srgbClr val="1A2B47"/>
                </a:solidFill>
                <a:latin typeface="Calibri"/>
                <a:ea typeface="新細明體"/>
                <a:cs typeface="Calibri"/>
              </a:endParaRPr>
            </a:p>
          </p:txBody>
        </p:sp>
      </p:grpSp>
      <p:grpSp>
        <p:nvGrpSpPr>
          <p:cNvPr id="146" name="群組 145">
            <a:extLst>
              <a:ext uri="{FF2B5EF4-FFF2-40B4-BE49-F238E27FC236}">
                <a16:creationId xmlns:a16="http://schemas.microsoft.com/office/drawing/2014/main" id="{CC65E2C0-A975-0317-C413-2D26F1870019}"/>
              </a:ext>
            </a:extLst>
          </p:cNvPr>
          <p:cNvGrpSpPr/>
          <p:nvPr/>
        </p:nvGrpSpPr>
        <p:grpSpPr>
          <a:xfrm>
            <a:off x="7470981" y="4874990"/>
            <a:ext cx="4363518" cy="1071491"/>
            <a:chOff x="6309360" y="5285232"/>
            <a:chExt cx="5285232" cy="1078992"/>
          </a:xfrm>
        </p:grpSpPr>
        <p:sp>
          <p:nvSpPr>
            <p:cNvPr id="143" name="Rectangle 34">
              <a:extLst>
                <a:ext uri="{FF2B5EF4-FFF2-40B4-BE49-F238E27FC236}">
                  <a16:creationId xmlns:a16="http://schemas.microsoft.com/office/drawing/2014/main" id="{A465E652-FDDB-6DAD-6AEB-A1F689EC09E9}"/>
                </a:ext>
              </a:extLst>
            </p:cNvPr>
            <p:cNvSpPr/>
            <p:nvPr/>
          </p:nvSpPr>
          <p:spPr>
            <a:xfrm>
              <a:off x="6309360" y="5285232"/>
              <a:ext cx="5285232" cy="1078992"/>
            </a:xfrm>
            <a:prstGeom prst="rect">
              <a:avLst/>
            </a:prstGeom>
            <a:solidFill>
              <a:schemeClr val="bg1">
                <a:lumMod val="9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4" name="TextBox 35">
              <a:extLst>
                <a:ext uri="{FF2B5EF4-FFF2-40B4-BE49-F238E27FC236}">
                  <a16:creationId xmlns:a16="http://schemas.microsoft.com/office/drawing/2014/main" id="{AE96BB44-C341-FC95-3993-FC6363F3A162}"/>
                </a:ext>
              </a:extLst>
            </p:cNvPr>
            <p:cNvSpPr txBox="1"/>
            <p:nvPr/>
          </p:nvSpPr>
          <p:spPr>
            <a:xfrm>
              <a:off x="6346580" y="5335000"/>
              <a:ext cx="4937760" cy="307777"/>
            </a:xfrm>
            <a:prstGeom prst="rect">
              <a:avLst/>
            </a:prstGeom>
            <a:solidFill>
              <a:schemeClr val="bg1">
                <a:lumMod val="95000"/>
              </a:schemeClr>
            </a:solidFill>
          </p:spPr>
          <p:txBody>
            <a:bodyPr wrap="square" lIns="91440" tIns="45720" rIns="91440" bIns="45720" anchor="t">
              <a:spAutoFit/>
            </a:bodyPr>
            <a:lstStyle/>
            <a:p>
              <a:pPr algn="l"/>
              <a:r>
                <a:rPr sz="1400" b="1" i="0">
                  <a:solidFill>
                    <a:schemeClr val="tx2">
                      <a:lumMod val="49000"/>
                    </a:schemeClr>
                  </a:solidFill>
                  <a:latin typeface="Calibri"/>
                </a:rPr>
                <a:t>Trajectory, not snapshot</a:t>
              </a:r>
              <a:endParaRPr lang="zh-TW" altLang="en-US" sz="1400" b="1" i="0">
                <a:solidFill>
                  <a:schemeClr val="tx2">
                    <a:lumMod val="49000"/>
                  </a:schemeClr>
                </a:solidFill>
                <a:latin typeface="Calibri"/>
                <a:ea typeface="新細明體"/>
                <a:cs typeface="Calibri"/>
              </a:endParaRPr>
            </a:p>
          </p:txBody>
        </p:sp>
        <p:sp>
          <p:nvSpPr>
            <p:cNvPr id="145" name="TextBox 36">
              <a:extLst>
                <a:ext uri="{FF2B5EF4-FFF2-40B4-BE49-F238E27FC236}">
                  <a16:creationId xmlns:a16="http://schemas.microsoft.com/office/drawing/2014/main" id="{329D33D5-B244-D8C8-BACB-6F6BB5BCAA7A}"/>
                </a:ext>
              </a:extLst>
            </p:cNvPr>
            <p:cNvSpPr txBox="1"/>
            <p:nvPr/>
          </p:nvSpPr>
          <p:spPr>
            <a:xfrm>
              <a:off x="6346580" y="5638185"/>
              <a:ext cx="4988709" cy="526883"/>
            </a:xfrm>
            <a:prstGeom prst="rect">
              <a:avLst/>
            </a:prstGeom>
            <a:solidFill>
              <a:schemeClr val="bg1">
                <a:lumMod val="95000"/>
              </a:schemeClr>
            </a:solidFill>
          </p:spPr>
          <p:txBody>
            <a:bodyPr wrap="square" lIns="91440" tIns="45720" rIns="91440" bIns="45720" anchor="t">
              <a:spAutoFit/>
            </a:bodyPr>
            <a:lstStyle/>
            <a:p>
              <a:r>
                <a:rPr lang="af-ZA" sz="1400">
                  <a:solidFill>
                    <a:schemeClr val="tx2">
                      <a:lumMod val="49000"/>
                    </a:schemeClr>
                  </a:solidFill>
                  <a:latin typeface="Calibri"/>
                </a:rPr>
                <a:t>Check</a:t>
              </a:r>
              <a:r>
                <a:rPr sz="1400" b="0" i="0">
                  <a:solidFill>
                    <a:schemeClr val="tx2">
                      <a:lumMod val="49000"/>
                    </a:schemeClr>
                  </a:solidFill>
                  <a:latin typeface="Calibri"/>
                </a:rPr>
                <a:t> whether LEP patients are stuck undertreated</a:t>
              </a:r>
              <a:r>
                <a:rPr lang="en-US" altLang="zh-TW" sz="1400">
                  <a:solidFill>
                    <a:schemeClr val="tx2">
                      <a:lumMod val="49000"/>
                    </a:schemeClr>
                  </a:solidFill>
                  <a:latin typeface="Calibri"/>
                  <a:ea typeface="Calibri"/>
                </a:rPr>
                <a:t>,</a:t>
              </a:r>
              <a:r>
                <a:rPr lang="zh-TW" sz="1400">
                  <a:solidFill>
                    <a:schemeClr val="tx2">
                      <a:lumMod val="49000"/>
                    </a:schemeClr>
                  </a:solidFill>
                  <a:latin typeface="Calibri"/>
                  <a:ea typeface="新細明體"/>
                </a:rPr>
                <a:t> </a:t>
              </a:r>
              <a:r>
                <a:rPr sz="1400" b="0" i="0">
                  <a:solidFill>
                    <a:schemeClr val="tx2">
                      <a:lumMod val="49000"/>
                    </a:schemeClr>
                  </a:solidFill>
                  <a:latin typeface="Calibri"/>
                </a:rPr>
                <a:t>not just less likely at one moment</a:t>
              </a:r>
              <a:endParaRPr lang="zh-TW" altLang="en-US" sz="1400" b="0" i="0">
                <a:solidFill>
                  <a:schemeClr val="tx2">
                    <a:lumMod val="49000"/>
                  </a:schemeClr>
                </a:solidFill>
                <a:latin typeface="Calibri"/>
                <a:ea typeface="新細明體"/>
                <a:cs typeface="Calibri"/>
              </a:endParaRPr>
            </a:p>
          </p:txBody>
        </p:sp>
      </p:grpSp>
      <p:sp>
        <p:nvSpPr>
          <p:cNvPr id="148" name="文字方塊 147">
            <a:extLst>
              <a:ext uri="{FF2B5EF4-FFF2-40B4-BE49-F238E27FC236}">
                <a16:creationId xmlns:a16="http://schemas.microsoft.com/office/drawing/2014/main" id="{1DD20D39-CD9C-C6E8-3D62-3E5E06626B9D}"/>
              </a:ext>
            </a:extLst>
          </p:cNvPr>
          <p:cNvSpPr txBox="1"/>
          <p:nvPr/>
        </p:nvSpPr>
        <p:spPr>
          <a:xfrm>
            <a:off x="6336612" y="3133264"/>
            <a:ext cx="487590" cy="400110"/>
          </a:xfrm>
          <a:prstGeom prst="rect">
            <a:avLst/>
          </a:prstGeom>
          <a:noFill/>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r>
              <a:rPr lang="af-ZA" altLang="zh-TW" sz="2000" b="1">
                <a:solidFill>
                  <a:srgbClr val="4A6A8A"/>
                </a:solidFill>
                <a:ea typeface="Calibri"/>
                <a:cs typeface="Calibri"/>
              </a:rPr>
              <a:t>·</a:t>
            </a:r>
            <a:r>
              <a:rPr lang="af-ZA" sz="2000" b="1">
                <a:solidFill>
                  <a:srgbClr val="4A6A8A"/>
                </a:solidFill>
                <a:ea typeface="Calibri"/>
                <a:cs typeface="Calibri"/>
              </a:rPr>
              <a:t>··</a:t>
            </a:r>
            <a:endParaRPr lang="zh-TW" sz="2000" b="1">
              <a:ea typeface="新細明體"/>
              <a:cs typeface="Calibri"/>
            </a:endParaRPr>
          </a:p>
        </p:txBody>
      </p:sp>
      <p:sp>
        <p:nvSpPr>
          <p:cNvPr id="149" name="文字方塊 148">
            <a:extLst>
              <a:ext uri="{FF2B5EF4-FFF2-40B4-BE49-F238E27FC236}">
                <a16:creationId xmlns:a16="http://schemas.microsoft.com/office/drawing/2014/main" id="{801E5D6E-F636-DF23-943A-D1098A7EA69A}"/>
              </a:ext>
            </a:extLst>
          </p:cNvPr>
          <p:cNvSpPr txBox="1"/>
          <p:nvPr/>
        </p:nvSpPr>
        <p:spPr>
          <a:xfrm>
            <a:off x="6352473" y="5440654"/>
            <a:ext cx="487590" cy="400110"/>
          </a:xfrm>
          <a:prstGeom prst="rect">
            <a:avLst/>
          </a:prstGeom>
          <a:noFill/>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r>
              <a:rPr lang="af-ZA" altLang="zh-TW" sz="2000" b="1">
                <a:solidFill>
                  <a:srgbClr val="4A6A8A"/>
                </a:solidFill>
                <a:ea typeface="Calibri"/>
                <a:cs typeface="Calibri"/>
              </a:rPr>
              <a:t>·</a:t>
            </a:r>
            <a:r>
              <a:rPr lang="af-ZA" sz="2000" b="1">
                <a:solidFill>
                  <a:srgbClr val="4A6A8A"/>
                </a:solidFill>
                <a:ea typeface="Calibri"/>
                <a:cs typeface="Calibri"/>
              </a:rPr>
              <a:t>··</a:t>
            </a:r>
            <a:endParaRPr lang="zh-TW" sz="2000" b="1">
              <a:ea typeface="新細明體"/>
              <a:cs typeface="Calibri"/>
            </a:endParaRPr>
          </a:p>
        </p:txBody>
      </p:sp>
      <p:grpSp>
        <p:nvGrpSpPr>
          <p:cNvPr id="46" name="群組 45">
            <a:extLst>
              <a:ext uri="{FF2B5EF4-FFF2-40B4-BE49-F238E27FC236}">
                <a16:creationId xmlns:a16="http://schemas.microsoft.com/office/drawing/2014/main" id="{00458735-991B-F73B-EEF2-C315FBC3D55C}"/>
              </a:ext>
            </a:extLst>
          </p:cNvPr>
          <p:cNvGrpSpPr/>
          <p:nvPr/>
        </p:nvGrpSpPr>
        <p:grpSpPr>
          <a:xfrm>
            <a:off x="419218" y="868474"/>
            <a:ext cx="11373731" cy="606952"/>
            <a:chOff x="419218" y="868474"/>
            <a:chExt cx="11373731" cy="606952"/>
          </a:xfrm>
        </p:grpSpPr>
        <p:sp>
          <p:nvSpPr>
            <p:cNvPr id="151" name="Rectangle 5">
              <a:extLst>
                <a:ext uri="{FF2B5EF4-FFF2-40B4-BE49-F238E27FC236}">
                  <a16:creationId xmlns:a16="http://schemas.microsoft.com/office/drawing/2014/main" id="{F9D62462-8EEF-294B-7A0F-4F0090C7E099}"/>
                </a:ext>
              </a:extLst>
            </p:cNvPr>
            <p:cNvSpPr/>
            <p:nvPr/>
          </p:nvSpPr>
          <p:spPr>
            <a:xfrm>
              <a:off x="419218" y="868474"/>
              <a:ext cx="11373731" cy="606952"/>
            </a:xfrm>
            <a:prstGeom prst="rect">
              <a:avLst/>
            </a:prstGeom>
            <a:solidFill>
              <a:schemeClr val="accent1">
                <a:lumMod val="20000"/>
                <a:lumOff val="8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3" name="TextBox 6">
              <a:extLst>
                <a:ext uri="{FF2B5EF4-FFF2-40B4-BE49-F238E27FC236}">
                  <a16:creationId xmlns:a16="http://schemas.microsoft.com/office/drawing/2014/main" id="{1F1E9596-3ACE-3212-1180-DFEB63CCE64E}"/>
                </a:ext>
              </a:extLst>
            </p:cNvPr>
            <p:cNvSpPr txBox="1"/>
            <p:nvPr/>
          </p:nvSpPr>
          <p:spPr>
            <a:xfrm>
              <a:off x="594360" y="902924"/>
              <a:ext cx="11064240" cy="523220"/>
            </a:xfrm>
            <a:prstGeom prst="rect">
              <a:avLst/>
            </a:prstGeom>
            <a:solidFill>
              <a:schemeClr val="accent1">
                <a:lumMod val="20000"/>
                <a:lumOff val="80000"/>
              </a:schemeClr>
            </a:solidFill>
          </p:spPr>
          <p:txBody>
            <a:bodyPr wrap="square" lIns="91440" tIns="45720" rIns="91440" bIns="45720" anchor="t">
              <a:spAutoFit/>
            </a:bodyPr>
            <a:lstStyle/>
            <a:p>
              <a:r>
                <a:rPr sz="1400" b="1" i="0">
                  <a:solidFill>
                    <a:schemeClr val="tx1">
                      <a:lumMod val="76000"/>
                      <a:lumOff val="24000"/>
                    </a:schemeClr>
                  </a:solidFill>
                  <a:latin typeface="Calibri"/>
                </a:rPr>
                <a:t>187,397 repeated pain assessments (NRS score + opioid </a:t>
              </a:r>
              <a:r>
                <a:rPr lang="af-ZA" sz="1400" b="1">
                  <a:solidFill>
                    <a:schemeClr val="tx1">
                      <a:lumMod val="76000"/>
                      <a:lumOff val="24000"/>
                    </a:schemeClr>
                  </a:solidFill>
                  <a:latin typeface="Calibri"/>
                </a:rPr>
                <a:t>MME</a:t>
              </a:r>
              <a:r>
                <a:rPr sz="1400" b="1" i="0">
                  <a:solidFill>
                    <a:schemeClr val="tx1">
                      <a:lumMod val="76000"/>
                      <a:lumOff val="24000"/>
                    </a:schemeClr>
                  </a:solidFill>
                  <a:latin typeface="Calibri"/>
                </a:rPr>
                <a:t>) nested within 12,137 encounters, with 21.2% of encounters involving an LEP patient </a:t>
              </a:r>
              <a:r>
                <a:rPr lang="en-US" sz="1400">
                  <a:solidFill>
                    <a:schemeClr val="tx1">
                      <a:lumMod val="76000"/>
                      <a:lumOff val="24000"/>
                    </a:schemeClr>
                  </a:solidFill>
                  <a:ea typeface="+mn-lt"/>
                  <a:cs typeface="+mn-lt"/>
                </a:rPr>
                <a:t>→</a:t>
              </a:r>
              <a:r>
                <a:rPr lang="zh-TW" sz="1400" b="1">
                  <a:solidFill>
                    <a:schemeClr val="tx1">
                      <a:lumMod val="76000"/>
                      <a:lumOff val="24000"/>
                    </a:schemeClr>
                  </a:solidFill>
                  <a:latin typeface="Calibri"/>
                  <a:ea typeface="新細明體"/>
                </a:rPr>
                <a:t> </a:t>
              </a:r>
              <a:r>
                <a:rPr sz="1400" b="1" i="0">
                  <a:solidFill>
                    <a:schemeClr val="tx1">
                      <a:lumMod val="76000"/>
                      <a:lumOff val="24000"/>
                    </a:schemeClr>
                  </a:solidFill>
                  <a:latin typeface="Calibri"/>
                </a:rPr>
                <a:t>a naturally longitudinal structure ideal for sequence modeling.</a:t>
              </a:r>
              <a:endParaRPr lang="zh-TW" altLang="en-US" sz="1400" b="1" i="0">
                <a:solidFill>
                  <a:schemeClr val="tx1">
                    <a:lumMod val="76000"/>
                    <a:lumOff val="24000"/>
                  </a:schemeClr>
                </a:solidFill>
                <a:latin typeface="Calibri"/>
                <a:ea typeface="新細明體"/>
                <a:cs typeface="Calibri"/>
              </a:endParaRPr>
            </a:p>
          </p:txBody>
        </p:sp>
      </p:grpSp>
      <p:sp>
        <p:nvSpPr>
          <p:cNvPr id="47" name="文字方塊 46">
            <a:extLst>
              <a:ext uri="{FF2B5EF4-FFF2-40B4-BE49-F238E27FC236}">
                <a16:creationId xmlns:a16="http://schemas.microsoft.com/office/drawing/2014/main" id="{C75C5CD3-E3A4-54EA-50BC-055BCDB8C919}"/>
              </a:ext>
            </a:extLst>
          </p:cNvPr>
          <p:cNvSpPr txBox="1"/>
          <p:nvPr/>
        </p:nvSpPr>
        <p:spPr>
          <a:xfrm>
            <a:off x="1683145" y="3175253"/>
            <a:ext cx="250821" cy="338554"/>
          </a:xfrm>
          <a:prstGeom prst="rect">
            <a:avLst/>
          </a:prstGeom>
          <a:noFill/>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lang="af-ZA" sz="1600" b="1">
                <a:solidFill>
                  <a:schemeClr val="accent6">
                    <a:lumMod val="76000"/>
                  </a:schemeClr>
                </a:solidFill>
                <a:ea typeface="+mn-lt"/>
                <a:cs typeface="+mn-lt"/>
              </a:rPr>
              <a:t>→</a:t>
            </a:r>
            <a:endParaRPr lang="zh-TW" sz="1600" b="1">
              <a:solidFill>
                <a:schemeClr val="accent6">
                  <a:lumMod val="76000"/>
                </a:schemeClr>
              </a:solidFill>
              <a:ea typeface="新細明體"/>
              <a:cs typeface="Calibri"/>
            </a:endParaRPr>
          </a:p>
        </p:txBody>
      </p:sp>
      <p:sp>
        <p:nvSpPr>
          <p:cNvPr id="48" name="文字方塊 47">
            <a:extLst>
              <a:ext uri="{FF2B5EF4-FFF2-40B4-BE49-F238E27FC236}">
                <a16:creationId xmlns:a16="http://schemas.microsoft.com/office/drawing/2014/main" id="{25732F21-7249-FD4F-5672-E1E1C5533F6E}"/>
              </a:ext>
            </a:extLst>
          </p:cNvPr>
          <p:cNvSpPr txBox="1"/>
          <p:nvPr/>
        </p:nvSpPr>
        <p:spPr>
          <a:xfrm>
            <a:off x="3175270" y="3178583"/>
            <a:ext cx="250821" cy="338554"/>
          </a:xfrm>
          <a:prstGeom prst="rect">
            <a:avLst/>
          </a:prstGeom>
          <a:noFill/>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lang="af-ZA" sz="1600" b="1">
                <a:solidFill>
                  <a:schemeClr val="accent6">
                    <a:lumMod val="76000"/>
                  </a:schemeClr>
                </a:solidFill>
                <a:ea typeface="+mn-lt"/>
                <a:cs typeface="+mn-lt"/>
              </a:rPr>
              <a:t>→</a:t>
            </a:r>
            <a:endParaRPr lang="zh-TW" sz="1600" b="1">
              <a:solidFill>
                <a:schemeClr val="accent6">
                  <a:lumMod val="76000"/>
                </a:schemeClr>
              </a:solidFill>
              <a:ea typeface="新細明體"/>
              <a:cs typeface="Calibri"/>
            </a:endParaRPr>
          </a:p>
        </p:txBody>
      </p:sp>
      <p:sp>
        <p:nvSpPr>
          <p:cNvPr id="49" name="文字方塊 48">
            <a:extLst>
              <a:ext uri="{FF2B5EF4-FFF2-40B4-BE49-F238E27FC236}">
                <a16:creationId xmlns:a16="http://schemas.microsoft.com/office/drawing/2014/main" id="{B70886A6-DC9D-9C45-0525-310180A24476}"/>
              </a:ext>
            </a:extLst>
          </p:cNvPr>
          <p:cNvSpPr txBox="1"/>
          <p:nvPr/>
        </p:nvSpPr>
        <p:spPr>
          <a:xfrm>
            <a:off x="4693585" y="3178583"/>
            <a:ext cx="250821" cy="338554"/>
          </a:xfrm>
          <a:prstGeom prst="rect">
            <a:avLst/>
          </a:prstGeom>
          <a:noFill/>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lang="af-ZA" sz="1600" b="1">
                <a:solidFill>
                  <a:schemeClr val="accent6">
                    <a:lumMod val="76000"/>
                  </a:schemeClr>
                </a:solidFill>
                <a:ea typeface="+mn-lt"/>
                <a:cs typeface="+mn-lt"/>
              </a:rPr>
              <a:t>→</a:t>
            </a:r>
            <a:endParaRPr lang="zh-TW" sz="1600" b="1">
              <a:solidFill>
                <a:schemeClr val="accent6">
                  <a:lumMod val="76000"/>
                </a:schemeClr>
              </a:solidFill>
              <a:ea typeface="新細明體"/>
              <a:cs typeface="Calibri"/>
            </a:endParaRPr>
          </a:p>
        </p:txBody>
      </p:sp>
      <p:sp>
        <p:nvSpPr>
          <p:cNvPr id="50" name="文字方塊 49">
            <a:extLst>
              <a:ext uri="{FF2B5EF4-FFF2-40B4-BE49-F238E27FC236}">
                <a16:creationId xmlns:a16="http://schemas.microsoft.com/office/drawing/2014/main" id="{44AABB93-90EA-1A0C-D512-AE9D71ED5204}"/>
              </a:ext>
            </a:extLst>
          </p:cNvPr>
          <p:cNvSpPr txBox="1"/>
          <p:nvPr/>
        </p:nvSpPr>
        <p:spPr>
          <a:xfrm>
            <a:off x="6191929" y="3178583"/>
            <a:ext cx="250821" cy="338554"/>
          </a:xfrm>
          <a:prstGeom prst="rect">
            <a:avLst/>
          </a:prstGeom>
          <a:noFill/>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lang="af-ZA" sz="1600" b="1">
                <a:solidFill>
                  <a:schemeClr val="accent6">
                    <a:lumMod val="76000"/>
                  </a:schemeClr>
                </a:solidFill>
                <a:ea typeface="+mn-lt"/>
                <a:cs typeface="+mn-lt"/>
              </a:rPr>
              <a:t>→</a:t>
            </a:r>
            <a:endParaRPr lang="zh-TW" sz="1600" b="1">
              <a:solidFill>
                <a:schemeClr val="accent6">
                  <a:lumMod val="76000"/>
                </a:schemeClr>
              </a:solidFill>
              <a:ea typeface="新細明體"/>
              <a:cs typeface="Calibri"/>
            </a:endParaRPr>
          </a:p>
        </p:txBody>
      </p:sp>
      <p:sp>
        <p:nvSpPr>
          <p:cNvPr id="51" name="文字方塊 50">
            <a:extLst>
              <a:ext uri="{FF2B5EF4-FFF2-40B4-BE49-F238E27FC236}">
                <a16:creationId xmlns:a16="http://schemas.microsoft.com/office/drawing/2014/main" id="{787AE25F-1C9A-6FA2-8039-124BA3AAC8C0}"/>
              </a:ext>
            </a:extLst>
          </p:cNvPr>
          <p:cNvSpPr txBox="1"/>
          <p:nvPr/>
        </p:nvSpPr>
        <p:spPr>
          <a:xfrm>
            <a:off x="1672577" y="5501222"/>
            <a:ext cx="250821" cy="338554"/>
          </a:xfrm>
          <a:prstGeom prst="rect">
            <a:avLst/>
          </a:prstGeom>
          <a:noFill/>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lang="af-ZA" sz="1600" b="1">
                <a:solidFill>
                  <a:schemeClr val="accent6">
                    <a:lumMod val="76000"/>
                  </a:schemeClr>
                </a:solidFill>
                <a:ea typeface="+mn-lt"/>
                <a:cs typeface="+mn-lt"/>
              </a:rPr>
              <a:t>→</a:t>
            </a:r>
            <a:endParaRPr lang="zh-TW" sz="1600" b="1">
              <a:solidFill>
                <a:schemeClr val="accent6">
                  <a:lumMod val="76000"/>
                </a:schemeClr>
              </a:solidFill>
              <a:ea typeface="新細明體"/>
              <a:cs typeface="Calibri"/>
            </a:endParaRPr>
          </a:p>
        </p:txBody>
      </p:sp>
      <p:sp>
        <p:nvSpPr>
          <p:cNvPr id="52" name="文字方塊 51">
            <a:extLst>
              <a:ext uri="{FF2B5EF4-FFF2-40B4-BE49-F238E27FC236}">
                <a16:creationId xmlns:a16="http://schemas.microsoft.com/office/drawing/2014/main" id="{61A90195-F25E-026C-D723-5B1C2103B6B5}"/>
              </a:ext>
            </a:extLst>
          </p:cNvPr>
          <p:cNvSpPr txBox="1"/>
          <p:nvPr/>
        </p:nvSpPr>
        <p:spPr>
          <a:xfrm>
            <a:off x="3177577" y="5501763"/>
            <a:ext cx="250821" cy="338554"/>
          </a:xfrm>
          <a:prstGeom prst="rect">
            <a:avLst/>
          </a:prstGeom>
          <a:noFill/>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lang="af-ZA" sz="1600" b="1">
                <a:solidFill>
                  <a:schemeClr val="accent6">
                    <a:lumMod val="76000"/>
                  </a:schemeClr>
                </a:solidFill>
                <a:ea typeface="+mn-lt"/>
                <a:cs typeface="+mn-lt"/>
              </a:rPr>
              <a:t>→</a:t>
            </a:r>
            <a:endParaRPr lang="zh-TW" sz="1600" b="1">
              <a:solidFill>
                <a:schemeClr val="accent6">
                  <a:lumMod val="76000"/>
                </a:schemeClr>
              </a:solidFill>
              <a:ea typeface="新細明體"/>
              <a:cs typeface="Calibri"/>
            </a:endParaRPr>
          </a:p>
        </p:txBody>
      </p:sp>
      <p:sp>
        <p:nvSpPr>
          <p:cNvPr id="53" name="文字方塊 52">
            <a:extLst>
              <a:ext uri="{FF2B5EF4-FFF2-40B4-BE49-F238E27FC236}">
                <a16:creationId xmlns:a16="http://schemas.microsoft.com/office/drawing/2014/main" id="{BF347444-4AEB-4DB2-759D-6B643E9F9084}"/>
              </a:ext>
            </a:extLst>
          </p:cNvPr>
          <p:cNvSpPr txBox="1"/>
          <p:nvPr/>
        </p:nvSpPr>
        <p:spPr>
          <a:xfrm>
            <a:off x="4689235" y="5502303"/>
            <a:ext cx="250821" cy="338554"/>
          </a:xfrm>
          <a:prstGeom prst="rect">
            <a:avLst/>
          </a:prstGeom>
          <a:noFill/>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lang="af-ZA" sz="1600" b="1">
                <a:solidFill>
                  <a:srgbClr val="007A87"/>
                </a:solidFill>
                <a:ea typeface="+mn-lt"/>
                <a:cs typeface="+mn-lt"/>
              </a:rPr>
              <a:t>→</a:t>
            </a:r>
            <a:endParaRPr lang="zh-TW" sz="1600" b="1">
              <a:solidFill>
                <a:srgbClr val="007A87"/>
              </a:solidFill>
              <a:ea typeface="新細明體"/>
              <a:cs typeface="Calibri"/>
            </a:endParaRPr>
          </a:p>
        </p:txBody>
      </p:sp>
      <p:sp>
        <p:nvSpPr>
          <p:cNvPr id="75" name="文字方塊 74">
            <a:extLst>
              <a:ext uri="{FF2B5EF4-FFF2-40B4-BE49-F238E27FC236}">
                <a16:creationId xmlns:a16="http://schemas.microsoft.com/office/drawing/2014/main" id="{A1739BCA-66D8-073C-57EC-8FF284578A90}"/>
              </a:ext>
            </a:extLst>
          </p:cNvPr>
          <p:cNvSpPr txBox="1"/>
          <p:nvPr/>
        </p:nvSpPr>
        <p:spPr>
          <a:xfrm>
            <a:off x="6180922" y="5502843"/>
            <a:ext cx="250821" cy="338554"/>
          </a:xfrm>
          <a:prstGeom prst="rect">
            <a:avLst/>
          </a:prstGeom>
          <a:noFill/>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lang="af-ZA" sz="1600" b="1">
                <a:solidFill>
                  <a:srgbClr val="007A87"/>
                </a:solidFill>
                <a:ea typeface="+mn-lt"/>
                <a:cs typeface="+mn-lt"/>
              </a:rPr>
              <a:t>→</a:t>
            </a:r>
            <a:endParaRPr lang="zh-TW" sz="1600" b="1">
              <a:solidFill>
                <a:srgbClr val="007A87"/>
              </a:solidFill>
              <a:ea typeface="新細明體"/>
              <a:cs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9"/>
                                        </p:tgtEl>
                                        <p:attrNameLst>
                                          <p:attrName>style.visibility</p:attrName>
                                        </p:attrNameLst>
                                      </p:cBhvr>
                                      <p:to>
                                        <p:strVal val="visible"/>
                                      </p:to>
                                    </p:set>
                                    <p:animEffect transition="in" filter="fade">
                                      <p:cBhvr>
                                        <p:cTn id="7" dur="500"/>
                                        <p:tgtEl>
                                          <p:spTgt spid="129"/>
                                        </p:tgtEl>
                                      </p:cBhvr>
                                    </p:animEffect>
                                  </p:childTnLst>
                                </p:cTn>
                              </p:par>
                              <p:par>
                                <p:cTn id="8" presetID="10" presetClass="entr" presetSubtype="0" fill="hold" nodeType="withEffect">
                                  <p:stCondLst>
                                    <p:cond delay="0"/>
                                  </p:stCondLst>
                                  <p:childTnLst>
                                    <p:set>
                                      <p:cBhvr>
                                        <p:cTn id="9" dur="1" fill="hold">
                                          <p:stCondLst>
                                            <p:cond delay="0"/>
                                          </p:stCondLst>
                                        </p:cTn>
                                        <p:tgtEl>
                                          <p:spTgt spid="146"/>
                                        </p:tgtEl>
                                        <p:attrNameLst>
                                          <p:attrName>style.visibility</p:attrName>
                                        </p:attrNameLst>
                                      </p:cBhvr>
                                      <p:to>
                                        <p:strVal val="visible"/>
                                      </p:to>
                                    </p:set>
                                    <p:animEffect transition="in" filter="fade">
                                      <p:cBhvr>
                                        <p:cTn id="10" dur="500"/>
                                        <p:tgtEl>
                                          <p:spTgt spid="146"/>
                                        </p:tgtEl>
                                      </p:cBhvr>
                                    </p:animEffect>
                                  </p:childTnLst>
                                </p:cTn>
                              </p:par>
                              <p:par>
                                <p:cTn id="11" presetID="10" presetClass="entr" presetSubtype="0" fill="hold" nodeType="withEffect">
                                  <p:stCondLst>
                                    <p:cond delay="0"/>
                                  </p:stCondLst>
                                  <p:childTnLst>
                                    <p:set>
                                      <p:cBhvr>
                                        <p:cTn id="12" dur="1" fill="hold">
                                          <p:stCondLst>
                                            <p:cond delay="0"/>
                                          </p:stCondLst>
                                        </p:cTn>
                                        <p:tgtEl>
                                          <p:spTgt spid="141"/>
                                        </p:tgtEl>
                                        <p:attrNameLst>
                                          <p:attrName>style.visibility</p:attrName>
                                        </p:attrNameLst>
                                      </p:cBhvr>
                                      <p:to>
                                        <p:strVal val="visible"/>
                                      </p:to>
                                    </p:set>
                                    <p:animEffect transition="in" filter="fade">
                                      <p:cBhvr>
                                        <p:cTn id="13" dur="500"/>
                                        <p:tgtEl>
                                          <p:spTgt spid="141"/>
                                        </p:tgtEl>
                                      </p:cBhvr>
                                    </p:animEffect>
                                  </p:childTnLst>
                                </p:cTn>
                              </p:par>
                              <p:par>
                                <p:cTn id="14" presetID="10" presetClass="entr" presetSubtype="0" fill="hold" nodeType="withEffect">
                                  <p:stCondLst>
                                    <p:cond delay="0"/>
                                  </p:stCondLst>
                                  <p:childTnLst>
                                    <p:set>
                                      <p:cBhvr>
                                        <p:cTn id="15" dur="1" fill="hold">
                                          <p:stCondLst>
                                            <p:cond delay="0"/>
                                          </p:stCondLst>
                                        </p:cTn>
                                        <p:tgtEl>
                                          <p:spTgt spid="136"/>
                                        </p:tgtEl>
                                        <p:attrNameLst>
                                          <p:attrName>style.visibility</p:attrName>
                                        </p:attrNameLst>
                                      </p:cBhvr>
                                      <p:to>
                                        <p:strVal val="visible"/>
                                      </p:to>
                                    </p:set>
                                    <p:animEffect transition="in" filter="fade">
                                      <p:cBhvr>
                                        <p:cTn id="16" dur="500"/>
                                        <p:tgtEl>
                                          <p:spTgt spid="136"/>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31"/>
                                        </p:tgtEl>
                                        <p:attrNameLst>
                                          <p:attrName>style.visibility</p:attrName>
                                        </p:attrNameLst>
                                      </p:cBhvr>
                                      <p:to>
                                        <p:strVal val="visible"/>
                                      </p:to>
                                    </p:set>
                                    <p:animEffect transition="in" filter="fade">
                                      <p:cBhvr>
                                        <p:cTn id="19" dur="500"/>
                                        <p:tgtEl>
                                          <p:spTgt spid="131"/>
                                        </p:tgtEl>
                                      </p:cBhvr>
                                    </p:animEffect>
                                  </p:childTnLst>
                                </p:cTn>
                              </p:par>
                              <p:par>
                                <p:cTn id="20" presetID="10" presetClass="entr" presetSubtype="0" fill="hold" nodeType="withEffect">
                                  <p:stCondLst>
                                    <p:cond delay="0"/>
                                  </p:stCondLst>
                                  <p:childTnLst>
                                    <p:set>
                                      <p:cBhvr>
                                        <p:cTn id="21" dur="1" fill="hold">
                                          <p:stCondLst>
                                            <p:cond delay="0"/>
                                          </p:stCondLst>
                                        </p:cTn>
                                        <p:tgtEl>
                                          <p:spTgt spid="45"/>
                                        </p:tgtEl>
                                        <p:attrNameLst>
                                          <p:attrName>style.visibility</p:attrName>
                                        </p:attrNameLst>
                                      </p:cBhvr>
                                      <p:to>
                                        <p:strVal val="visible"/>
                                      </p:to>
                                    </p:set>
                                    <p:animEffect transition="in" filter="fade">
                                      <p:cBhvr>
                                        <p:cTn id="22" dur="5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1"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自訂</PresentationFormat>
  <Slides>6</Slides>
  <Notes>6</Notes>
  <HiddenSlides>0</HiddenSlides>
  <ScaleCrop>false</ScaleCrop>
  <HeadingPairs>
    <vt:vector size="4" baseType="variant">
      <vt:variant>
        <vt:lpstr>佈景主題</vt:lpstr>
      </vt:variant>
      <vt:variant>
        <vt:i4>1</vt:i4>
      </vt:variant>
      <vt:variant>
        <vt:lpstr>投影片標題</vt:lpstr>
      </vt:variant>
      <vt:variant>
        <vt:i4>6</vt:i4>
      </vt:variant>
    </vt:vector>
  </HeadingPairs>
  <TitlesOfParts>
    <vt:vector size="7" baseType="lpstr">
      <vt:lpstr>Office Theme</vt:lpstr>
      <vt:lpstr>PowerPoint 簡報</vt:lpstr>
      <vt:lpstr>PowerPoint 簡報</vt:lpstr>
      <vt:lpstr>PowerPoint 簡報</vt:lpstr>
      <vt:lpstr>PowerPoint 簡報</vt:lpstr>
      <vt:lpstr>PowerPoint 簡報</vt:lpstr>
      <vt:lpstr>PowerPoint 簡報</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
  <cp:keywords/>
  <dc:description>generated using python-pptx</dc:description>
  <cp:revision>200</cp:revision>
  <dcterms:created xsi:type="dcterms:W3CDTF">2013-01-27T09:14:16Z</dcterms:created>
  <dcterms:modified xsi:type="dcterms:W3CDTF">2026-06-01T05:27:49Z</dcterms:modified>
  <cp:category/>
</cp:coreProperties>
</file>