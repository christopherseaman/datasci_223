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2" r:id="rId2"/>
    <p:sldId id="257" r:id="rId3"/>
    <p:sldId id="293" r:id="rId4"/>
    <p:sldId id="298" r:id="rId5"/>
    <p:sldId id="299" r:id="rId6"/>
    <p:sldId id="256" r:id="rId7"/>
    <p:sldId id="300" r:id="rId8"/>
    <p:sldId id="289" r:id="rId9"/>
    <p:sldId id="301" r:id="rId10"/>
    <p:sldId id="302" r:id="rId11"/>
    <p:sldId id="303" r:id="rId12"/>
    <p:sldId id="296" r:id="rId13"/>
    <p:sldId id="294" r:id="rId14"/>
    <p:sldId id="304" r:id="rId15"/>
    <p:sldId id="308" r:id="rId16"/>
    <p:sldId id="310" r:id="rId17"/>
    <p:sldId id="30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84A35F"/>
    <a:srgbClr val="DD6264"/>
    <a:srgbClr val="000000"/>
    <a:srgbClr val="01AF02"/>
    <a:srgbClr val="00FF00"/>
    <a:srgbClr val="1F1F1C"/>
    <a:srgbClr val="F3F3F3"/>
    <a:srgbClr val="C88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58099" autoAdjust="0"/>
  </p:normalViewPr>
  <p:slideViewPr>
    <p:cSldViewPr snapToGrid="0">
      <p:cViewPr varScale="1">
        <p:scale>
          <a:sx n="39" d="100"/>
          <a:sy n="39" d="100"/>
        </p:scale>
        <p:origin x="69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8E85D-5DA2-4A20-B042-28C00D48F9A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6C0FE-9DAC-472D-A0B0-2CCBEBEF5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0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Hello, my name is Wonhee Lee.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project, I used a Hidden Markov Model (HMM) and the Baum–Welch algorithm to infer dynamic changes in diffusion states of molecule from single-particle tracking data.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briefly introduce the motivation behind this approach and explain the underlying algorithm.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07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many of you learned in biochemistry, membrane proteins initiate cellular signaling by interacting with one another and forming molecular complexes.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that, these assembly and disassembly processes occur dynamically in real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0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 biophysical perspective, an interesting feature of membrane proteins is that their diffusivity depends on the size of the complexes.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a protein in a monomeric state typically exhibits relatively fast diffusion, whereas dimerization increases its effective size and results in slower diffusion.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leads to the following question: Can we infer the dynamic assembly state of a membrane protein from its diffusion trajectory?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64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answering this question, let me briefly introduce the diffusion model used in this study.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r denotes the displacement of a molecule during a fixed time interval, then r follows a Rayleigh distribution under 2D Brownian diffusion.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corresponding pdf and its shape are shown here.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important feature of the Rayleigh distribution is that, unlike a symmetric Gaussian distribution, it is skewed toward zero.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5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is, because of skewed shape of this distribution, the mixture model can strongly overlap.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when a molecule switches between slow and fast diffusion states, it is difficult to determine whether a single jumping distance originated from the slow state or the fast state.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we need a smarter inference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44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approach that has been proposed to address this challenge is the Hidden Markov Model (HMM).</a:t>
            </a:r>
          </a:p>
          <a:p>
            <a:endParaRPr lang="en-US" dirty="0"/>
          </a:p>
          <a:p>
            <a:r>
              <a:rPr lang="en-US" dirty="0"/>
              <a:t>Since the basic concepts and mathematical framework of HMMs were already introduced in the previous presentation, I will not go into the details here.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42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 want to emphasize is that the HMM is particularly well suited for this problem because its structure closely matches the underlying biology.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Membrane proteins stochastically transition between hidden assembly states, such as monomers, dimers, and oligomers, each of which exhibits distinct diffusion behavior.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these molecular states cannot be observed directly, their diffusion trajectories provide indirect evidence of the underlying state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B41ED-E94D-48EE-9F3A-9BAF61FEDAE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409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HMM parameters are typically learned using the EM algorithm.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defining and maximizing the observed-data likelihood is difficult, the complete-data likelihood becomes much easier to handle if the hidden states were known.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66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do that, we first need the probability distribution of the latent variable Z, since the EM algorithm maximizes the expectation of log-likelihood.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HMMs, the Forward–Backward algorithm, which combines the forward and backward algorithms, is used to estimate the posterior probabilities of hidden states.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28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algorithm computes the probability of observing the trajectory up to time n and ending in state k, denoted by alpha.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idea is that this probability can be computed recursively using a from here and b from here, rather than by considering all possible state sequences.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alpha can be initialized as shown here.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1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backward algorithm computes the probability of observing the future part of the trajectory, assuming the system is currently in state k, denoted by beta.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can also be computed recursively using a and b, but in the reverse direction.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beta can be initialized as shown here.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116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beauty of the forward–backward algorithm becomes apparent when we combine the two quantities.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multiply alpha and beta and normalizing it to obtain a probability distribution, we can estimate the posterior probability of each hidden state using the entire trajectory, denoted by gamma.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Also, posterior probability of transition rate between states can also be computed by similar way, denoted by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54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Okay, now we are ready to dive into the detailed EM algorithm for HMM.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complete-data likelihood of the HMM can be decomposed into two components: the transition behavior of the hidden states and the jumping-distance distribution.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objective function can be obtained by taking the logarithm of this likelihood and can be expressed as follows.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6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initial prior distribution of latent variables, expectation of the objective function Q can be expressed like this.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maximize Q with respect to the model parameters π, A, and D, we can take the partial derivatives of Q with respect to each parameter and set them equal to zero.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gives closed-form update for HMM parameters in terms of gammas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ksis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practice, the algorithm alternates between two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16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2F2C0-5652-EB1C-0D5B-7661504B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27498-7D18-D08D-B3B4-0BC6D60AE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548B6-642D-8878-86E9-CC59BFFD6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E-step, the posterior probabilities gamma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computed using the current parameter estimates.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M-step, the model parameters π, A, and D are updated according to the closed-form update equations.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two steps are repeated iteratively until the objective function Q converges.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iterative EM procedure for HMMs is known as the Baum–Welch algorithm.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the Viterbi algorithm for state decoding was already covered in the previous presentation, I will skip the details here.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7934B-110A-A0E0-418F-41262FDD3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47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this framework, I analyzed single-particle tracking data of membrane proteins called PLVAP.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estimated transition probability matrix, I got the transition dynamics between different diffusive states.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addition, the emission probabilities allowed me to estimate the diffusion coefficient associated with each hidden diffusive state.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That concludes my presentation and I'd be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26C0FE-9DAC-472D-A0B0-2CCBEBEF5A1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37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504B-C12F-B4F3-D294-B1E9D698F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0307D-381A-9F3C-B733-FBEA0BF5F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80EB6-2086-36B5-8C00-8E85F2AE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CCBF1-A99B-7752-475B-80D51ACA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614F6-D641-5921-7269-35697542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59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945CF-86F0-D69E-7C25-213653BE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6F0CD-3689-BACC-4291-225771F41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7CCFD-C18D-8B9B-CE21-5FD25A4B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BDDFF-9D58-3D58-5834-0A36927DE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7CB5E-B2D7-8114-64E0-D8919F94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58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4FAD-0CA4-C6E8-8FFB-1D74C7F8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96E37-57D3-9096-BAB3-3FE8C8AD0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61794-6C3A-28F5-B668-5210A768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B97B4-105D-58F6-D430-A3E16947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99C8F-D3E5-D483-A638-F35ACDEF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7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B6B5-813F-4989-64D7-6D16ADCA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B32E8-3C08-4AD6-0C93-E8E784A11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8B502-A4D0-FB11-D4D5-8A994A49F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269DC-22D3-DD58-BE9E-FD6CB67B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4D8AA-81D9-AAFF-C0F6-2074A74D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A1D77-84CA-8681-2378-444117F1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5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1389-C5EB-FEBB-A6E9-BFA6B9E8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2006C-5964-1C8C-6329-3C3046D56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15220-A8C8-D6E7-DECD-7C2F1FF81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234EA-6788-2666-DA02-D3759E957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A2E727-E9DA-3B86-EA3C-34BC77E0A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BEB5BF-E46C-6D25-3D9F-DB72EA08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08976-9C39-4065-3F39-2608C82C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6EA3E-DCE9-75A2-2A47-C2098909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27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C3F4-C582-AC17-24BA-C774AF6C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A160B-7CCC-FDF7-0E30-AF73F7CE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FF902-AA57-BF03-19F8-6738B4B3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A0A6E-8F2F-74D1-5EA3-0487B6CD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FD154-AEB8-B403-59A8-DEF94571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5AB21-EAEC-B84B-F3D5-258739C7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DD018-F135-9C22-2C7F-4351FF6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0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670F-03B2-8366-63DE-08EC81DF0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2798A-498E-175F-8F1B-4242BBAC9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988F7-2AE4-E99F-0903-51BFCFF38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75FEF-9E6D-8A04-8F83-3721DAB1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7DEAD-1A69-53B9-5EC5-339068C3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14CD5-39CD-6352-A1D2-C8817586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FC47-6A31-DA20-9A79-A5161B6C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6CCF7-3DE0-1460-0E90-9AA793AEA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A6956-033B-3C91-6165-F4BF0589C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D9949-353D-0111-3F10-EE142161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BA52E-414F-0F5D-116F-3375D429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A9D4D-F427-8137-2574-01C5C21A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01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BDF2-0F19-E7F0-DF9B-8C413676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DFDAE-2273-9E5C-B6D2-8DAB75A0D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83A9B-D73B-CFAF-FB0A-E46C2F63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B04D3-A587-8CE6-6740-D78F0463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C84EE-8E6D-C5B0-025E-308861D9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3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8ADEF-B90F-1998-DF1E-B7E3095E0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104A5-1D32-2FBA-5419-88A2AC193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8E52E-9B23-34A5-F8D0-53185A6F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839B3-221A-219B-5D24-4B6D1F8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EC7C4-7026-46B3-C5D7-090E46BB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1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1C54A-1850-1661-F5E7-3C01C173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D3A00-AB0F-E838-4F5F-6D2572BA5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A83CB-2E54-945C-D8F9-E8A9CACAE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F60C2-E109-474A-BC48-69022C5F3F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F51E8-4E95-F37A-30EE-9143790C4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73B5-958F-1C95-632A-6867DA78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BC4AF-0C20-4662-972A-361C14B33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jpe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.jpe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B48C53-DFAB-0E83-3FDF-7356E662323B}"/>
              </a:ext>
            </a:extLst>
          </p:cNvPr>
          <p:cNvSpPr txBox="1"/>
          <p:nvPr/>
        </p:nvSpPr>
        <p:spPr>
          <a:xfrm>
            <a:off x="3508401" y="3729986"/>
            <a:ext cx="51751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DATASCI 224 - Final Project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F1CF5-F8DF-830D-675A-5F12967D617A}"/>
              </a:ext>
            </a:extLst>
          </p:cNvPr>
          <p:cNvSpPr txBox="1"/>
          <p:nvPr/>
        </p:nvSpPr>
        <p:spPr>
          <a:xfrm>
            <a:off x="812800" y="1824688"/>
            <a:ext cx="1056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A Hidden Markov Model and Baum-Welch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9EB690-4B7A-8842-A288-1084924FC89C}"/>
              </a:ext>
            </a:extLst>
          </p:cNvPr>
          <p:cNvSpPr txBox="1"/>
          <p:nvPr/>
        </p:nvSpPr>
        <p:spPr>
          <a:xfrm>
            <a:off x="4884057" y="4130096"/>
            <a:ext cx="2423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June 1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19DEB-C682-EBCC-9F6B-68D66A69EDA4}"/>
              </a:ext>
            </a:extLst>
          </p:cNvPr>
          <p:cNvSpPr txBox="1"/>
          <p:nvPr/>
        </p:nvSpPr>
        <p:spPr>
          <a:xfrm>
            <a:off x="4884057" y="5219786"/>
            <a:ext cx="2423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Wonhee Lee</a:t>
            </a:r>
          </a:p>
        </p:txBody>
      </p:sp>
    </p:spTree>
    <p:extLst>
      <p:ext uri="{BB962C8B-B14F-4D97-AF65-F5344CB8AC3E}">
        <p14:creationId xmlns:p14="http://schemas.microsoft.com/office/powerpoint/2010/main" val="142548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9E6B-65D0-C6DC-B9BC-73E3D033B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E1D999-6AE2-0598-D33B-09ECC8ED665B}"/>
              </a:ext>
            </a:extLst>
          </p:cNvPr>
          <p:cNvSpPr txBox="1"/>
          <p:nvPr/>
        </p:nvSpPr>
        <p:spPr>
          <a:xfrm>
            <a:off x="335079" y="267324"/>
            <a:ext cx="764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Membrane Protein Assembly is a Dynamic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CA75F-A347-C12C-CC8F-6C4F34284595}"/>
              </a:ext>
            </a:extLst>
          </p:cNvPr>
          <p:cNvSpPr txBox="1"/>
          <p:nvPr/>
        </p:nvSpPr>
        <p:spPr>
          <a:xfrm>
            <a:off x="8506641" y="6611779"/>
            <a:ext cx="368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(Biophysical Journal, 2020)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ACC37A-B2A2-9D00-8C3A-03EACC354BB9}"/>
              </a:ext>
            </a:extLst>
          </p:cNvPr>
          <p:cNvGrpSpPr/>
          <p:nvPr/>
        </p:nvGrpSpPr>
        <p:grpSpPr>
          <a:xfrm>
            <a:off x="2498405" y="1198993"/>
            <a:ext cx="7195189" cy="4711950"/>
            <a:chOff x="2810442" y="1505969"/>
            <a:chExt cx="6571116" cy="4303260"/>
          </a:xfrm>
        </p:grpSpPr>
        <p:pic>
          <p:nvPicPr>
            <p:cNvPr id="4098" name="Picture 2" descr="Autophosphorylation of EGFR at Y954 Facilitated Homodimerization and  Enhanced Downstream Signals - ScienceDirect">
              <a:extLst>
                <a:ext uri="{FF2B5EF4-FFF2-40B4-BE49-F238E27FC236}">
                  <a16:creationId xmlns:a16="http://schemas.microsoft.com/office/drawing/2014/main" id="{C39462C6-96DD-F0B6-E1A5-E4E3BD388D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872"/>
            <a:stretch>
              <a:fillRect/>
            </a:stretch>
          </p:blipFill>
          <p:spPr bwMode="auto">
            <a:xfrm>
              <a:off x="2810442" y="1505969"/>
              <a:ext cx="6571116" cy="43032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90A4BF-258E-5FED-3F63-EAA931997A56}"/>
                </a:ext>
              </a:extLst>
            </p:cNvPr>
            <p:cNvSpPr/>
            <p:nvPr/>
          </p:nvSpPr>
          <p:spPr>
            <a:xfrm>
              <a:off x="2810442" y="1505969"/>
              <a:ext cx="509451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1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9B2C5AC-7BBA-A005-DC6F-7F554E99D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83" y="896997"/>
            <a:ext cx="6782833" cy="4217111"/>
          </a:xfrm>
          <a:prstGeom prst="rect">
            <a:avLst/>
          </a:prstGeom>
        </p:spPr>
      </p:pic>
      <p:sp>
        <p:nvSpPr>
          <p:cNvPr id="8" name="직사각형 8">
            <a:extLst>
              <a:ext uri="{FF2B5EF4-FFF2-40B4-BE49-F238E27FC236}">
                <a16:creationId xmlns:a16="http://schemas.microsoft.com/office/drawing/2014/main" id="{55FCCF8E-4079-DE1A-BCAD-5D2E8F0CBB33}"/>
              </a:ext>
            </a:extLst>
          </p:cNvPr>
          <p:cNvSpPr/>
          <p:nvPr/>
        </p:nvSpPr>
        <p:spPr>
          <a:xfrm>
            <a:off x="9541916" y="6611779"/>
            <a:ext cx="265008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Biochim Biophys Acta Biomembr, 2017</a:t>
            </a: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945FE-F105-1258-6483-76F7EDDC39BE}"/>
              </a:ext>
            </a:extLst>
          </p:cNvPr>
          <p:cNvSpPr txBox="1"/>
          <p:nvPr/>
        </p:nvSpPr>
        <p:spPr>
          <a:xfrm>
            <a:off x="335079" y="267324"/>
            <a:ext cx="9186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Diffusivity Reflects the Assembly States of Membrane Protein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4B4DA-AFDE-7D01-2C2C-D76858B0CFD8}"/>
              </a:ext>
            </a:extLst>
          </p:cNvPr>
          <p:cNvSpPr txBox="1"/>
          <p:nvPr/>
        </p:nvSpPr>
        <p:spPr>
          <a:xfrm>
            <a:off x="442685" y="5451933"/>
            <a:ext cx="11306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01AF0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Q. Can we infer the ‘dynamic’ assembly state of a membrane protein from its diffusion trajectory?</a:t>
            </a:r>
            <a:endParaRPr lang="en-US" b="1" dirty="0">
              <a:solidFill>
                <a:srgbClr val="01AF0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46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10B0B-59C1-07F8-FDEA-3A8384377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394130-A09C-03F3-B346-A3CFE3954E67}"/>
              </a:ext>
            </a:extLst>
          </p:cNvPr>
          <p:cNvSpPr txBox="1"/>
          <p:nvPr/>
        </p:nvSpPr>
        <p:spPr>
          <a:xfrm>
            <a:off x="335079" y="267324"/>
            <a:ext cx="5022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Physics of 2D Diffusion Behavior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C75AAE-16E3-B5EB-B2D6-28C1ACFD3FB8}"/>
              </a:ext>
            </a:extLst>
          </p:cNvPr>
          <p:cNvGrpSpPr/>
          <p:nvPr/>
        </p:nvGrpSpPr>
        <p:grpSpPr>
          <a:xfrm>
            <a:off x="6096000" y="2201092"/>
            <a:ext cx="4656909" cy="2967174"/>
            <a:chOff x="6096000" y="2795451"/>
            <a:chExt cx="4656909" cy="2967174"/>
          </a:xfrm>
        </p:grpSpPr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1B536957-4845-CA2B-7BDE-010344AC10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0909" y="2924175"/>
              <a:ext cx="4572000" cy="2838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13D66E-90C0-88D0-68F0-25E1345EE71E}"/>
                </a:ext>
              </a:extLst>
            </p:cNvPr>
            <p:cNvSpPr/>
            <p:nvPr/>
          </p:nvSpPr>
          <p:spPr>
            <a:xfrm>
              <a:off x="6096000" y="2795451"/>
              <a:ext cx="350520" cy="2508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FD6540-E233-D22D-50BA-27E6DB01C771}"/>
                </a:ext>
              </a:extLst>
            </p:cNvPr>
            <p:cNvSpPr/>
            <p:nvPr/>
          </p:nvSpPr>
          <p:spPr>
            <a:xfrm>
              <a:off x="6614159" y="5519058"/>
              <a:ext cx="4090852" cy="243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D9329A-A4C7-8BDE-4A76-0FB37AB8847C}"/>
              </a:ext>
            </a:extLst>
          </p:cNvPr>
          <p:cNvSpPr txBox="1"/>
          <p:nvPr/>
        </p:nvSpPr>
        <p:spPr>
          <a:xfrm>
            <a:off x="6060078" y="5205230"/>
            <a:ext cx="46449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Rayleigh Distribution</a:t>
            </a:r>
          </a:p>
        </p:txBody>
      </p:sp>
      <p:pic>
        <p:nvPicPr>
          <p:cNvPr id="6148" name="Picture 4" descr="What is Brownian motion?">
            <a:extLst>
              <a:ext uri="{FF2B5EF4-FFF2-40B4-BE49-F238E27FC236}">
                <a16:creationId xmlns:a16="http://schemas.microsoft.com/office/drawing/2014/main" id="{6185E714-B4BD-ADDF-5B1B-38C8E40084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" t="1613" r="4513" b="3526"/>
          <a:stretch>
            <a:fillRect/>
          </a:stretch>
        </p:blipFill>
        <p:spPr bwMode="auto">
          <a:xfrm>
            <a:off x="1584790" y="2201092"/>
            <a:ext cx="3585926" cy="288036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34CAC5-D6CC-E6F9-88AC-AFA6B95D1750}"/>
              </a:ext>
            </a:extLst>
          </p:cNvPr>
          <p:cNvSpPr txBox="1"/>
          <p:nvPr/>
        </p:nvSpPr>
        <p:spPr>
          <a:xfrm>
            <a:off x="2905293" y="3910566"/>
            <a:ext cx="755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“r”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168BFC-CB28-2B9C-009C-3F8C43C144CE}"/>
              </a:ext>
            </a:extLst>
          </p:cNvPr>
          <p:cNvCxnSpPr>
            <a:cxnSpLocks/>
          </p:cNvCxnSpPr>
          <p:nvPr/>
        </p:nvCxnSpPr>
        <p:spPr>
          <a:xfrm flipV="1">
            <a:off x="2531847" y="4382591"/>
            <a:ext cx="1502229" cy="1127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3653F7-A8FB-5303-014F-DEEDDA760A4E}"/>
              </a:ext>
            </a:extLst>
          </p:cNvPr>
          <p:cNvSpPr txBox="1"/>
          <p:nvPr/>
        </p:nvSpPr>
        <p:spPr>
          <a:xfrm>
            <a:off x="1584790" y="5205229"/>
            <a:ext cx="3585926" cy="34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2D Brownian motion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D20FEF-5F74-899A-DFF5-F3937C8340BF}"/>
                  </a:ext>
                </a:extLst>
              </p:cNvPr>
              <p:cNvSpPr txBox="1"/>
              <p:nvPr/>
            </p:nvSpPr>
            <p:spPr>
              <a:xfrm>
                <a:off x="6946175" y="2717225"/>
                <a:ext cx="3307079" cy="738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D20FEF-5F74-899A-DFF5-F3937C834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175" y="2717225"/>
                <a:ext cx="3307079" cy="738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3109121-F0F7-85F8-4AD2-D78DDD0C4558}"/>
              </a:ext>
            </a:extLst>
          </p:cNvPr>
          <p:cNvSpPr txBox="1"/>
          <p:nvPr/>
        </p:nvSpPr>
        <p:spPr>
          <a:xfrm>
            <a:off x="10272849" y="4881397"/>
            <a:ext cx="576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FEA0C8-3F32-68EA-E4B0-5A5CF87080BC}"/>
              </a:ext>
            </a:extLst>
          </p:cNvPr>
          <p:cNvSpPr txBox="1"/>
          <p:nvPr/>
        </p:nvSpPr>
        <p:spPr>
          <a:xfrm>
            <a:off x="5811448" y="2317115"/>
            <a:ext cx="738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p(r)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5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DDEA-5B0A-7BE4-9362-1CC5D733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FCE3AF-BC4E-5F7D-4E4D-F504DA5113F1}"/>
              </a:ext>
            </a:extLst>
          </p:cNvPr>
          <p:cNvSpPr txBox="1"/>
          <p:nvPr/>
        </p:nvSpPr>
        <p:spPr>
          <a:xfrm>
            <a:off x="335079" y="267324"/>
            <a:ext cx="10344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Problem: Jumping Distance Distributions of Diffusion Overlap A LOT!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601BE60-B9C5-E123-464B-820F57C3E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659" y="1252127"/>
            <a:ext cx="4023890" cy="40459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5178368-813C-5240-BB83-2F8C23E2A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299" y="1304379"/>
            <a:ext cx="3328531" cy="335043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4DB390-2537-9F2F-D64C-91CB3088474A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6577149" y="2930705"/>
            <a:ext cx="141514" cy="15499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49B0601-0B6E-455C-E488-377D9B747A85}"/>
              </a:ext>
            </a:extLst>
          </p:cNvPr>
          <p:cNvSpPr/>
          <p:nvPr/>
        </p:nvSpPr>
        <p:spPr>
          <a:xfrm>
            <a:off x="6631578" y="4480639"/>
            <a:ext cx="174170" cy="174170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A130C0-FE54-2E1E-4FA0-5DE853927743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6718663" y="1897317"/>
            <a:ext cx="374469" cy="258332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FCE1A3C-5E2D-9821-9575-41E9C694BF51}"/>
              </a:ext>
            </a:extLst>
          </p:cNvPr>
          <p:cNvSpPr txBox="1"/>
          <p:nvPr/>
        </p:nvSpPr>
        <p:spPr>
          <a:xfrm>
            <a:off x="7683667" y="2825705"/>
            <a:ext cx="1946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Fast diffusive state?</a:t>
            </a:r>
            <a:endParaRPr 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D55C60-B8D9-6255-55D9-80AECA702A51}"/>
              </a:ext>
            </a:extLst>
          </p:cNvPr>
          <p:cNvSpPr txBox="1"/>
          <p:nvPr/>
        </p:nvSpPr>
        <p:spPr>
          <a:xfrm>
            <a:off x="7683667" y="2517928"/>
            <a:ext cx="1946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Slow diffusive state?</a:t>
            </a:r>
            <a:endParaRPr 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E8D22-F1F7-F6C2-C546-59E405D6B01A}"/>
              </a:ext>
            </a:extLst>
          </p:cNvPr>
          <p:cNvSpPr txBox="1"/>
          <p:nvPr/>
        </p:nvSpPr>
        <p:spPr>
          <a:xfrm>
            <a:off x="3613073" y="5864417"/>
            <a:ext cx="448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1AF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We need SMART methods!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94886-9ACC-6159-EFF1-5BC639D6064D}"/>
              </a:ext>
            </a:extLst>
          </p:cNvPr>
          <p:cNvSpPr txBox="1"/>
          <p:nvPr/>
        </p:nvSpPr>
        <p:spPr>
          <a:xfrm>
            <a:off x="6094912" y="6611779"/>
            <a:ext cx="6097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npj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Biological Physics and Mechanics, 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900F60-4149-E477-AE0C-2D9249CE9D2E}"/>
              </a:ext>
            </a:extLst>
          </p:cNvPr>
          <p:cNvSpPr txBox="1"/>
          <p:nvPr/>
        </p:nvSpPr>
        <p:spPr>
          <a:xfrm>
            <a:off x="442685" y="5451933"/>
            <a:ext cx="11306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01AF0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Q. Can we infer the ‘dynamic’ assembly state of a membrane protein from its diffusion trajectory?</a:t>
            </a:r>
            <a:endParaRPr lang="en-US" b="1" dirty="0">
              <a:solidFill>
                <a:srgbClr val="01AF0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827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D887B05-7C12-A3C0-5ECB-E7B217332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526" y="1312817"/>
            <a:ext cx="8278948" cy="46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8C8743-E4DE-28C2-A014-0989E6ED22D2}"/>
              </a:ext>
            </a:extLst>
          </p:cNvPr>
          <p:cNvSpPr txBox="1"/>
          <p:nvPr/>
        </p:nvSpPr>
        <p:spPr>
          <a:xfrm>
            <a:off x="335079" y="267324"/>
            <a:ext cx="9515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Hidden Markov Model (HMM) for Diffusion State Inference?</a:t>
            </a:r>
          </a:p>
        </p:txBody>
      </p:sp>
    </p:spTree>
    <p:extLst>
      <p:ext uri="{BB962C8B-B14F-4D97-AF65-F5344CB8AC3E}">
        <p14:creationId xmlns:p14="http://schemas.microsoft.com/office/powerpoint/2010/main" val="230642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BBE2-423B-BC26-6072-2AD63485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FD0A6FE-4E72-CB14-DEBF-DEC721B7DDE1}"/>
              </a:ext>
            </a:extLst>
          </p:cNvPr>
          <p:cNvSpPr/>
          <p:nvPr/>
        </p:nvSpPr>
        <p:spPr>
          <a:xfrm>
            <a:off x="596538" y="918772"/>
            <a:ext cx="10998925" cy="5553874"/>
          </a:xfrm>
          <a:prstGeom prst="rect">
            <a:avLst/>
          </a:prstGeom>
          <a:solidFill>
            <a:srgbClr val="1F1F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F2A0F1-8EBD-2FAE-4AE2-BBD04C4464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5" r="12628"/>
          <a:stretch>
            <a:fillRect/>
          </a:stretch>
        </p:blipFill>
        <p:spPr bwMode="auto">
          <a:xfrm>
            <a:off x="7397472" y="1076857"/>
            <a:ext cx="3534304" cy="265258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7FF155-F7F1-826E-3DCE-52094E4AF433}"/>
              </a:ext>
            </a:extLst>
          </p:cNvPr>
          <p:cNvSpPr txBox="1"/>
          <p:nvPr/>
        </p:nvSpPr>
        <p:spPr>
          <a:xfrm>
            <a:off x="335079" y="267324"/>
            <a:ext cx="9515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Hidden Markov Model (HMM) for Diffusion State Inference?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4D82E-AB8B-61E7-EDB2-6AA57A55721D}"/>
              </a:ext>
            </a:extLst>
          </p:cNvPr>
          <p:cNvSpPr txBox="1"/>
          <p:nvPr/>
        </p:nvSpPr>
        <p:spPr>
          <a:xfrm>
            <a:off x="2839537" y="5471671"/>
            <a:ext cx="8555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😃😃😃☹️😃☹️☹️☹️☹️😃😃☹️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FAAD01-F37E-63BC-E737-9FE48C30021C}"/>
              </a:ext>
            </a:extLst>
          </p:cNvPr>
          <p:cNvSpPr txBox="1"/>
          <p:nvPr/>
        </p:nvSpPr>
        <p:spPr>
          <a:xfrm>
            <a:off x="2839537" y="4485776"/>
            <a:ext cx="8555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☀️☀️☀️☁️☁️🌧️🌧️🌧️🌧️🌧️☁️☀️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5585A0-6248-712E-0B11-5A2EE7BA5DCD}"/>
              </a:ext>
            </a:extLst>
          </p:cNvPr>
          <p:cNvSpPr txBox="1"/>
          <p:nvPr/>
        </p:nvSpPr>
        <p:spPr>
          <a:xfrm>
            <a:off x="796633" y="4670442"/>
            <a:ext cx="1866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states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A49269-1CAB-537E-3E15-AABB71C83C1B}"/>
              </a:ext>
            </a:extLst>
          </p:cNvPr>
          <p:cNvSpPr txBox="1"/>
          <p:nvPr/>
        </p:nvSpPr>
        <p:spPr>
          <a:xfrm>
            <a:off x="796633" y="5656337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data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5FB622-1F5C-515A-C5D9-7C9890F32005}"/>
              </a:ext>
            </a:extLst>
          </p:cNvPr>
          <p:cNvSpPr/>
          <p:nvPr/>
        </p:nvSpPr>
        <p:spPr>
          <a:xfrm>
            <a:off x="1395090" y="1076857"/>
            <a:ext cx="3534304" cy="265258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Black Box Model</a:t>
            </a:r>
            <a:b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Real World</a:t>
            </a:r>
          </a:p>
        </p:txBody>
      </p:sp>
      <p:pic>
        <p:nvPicPr>
          <p:cNvPr id="7170" name="Picture 2" descr="JD's Black Box">
            <a:extLst>
              <a:ext uri="{FF2B5EF4-FFF2-40B4-BE49-F238E27FC236}">
                <a16:creationId xmlns:a16="http://schemas.microsoft.com/office/drawing/2014/main" id="{90E41C99-FDB9-9CC2-1556-352393BBD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707" y="1102871"/>
            <a:ext cx="1507070" cy="150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C551C92-30F3-0C52-462F-A37FF6BF9E36}"/>
              </a:ext>
            </a:extLst>
          </p:cNvPr>
          <p:cNvSpPr txBox="1"/>
          <p:nvPr/>
        </p:nvSpPr>
        <p:spPr>
          <a:xfrm>
            <a:off x="2944875" y="1664338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1FDC4C4B-69A5-90D5-D5B4-7D24D36005D9}"/>
              </a:ext>
            </a:extLst>
          </p:cNvPr>
          <p:cNvSpPr/>
          <p:nvPr/>
        </p:nvSpPr>
        <p:spPr>
          <a:xfrm>
            <a:off x="2496036" y="3864401"/>
            <a:ext cx="1332412" cy="511656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AED438F-60DA-3C01-C73A-3B9D7BB6A2C5}"/>
              </a:ext>
            </a:extLst>
          </p:cNvPr>
          <p:cNvSpPr/>
          <p:nvPr/>
        </p:nvSpPr>
        <p:spPr>
          <a:xfrm rot="10800000">
            <a:off x="8498418" y="3864401"/>
            <a:ext cx="1332412" cy="511656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25F3BB-E0A7-2241-0C22-73DBB35E9083}"/>
              </a:ext>
            </a:extLst>
          </p:cNvPr>
          <p:cNvSpPr txBox="1"/>
          <p:nvPr/>
        </p:nvSpPr>
        <p:spPr>
          <a:xfrm>
            <a:off x="3813823" y="3922437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6048BE-B2EE-94E0-85DC-C0685DB70584}"/>
              </a:ext>
            </a:extLst>
          </p:cNvPr>
          <p:cNvSpPr txBox="1"/>
          <p:nvPr/>
        </p:nvSpPr>
        <p:spPr>
          <a:xfrm>
            <a:off x="7117452" y="3919229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419219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750A3CE1-B5E5-4631-BCB0-D19E70E90FFF}"/>
              </a:ext>
            </a:extLst>
          </p:cNvPr>
          <p:cNvSpPr/>
          <p:nvPr/>
        </p:nvSpPr>
        <p:spPr>
          <a:xfrm>
            <a:off x="2236833" y="2989054"/>
            <a:ext cx="566560" cy="1301750"/>
          </a:xfrm>
          <a:custGeom>
            <a:avLst/>
            <a:gdLst>
              <a:gd name="connsiteX0" fmla="*/ 0 w 566560"/>
              <a:gd name="connsiteY0" fmla="*/ 1301750 h 1301750"/>
              <a:gd name="connsiteX1" fmla="*/ 488950 w 566560"/>
              <a:gd name="connsiteY1" fmla="*/ 615950 h 1301750"/>
              <a:gd name="connsiteX2" fmla="*/ 558800 w 566560"/>
              <a:gd name="connsiteY2" fmla="*/ 0 h 130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6560" h="1301750">
                <a:moveTo>
                  <a:pt x="0" y="1301750"/>
                </a:moveTo>
                <a:cubicBezTo>
                  <a:pt x="197908" y="1067329"/>
                  <a:pt x="395817" y="832908"/>
                  <a:pt x="488950" y="615950"/>
                </a:cubicBezTo>
                <a:cubicBezTo>
                  <a:pt x="582083" y="398992"/>
                  <a:pt x="570441" y="199496"/>
                  <a:pt x="55880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0FC861-965C-D055-BEFC-543981D67153}"/>
              </a:ext>
            </a:extLst>
          </p:cNvPr>
          <p:cNvGrpSpPr/>
          <p:nvPr/>
        </p:nvGrpSpPr>
        <p:grpSpPr>
          <a:xfrm>
            <a:off x="435855" y="1761867"/>
            <a:ext cx="11437856" cy="4060226"/>
            <a:chOff x="435855" y="1521627"/>
            <a:chExt cx="11437856" cy="406022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4C1D3B6-1A8A-428C-82B5-61C496BB9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855" y="1521627"/>
              <a:ext cx="11437856" cy="406022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C4C697-46A0-4281-99CB-BCF5C568EA3D}"/>
                </a:ext>
              </a:extLst>
            </p:cNvPr>
            <p:cNvSpPr txBox="1"/>
            <p:nvPr/>
          </p:nvSpPr>
          <p:spPr>
            <a:xfrm>
              <a:off x="1640254" y="3409096"/>
              <a:ext cx="232627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Oligomerization</a:t>
              </a:r>
              <a:endParaRPr lang="ko-KR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38A2C9-A4BD-4B24-822E-621CB79A7ECE}"/>
              </a:ext>
            </a:extLst>
          </p:cNvPr>
          <p:cNvSpPr/>
          <p:nvPr/>
        </p:nvSpPr>
        <p:spPr>
          <a:xfrm>
            <a:off x="3623481" y="6062334"/>
            <a:ext cx="5062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“The hidden Markov model of diffusion”</a:t>
            </a:r>
            <a:endParaRPr lang="ko-KR" alt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1BA04E-E16C-0410-71F6-9EA65CA50794}"/>
              </a:ext>
            </a:extLst>
          </p:cNvPr>
          <p:cNvSpPr txBox="1"/>
          <p:nvPr/>
        </p:nvSpPr>
        <p:spPr>
          <a:xfrm>
            <a:off x="335079" y="267324"/>
            <a:ext cx="9515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Hidden Markov Model (HMM) for Diffusion State Inference?</a:t>
            </a:r>
          </a:p>
        </p:txBody>
      </p:sp>
      <p:sp>
        <p:nvSpPr>
          <p:cNvPr id="2" name="직사각형 6">
            <a:extLst>
              <a:ext uri="{FF2B5EF4-FFF2-40B4-BE49-F238E27FC236}">
                <a16:creationId xmlns:a16="http://schemas.microsoft.com/office/drawing/2014/main" id="{4007F4FB-92A4-2856-F91B-4708AFE6F1EF}"/>
              </a:ext>
            </a:extLst>
          </p:cNvPr>
          <p:cNvSpPr/>
          <p:nvPr/>
        </p:nvSpPr>
        <p:spPr>
          <a:xfrm>
            <a:off x="8836756" y="1121517"/>
            <a:ext cx="3033203" cy="400110"/>
          </a:xfrm>
          <a:prstGeom prst="rect">
            <a:avLst/>
          </a:prstGeom>
          <a:solidFill>
            <a:srgbClr val="7030A0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ko-KR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hidden Layer of HMM</a:t>
            </a:r>
            <a:endParaRPr lang="ko-KR" altLang="en-US" sz="2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직사각형 6">
            <a:extLst>
              <a:ext uri="{FF2B5EF4-FFF2-40B4-BE49-F238E27FC236}">
                <a16:creationId xmlns:a16="http://schemas.microsoft.com/office/drawing/2014/main" id="{D26DC44A-62CA-96D0-FEC4-42EECB6BBF5D}"/>
              </a:ext>
            </a:extLst>
          </p:cNvPr>
          <p:cNvSpPr/>
          <p:nvPr/>
        </p:nvSpPr>
        <p:spPr>
          <a:xfrm>
            <a:off x="717382" y="1121517"/>
            <a:ext cx="3605474" cy="400110"/>
          </a:xfrm>
          <a:prstGeom prst="rect">
            <a:avLst/>
          </a:prstGeom>
          <a:solidFill>
            <a:srgbClr val="7030A0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ko-KR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sequence of observations</a:t>
            </a:r>
            <a:endParaRPr lang="ko-KR" altLang="en-US" sz="2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57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AA9221-2653-FC90-3329-29326013DD0A}"/>
              </a:ext>
            </a:extLst>
          </p:cNvPr>
          <p:cNvSpPr txBox="1"/>
          <p:nvPr/>
        </p:nvSpPr>
        <p:spPr>
          <a:xfrm>
            <a:off x="335079" y="267324"/>
            <a:ext cx="4012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Overview of EM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5764B-2318-3333-FF22-C6166AA50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543" y="1265278"/>
            <a:ext cx="6882094" cy="48891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9ACC82-1A4E-D300-A02D-DEBA7C982A9B}"/>
              </a:ext>
            </a:extLst>
          </p:cNvPr>
          <p:cNvSpPr/>
          <p:nvPr/>
        </p:nvSpPr>
        <p:spPr>
          <a:xfrm>
            <a:off x="3601719" y="1064623"/>
            <a:ext cx="7739743" cy="529045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777AB-E547-20B1-EC35-6A9951DC6C9F}"/>
              </a:ext>
            </a:extLst>
          </p:cNvPr>
          <p:cNvSpPr txBox="1"/>
          <p:nvPr/>
        </p:nvSpPr>
        <p:spPr>
          <a:xfrm>
            <a:off x="1203485" y="5341043"/>
            <a:ext cx="1634056" cy="7078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😃☹️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516AEB-4E85-976B-47DF-966D0DE59289}"/>
              </a:ext>
            </a:extLst>
          </p:cNvPr>
          <p:cNvSpPr txBox="1"/>
          <p:nvPr/>
        </p:nvSpPr>
        <p:spPr>
          <a:xfrm>
            <a:off x="1203485" y="4355148"/>
            <a:ext cx="1634056" cy="7078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☀️☁️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1975EF-8863-5E42-E866-E0B94D02377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837541" y="5063034"/>
            <a:ext cx="1397727" cy="6319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93B48B-467B-8D42-DD60-6B4255E33BA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837541" y="5694986"/>
            <a:ext cx="1397727" cy="7879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973EB1-E9A3-A92E-8D85-A0670C48566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837541" y="4709091"/>
            <a:ext cx="1397727" cy="9858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0C1E858-38BA-2EB4-806F-84D0F53F762B}"/>
              </a:ext>
            </a:extLst>
          </p:cNvPr>
          <p:cNvSpPr txBox="1"/>
          <p:nvPr/>
        </p:nvSpPr>
        <p:spPr>
          <a:xfrm>
            <a:off x="349921" y="4469252"/>
            <a:ext cx="7914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n-US" sz="28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D9BC1E-C278-3C80-831F-E90A8D984FC9}"/>
              </a:ext>
            </a:extLst>
          </p:cNvPr>
          <p:cNvSpPr txBox="1"/>
          <p:nvPr/>
        </p:nvSpPr>
        <p:spPr>
          <a:xfrm>
            <a:off x="349921" y="5465517"/>
            <a:ext cx="7914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05657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2621A71-54A1-0605-E72E-9B350498D4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5" r="12628"/>
          <a:stretch>
            <a:fillRect/>
          </a:stretch>
        </p:blipFill>
        <p:spPr bwMode="auto">
          <a:xfrm>
            <a:off x="6640285" y="1323703"/>
            <a:ext cx="4417450" cy="331541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7638A1-5E44-6D15-66E7-7B31941B6147}"/>
              </a:ext>
            </a:extLst>
          </p:cNvPr>
          <p:cNvSpPr txBox="1"/>
          <p:nvPr/>
        </p:nvSpPr>
        <p:spPr>
          <a:xfrm>
            <a:off x="335079" y="267324"/>
            <a:ext cx="4012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Overview of EM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5CA2-8106-2E4C-B269-EA3763C593C3}"/>
              </a:ext>
            </a:extLst>
          </p:cNvPr>
          <p:cNvSpPr txBox="1"/>
          <p:nvPr/>
        </p:nvSpPr>
        <p:spPr>
          <a:xfrm>
            <a:off x="6640285" y="4875652"/>
            <a:ext cx="4417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Foward-Backward Algorithm</a:t>
            </a:r>
            <a:endParaRPr lang="en-US" sz="28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300A3-BA15-A9BE-B0BA-5EBD3B9D0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265" y="1323703"/>
            <a:ext cx="4938306" cy="450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8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6BA723-8F86-C54D-F6A3-F29E4AE99E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B5ECC-8034-C63F-0369-877583129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041"/>
          <a:stretch>
            <a:fillRect/>
          </a:stretch>
        </p:blipFill>
        <p:spPr>
          <a:xfrm>
            <a:off x="625792" y="351551"/>
            <a:ext cx="7329705" cy="640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C95568-AD9C-AEC5-2A4B-F5E238085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694" y="1041849"/>
            <a:ext cx="5887900" cy="128016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E4F34A-B22E-EF08-8F9B-2108BF0E1A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30"/>
          <a:stretch>
            <a:fillRect/>
          </a:stretch>
        </p:blipFill>
        <p:spPr>
          <a:xfrm>
            <a:off x="806482" y="2391649"/>
            <a:ext cx="6968325" cy="4114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3535F8-CBBB-FD0C-7A2D-2100A676E42C}"/>
              </a:ext>
            </a:extLst>
          </p:cNvPr>
          <p:cNvSpPr txBox="1"/>
          <p:nvPr/>
        </p:nvSpPr>
        <p:spPr>
          <a:xfrm>
            <a:off x="-1090" y="-9058"/>
            <a:ext cx="6097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https://www.youtube.com/watch?v=QBDvFVmpgd0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AAF29C5-F5DF-AF51-3AAA-CB1DCFBCEE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5" r="12628"/>
          <a:stretch>
            <a:fillRect/>
          </a:stretch>
        </p:blipFill>
        <p:spPr bwMode="auto">
          <a:xfrm>
            <a:off x="7955497" y="1860650"/>
            <a:ext cx="3862513" cy="28989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7FF30C-E812-0A34-057B-C59A10EFAB0E}"/>
              </a:ext>
            </a:extLst>
          </p:cNvPr>
          <p:cNvSpPr/>
          <p:nvPr/>
        </p:nvSpPr>
        <p:spPr>
          <a:xfrm>
            <a:off x="5517662" y="5705231"/>
            <a:ext cx="906584" cy="562707"/>
          </a:xfrm>
          <a:prstGeom prst="rect">
            <a:avLst/>
          </a:prstGeom>
          <a:noFill/>
          <a:ln w="38100">
            <a:solidFill>
              <a:srgbClr val="DD6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94E560-6777-AA56-469E-54FB54C83D09}"/>
              </a:ext>
            </a:extLst>
          </p:cNvPr>
          <p:cNvSpPr/>
          <p:nvPr/>
        </p:nvSpPr>
        <p:spPr>
          <a:xfrm>
            <a:off x="4826001" y="5808335"/>
            <a:ext cx="449384" cy="389265"/>
          </a:xfrm>
          <a:prstGeom prst="rect">
            <a:avLst/>
          </a:prstGeom>
          <a:noFill/>
          <a:ln w="38100">
            <a:solidFill>
              <a:srgbClr val="84A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4836FC-E9E5-62AD-8515-DDC4713A8D62}"/>
              </a:ext>
            </a:extLst>
          </p:cNvPr>
          <p:cNvCxnSpPr>
            <a:cxnSpLocks/>
          </p:cNvCxnSpPr>
          <p:nvPr/>
        </p:nvCxnSpPr>
        <p:spPr>
          <a:xfrm>
            <a:off x="3807588" y="6188519"/>
            <a:ext cx="85819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FDF468-199F-BF2F-B3B3-BC4644C46A0E}"/>
              </a:ext>
            </a:extLst>
          </p:cNvPr>
          <p:cNvSpPr txBox="1"/>
          <p:nvPr/>
        </p:nvSpPr>
        <p:spPr>
          <a:xfrm>
            <a:off x="381930" y="6028323"/>
            <a:ext cx="21353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Recursively</a:t>
            </a:r>
            <a:endParaRPr lang="en-US" sz="1600" i="1" dirty="0">
              <a:solidFill>
                <a:srgbClr val="FF00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AB170-4830-7D87-36F9-098AA05DE9BF}"/>
              </a:ext>
            </a:extLst>
          </p:cNvPr>
          <p:cNvCxnSpPr>
            <a:cxnSpLocks/>
          </p:cNvCxnSpPr>
          <p:nvPr/>
        </p:nvCxnSpPr>
        <p:spPr>
          <a:xfrm>
            <a:off x="2102338" y="6188519"/>
            <a:ext cx="754186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C786C7D-2D92-3976-AA13-4751885F0E81}"/>
                  </a:ext>
                </a:extLst>
              </p:cNvPr>
              <p:cNvSpPr txBox="1"/>
              <p:nvPr/>
            </p:nvSpPr>
            <p:spPr>
              <a:xfrm>
                <a:off x="8275746" y="5825831"/>
                <a:ext cx="2767392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C786C7D-2D92-3976-AA13-4751885F0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746" y="5825831"/>
                <a:ext cx="2767392" cy="404983"/>
              </a:xfrm>
              <a:prstGeom prst="rect">
                <a:avLst/>
              </a:prstGeom>
              <a:blipFill>
                <a:blip r:embed="rId6"/>
                <a:stretch>
                  <a:fillRect t="-156061" b="-2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907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B996A-AD6C-FB55-8C3F-DE2F37A33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AEFD35-9FD3-3E34-8F4E-5C0301731627}"/>
              </a:ext>
            </a:extLst>
          </p:cNvPr>
          <p:cNvSpPr/>
          <p:nvPr/>
        </p:nvSpPr>
        <p:spPr>
          <a:xfrm>
            <a:off x="-1089" y="0"/>
            <a:ext cx="1219308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BAFBB0-25FA-7B12-833E-B7568590B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11" y="1057198"/>
            <a:ext cx="6936785" cy="128016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CBCF6B-3378-27DC-0249-FBB38D90B5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846"/>
          <a:stretch>
            <a:fillRect/>
          </a:stretch>
        </p:blipFill>
        <p:spPr>
          <a:xfrm>
            <a:off x="561464" y="2492660"/>
            <a:ext cx="7350079" cy="411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946B8A-46BE-9D4B-0843-8690AF176F90}"/>
              </a:ext>
            </a:extLst>
          </p:cNvPr>
          <p:cNvSpPr txBox="1"/>
          <p:nvPr/>
        </p:nvSpPr>
        <p:spPr>
          <a:xfrm>
            <a:off x="-1089" y="0"/>
            <a:ext cx="6097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https://www.youtube.com/watch?v=QBDvFVmpgd0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B5095A-CDB0-35B4-D373-1390511175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7654"/>
          <a:stretch>
            <a:fillRect/>
          </a:stretch>
        </p:blipFill>
        <p:spPr>
          <a:xfrm>
            <a:off x="571490" y="345344"/>
            <a:ext cx="7330026" cy="64008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E8C6BB1-F0D7-3CD0-D489-E0B8220EE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5" r="12628"/>
          <a:stretch>
            <a:fillRect/>
          </a:stretch>
        </p:blipFill>
        <p:spPr bwMode="auto">
          <a:xfrm>
            <a:off x="7955497" y="1860650"/>
            <a:ext cx="3862513" cy="28989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F1BB01-53AE-DF10-BC9F-9BB4F2820BA3}"/>
              </a:ext>
            </a:extLst>
          </p:cNvPr>
          <p:cNvSpPr/>
          <p:nvPr/>
        </p:nvSpPr>
        <p:spPr>
          <a:xfrm>
            <a:off x="4071662" y="5785171"/>
            <a:ext cx="1164646" cy="562707"/>
          </a:xfrm>
          <a:prstGeom prst="rect">
            <a:avLst/>
          </a:prstGeom>
          <a:noFill/>
          <a:ln w="38100">
            <a:solidFill>
              <a:srgbClr val="DD6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7A94BD-4A0F-26F2-1C09-FA816CFCE74B}"/>
              </a:ext>
            </a:extLst>
          </p:cNvPr>
          <p:cNvSpPr/>
          <p:nvPr/>
        </p:nvSpPr>
        <p:spPr>
          <a:xfrm>
            <a:off x="3513017" y="5878673"/>
            <a:ext cx="449384" cy="389265"/>
          </a:xfrm>
          <a:prstGeom prst="rect">
            <a:avLst/>
          </a:prstGeom>
          <a:noFill/>
          <a:ln w="38100">
            <a:solidFill>
              <a:srgbClr val="84A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3A707-4B51-F4B5-A57F-E568E9C9D4D3}"/>
              </a:ext>
            </a:extLst>
          </p:cNvPr>
          <p:cNvSpPr txBox="1"/>
          <p:nvPr/>
        </p:nvSpPr>
        <p:spPr>
          <a:xfrm>
            <a:off x="427308" y="6098661"/>
            <a:ext cx="21353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Recursively</a:t>
            </a:r>
            <a:endParaRPr lang="en-US" sz="1600" i="1" dirty="0">
              <a:solidFill>
                <a:srgbClr val="FF00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55F810-ADDF-08A8-7993-619288399A33}"/>
              </a:ext>
            </a:extLst>
          </p:cNvPr>
          <p:cNvCxnSpPr>
            <a:cxnSpLocks/>
          </p:cNvCxnSpPr>
          <p:nvPr/>
        </p:nvCxnSpPr>
        <p:spPr>
          <a:xfrm>
            <a:off x="5357378" y="6267938"/>
            <a:ext cx="98134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31B48F-E6D6-1850-2FD9-FB3ABABC0722}"/>
              </a:ext>
            </a:extLst>
          </p:cNvPr>
          <p:cNvCxnSpPr>
            <a:cxnSpLocks/>
          </p:cNvCxnSpPr>
          <p:nvPr/>
        </p:nvCxnSpPr>
        <p:spPr>
          <a:xfrm>
            <a:off x="2149231" y="6267938"/>
            <a:ext cx="613955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16DE17-14A0-B6F2-A43A-873A23090BB5}"/>
                  </a:ext>
                </a:extLst>
              </p:cNvPr>
              <p:cNvSpPr txBox="1"/>
              <p:nvPr/>
            </p:nvSpPr>
            <p:spPr>
              <a:xfrm>
                <a:off x="8861881" y="5913995"/>
                <a:ext cx="21074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16DE17-14A0-B6F2-A43A-873A23090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881" y="5913995"/>
                <a:ext cx="2107446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385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65210-BA37-F027-A957-F9EFD052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A19B4-64B4-6EA8-E896-E765542F9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29" y="528380"/>
            <a:ext cx="6035971" cy="3964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D16D48-66C1-E207-31C2-0CE136BDC59F}"/>
              </a:ext>
            </a:extLst>
          </p:cNvPr>
          <p:cNvSpPr txBox="1"/>
          <p:nvPr/>
        </p:nvSpPr>
        <p:spPr>
          <a:xfrm>
            <a:off x="-1090" y="-9058"/>
            <a:ext cx="6097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https://www.youtube.com/watch?v=QBDvFVmpgd0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D3AB5E-5F2D-8131-359B-E8291DF6C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47" y="528379"/>
            <a:ext cx="4344976" cy="3964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0B8EA3-620F-0BBA-9D6B-85949412F677}"/>
                  </a:ext>
                </a:extLst>
              </p:cNvPr>
              <p:cNvSpPr txBox="1"/>
              <p:nvPr/>
            </p:nvSpPr>
            <p:spPr>
              <a:xfrm>
                <a:off x="1661886" y="5025208"/>
                <a:ext cx="2771136" cy="700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0B8EA3-620F-0BBA-9D6B-85949412F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886" y="5025208"/>
                <a:ext cx="2771136" cy="700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089493-F7AB-7FB5-25B5-78E3D70E41E0}"/>
                  </a:ext>
                </a:extLst>
              </p:cNvPr>
              <p:cNvSpPr txBox="1"/>
              <p:nvPr/>
            </p:nvSpPr>
            <p:spPr>
              <a:xfrm>
                <a:off x="5486397" y="4895077"/>
                <a:ext cx="5568404" cy="793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089493-F7AB-7FB5-25B5-78E3D70E4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7" y="4895077"/>
                <a:ext cx="5568404" cy="7936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F54C8A8-0A64-630C-BEA2-AAEB99FEED8D}"/>
              </a:ext>
            </a:extLst>
          </p:cNvPr>
          <p:cNvSpPr/>
          <p:nvPr/>
        </p:nvSpPr>
        <p:spPr>
          <a:xfrm>
            <a:off x="7968340" y="4895077"/>
            <a:ext cx="1328057" cy="36576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4B903-1F14-6179-7466-23F212322303}"/>
              </a:ext>
            </a:extLst>
          </p:cNvPr>
          <p:cNvSpPr/>
          <p:nvPr/>
        </p:nvSpPr>
        <p:spPr>
          <a:xfrm>
            <a:off x="8454570" y="5306682"/>
            <a:ext cx="1328058" cy="36576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E8217E-735C-DAC7-F3B2-DC8D3F5D7076}"/>
              </a:ext>
            </a:extLst>
          </p:cNvPr>
          <p:cNvSpPr txBox="1"/>
          <p:nvPr/>
        </p:nvSpPr>
        <p:spPr>
          <a:xfrm>
            <a:off x="838729" y="5998359"/>
            <a:ext cx="4417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Probability of being in state k at time n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C5C6C6-2F25-DFAF-55F7-67126E53E3A7}"/>
              </a:ext>
            </a:extLst>
          </p:cNvPr>
          <p:cNvSpPr txBox="1"/>
          <p:nvPr/>
        </p:nvSpPr>
        <p:spPr>
          <a:xfrm>
            <a:off x="5198287" y="5998359"/>
            <a:ext cx="61446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Probability of transitioning state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→ j at time n → n+1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00ED5E-CD11-BF2E-1A9E-FF5836565908}"/>
              </a:ext>
            </a:extLst>
          </p:cNvPr>
          <p:cNvSpPr/>
          <p:nvPr/>
        </p:nvSpPr>
        <p:spPr>
          <a:xfrm>
            <a:off x="1027104" y="4775200"/>
            <a:ext cx="4229075" cy="164011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5F6462-2484-1B72-9DDD-FC3AA90DAE85}"/>
              </a:ext>
            </a:extLst>
          </p:cNvPr>
          <p:cNvSpPr/>
          <p:nvPr/>
        </p:nvSpPr>
        <p:spPr>
          <a:xfrm>
            <a:off x="5444554" y="4775199"/>
            <a:ext cx="5637103" cy="164011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C21E4D-5B82-A3C0-84B6-8483A7433139}"/>
              </a:ext>
            </a:extLst>
          </p:cNvPr>
          <p:cNvSpPr txBox="1"/>
          <p:nvPr/>
        </p:nvSpPr>
        <p:spPr>
          <a:xfrm>
            <a:off x="2040640" y="1042698"/>
            <a:ext cx="3632148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“Forward-Backward Algorithm”</a:t>
            </a:r>
          </a:p>
        </p:txBody>
      </p:sp>
    </p:spTree>
    <p:extLst>
      <p:ext uri="{BB962C8B-B14F-4D97-AF65-F5344CB8AC3E}">
        <p14:creationId xmlns:p14="http://schemas.microsoft.com/office/powerpoint/2010/main" val="3407160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A8A84-E090-66CB-AD8E-9A41B286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6782499-3388-9BF7-07F0-D21E7C8B55BA}"/>
              </a:ext>
            </a:extLst>
          </p:cNvPr>
          <p:cNvSpPr txBox="1"/>
          <p:nvPr/>
        </p:nvSpPr>
        <p:spPr>
          <a:xfrm>
            <a:off x="1982682" y="521448"/>
            <a:ext cx="52201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probability of ‘state transition at hidden layer’ and ‘diffusion’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189F89-F5BA-2799-2674-3FC25284973B}"/>
                  </a:ext>
                </a:extLst>
              </p:cNvPr>
              <p:cNvSpPr txBox="1"/>
              <p:nvPr/>
            </p:nvSpPr>
            <p:spPr>
              <a:xfrm>
                <a:off x="402199" y="848946"/>
                <a:ext cx="40819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189F89-F5BA-2799-2674-3FC252849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99" y="848946"/>
                <a:ext cx="4081954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36597B-886F-32DF-B0D0-5A8883559987}"/>
                  </a:ext>
                </a:extLst>
              </p:cNvPr>
              <p:cNvSpPr txBox="1"/>
              <p:nvPr/>
            </p:nvSpPr>
            <p:spPr>
              <a:xfrm>
                <a:off x="6949033" y="593393"/>
                <a:ext cx="5047374" cy="902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</m:e>
                      </m:nary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36597B-886F-32DF-B0D0-5A8883559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033" y="593393"/>
                <a:ext cx="5047374" cy="9025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35F452-0FFE-7C29-CA18-82D46CDA6D2B}"/>
                  </a:ext>
                </a:extLst>
              </p:cNvPr>
              <p:cNvSpPr txBox="1"/>
              <p:nvPr/>
            </p:nvSpPr>
            <p:spPr>
              <a:xfrm>
                <a:off x="7053016" y="1495948"/>
                <a:ext cx="3862303" cy="878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35F452-0FFE-7C29-CA18-82D46CDA6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016" y="1495948"/>
                <a:ext cx="3862303" cy="8784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C6D1E2-1B5A-9142-E60F-1C4F44F80EBF}"/>
                  </a:ext>
                </a:extLst>
              </p:cNvPr>
              <p:cNvSpPr txBox="1"/>
              <p:nvPr/>
            </p:nvSpPr>
            <p:spPr>
              <a:xfrm>
                <a:off x="192669" y="1527294"/>
                <a:ext cx="7224432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</m:e>
                      </m:fun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C6D1E2-1B5A-9142-E60F-1C4F44F80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69" y="1527294"/>
                <a:ext cx="7224432" cy="8712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072D4FF-0A16-7534-A972-A57B853E176B}"/>
              </a:ext>
            </a:extLst>
          </p:cNvPr>
          <p:cNvSpPr/>
          <p:nvPr/>
        </p:nvSpPr>
        <p:spPr>
          <a:xfrm>
            <a:off x="556042" y="1787556"/>
            <a:ext cx="1816019" cy="36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1C54BD-3093-6949-5E7A-DDCB5D74553E}"/>
              </a:ext>
            </a:extLst>
          </p:cNvPr>
          <p:cNvSpPr txBox="1"/>
          <p:nvPr/>
        </p:nvSpPr>
        <p:spPr>
          <a:xfrm>
            <a:off x="1694402" y="2206670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Taking logs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9C6C6-40F4-6973-8B8B-F16FB83E4C87}"/>
              </a:ext>
            </a:extLst>
          </p:cNvPr>
          <p:cNvSpPr/>
          <p:nvPr/>
        </p:nvSpPr>
        <p:spPr>
          <a:xfrm>
            <a:off x="573782" y="853723"/>
            <a:ext cx="1482953" cy="3612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B75FB5-E267-A391-662B-FD00D8607CD8}"/>
              </a:ext>
            </a:extLst>
          </p:cNvPr>
          <p:cNvSpPr/>
          <p:nvPr/>
        </p:nvSpPr>
        <p:spPr>
          <a:xfrm>
            <a:off x="7255332" y="581908"/>
            <a:ext cx="4487578" cy="181658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47E534-C2A0-7775-CE1B-0C3A3446CB02}"/>
              </a:ext>
            </a:extLst>
          </p:cNvPr>
          <p:cNvSpPr/>
          <p:nvPr/>
        </p:nvSpPr>
        <p:spPr>
          <a:xfrm>
            <a:off x="2256684" y="853723"/>
            <a:ext cx="1987891" cy="3612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9A80457-12F6-247A-365D-498EBC04B2D7}"/>
              </a:ext>
            </a:extLst>
          </p:cNvPr>
          <p:cNvCxnSpPr>
            <a:stCxn id="23" idx="1"/>
            <a:endCxn id="30" idx="3"/>
          </p:cNvCxnSpPr>
          <p:nvPr/>
        </p:nvCxnSpPr>
        <p:spPr>
          <a:xfrm flipH="1" flipV="1">
            <a:off x="4244575" y="1034339"/>
            <a:ext cx="3010757" cy="455863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95ABF0-F31F-52D2-0F9A-B61DD6955ED9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1315259" y="1214955"/>
            <a:ext cx="148793" cy="57260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4B68B66-8091-23A3-47C2-4EBD77B49FEE}"/>
              </a:ext>
            </a:extLst>
          </p:cNvPr>
          <p:cNvGrpSpPr/>
          <p:nvPr/>
        </p:nvGrpSpPr>
        <p:grpSpPr>
          <a:xfrm>
            <a:off x="573782" y="3379917"/>
            <a:ext cx="10719623" cy="2624360"/>
            <a:chOff x="639098" y="3517420"/>
            <a:chExt cx="10719623" cy="2624360"/>
          </a:xfrm>
        </p:grpSpPr>
        <p:pic>
          <p:nvPicPr>
            <p:cNvPr id="54" name="그림 3">
              <a:extLst>
                <a:ext uri="{FF2B5EF4-FFF2-40B4-BE49-F238E27FC236}">
                  <a16:creationId xmlns:a16="http://schemas.microsoft.com/office/drawing/2014/main" id="{93226661-5C23-495E-B1A1-DDB3624DE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66979"/>
            <a:stretch>
              <a:fillRect/>
            </a:stretch>
          </p:blipFill>
          <p:spPr>
            <a:xfrm>
              <a:off x="6846412" y="3645435"/>
              <a:ext cx="2322158" cy="2496345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4186C7E-4D9F-8FBC-FB56-5C7CE698EB91}"/>
                </a:ext>
              </a:extLst>
            </p:cNvPr>
            <p:cNvSpPr/>
            <p:nvPr/>
          </p:nvSpPr>
          <p:spPr>
            <a:xfrm>
              <a:off x="6781133" y="3551212"/>
              <a:ext cx="4577588" cy="2453065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6F742B6-BBA9-CA5F-6170-85E52CD958B5}"/>
                </a:ext>
              </a:extLst>
            </p:cNvPr>
            <p:cNvGrpSpPr/>
            <p:nvPr/>
          </p:nvGrpSpPr>
          <p:grpSpPr>
            <a:xfrm>
              <a:off x="639098" y="3517420"/>
              <a:ext cx="1801275" cy="2486857"/>
              <a:chOff x="639098" y="3517420"/>
              <a:chExt cx="1801275" cy="2486857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9AC5BC7-CDBE-BC88-538C-47BF303D4BEA}"/>
                  </a:ext>
                </a:extLst>
              </p:cNvPr>
              <p:cNvGrpSpPr/>
              <p:nvPr/>
            </p:nvGrpSpPr>
            <p:grpSpPr>
              <a:xfrm>
                <a:off x="639098" y="3517420"/>
                <a:ext cx="1801275" cy="2486857"/>
                <a:chOff x="398416" y="1343857"/>
                <a:chExt cx="2940895" cy="4060226"/>
              </a:xfrm>
            </p:grpSpPr>
            <p:pic>
              <p:nvPicPr>
                <p:cNvPr id="56" name="그림 3">
                  <a:extLst>
                    <a:ext uri="{FF2B5EF4-FFF2-40B4-BE49-F238E27FC236}">
                      <a16:creationId xmlns:a16="http://schemas.microsoft.com/office/drawing/2014/main" id="{3F138F77-E329-C32F-E3C4-951B618B8F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74288"/>
                <a:stretch>
                  <a:fillRect/>
                </a:stretch>
              </p:blipFill>
              <p:spPr>
                <a:xfrm>
                  <a:off x="398417" y="1343857"/>
                  <a:ext cx="2940894" cy="4060226"/>
                </a:xfrm>
                <a:prstGeom prst="rect">
                  <a:avLst/>
                </a:prstGeom>
              </p:spPr>
            </p:pic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CA41967B-565E-631A-0721-1E4B3E122232}"/>
                    </a:ext>
                  </a:extLst>
                </p:cNvPr>
                <p:cNvSpPr/>
                <p:nvPr/>
              </p:nvSpPr>
              <p:spPr>
                <a:xfrm>
                  <a:off x="398416" y="1552863"/>
                  <a:ext cx="633549" cy="6547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A197058-16B3-407E-630C-87CF769DA1E0}"/>
                  </a:ext>
                </a:extLst>
              </p:cNvPr>
              <p:cNvSpPr/>
              <p:nvPr/>
            </p:nvSpPr>
            <p:spPr>
              <a:xfrm>
                <a:off x="639098" y="4319588"/>
                <a:ext cx="1801274" cy="9525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46750D7C-BC63-3894-91B4-59995C1C25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5413" y="4386263"/>
                <a:ext cx="0" cy="82391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A0A83280-AD0A-DFD5-F447-BCCACB4D26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52588" y="4386263"/>
                <a:ext cx="0" cy="82391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A11B509-E139-5D95-CC2C-F55981FF19E2}"/>
                    </a:ext>
                  </a:extLst>
                </p:cNvPr>
                <p:cNvSpPr txBox="1"/>
                <p:nvPr/>
              </p:nvSpPr>
              <p:spPr>
                <a:xfrm>
                  <a:off x="1955781" y="3760787"/>
                  <a:ext cx="4577588" cy="9025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  <m:r>
                          <a:rPr lang="en-US" b="0" i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sup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sup>
                            </m:sSup>
                          </m:e>
                        </m:nary>
                        <m:nary>
                          <m:naryPr>
                            <m:chr m:val="∏"/>
                            <m:limLoc m:val="undOvr"/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nary>
                              <m:naryPr>
                                <m:chr m:val="∏"/>
                                <m:limLoc m:val="undOvr"/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b="0" i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b="0" i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sup>
                                </m:sSup>
                              </m:e>
                            </m:nary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A11B509-E139-5D95-CC2C-F55981FF1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5781" y="3760787"/>
                  <a:ext cx="4577588" cy="90255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F210DC-5C9D-4920-28FD-7B2BEEF8470D}"/>
                </a:ext>
              </a:extLst>
            </p:cNvPr>
            <p:cNvSpPr/>
            <p:nvPr/>
          </p:nvSpPr>
          <p:spPr>
            <a:xfrm>
              <a:off x="1092420" y="3551212"/>
              <a:ext cx="5475293" cy="2453065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E07145D-E51C-81A6-19F5-E994CB3885AF}"/>
                    </a:ext>
                  </a:extLst>
                </p:cNvPr>
                <p:cNvSpPr txBox="1"/>
                <p:nvPr/>
              </p:nvSpPr>
              <p:spPr>
                <a:xfrm>
                  <a:off x="7581942" y="4403766"/>
                  <a:ext cx="3600095" cy="8784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</m:d>
                        <m:r>
                          <a:rPr lang="en-US" b="0" i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b="0" i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b="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den>
                                    </m:f>
                                  </m:e>
                                </m:d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E07145D-E51C-81A6-19F5-E994CB3885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1942" y="4403766"/>
                  <a:ext cx="3600095" cy="87844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CF571ED-7AEB-C2D5-509B-6981A086C4EE}"/>
              </a:ext>
            </a:extLst>
          </p:cNvPr>
          <p:cNvSpPr txBox="1"/>
          <p:nvPr/>
        </p:nvSpPr>
        <p:spPr>
          <a:xfrm>
            <a:off x="2703388" y="5137985"/>
            <a:ext cx="3403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𝜋: initiation probability 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322DAA-23AE-8D68-521C-982E4CEA12D5}"/>
              </a:ext>
            </a:extLst>
          </p:cNvPr>
          <p:cNvSpPr txBox="1"/>
          <p:nvPr/>
        </p:nvSpPr>
        <p:spPr>
          <a:xfrm>
            <a:off x="2703388" y="5442004"/>
            <a:ext cx="383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A: transition probability matrix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CC5E8F-DD6D-C9CD-DEDE-00BAFF642C62}"/>
              </a:ext>
            </a:extLst>
          </p:cNvPr>
          <p:cNvSpPr txBox="1"/>
          <p:nvPr/>
        </p:nvSpPr>
        <p:spPr>
          <a:xfrm>
            <a:off x="8496387" y="5442004"/>
            <a:ext cx="2668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D: diffusion coefficient</a:t>
            </a:r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D5D6E25-ABD5-6CB3-8ACB-14D022AABDFE}"/>
              </a:ext>
            </a:extLst>
          </p:cNvPr>
          <p:cNvSpPr/>
          <p:nvPr/>
        </p:nvSpPr>
        <p:spPr>
          <a:xfrm>
            <a:off x="7672672" y="4182085"/>
            <a:ext cx="1195557" cy="259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9B4F2C5-8DCD-3281-E449-A1E371D02266}"/>
              </a:ext>
            </a:extLst>
          </p:cNvPr>
          <p:cNvSpPr/>
          <p:nvPr/>
        </p:nvSpPr>
        <p:spPr>
          <a:xfrm>
            <a:off x="7227293" y="5192713"/>
            <a:ext cx="1195557" cy="30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DC1468B-1951-EC43-D0F6-1214F4606E1A}"/>
              </a:ext>
            </a:extLst>
          </p:cNvPr>
          <p:cNvCxnSpPr>
            <a:cxnSpLocks/>
            <a:stCxn id="60" idx="0"/>
            <a:endCxn id="23" idx="2"/>
          </p:cNvCxnSpPr>
          <p:nvPr/>
        </p:nvCxnSpPr>
        <p:spPr>
          <a:xfrm flipV="1">
            <a:off x="3764751" y="2398495"/>
            <a:ext cx="5734370" cy="101521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5AC2D1E-DFDD-9127-B971-25576F217CA0}"/>
              </a:ext>
            </a:extLst>
          </p:cNvPr>
          <p:cNvCxnSpPr>
            <a:cxnSpLocks/>
            <a:stCxn id="61" idx="0"/>
            <a:endCxn id="23" idx="2"/>
          </p:cNvCxnSpPr>
          <p:nvPr/>
        </p:nvCxnSpPr>
        <p:spPr>
          <a:xfrm flipV="1">
            <a:off x="9004611" y="2398495"/>
            <a:ext cx="494510" cy="101521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652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DBE8-90E4-12F7-6136-C5C540E9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43DCBF-9D68-9E22-9EB6-11E16318D106}"/>
                  </a:ext>
                </a:extLst>
              </p:cNvPr>
              <p:cNvSpPr txBox="1"/>
              <p:nvPr/>
            </p:nvSpPr>
            <p:spPr>
              <a:xfrm>
                <a:off x="2971239" y="4509051"/>
                <a:ext cx="3900896" cy="176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marR="0" lvl="1" indent="-285750" algn="just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𝑛𝑒𝑤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𝑘</m:t>
                        </m:r>
                      </m:e>
                    </m:d>
                  </m:oMath>
                </a14:m>
                <a:endParaRPr lang="en-US" sz="2800" kern="100" dirty="0">
                  <a:effectLst/>
                  <a:latin typeface="Aptos" panose="020B0004020202020204" pitchFamily="34" charset="0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742950" marR="0" lvl="1" indent="-285750" algn="just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𝑖𝑗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𝑛𝑒𝑤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𝑁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𝑁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sz="2800" kern="100" dirty="0">
                  <a:effectLst/>
                  <a:latin typeface="Aptos" panose="020B0004020202020204" pitchFamily="34" charset="0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742950" marR="0" lvl="1" indent="-285750" algn="just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𝑛𝑒𝑤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Arial" panose="020B0604020202020204" pitchFamily="34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4∆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𝑡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sz="2800" kern="100" dirty="0">
                  <a:effectLst/>
                  <a:latin typeface="Aptos" panose="020B0004020202020204" pitchFamily="34" charset="0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43DCBF-9D68-9E22-9EB6-11E16318D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239" y="4509051"/>
                <a:ext cx="3900896" cy="1761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646E455-C33D-347D-5DF0-0120297B4B92}"/>
              </a:ext>
            </a:extLst>
          </p:cNvPr>
          <p:cNvSpPr txBox="1"/>
          <p:nvPr/>
        </p:nvSpPr>
        <p:spPr>
          <a:xfrm>
            <a:off x="1982682" y="521448"/>
            <a:ext cx="52201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probability of ‘state transition at hidden layer’ and ‘diffusion’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FD8388D-72D3-21C1-E083-DE352AAF9B52}"/>
                  </a:ext>
                </a:extLst>
              </p:cNvPr>
              <p:cNvSpPr txBox="1"/>
              <p:nvPr/>
            </p:nvSpPr>
            <p:spPr>
              <a:xfrm>
                <a:off x="402199" y="848946"/>
                <a:ext cx="40819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FD8388D-72D3-21C1-E083-DE352AAF9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99" y="848946"/>
                <a:ext cx="4081954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1F6065-2BD6-4DE8-03D4-F4F419CBDC22}"/>
                  </a:ext>
                </a:extLst>
              </p:cNvPr>
              <p:cNvSpPr txBox="1"/>
              <p:nvPr/>
            </p:nvSpPr>
            <p:spPr>
              <a:xfrm>
                <a:off x="6949033" y="593393"/>
                <a:ext cx="5047374" cy="902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</m:e>
                      </m:nary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1F6065-2BD6-4DE8-03D4-F4F419CB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033" y="593393"/>
                <a:ext cx="5047374" cy="9025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818993-CD3D-132C-298D-C3511B3B2013}"/>
                  </a:ext>
                </a:extLst>
              </p:cNvPr>
              <p:cNvSpPr txBox="1"/>
              <p:nvPr/>
            </p:nvSpPr>
            <p:spPr>
              <a:xfrm>
                <a:off x="3252188" y="3002709"/>
                <a:ext cx="7792024" cy="1173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|"/>
                                          <m:endChr m:val=""/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818993-CD3D-132C-298D-C3511B3B2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188" y="3002709"/>
                <a:ext cx="7792024" cy="11732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2A1C0F-FC25-FFE3-4101-31EB56C3FC98}"/>
                  </a:ext>
                </a:extLst>
              </p:cNvPr>
              <p:cNvSpPr txBox="1"/>
              <p:nvPr/>
            </p:nvSpPr>
            <p:spPr>
              <a:xfrm>
                <a:off x="7053016" y="1495948"/>
                <a:ext cx="3862303" cy="878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2A1C0F-FC25-FFE3-4101-31EB56C3F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016" y="1495948"/>
                <a:ext cx="3862303" cy="8784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A80CC7-F616-73AA-E517-658FCFD7305A}"/>
                  </a:ext>
                </a:extLst>
              </p:cNvPr>
              <p:cNvSpPr txBox="1"/>
              <p:nvPr/>
            </p:nvSpPr>
            <p:spPr>
              <a:xfrm>
                <a:off x="192669" y="1527294"/>
                <a:ext cx="7224432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</m:e>
                      </m:fun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A80CC7-F616-73AA-E517-658FCFD73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69" y="1527294"/>
                <a:ext cx="7224432" cy="8712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1A5849DB-2C70-F9CF-61CB-F9A351F64411}"/>
              </a:ext>
            </a:extLst>
          </p:cNvPr>
          <p:cNvSpPr/>
          <p:nvPr/>
        </p:nvSpPr>
        <p:spPr>
          <a:xfrm>
            <a:off x="556042" y="1787556"/>
            <a:ext cx="1816019" cy="36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C2982D-C031-F2EE-BD69-88EDEB9C6CC7}"/>
              </a:ext>
            </a:extLst>
          </p:cNvPr>
          <p:cNvSpPr txBox="1"/>
          <p:nvPr/>
        </p:nvSpPr>
        <p:spPr>
          <a:xfrm>
            <a:off x="1694402" y="2206670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Taking logs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DE175-B034-DA8B-90D5-3A371F2FA0A6}"/>
              </a:ext>
            </a:extLst>
          </p:cNvPr>
          <p:cNvSpPr/>
          <p:nvPr/>
        </p:nvSpPr>
        <p:spPr>
          <a:xfrm>
            <a:off x="573782" y="853723"/>
            <a:ext cx="1482953" cy="3612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8B7625-8339-E4D7-CC79-71EA6117F17B}"/>
              </a:ext>
            </a:extLst>
          </p:cNvPr>
          <p:cNvSpPr txBox="1"/>
          <p:nvPr/>
        </p:nvSpPr>
        <p:spPr>
          <a:xfrm>
            <a:off x="3483306" y="4232052"/>
            <a:ext cx="2577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derivatives equal to zeros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449CEA-A466-AC2E-6EF4-6E1F453C8D63}"/>
              </a:ext>
            </a:extLst>
          </p:cNvPr>
          <p:cNvSpPr/>
          <p:nvPr/>
        </p:nvSpPr>
        <p:spPr>
          <a:xfrm>
            <a:off x="3436604" y="3002709"/>
            <a:ext cx="1156152" cy="3657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CDB950-A24C-D45F-8A40-EBD4A35E1402}"/>
              </a:ext>
            </a:extLst>
          </p:cNvPr>
          <p:cNvSpPr/>
          <p:nvPr/>
        </p:nvSpPr>
        <p:spPr>
          <a:xfrm>
            <a:off x="3436604" y="4509051"/>
            <a:ext cx="2671355" cy="182591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6BC7126-C65C-40A9-E430-1B4DAEFFD20A}"/>
              </a:ext>
            </a:extLst>
          </p:cNvPr>
          <p:cNvGrpSpPr/>
          <p:nvPr/>
        </p:nvGrpSpPr>
        <p:grpSpPr>
          <a:xfrm>
            <a:off x="1904458" y="3436782"/>
            <a:ext cx="928460" cy="2169892"/>
            <a:chOff x="1372714" y="3567624"/>
            <a:chExt cx="928460" cy="216989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DD3D34-4597-5D7B-5FA2-57AC184692D3}"/>
                </a:ext>
              </a:extLst>
            </p:cNvPr>
            <p:cNvSpPr txBox="1"/>
            <p:nvPr/>
          </p:nvSpPr>
          <p:spPr>
            <a:xfrm>
              <a:off x="1391951" y="3567624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E-step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3916C0-917F-FC1B-3798-E32EE36C5AA3}"/>
                </a:ext>
              </a:extLst>
            </p:cNvPr>
            <p:cNvSpPr txBox="1"/>
            <p:nvPr/>
          </p:nvSpPr>
          <p:spPr>
            <a:xfrm>
              <a:off x="1372714" y="5368184"/>
              <a:ext cx="9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M-step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078EB37-9633-CD25-FF9D-D1482184E692}"/>
                </a:ext>
              </a:extLst>
            </p:cNvPr>
            <p:cNvGrpSpPr/>
            <p:nvPr/>
          </p:nvGrpSpPr>
          <p:grpSpPr>
            <a:xfrm>
              <a:off x="1692980" y="3946086"/>
              <a:ext cx="287928" cy="1412969"/>
              <a:chOff x="4712425" y="3219992"/>
              <a:chExt cx="287928" cy="1412969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912545F2-8843-0EF2-FF3F-9A8174D2A0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0353" y="3261361"/>
                <a:ext cx="0" cy="137160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C960EB96-197B-DF29-8D16-1B91C7792E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12425" y="3219992"/>
                <a:ext cx="0" cy="137160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BC41B90-4A0F-67A9-3F3F-70488BB1A3CC}"/>
              </a:ext>
            </a:extLst>
          </p:cNvPr>
          <p:cNvSpPr/>
          <p:nvPr/>
        </p:nvSpPr>
        <p:spPr>
          <a:xfrm>
            <a:off x="7255332" y="581908"/>
            <a:ext cx="4487578" cy="181658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0D269F-6B82-CAD7-7A0D-4B186BA98ADA}"/>
              </a:ext>
            </a:extLst>
          </p:cNvPr>
          <p:cNvSpPr/>
          <p:nvPr/>
        </p:nvSpPr>
        <p:spPr>
          <a:xfrm>
            <a:off x="2256684" y="853723"/>
            <a:ext cx="1987891" cy="3612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94698770-9F1F-3296-7E77-399B5C4F7A5E}"/>
              </a:ext>
            </a:extLst>
          </p:cNvPr>
          <p:cNvSpPr/>
          <p:nvPr/>
        </p:nvSpPr>
        <p:spPr>
          <a:xfrm>
            <a:off x="2927637" y="4562602"/>
            <a:ext cx="134573" cy="1738312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 Bracket 38">
            <a:extLst>
              <a:ext uri="{FF2B5EF4-FFF2-40B4-BE49-F238E27FC236}">
                <a16:creationId xmlns:a16="http://schemas.microsoft.com/office/drawing/2014/main" id="{E5307245-7603-81A0-8E85-3014794EBB3D}"/>
              </a:ext>
            </a:extLst>
          </p:cNvPr>
          <p:cNvSpPr/>
          <p:nvPr/>
        </p:nvSpPr>
        <p:spPr>
          <a:xfrm>
            <a:off x="2927637" y="3105277"/>
            <a:ext cx="134573" cy="897731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83D33B-92C0-8248-B4FC-09D5464AE67B}"/>
              </a:ext>
            </a:extLst>
          </p:cNvPr>
          <p:cNvSpPr txBox="1"/>
          <p:nvPr/>
        </p:nvSpPr>
        <p:spPr>
          <a:xfrm>
            <a:off x="3486330" y="2711196"/>
            <a:ext cx="1056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0D91E8-784D-95FC-9629-24AD9E4BFF96}"/>
              </a:ext>
            </a:extLst>
          </p:cNvPr>
          <p:cNvCxnSpPr>
            <a:stCxn id="23" idx="1"/>
            <a:endCxn id="30" idx="3"/>
          </p:cNvCxnSpPr>
          <p:nvPr/>
        </p:nvCxnSpPr>
        <p:spPr>
          <a:xfrm flipH="1" flipV="1">
            <a:off x="4244575" y="1034339"/>
            <a:ext cx="3010757" cy="455863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F09B1A7-3862-AF12-D94C-228D086FB1E9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1315259" y="1214955"/>
            <a:ext cx="148793" cy="57260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FC093F-02DD-5940-80FF-70C8F4C34071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1464052" y="2153316"/>
            <a:ext cx="904637" cy="128346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29FA349-6D45-3F10-7E53-AA80AF29E629}"/>
              </a:ext>
            </a:extLst>
          </p:cNvPr>
          <p:cNvSpPr txBox="1"/>
          <p:nvPr/>
        </p:nvSpPr>
        <p:spPr>
          <a:xfrm>
            <a:off x="6870811" y="4588544"/>
            <a:ext cx="44875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“Baum-Welch Algorithm”</a:t>
            </a:r>
          </a:p>
          <a:p>
            <a:pPr algn="ctr"/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to learn HMM parameters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A903D3-D4D7-10C8-6B32-F49A059C7BD2}"/>
              </a:ext>
            </a:extLst>
          </p:cNvPr>
          <p:cNvSpPr txBox="1"/>
          <p:nvPr/>
        </p:nvSpPr>
        <p:spPr>
          <a:xfrm>
            <a:off x="6564509" y="5529960"/>
            <a:ext cx="5100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“Viterbi Algorithm”</a:t>
            </a:r>
          </a:p>
          <a:p>
            <a:pPr algn="ctr"/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decode the most likely hidden states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BE4A26B-5509-416E-7AD1-EA2C39A9AEDF}"/>
              </a:ext>
            </a:extLst>
          </p:cNvPr>
          <p:cNvSpPr/>
          <p:nvPr/>
        </p:nvSpPr>
        <p:spPr>
          <a:xfrm>
            <a:off x="6458112" y="4509051"/>
            <a:ext cx="5312975" cy="181658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0AF06-6DEF-CB97-F784-D6D4884F7D71}"/>
              </a:ext>
            </a:extLst>
          </p:cNvPr>
          <p:cNvSpPr/>
          <p:nvPr/>
        </p:nvSpPr>
        <p:spPr>
          <a:xfrm>
            <a:off x="6570124" y="3554142"/>
            <a:ext cx="751607" cy="365760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F186EA-CA0D-28B5-F046-D122827C6973}"/>
              </a:ext>
            </a:extLst>
          </p:cNvPr>
          <p:cNvSpPr/>
          <p:nvPr/>
        </p:nvSpPr>
        <p:spPr>
          <a:xfrm>
            <a:off x="8963237" y="3554142"/>
            <a:ext cx="592244" cy="365760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5E5313-4119-7A78-7060-9FACCD3806D6}"/>
              </a:ext>
            </a:extLst>
          </p:cNvPr>
          <p:cNvSpPr/>
          <p:nvPr/>
        </p:nvSpPr>
        <p:spPr>
          <a:xfrm>
            <a:off x="4098410" y="3554142"/>
            <a:ext cx="592244" cy="365760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98E8A-7087-1822-162B-10DF15BDF05C}"/>
              </a:ext>
            </a:extLst>
          </p:cNvPr>
          <p:cNvSpPr txBox="1"/>
          <p:nvPr/>
        </p:nvSpPr>
        <p:spPr>
          <a:xfrm>
            <a:off x="8913615" y="3243981"/>
            <a:ext cx="2751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with an old parameter 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961EC-1FAF-BAFE-AFF3-B5E9E238FCD7}"/>
              </a:ext>
            </a:extLst>
          </p:cNvPr>
          <p:cNvSpPr txBox="1"/>
          <p:nvPr/>
        </p:nvSpPr>
        <p:spPr>
          <a:xfrm>
            <a:off x="5651860" y="6327145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36AAB7-44C8-BE00-39C8-813A031948DB}"/>
              </a:ext>
            </a:extLst>
          </p:cNvPr>
          <p:cNvCxnSpPr>
            <a:cxnSpLocks/>
          </p:cNvCxnSpPr>
          <p:nvPr/>
        </p:nvCxnSpPr>
        <p:spPr>
          <a:xfrm>
            <a:off x="3684886" y="4932196"/>
            <a:ext cx="1710074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4FE929-5E93-9393-27B7-000955504A7A}"/>
              </a:ext>
            </a:extLst>
          </p:cNvPr>
          <p:cNvCxnSpPr>
            <a:cxnSpLocks/>
          </p:cNvCxnSpPr>
          <p:nvPr/>
        </p:nvCxnSpPr>
        <p:spPr>
          <a:xfrm>
            <a:off x="3684886" y="5606674"/>
            <a:ext cx="213461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B23950-8D78-6228-EEC8-0D1D3649F35C}"/>
              </a:ext>
            </a:extLst>
          </p:cNvPr>
          <p:cNvCxnSpPr>
            <a:cxnSpLocks/>
          </p:cNvCxnSpPr>
          <p:nvPr/>
        </p:nvCxnSpPr>
        <p:spPr>
          <a:xfrm>
            <a:off x="3684886" y="6256299"/>
            <a:ext cx="2299709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675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623E-BE92-5F95-7636-BF5D190F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59DE9E-C50B-A784-D8B2-5F00BBC255A8}"/>
                  </a:ext>
                </a:extLst>
              </p:cNvPr>
              <p:cNvSpPr txBox="1"/>
              <p:nvPr/>
            </p:nvSpPr>
            <p:spPr>
              <a:xfrm>
                <a:off x="2971239" y="4509051"/>
                <a:ext cx="3900896" cy="176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marR="0" lvl="1" indent="-285750" algn="just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𝑛𝑒𝑤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𝑘</m:t>
                        </m:r>
                      </m:e>
                    </m:d>
                  </m:oMath>
                </a14:m>
                <a:endParaRPr lang="en-US" sz="2800" kern="100" dirty="0">
                  <a:effectLst/>
                  <a:latin typeface="Aptos" panose="020B0004020202020204" pitchFamily="34" charset="0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742950" marR="0" lvl="1" indent="-285750" algn="just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𝑖𝑗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𝑛𝑒𝑤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𝑁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𝑁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sz="2800" kern="100" dirty="0">
                  <a:effectLst/>
                  <a:latin typeface="Aptos" panose="020B0004020202020204" pitchFamily="34" charset="0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742950" marR="0" lvl="1" indent="-285750" algn="just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𝑛𝑒𝑤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Arial" panose="020B0604020202020204" pitchFamily="34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∆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anose="020B0604020202020204" pitchFamily="34" charset="0"/>
                          </a:rPr>
                          <m:t>𝑡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Arial" panose="020B0604020202020204" pitchFamily="34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sz="2800" kern="100" dirty="0">
                  <a:effectLst/>
                  <a:latin typeface="Aptos" panose="020B0004020202020204" pitchFamily="34" charset="0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43DCBF-9D68-9E22-9EB6-11E16318D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239" y="4509051"/>
                <a:ext cx="3900896" cy="1761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96B7802-A6B8-2DFF-A4E8-CE9064085FEB}"/>
              </a:ext>
            </a:extLst>
          </p:cNvPr>
          <p:cNvSpPr txBox="1"/>
          <p:nvPr/>
        </p:nvSpPr>
        <p:spPr>
          <a:xfrm>
            <a:off x="1982682" y="521448"/>
            <a:ext cx="52201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probability of ‘state transition at hidden layer’ and ‘diffusion’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1B1FA9-D6BD-5161-F5CF-855BFF82AD2C}"/>
                  </a:ext>
                </a:extLst>
              </p:cNvPr>
              <p:cNvSpPr txBox="1"/>
              <p:nvPr/>
            </p:nvSpPr>
            <p:spPr>
              <a:xfrm>
                <a:off x="402199" y="848946"/>
                <a:ext cx="40819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FD8388D-72D3-21C1-E083-DE352AAF9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99" y="848946"/>
                <a:ext cx="4081954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4A2221-AA4E-1930-A096-EEE7CD545D35}"/>
                  </a:ext>
                </a:extLst>
              </p:cNvPr>
              <p:cNvSpPr txBox="1"/>
              <p:nvPr/>
            </p:nvSpPr>
            <p:spPr>
              <a:xfrm>
                <a:off x="6949033" y="593393"/>
                <a:ext cx="5047374" cy="902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</m:e>
                      </m:nary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1F6065-2BD6-4DE8-03D4-F4F419CB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033" y="593393"/>
                <a:ext cx="5047374" cy="9025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CDA251-E8D8-47E3-07C3-851B51D34F2F}"/>
                  </a:ext>
                </a:extLst>
              </p:cNvPr>
              <p:cNvSpPr txBox="1"/>
              <p:nvPr/>
            </p:nvSpPr>
            <p:spPr>
              <a:xfrm>
                <a:off x="3252188" y="3002709"/>
                <a:ext cx="7792024" cy="1173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|"/>
                                          <m:endChr m:val=""/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818993-CD3D-132C-298D-C3511B3B2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188" y="3002709"/>
                <a:ext cx="7792024" cy="11732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AA359-A74F-2B2D-5B4B-DA62A5D3046C}"/>
                  </a:ext>
                </a:extLst>
              </p:cNvPr>
              <p:cNvSpPr txBox="1"/>
              <p:nvPr/>
            </p:nvSpPr>
            <p:spPr>
              <a:xfrm>
                <a:off x="7053016" y="1495948"/>
                <a:ext cx="3862303" cy="878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2A1C0F-FC25-FFE3-4101-31EB56C3F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016" y="1495948"/>
                <a:ext cx="3862303" cy="8784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E2DFC0-5135-63C6-46E1-33E6AE8920D2}"/>
                  </a:ext>
                </a:extLst>
              </p:cNvPr>
              <p:cNvSpPr txBox="1"/>
              <p:nvPr/>
            </p:nvSpPr>
            <p:spPr>
              <a:xfrm>
                <a:off x="192669" y="1527294"/>
                <a:ext cx="7224432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</m:e>
                      </m:fun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A80CC7-F616-73AA-E517-658FCFD73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69" y="1527294"/>
                <a:ext cx="7224432" cy="8712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37A22D44-0E3D-9255-7F28-D87319159A9F}"/>
              </a:ext>
            </a:extLst>
          </p:cNvPr>
          <p:cNvSpPr/>
          <p:nvPr/>
        </p:nvSpPr>
        <p:spPr>
          <a:xfrm>
            <a:off x="556042" y="1787556"/>
            <a:ext cx="1816019" cy="36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E2976-33DA-F9AD-16D0-C4B77F872384}"/>
              </a:ext>
            </a:extLst>
          </p:cNvPr>
          <p:cNvSpPr txBox="1"/>
          <p:nvPr/>
        </p:nvSpPr>
        <p:spPr>
          <a:xfrm>
            <a:off x="1694402" y="2206670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Taking logs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19410F-C0D9-434C-61EF-5BD1B096034D}"/>
              </a:ext>
            </a:extLst>
          </p:cNvPr>
          <p:cNvSpPr/>
          <p:nvPr/>
        </p:nvSpPr>
        <p:spPr>
          <a:xfrm>
            <a:off x="573782" y="853723"/>
            <a:ext cx="1482953" cy="3612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77DAB-367D-513D-EB5B-CF5A8F28D384}"/>
              </a:ext>
            </a:extLst>
          </p:cNvPr>
          <p:cNvSpPr txBox="1"/>
          <p:nvPr/>
        </p:nvSpPr>
        <p:spPr>
          <a:xfrm>
            <a:off x="3483306" y="4232052"/>
            <a:ext cx="2577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derivatives equal to zeros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439DCE-55F9-1EDD-E3A3-86E61AAA013A}"/>
              </a:ext>
            </a:extLst>
          </p:cNvPr>
          <p:cNvSpPr/>
          <p:nvPr/>
        </p:nvSpPr>
        <p:spPr>
          <a:xfrm>
            <a:off x="3436604" y="3002709"/>
            <a:ext cx="1156152" cy="3657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A002E3-288D-07FB-5FEA-6F83B239887B}"/>
              </a:ext>
            </a:extLst>
          </p:cNvPr>
          <p:cNvSpPr/>
          <p:nvPr/>
        </p:nvSpPr>
        <p:spPr>
          <a:xfrm>
            <a:off x="3436604" y="4509051"/>
            <a:ext cx="2671355" cy="182591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AF8F91-8662-C9B0-9951-4A00DF29D460}"/>
              </a:ext>
            </a:extLst>
          </p:cNvPr>
          <p:cNvGrpSpPr/>
          <p:nvPr/>
        </p:nvGrpSpPr>
        <p:grpSpPr>
          <a:xfrm>
            <a:off x="1904458" y="3436782"/>
            <a:ext cx="928460" cy="2169892"/>
            <a:chOff x="1372714" y="3567624"/>
            <a:chExt cx="928460" cy="216989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931108-D1B5-4FF5-A3F2-C19F8A35A73B}"/>
                </a:ext>
              </a:extLst>
            </p:cNvPr>
            <p:cNvSpPr txBox="1"/>
            <p:nvPr/>
          </p:nvSpPr>
          <p:spPr>
            <a:xfrm>
              <a:off x="1391951" y="3567624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E-step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F4FEE8D-6ED0-E4BB-F1D0-2EEF884CA0A0}"/>
                </a:ext>
              </a:extLst>
            </p:cNvPr>
            <p:cNvSpPr txBox="1"/>
            <p:nvPr/>
          </p:nvSpPr>
          <p:spPr>
            <a:xfrm>
              <a:off x="1372714" y="5368184"/>
              <a:ext cx="9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M-step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A4EB980-4EF2-83A0-F7AC-2679385B0848}"/>
                </a:ext>
              </a:extLst>
            </p:cNvPr>
            <p:cNvGrpSpPr/>
            <p:nvPr/>
          </p:nvGrpSpPr>
          <p:grpSpPr>
            <a:xfrm>
              <a:off x="1692980" y="3946086"/>
              <a:ext cx="287928" cy="1412969"/>
              <a:chOff x="4712425" y="3219992"/>
              <a:chExt cx="287928" cy="1412969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0C9CB9E4-E4CB-B41A-7898-D2680D207E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0353" y="3261361"/>
                <a:ext cx="0" cy="137160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7BABFA2-D1DB-3037-5138-8C8D95379D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12425" y="3219992"/>
                <a:ext cx="0" cy="137160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D3E227F-5F73-D544-7023-03746FB45E35}"/>
              </a:ext>
            </a:extLst>
          </p:cNvPr>
          <p:cNvSpPr/>
          <p:nvPr/>
        </p:nvSpPr>
        <p:spPr>
          <a:xfrm>
            <a:off x="7255332" y="581908"/>
            <a:ext cx="4487578" cy="181658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44D825-294B-FEAB-69FA-D33A98B312C6}"/>
              </a:ext>
            </a:extLst>
          </p:cNvPr>
          <p:cNvSpPr/>
          <p:nvPr/>
        </p:nvSpPr>
        <p:spPr>
          <a:xfrm>
            <a:off x="2256684" y="853723"/>
            <a:ext cx="1987891" cy="3612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6A60FCAA-6F98-FB4F-FAF7-CE246E56AA83}"/>
              </a:ext>
            </a:extLst>
          </p:cNvPr>
          <p:cNvSpPr/>
          <p:nvPr/>
        </p:nvSpPr>
        <p:spPr>
          <a:xfrm>
            <a:off x="2927637" y="4562602"/>
            <a:ext cx="134573" cy="1738312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 Bracket 38">
            <a:extLst>
              <a:ext uri="{FF2B5EF4-FFF2-40B4-BE49-F238E27FC236}">
                <a16:creationId xmlns:a16="http://schemas.microsoft.com/office/drawing/2014/main" id="{40C92266-0522-A0C8-7D46-2CB2B4A2977B}"/>
              </a:ext>
            </a:extLst>
          </p:cNvPr>
          <p:cNvSpPr/>
          <p:nvPr/>
        </p:nvSpPr>
        <p:spPr>
          <a:xfrm>
            <a:off x="2927637" y="3105277"/>
            <a:ext cx="134573" cy="897731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89D73B-1974-F8A0-A880-8670D4B3313F}"/>
              </a:ext>
            </a:extLst>
          </p:cNvPr>
          <p:cNvSpPr txBox="1"/>
          <p:nvPr/>
        </p:nvSpPr>
        <p:spPr>
          <a:xfrm>
            <a:off x="3486330" y="2711196"/>
            <a:ext cx="1056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70A2759-5C7A-04E1-E858-5EFAD3449EEF}"/>
              </a:ext>
            </a:extLst>
          </p:cNvPr>
          <p:cNvCxnSpPr>
            <a:stCxn id="23" idx="1"/>
            <a:endCxn id="30" idx="3"/>
          </p:cNvCxnSpPr>
          <p:nvPr/>
        </p:nvCxnSpPr>
        <p:spPr>
          <a:xfrm flipH="1" flipV="1">
            <a:off x="4244575" y="1034339"/>
            <a:ext cx="3010757" cy="455863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F0F6342-EA47-BF54-CFF4-EFC56BA31834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1315259" y="1214955"/>
            <a:ext cx="148793" cy="57260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B32DA50-E93B-D244-E46D-903909180885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1464052" y="2153316"/>
            <a:ext cx="904637" cy="128346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950FDBB-7E41-B21A-25E7-F66F41C7F9C2}"/>
              </a:ext>
            </a:extLst>
          </p:cNvPr>
          <p:cNvSpPr txBox="1"/>
          <p:nvPr/>
        </p:nvSpPr>
        <p:spPr>
          <a:xfrm>
            <a:off x="6870811" y="4588544"/>
            <a:ext cx="44875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“Baum-Welch Algorithm”</a:t>
            </a:r>
          </a:p>
          <a:p>
            <a:pPr algn="ctr"/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to learn HMM parameters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28C6AC-4D4A-8C3B-BE2E-AF68ED45B65A}"/>
              </a:ext>
            </a:extLst>
          </p:cNvPr>
          <p:cNvSpPr txBox="1"/>
          <p:nvPr/>
        </p:nvSpPr>
        <p:spPr>
          <a:xfrm>
            <a:off x="6564509" y="5529960"/>
            <a:ext cx="5100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“Viterbi Algorithm”</a:t>
            </a:r>
          </a:p>
          <a:p>
            <a:pPr algn="ctr"/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decode the most likely hidden states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34D6AB7-E62F-C5D6-3267-74E373D06E84}"/>
              </a:ext>
            </a:extLst>
          </p:cNvPr>
          <p:cNvSpPr/>
          <p:nvPr/>
        </p:nvSpPr>
        <p:spPr>
          <a:xfrm>
            <a:off x="6458112" y="4509051"/>
            <a:ext cx="5312975" cy="181658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ABD87C-2204-1712-5C90-E5A00566BB49}"/>
              </a:ext>
            </a:extLst>
          </p:cNvPr>
          <p:cNvSpPr/>
          <p:nvPr/>
        </p:nvSpPr>
        <p:spPr>
          <a:xfrm>
            <a:off x="6570124" y="3554142"/>
            <a:ext cx="751607" cy="365760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EA9BF7-941B-05A2-0B10-8A1AB3C80594}"/>
              </a:ext>
            </a:extLst>
          </p:cNvPr>
          <p:cNvSpPr/>
          <p:nvPr/>
        </p:nvSpPr>
        <p:spPr>
          <a:xfrm>
            <a:off x="8963237" y="3554142"/>
            <a:ext cx="592244" cy="365760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04DF03-F93C-57CC-0F98-49C48F5162B5}"/>
              </a:ext>
            </a:extLst>
          </p:cNvPr>
          <p:cNvSpPr/>
          <p:nvPr/>
        </p:nvSpPr>
        <p:spPr>
          <a:xfrm>
            <a:off x="4098410" y="3554142"/>
            <a:ext cx="592244" cy="365760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9A126-4A1F-43B7-2909-991A09DE9B84}"/>
              </a:ext>
            </a:extLst>
          </p:cNvPr>
          <p:cNvSpPr txBox="1"/>
          <p:nvPr/>
        </p:nvSpPr>
        <p:spPr>
          <a:xfrm>
            <a:off x="8913615" y="3243981"/>
            <a:ext cx="2751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with an old parameter 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81B36-1106-8D71-EA62-5C74AF87F696}"/>
              </a:ext>
            </a:extLst>
          </p:cNvPr>
          <p:cNvSpPr txBox="1"/>
          <p:nvPr/>
        </p:nvSpPr>
        <p:spPr>
          <a:xfrm>
            <a:off x="5651860" y="6327145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708230-016B-6EDA-38D0-3D9670617A14}"/>
              </a:ext>
            </a:extLst>
          </p:cNvPr>
          <p:cNvCxnSpPr>
            <a:cxnSpLocks/>
          </p:cNvCxnSpPr>
          <p:nvPr/>
        </p:nvCxnSpPr>
        <p:spPr>
          <a:xfrm>
            <a:off x="3684886" y="4932196"/>
            <a:ext cx="1710074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5CE7DC-51E3-5E7C-AA96-331ED329C536}"/>
              </a:ext>
            </a:extLst>
          </p:cNvPr>
          <p:cNvCxnSpPr>
            <a:cxnSpLocks/>
          </p:cNvCxnSpPr>
          <p:nvPr/>
        </p:nvCxnSpPr>
        <p:spPr>
          <a:xfrm>
            <a:off x="3684886" y="5606674"/>
            <a:ext cx="213461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D11641-0B15-4555-8B79-9818E9B49AEF}"/>
              </a:ext>
            </a:extLst>
          </p:cNvPr>
          <p:cNvCxnSpPr>
            <a:cxnSpLocks/>
          </p:cNvCxnSpPr>
          <p:nvPr/>
        </p:nvCxnSpPr>
        <p:spPr>
          <a:xfrm>
            <a:off x="3684886" y="6256299"/>
            <a:ext cx="2299709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271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96A907-AF77-2DFC-2C65-1ADDC56105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702" y="427641"/>
            <a:ext cx="9677272" cy="5388961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6B88C9-AFF0-65C6-D121-F799A63E4679}"/>
              </a:ext>
            </a:extLst>
          </p:cNvPr>
          <p:cNvSpPr txBox="1"/>
          <p:nvPr/>
        </p:nvSpPr>
        <p:spPr>
          <a:xfrm>
            <a:off x="5814423" y="509567"/>
            <a:ext cx="3544560" cy="369332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A: transition probability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804AA-56C5-B991-6BA1-731EC1BCC178}"/>
              </a:ext>
            </a:extLst>
          </p:cNvPr>
          <p:cNvSpPr txBox="1"/>
          <p:nvPr/>
        </p:nvSpPr>
        <p:spPr>
          <a:xfrm>
            <a:off x="5814422" y="5513117"/>
            <a:ext cx="2685351" cy="369332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D: diffusion coefficient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AEB021-FEE1-D513-5DD3-274ADA6B56E1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7157098" y="878899"/>
            <a:ext cx="429605" cy="47975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626F67-6C82-9E54-A999-594BECB57C24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6349999" y="4868014"/>
            <a:ext cx="807099" cy="64510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58D6827-C151-5BCD-231C-2A9E07FD7CCB}"/>
              </a:ext>
            </a:extLst>
          </p:cNvPr>
          <p:cNvSpPr txBox="1"/>
          <p:nvPr/>
        </p:nvSpPr>
        <p:spPr>
          <a:xfrm>
            <a:off x="5814422" y="6074796"/>
            <a:ext cx="5628464" cy="369332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𝜋: initiation probability (doesn’t matter in general)</a:t>
            </a:r>
          </a:p>
        </p:txBody>
      </p:sp>
    </p:spTree>
    <p:extLst>
      <p:ext uri="{BB962C8B-B14F-4D97-AF65-F5344CB8AC3E}">
        <p14:creationId xmlns:p14="http://schemas.microsoft.com/office/powerpoint/2010/main" val="322190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1597</Words>
  <Application>Microsoft Office PowerPoint</Application>
  <PresentationFormat>Widescreen</PresentationFormat>
  <Paragraphs>213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Lee, Wonhee</cp:lastModifiedBy>
  <cp:revision>98</cp:revision>
  <dcterms:created xsi:type="dcterms:W3CDTF">2026-05-11T20:21:14Z</dcterms:created>
  <dcterms:modified xsi:type="dcterms:W3CDTF">2026-06-01T00:55:32Z</dcterms:modified>
</cp:coreProperties>
</file>