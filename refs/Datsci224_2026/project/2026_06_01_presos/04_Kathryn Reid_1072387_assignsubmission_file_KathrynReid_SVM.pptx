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67"/>
    <p:restoredTop sz="94726"/>
  </p:normalViewPr>
  <p:slideViewPr>
    <p:cSldViewPr snapToGrid="0" snapToObjects="1">
      <p:cViewPr>
        <p:scale>
          <a:sx n="133" d="100"/>
          <a:sy n="133" d="100"/>
        </p:scale>
        <p:origin x="712"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980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Today I’m going to explain soft-margin support vector machines, with a particular focus on the penalty parameter C.</a:t>
            </a:r>
          </a:p>
          <a:p>
            <a:r>
              <a:rPr lang="en-US" dirty="0"/>
              <a:t>I’ll use Parkinson’s voice classification as the example application, but the main aim is to explain the algorithm rather than the dataset.</a:t>
            </a:r>
          </a:p>
          <a:p>
            <a:r>
              <a:rPr lang="en-US" dirty="0"/>
              <a:t>The key idea is that real data are rarely perfectly separable. In biomedical datasets, groups often overlap because measurements are noisy, patients vary, and features do not always cleanly separate disease from control. So rather than forcing perfect classification, a soft-margin SVM allows some mistakes, and the parameter C controls how strict or forgiving the model 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An SVM is a supervised classification algorithm. It learns from labelled examples and tries to find a boundary that separates two groups.</a:t>
            </a:r>
          </a:p>
          <a:p>
            <a:r>
              <a:rPr lang="en-US" dirty="0"/>
              <a:t>In this example, the inputs are continuous biomedical voice features, and the output is binary disease status: healthy control or Parkinson’s.</a:t>
            </a:r>
          </a:p>
          <a:p>
            <a:r>
              <a:rPr lang="en-US" dirty="0"/>
              <a:t>So the question for the SVM is: where should the decision boundary go?</a:t>
            </a:r>
          </a:p>
          <a:p>
            <a:r>
              <a:rPr lang="en-US" dirty="0"/>
              <a:t>This is not always obvious, especially when the features overlap. Some healthy controls may have voice measurements that look similar to Parkinson’s recordings, and some Parkinson’s recordings may look closer to controls. That overlap is exactly why soft-margin classification becomes important.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starting idea behind an SVM is the maximum-margin principle.</a:t>
            </a:r>
          </a:p>
          <a:p>
            <a:r>
              <a:rPr lang="en-US" dirty="0"/>
              <a:t>If several boundaries could separate the classes, the SVM chooses the one with the widest margin. The margin is the gap between the decision boundary and the closest training points from each class.</a:t>
            </a:r>
          </a:p>
          <a:p>
            <a:r>
              <a:rPr lang="en-US" dirty="0"/>
              <a:t>Those closest points are called support vectors, and they are important because they directly shape the boundary.</a:t>
            </a:r>
          </a:p>
          <a:p>
            <a:r>
              <a:rPr lang="en-US" dirty="0"/>
              <a:t>A wider margin is useful because it usually gives a simpler and more stable classifier. But this maximum-margin idea works best when the classes are cleanly separable. In real biomedical data, that is often unrealistic, which leads to the soft-margin version.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This is the central idea of the presentation.</a:t>
            </a:r>
          </a:p>
          <a:p>
            <a:r>
              <a:rPr lang="en-US" dirty="0"/>
              <a:t>A hard-margin SVM requires every training point to be correctly separated. That sounds ideal, but it can be too strict when the data are noisy or overlapping.</a:t>
            </a:r>
          </a:p>
          <a:p>
            <a:r>
              <a:rPr lang="en-US" dirty="0"/>
              <a:t>A soft-margin SVM relaxes this rule. It still tries to keep the margin wide, but it allows some points to fall inside the margin or even on the wrong side of the boundary.</a:t>
            </a:r>
          </a:p>
          <a:p>
            <a:r>
              <a:rPr lang="en-US" dirty="0"/>
              <a:t>These are called margin violations. In a more mathematical explanation, they are represented using slack variables, which measure how much each point violates the margin.</a:t>
            </a:r>
          </a:p>
          <a:p>
            <a:r>
              <a:rPr lang="en-US" dirty="0"/>
              <a:t>So the soft-margin SVM is balancing two goals: first, keep the margin as wide as possible; and second, avoid too many margin violations or misclassifications.</a:t>
            </a:r>
          </a:p>
          <a:p>
            <a:r>
              <a:rPr lang="en-US" dirty="0"/>
              <a:t>That balance is controlled by the penalty parameter 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This is the most important parameter for the soft-margin part of the SVM.</a:t>
            </a:r>
          </a:p>
          <a:p>
            <a:r>
              <a:rPr lang="en-US" dirty="0"/>
              <a:t>The parameter C controls how strongly the model punishes margin violations and misclassifications.</a:t>
            </a:r>
          </a:p>
          <a:p>
            <a:r>
              <a:rPr lang="en-US" dirty="0"/>
              <a:t>When C is small, the model is more forgiving. It allows more points to violate the margin, which usually creates a wider margin and a simpler boundary. This may reduce overfitting, but it can also lead to more training errors.</a:t>
            </a:r>
          </a:p>
          <a:p>
            <a:r>
              <a:rPr lang="en-US" dirty="0"/>
              <a:t>When C is large, the model is less forgiving. It heavily penalizes mistakes, so the classifier tries harder to correctly classify the training data. This can reduce training error, but it may create a tighter boundary that overfits to noise.</a:t>
            </a:r>
          </a:p>
          <a:p>
            <a:r>
              <a:rPr lang="en-US" dirty="0"/>
              <a:t>So C controls the trade-off between simplicity and fitting the training data closely.</a:t>
            </a:r>
          </a:p>
          <a:p>
            <a:r>
              <a:rPr lang="en-US" dirty="0"/>
              <a:t>In this project, C should not just be chosen by hand. It is tuned using cross-validation, so the model can choose a value that performs well on unseen data rather than just memorizing the training set.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RBF kernel adds another layer to the SVM by allowing a nonlinear decision boundary.</a:t>
            </a:r>
          </a:p>
          <a:p>
            <a:r>
              <a:rPr lang="en-US" dirty="0"/>
              <a:t>A linear SVM can only draw one straight boundary, which may be too simple if the relationship between voice features and disease status is nonlinear.</a:t>
            </a:r>
          </a:p>
          <a:p>
            <a:r>
              <a:rPr lang="en-US" dirty="0"/>
              <a:t>The RBF kernel compares how similar observations are to each other. This allows the model to learn a more flexible boundary.</a:t>
            </a:r>
          </a:p>
          <a:p>
            <a:r>
              <a:rPr lang="en-US" dirty="0"/>
              <a:t>The important distinction is that gamma controls how local or flexible the boundary is, while C controls how strictly the model penalizes mistakes.</a:t>
            </a:r>
          </a:p>
          <a:p>
            <a:r>
              <a:rPr lang="en-US" dirty="0"/>
              <a:t>So even though this is an RBF kernel SVM, the soft-margin idea is still central. The kernel affects the shape of the boundary, but C controls how much the model tolerates overlap and margin violations.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After explaining the algorithm, the Parkinson’s voice dataset is used as a compact example of how this works in practice.</a:t>
            </a:r>
          </a:p>
          <a:p>
            <a:r>
              <a:rPr lang="en-US" dirty="0"/>
              <a:t>The dataset has 195 recordings, 22 voice features, and a binary status outcome. This makes it useful for an SVM example because the features are continuous, the classes may overlap, and the dataset is not perfectly balanced.</a:t>
            </a:r>
          </a:p>
          <a:p>
            <a:r>
              <a:rPr lang="en-US" dirty="0"/>
              <a:t>The workflow is: split the data, scale the features, fit an RBF SVM, tune C and gamma, and then evaluate performance.</a:t>
            </a:r>
          </a:p>
          <a:p>
            <a:r>
              <a:rPr lang="en-US" dirty="0"/>
              <a:t>Scaling is important because SVMs rely on distances between observations, so features need to be on comparable scales.</a:t>
            </a:r>
          </a:p>
          <a:p>
            <a:r>
              <a:rPr lang="en-US" dirty="0"/>
              <a:t>The key algorithm link is that soft-margin SVMs are useful here because the model does not assume perfect separation. Instead, it can tolerate overlap while still trying to find a stable boundary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Finally, evaluation matters because accuracy alone may be misleading, especially when classes are imbalanced.</a:t>
            </a:r>
          </a:p>
          <a:p>
            <a:r>
              <a:rPr lang="en-US" dirty="0"/>
              <a:t>So I would look at metrics such as ROC-AUC, sensitivity, specificity, and F1 score. These help assess whether the model discriminates well overall and whether it performs reasonably for both classes.</a:t>
            </a:r>
          </a:p>
          <a:p>
            <a:r>
              <a:rPr lang="en-US" dirty="0"/>
              <a:t>The main evaluation questions are whether a nonlinear boundary makes sense, whether class weighting helps reduce majority-class bias, and whether C and gamma balance simplicity with flexibility.</a:t>
            </a:r>
          </a:p>
          <a:p>
            <a:r>
              <a:rPr lang="en-US" dirty="0"/>
              <a:t>The main take-home message is this: soft-margin SVMs are useful when classes overlap, and the penalty parameter C controls how forgiving or strict the model is about margin violations and misclassification.</a:t>
            </a:r>
          </a:p>
          <a:p>
            <a:r>
              <a:rPr lang="en-US" dirty="0"/>
              <a:t>So in this presentation, the RBF kernel is the flexible modelling setting, but the core focus is the soft-margin trade-off controlled by 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621791" y="586955"/>
            <a:ext cx="9410774" cy="502920"/>
          </a:xfrm>
          <a:prstGeom prst="rect">
            <a:avLst/>
          </a:prstGeom>
          <a:noFill/>
          <a:ln/>
        </p:spPr>
        <p:txBody>
          <a:bodyPr wrap="square" lIns="0" tIns="0" rIns="0" bIns="0" rtlCol="0" anchor="ctr"/>
          <a:lstStyle/>
          <a:p>
            <a:pPr marL="0" indent="0">
              <a:buNone/>
            </a:pPr>
            <a:r>
              <a:rPr lang="en-US" sz="3600" b="1" dirty="0">
                <a:solidFill>
                  <a:srgbClr val="111827"/>
                </a:solidFill>
                <a:latin typeface="Aptos Display" pitchFamily="34" charset="0"/>
                <a:ea typeface="Aptos Display" pitchFamily="34" charset="-122"/>
                <a:cs typeface="Aptos Display" pitchFamily="34" charset="-120"/>
              </a:rPr>
              <a:t>Soft-Margin SVMs and the Penalty Parameter C</a:t>
            </a:r>
          </a:p>
        </p:txBody>
      </p:sp>
      <p:sp>
        <p:nvSpPr>
          <p:cNvPr id="4" name="Text 2"/>
          <p:cNvSpPr/>
          <p:nvPr/>
        </p:nvSpPr>
        <p:spPr>
          <a:xfrm>
            <a:off x="621791" y="1247062"/>
            <a:ext cx="8859560" cy="320040"/>
          </a:xfrm>
          <a:prstGeom prst="rect">
            <a:avLst/>
          </a:prstGeom>
          <a:noFill/>
          <a:ln/>
        </p:spPr>
        <p:txBody>
          <a:bodyPr wrap="square" lIns="0" tIns="0" rIns="0" bIns="0" rtlCol="0" anchor="ctr"/>
          <a:lstStyle/>
          <a:p>
            <a:pPr marL="0" indent="0">
              <a:buNone/>
            </a:pPr>
            <a:r>
              <a:rPr lang="en-US" sz="2000" dirty="0"/>
              <a:t>A brief algorithm tutorial using Parkinson’s voice classification as the example</a:t>
            </a:r>
          </a:p>
        </p:txBody>
      </p:sp>
      <p:sp>
        <p:nvSpPr>
          <p:cNvPr id="5" name="Text 3"/>
          <p:cNvSpPr/>
          <p:nvPr/>
        </p:nvSpPr>
        <p:spPr>
          <a:xfrm>
            <a:off x="487680" y="2448018"/>
            <a:ext cx="2011680" cy="640080"/>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2000" b="1" dirty="0">
                <a:solidFill>
                  <a:srgbClr val="2E75B6"/>
                </a:solidFill>
              </a:rPr>
              <a:t>Maximum</a:t>
            </a:r>
            <a:endParaRPr lang="en-US" sz="2000" dirty="0"/>
          </a:p>
          <a:p>
            <a:pPr marL="0" indent="0" algn="ctr">
              <a:buNone/>
            </a:pPr>
            <a:r>
              <a:rPr lang="en-US" sz="2000" b="1" dirty="0">
                <a:solidFill>
                  <a:srgbClr val="2E75B6"/>
                </a:solidFill>
              </a:rPr>
              <a:t>margin</a:t>
            </a:r>
            <a:endParaRPr lang="en-US" sz="2000" dirty="0"/>
          </a:p>
        </p:txBody>
      </p:sp>
      <p:sp>
        <p:nvSpPr>
          <p:cNvPr id="6" name="Text 4"/>
          <p:cNvSpPr/>
          <p:nvPr/>
        </p:nvSpPr>
        <p:spPr>
          <a:xfrm>
            <a:off x="3378952" y="2448018"/>
            <a:ext cx="2011680" cy="640080"/>
          </a:xfrm>
          <a:prstGeom prst="rect">
            <a:avLst/>
          </a:prstGeom>
          <a:solidFill>
            <a:srgbClr val="FFF2E7"/>
          </a:solidFill>
          <a:ln w="10160">
            <a:solidFill>
              <a:srgbClr val="F4B183"/>
            </a:solidFill>
          </a:ln>
        </p:spPr>
        <p:txBody>
          <a:bodyPr wrap="square" lIns="1016" tIns="1016" rIns="1016" bIns="1016" rtlCol="0" anchor="ctr">
            <a:normAutofit/>
          </a:bodyPr>
          <a:lstStyle/>
          <a:p>
            <a:pPr marL="0" indent="0" algn="ctr">
              <a:buNone/>
            </a:pPr>
            <a:r>
              <a:rPr lang="en-US" sz="2000" b="1" dirty="0">
                <a:solidFill>
                  <a:srgbClr val="F28C38"/>
                </a:solidFill>
              </a:rPr>
              <a:t>Soft-margin</a:t>
            </a:r>
            <a:endParaRPr lang="en-US" sz="2000" dirty="0"/>
          </a:p>
          <a:p>
            <a:pPr marL="0" indent="0" algn="ctr">
              <a:buNone/>
            </a:pPr>
            <a:r>
              <a:rPr lang="en-US" sz="2000" b="1" dirty="0">
                <a:solidFill>
                  <a:srgbClr val="F28C38"/>
                </a:solidFill>
              </a:rPr>
              <a:t>classification</a:t>
            </a:r>
            <a:endParaRPr lang="en-US" sz="2000" dirty="0"/>
          </a:p>
        </p:txBody>
      </p:sp>
      <p:sp>
        <p:nvSpPr>
          <p:cNvPr id="7" name="Text 5"/>
          <p:cNvSpPr/>
          <p:nvPr/>
        </p:nvSpPr>
        <p:spPr>
          <a:xfrm>
            <a:off x="6270224" y="2448018"/>
            <a:ext cx="2011680" cy="640080"/>
          </a:xfrm>
          <a:prstGeom prst="rect">
            <a:avLst/>
          </a:prstGeom>
          <a:solidFill>
            <a:srgbClr val="FFF8E8"/>
          </a:solidFill>
          <a:ln w="10160">
            <a:solidFill>
              <a:srgbClr val="E6C76C"/>
            </a:solidFill>
          </a:ln>
        </p:spPr>
        <p:txBody>
          <a:bodyPr wrap="square" lIns="1016" tIns="1016" rIns="1016" bIns="1016" rtlCol="0" anchor="ctr">
            <a:normAutofit/>
          </a:bodyPr>
          <a:lstStyle/>
          <a:p>
            <a:pPr marL="0" indent="0" algn="ctr">
              <a:buNone/>
            </a:pPr>
            <a:r>
              <a:rPr lang="en-US" sz="2000" b="1" dirty="0">
                <a:solidFill>
                  <a:srgbClr val="9A6A00"/>
                </a:solidFill>
              </a:rPr>
              <a:t>Penalty</a:t>
            </a:r>
            <a:endParaRPr lang="en-US" sz="2000" dirty="0"/>
          </a:p>
          <a:p>
            <a:pPr marL="0" indent="0" algn="ctr">
              <a:buNone/>
            </a:pPr>
            <a:r>
              <a:rPr lang="en-US" sz="2000" b="1" dirty="0">
                <a:solidFill>
                  <a:srgbClr val="9A6A00"/>
                </a:solidFill>
              </a:rPr>
              <a:t>parameter C</a:t>
            </a:r>
            <a:endParaRPr lang="en-US" sz="2000" dirty="0"/>
          </a:p>
        </p:txBody>
      </p:sp>
      <p:sp>
        <p:nvSpPr>
          <p:cNvPr id="8" name="Text 6"/>
          <p:cNvSpPr/>
          <p:nvPr/>
        </p:nvSpPr>
        <p:spPr>
          <a:xfrm>
            <a:off x="9161496" y="2448018"/>
            <a:ext cx="2011680" cy="640080"/>
          </a:xfrm>
          <a:prstGeom prst="rect">
            <a:avLst/>
          </a:prstGeom>
          <a:solidFill>
            <a:srgbClr val="EAF7EF"/>
          </a:solidFill>
          <a:ln w="10160">
            <a:solidFill>
              <a:srgbClr val="A9D18E"/>
            </a:solidFill>
          </a:ln>
        </p:spPr>
        <p:txBody>
          <a:bodyPr wrap="square" lIns="1016" tIns="1016" rIns="1016" bIns="1016" rtlCol="0" anchor="ctr">
            <a:normAutofit/>
          </a:bodyPr>
          <a:lstStyle/>
          <a:p>
            <a:pPr marL="0" indent="0" algn="ctr">
              <a:buNone/>
            </a:pPr>
            <a:r>
              <a:rPr lang="en-US" sz="2000" b="1" dirty="0">
                <a:solidFill>
                  <a:srgbClr val="2E8B57"/>
                </a:solidFill>
              </a:rPr>
              <a:t>RBF</a:t>
            </a:r>
            <a:endParaRPr lang="en-US" sz="2000" dirty="0"/>
          </a:p>
          <a:p>
            <a:pPr marL="0" indent="0" algn="ctr">
              <a:buNone/>
            </a:pPr>
            <a:r>
              <a:rPr lang="en-US" sz="2000" b="1" dirty="0">
                <a:solidFill>
                  <a:srgbClr val="2E8B57"/>
                </a:solidFill>
              </a:rPr>
              <a:t>kernel</a:t>
            </a:r>
            <a:endParaRPr lang="en-US" sz="2000" dirty="0"/>
          </a:p>
        </p:txBody>
      </p:sp>
      <p:sp>
        <p:nvSpPr>
          <p:cNvPr id="10" name="Text 7"/>
          <p:cNvSpPr/>
          <p:nvPr/>
        </p:nvSpPr>
        <p:spPr>
          <a:xfrm>
            <a:off x="350520" y="6359652"/>
            <a:ext cx="2286000" cy="320040"/>
          </a:xfrm>
          <a:prstGeom prst="rect">
            <a:avLst/>
          </a:prstGeom>
          <a:noFill/>
          <a:ln/>
        </p:spPr>
        <p:txBody>
          <a:bodyPr wrap="square" lIns="0" tIns="0" rIns="0" bIns="0" rtlCol="0" anchor="ctr"/>
          <a:lstStyle/>
          <a:p>
            <a:pPr marL="0" indent="0">
              <a:buNone/>
            </a:pPr>
            <a:r>
              <a:rPr lang="en-US" sz="850" dirty="0">
                <a:solidFill>
                  <a:srgbClr val="6B7280"/>
                </a:solidFill>
              </a:rPr>
              <a:t>Kathryn Reid</a:t>
            </a:r>
            <a:endParaRPr lang="en-US" sz="850" dirty="0"/>
          </a:p>
          <a:p>
            <a:pPr marL="0" indent="0">
              <a:buNone/>
            </a:pPr>
            <a:r>
              <a:rPr lang="en-US" sz="850" dirty="0">
                <a:solidFill>
                  <a:srgbClr val="6B7280"/>
                </a:solidFill>
              </a:rPr>
              <a:t>DataSci 224 Final Project</a:t>
            </a:r>
            <a:endParaRPr lang="en-US" sz="850" dirty="0"/>
          </a:p>
        </p:txBody>
      </p:sp>
      <p:sp>
        <p:nvSpPr>
          <p:cNvPr id="12" name="Text 9"/>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1</a:t>
            </a:r>
            <a:endParaRPr lang="en-US" sz="600" dirty="0"/>
          </a:p>
        </p:txBody>
      </p:sp>
      <p:pic>
        <p:nvPicPr>
          <p:cNvPr id="14" name="Picture 13">
            <a:extLst>
              <a:ext uri="{FF2B5EF4-FFF2-40B4-BE49-F238E27FC236}">
                <a16:creationId xmlns:a16="http://schemas.microsoft.com/office/drawing/2014/main" id="{57F75771-CBD5-F55B-4606-1F30382356D9}"/>
              </a:ext>
            </a:extLst>
          </p:cNvPr>
          <p:cNvPicPr>
            <a:picLocks noChangeAspect="1"/>
          </p:cNvPicPr>
          <p:nvPr/>
        </p:nvPicPr>
        <p:blipFill>
          <a:blip r:embed="rId3"/>
          <a:stretch>
            <a:fillRect/>
          </a:stretch>
        </p:blipFill>
        <p:spPr>
          <a:xfrm>
            <a:off x="4181383" y="3568485"/>
            <a:ext cx="3397206" cy="25248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1. What problem does an SVM solve?</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502920" y="960120"/>
            <a:ext cx="9326880" cy="320040"/>
          </a:xfrm>
          <a:prstGeom prst="rect">
            <a:avLst/>
          </a:prstGeom>
          <a:noFill/>
          <a:ln/>
        </p:spPr>
        <p:txBody>
          <a:bodyPr wrap="square" lIns="0" tIns="0" rIns="0" bIns="0" rtlCol="0" anchor="ctr"/>
          <a:lstStyle/>
          <a:p>
            <a:pPr marL="0" indent="0">
              <a:buNone/>
            </a:pPr>
            <a:r>
              <a:rPr lang="en-US" sz="1600" dirty="0"/>
              <a:t>SVMs are supervised classifiers: they learn a boundary that separates two labelled groups.</a:t>
            </a:r>
          </a:p>
        </p:txBody>
      </p:sp>
      <p:sp>
        <p:nvSpPr>
          <p:cNvPr id="6" name="Text 4"/>
          <p:cNvSpPr/>
          <p:nvPr/>
        </p:nvSpPr>
        <p:spPr>
          <a:xfrm>
            <a:off x="685800" y="1600200"/>
            <a:ext cx="2011680" cy="548640"/>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Biomedical voice</a:t>
            </a:r>
            <a:endParaRPr lang="en-US" sz="1400" dirty="0"/>
          </a:p>
          <a:p>
            <a:pPr marL="0" indent="0" algn="ctr">
              <a:buNone/>
            </a:pPr>
            <a:r>
              <a:rPr lang="en-US" sz="1400" b="1" dirty="0">
                <a:solidFill>
                  <a:srgbClr val="2E75B6"/>
                </a:solidFill>
              </a:rPr>
              <a:t>features</a:t>
            </a:r>
            <a:endParaRPr lang="en-US" sz="1400" dirty="0"/>
          </a:p>
        </p:txBody>
      </p:sp>
      <p:sp>
        <p:nvSpPr>
          <p:cNvPr id="7" name="Shape 5"/>
          <p:cNvSpPr/>
          <p:nvPr/>
        </p:nvSpPr>
        <p:spPr>
          <a:xfrm>
            <a:off x="2788920" y="1874520"/>
            <a:ext cx="1005840" cy="0"/>
          </a:xfrm>
          <a:prstGeom prst="line">
            <a:avLst/>
          </a:prstGeom>
          <a:noFill/>
          <a:ln w="16510">
            <a:solidFill>
              <a:srgbClr val="6B7280"/>
            </a:solidFill>
            <a:prstDash val="solid"/>
            <a:headEnd type="none"/>
            <a:tailEnd type="triangle"/>
          </a:ln>
        </p:spPr>
        <p:txBody>
          <a:bodyPr/>
          <a:lstStyle/>
          <a:p>
            <a:endParaRPr lang="en-GB"/>
          </a:p>
        </p:txBody>
      </p:sp>
      <p:sp>
        <p:nvSpPr>
          <p:cNvPr id="8" name="Text 6"/>
          <p:cNvSpPr/>
          <p:nvPr/>
        </p:nvSpPr>
        <p:spPr>
          <a:xfrm>
            <a:off x="3886200" y="1600200"/>
            <a:ext cx="1965960" cy="548640"/>
          </a:xfrm>
          <a:prstGeom prst="rect">
            <a:avLst/>
          </a:prstGeom>
          <a:solidFill>
            <a:srgbClr val="FFF2E7"/>
          </a:solidFill>
          <a:ln w="10160">
            <a:solidFill>
              <a:srgbClr val="F4B183"/>
            </a:solidFill>
          </a:ln>
        </p:spPr>
        <p:txBody>
          <a:bodyPr wrap="square" lIns="1016" tIns="1016" rIns="1016" bIns="1016" rtlCol="0" anchor="ctr">
            <a:normAutofit/>
          </a:bodyPr>
          <a:lstStyle/>
          <a:p>
            <a:pPr marL="0" indent="0" algn="ctr">
              <a:buNone/>
            </a:pPr>
            <a:r>
              <a:rPr lang="en-US" sz="1400" b="1" dirty="0">
                <a:solidFill>
                  <a:srgbClr val="F28C38"/>
                </a:solidFill>
              </a:rPr>
              <a:t>SVM decision</a:t>
            </a:r>
            <a:endParaRPr lang="en-US" sz="1400" dirty="0"/>
          </a:p>
          <a:p>
            <a:pPr marL="0" indent="0" algn="ctr">
              <a:buNone/>
            </a:pPr>
            <a:r>
              <a:rPr lang="en-US" sz="1400" b="1" dirty="0">
                <a:solidFill>
                  <a:srgbClr val="F28C38"/>
                </a:solidFill>
              </a:rPr>
              <a:t>boundary</a:t>
            </a:r>
            <a:endParaRPr lang="en-US" sz="1400" dirty="0"/>
          </a:p>
        </p:txBody>
      </p:sp>
      <p:sp>
        <p:nvSpPr>
          <p:cNvPr id="9" name="Shape 7"/>
          <p:cNvSpPr/>
          <p:nvPr/>
        </p:nvSpPr>
        <p:spPr>
          <a:xfrm>
            <a:off x="5989320" y="1874520"/>
            <a:ext cx="1005840" cy="0"/>
          </a:xfrm>
          <a:prstGeom prst="line">
            <a:avLst/>
          </a:prstGeom>
          <a:noFill/>
          <a:ln w="16510">
            <a:solidFill>
              <a:srgbClr val="6B7280"/>
            </a:solidFill>
            <a:prstDash val="solid"/>
            <a:headEnd type="none"/>
            <a:tailEnd type="triangle"/>
          </a:ln>
        </p:spPr>
        <p:txBody>
          <a:bodyPr/>
          <a:lstStyle/>
          <a:p>
            <a:endParaRPr lang="en-GB"/>
          </a:p>
        </p:txBody>
      </p:sp>
      <p:sp>
        <p:nvSpPr>
          <p:cNvPr id="10" name="Text 8"/>
          <p:cNvSpPr/>
          <p:nvPr/>
        </p:nvSpPr>
        <p:spPr>
          <a:xfrm>
            <a:off x="7114032" y="1600200"/>
            <a:ext cx="2057400" cy="548640"/>
          </a:xfrm>
          <a:prstGeom prst="rect">
            <a:avLst/>
          </a:prstGeom>
          <a:solidFill>
            <a:srgbClr val="EAF7EF"/>
          </a:solidFill>
          <a:ln w="10160">
            <a:solidFill>
              <a:srgbClr val="A9D18E"/>
            </a:solidFill>
          </a:ln>
        </p:spPr>
        <p:txBody>
          <a:bodyPr wrap="square" lIns="1016" tIns="1016" rIns="1016" bIns="1016" rtlCol="0" anchor="ctr">
            <a:normAutofit/>
          </a:bodyPr>
          <a:lstStyle/>
          <a:p>
            <a:pPr marL="0" indent="0" algn="ctr">
              <a:buNone/>
            </a:pPr>
            <a:r>
              <a:rPr lang="en-US" sz="1400" b="1" dirty="0">
                <a:solidFill>
                  <a:srgbClr val="2E8B57"/>
                </a:solidFill>
              </a:rPr>
              <a:t>Predicted disease</a:t>
            </a:r>
            <a:endParaRPr lang="en-US" sz="1400" dirty="0"/>
          </a:p>
          <a:p>
            <a:pPr marL="0" indent="0" algn="ctr">
              <a:buNone/>
            </a:pPr>
            <a:r>
              <a:rPr lang="en-US" sz="1400" b="1" dirty="0">
                <a:solidFill>
                  <a:srgbClr val="2E8B57"/>
                </a:solidFill>
              </a:rPr>
              <a:t>status</a:t>
            </a:r>
            <a:endParaRPr lang="en-US" sz="1400" dirty="0"/>
          </a:p>
        </p:txBody>
      </p:sp>
      <p:sp>
        <p:nvSpPr>
          <p:cNvPr id="11" name="Shape 9"/>
          <p:cNvSpPr/>
          <p:nvPr/>
        </p:nvSpPr>
        <p:spPr>
          <a:xfrm>
            <a:off x="822960" y="2743200"/>
            <a:ext cx="4709160" cy="2468880"/>
          </a:xfrm>
          <a:prstGeom prst="rect">
            <a:avLst/>
          </a:prstGeom>
          <a:solidFill>
            <a:srgbClr val="FFFFFF">
              <a:alpha val="0"/>
            </a:srgbClr>
          </a:solidFill>
          <a:ln w="12700">
            <a:solidFill>
              <a:srgbClr val="D9E2EC"/>
            </a:solidFill>
            <a:prstDash val="solid"/>
          </a:ln>
        </p:spPr>
        <p:txBody>
          <a:bodyPr/>
          <a:lstStyle/>
          <a:p>
            <a:endParaRPr lang="en-GB"/>
          </a:p>
        </p:txBody>
      </p:sp>
      <p:sp>
        <p:nvSpPr>
          <p:cNvPr id="12" name="Shape 10"/>
          <p:cNvSpPr/>
          <p:nvPr/>
        </p:nvSpPr>
        <p:spPr>
          <a:xfrm>
            <a:off x="1229868" y="4430268"/>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3" name="Shape 11"/>
          <p:cNvSpPr/>
          <p:nvPr/>
        </p:nvSpPr>
        <p:spPr>
          <a:xfrm>
            <a:off x="1531620" y="4466844"/>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4" name="Shape 12"/>
          <p:cNvSpPr/>
          <p:nvPr/>
        </p:nvSpPr>
        <p:spPr>
          <a:xfrm>
            <a:off x="1741932" y="4503420"/>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5" name="Shape 13"/>
          <p:cNvSpPr/>
          <p:nvPr/>
        </p:nvSpPr>
        <p:spPr>
          <a:xfrm>
            <a:off x="2043684" y="4430268"/>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6" name="Shape 14"/>
          <p:cNvSpPr/>
          <p:nvPr/>
        </p:nvSpPr>
        <p:spPr>
          <a:xfrm>
            <a:off x="2253996" y="4466844"/>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7" name="Shape 15"/>
          <p:cNvSpPr/>
          <p:nvPr/>
        </p:nvSpPr>
        <p:spPr>
          <a:xfrm>
            <a:off x="2555748" y="4503420"/>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8" name="Shape 16"/>
          <p:cNvSpPr/>
          <p:nvPr/>
        </p:nvSpPr>
        <p:spPr>
          <a:xfrm>
            <a:off x="1229868" y="4174236"/>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19" name="Shape 17"/>
          <p:cNvSpPr/>
          <p:nvPr/>
        </p:nvSpPr>
        <p:spPr>
          <a:xfrm>
            <a:off x="1531620" y="4210812"/>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0" name="Shape 18"/>
          <p:cNvSpPr/>
          <p:nvPr/>
        </p:nvSpPr>
        <p:spPr>
          <a:xfrm>
            <a:off x="1741932" y="4247388"/>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1" name="Shape 19"/>
          <p:cNvSpPr/>
          <p:nvPr/>
        </p:nvSpPr>
        <p:spPr>
          <a:xfrm>
            <a:off x="2043684" y="4174236"/>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2" name="Shape 20"/>
          <p:cNvSpPr/>
          <p:nvPr/>
        </p:nvSpPr>
        <p:spPr>
          <a:xfrm>
            <a:off x="2253996" y="4210812"/>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3" name="Shape 21"/>
          <p:cNvSpPr/>
          <p:nvPr/>
        </p:nvSpPr>
        <p:spPr>
          <a:xfrm>
            <a:off x="2555748" y="4247388"/>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4" name="Shape 22"/>
          <p:cNvSpPr/>
          <p:nvPr/>
        </p:nvSpPr>
        <p:spPr>
          <a:xfrm>
            <a:off x="1229868" y="3918204"/>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5" name="Shape 23"/>
          <p:cNvSpPr/>
          <p:nvPr/>
        </p:nvSpPr>
        <p:spPr>
          <a:xfrm>
            <a:off x="1531620" y="3954780"/>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6" name="Shape 24"/>
          <p:cNvSpPr/>
          <p:nvPr/>
        </p:nvSpPr>
        <p:spPr>
          <a:xfrm>
            <a:off x="1741932" y="3991356"/>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7" name="Shape 25"/>
          <p:cNvSpPr/>
          <p:nvPr/>
        </p:nvSpPr>
        <p:spPr>
          <a:xfrm>
            <a:off x="2043684" y="3918204"/>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8" name="Shape 26"/>
          <p:cNvSpPr/>
          <p:nvPr/>
        </p:nvSpPr>
        <p:spPr>
          <a:xfrm>
            <a:off x="2253996" y="3954780"/>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29" name="Shape 27"/>
          <p:cNvSpPr/>
          <p:nvPr/>
        </p:nvSpPr>
        <p:spPr>
          <a:xfrm>
            <a:off x="2555748" y="3991356"/>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30" name="Shape 28"/>
          <p:cNvSpPr/>
          <p:nvPr/>
        </p:nvSpPr>
        <p:spPr>
          <a:xfrm>
            <a:off x="1229868" y="3662172"/>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31" name="Shape 29"/>
          <p:cNvSpPr/>
          <p:nvPr/>
        </p:nvSpPr>
        <p:spPr>
          <a:xfrm>
            <a:off x="1531620" y="3698748"/>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32" name="Shape 30"/>
          <p:cNvSpPr/>
          <p:nvPr/>
        </p:nvSpPr>
        <p:spPr>
          <a:xfrm>
            <a:off x="1741932" y="3735324"/>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33" name="Shape 31"/>
          <p:cNvSpPr/>
          <p:nvPr/>
        </p:nvSpPr>
        <p:spPr>
          <a:xfrm>
            <a:off x="2043684" y="3662172"/>
            <a:ext cx="100584" cy="100584"/>
          </a:xfrm>
          <a:prstGeom prst="ellipse">
            <a:avLst/>
          </a:prstGeom>
          <a:solidFill>
            <a:srgbClr val="66A9D5"/>
          </a:solidFill>
          <a:ln w="12700">
            <a:solidFill>
              <a:srgbClr val="66A9D5">
                <a:alpha val="0"/>
              </a:srgbClr>
            </a:solidFill>
            <a:prstDash val="solid"/>
          </a:ln>
        </p:spPr>
        <p:txBody>
          <a:bodyPr/>
          <a:lstStyle/>
          <a:p>
            <a:endParaRPr lang="en-GB"/>
          </a:p>
        </p:txBody>
      </p:sp>
      <p:sp>
        <p:nvSpPr>
          <p:cNvPr id="34" name="Shape 32"/>
          <p:cNvSpPr/>
          <p:nvPr/>
        </p:nvSpPr>
        <p:spPr>
          <a:xfrm>
            <a:off x="3515868" y="301294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35" name="Shape 33"/>
          <p:cNvSpPr/>
          <p:nvPr/>
        </p:nvSpPr>
        <p:spPr>
          <a:xfrm>
            <a:off x="3762756" y="304952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36" name="Shape 34"/>
          <p:cNvSpPr/>
          <p:nvPr/>
        </p:nvSpPr>
        <p:spPr>
          <a:xfrm>
            <a:off x="3936492" y="308610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37" name="Shape 35"/>
          <p:cNvSpPr/>
          <p:nvPr/>
        </p:nvSpPr>
        <p:spPr>
          <a:xfrm>
            <a:off x="4183380" y="301294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38" name="Shape 36"/>
          <p:cNvSpPr/>
          <p:nvPr/>
        </p:nvSpPr>
        <p:spPr>
          <a:xfrm>
            <a:off x="4357116" y="304952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39" name="Shape 37"/>
          <p:cNvSpPr/>
          <p:nvPr/>
        </p:nvSpPr>
        <p:spPr>
          <a:xfrm>
            <a:off x="4604004" y="308610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0" name="Shape 38"/>
          <p:cNvSpPr/>
          <p:nvPr/>
        </p:nvSpPr>
        <p:spPr>
          <a:xfrm>
            <a:off x="4777740" y="301294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1" name="Shape 39"/>
          <p:cNvSpPr/>
          <p:nvPr/>
        </p:nvSpPr>
        <p:spPr>
          <a:xfrm>
            <a:off x="3552444" y="332384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2" name="Shape 40"/>
          <p:cNvSpPr/>
          <p:nvPr/>
        </p:nvSpPr>
        <p:spPr>
          <a:xfrm>
            <a:off x="3726180" y="336042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3" name="Shape 41"/>
          <p:cNvSpPr/>
          <p:nvPr/>
        </p:nvSpPr>
        <p:spPr>
          <a:xfrm>
            <a:off x="3973068" y="328726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4" name="Shape 42"/>
          <p:cNvSpPr/>
          <p:nvPr/>
        </p:nvSpPr>
        <p:spPr>
          <a:xfrm>
            <a:off x="4146804" y="332384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5" name="Shape 43"/>
          <p:cNvSpPr/>
          <p:nvPr/>
        </p:nvSpPr>
        <p:spPr>
          <a:xfrm>
            <a:off x="4393692" y="336042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6" name="Shape 44"/>
          <p:cNvSpPr/>
          <p:nvPr/>
        </p:nvSpPr>
        <p:spPr>
          <a:xfrm>
            <a:off x="4567428" y="328726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7" name="Shape 45"/>
          <p:cNvSpPr/>
          <p:nvPr/>
        </p:nvSpPr>
        <p:spPr>
          <a:xfrm>
            <a:off x="4814316" y="332384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8" name="Shape 46"/>
          <p:cNvSpPr/>
          <p:nvPr/>
        </p:nvSpPr>
        <p:spPr>
          <a:xfrm>
            <a:off x="3515868" y="363474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49" name="Shape 47"/>
          <p:cNvSpPr/>
          <p:nvPr/>
        </p:nvSpPr>
        <p:spPr>
          <a:xfrm>
            <a:off x="3762756" y="356158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0" name="Shape 48"/>
          <p:cNvSpPr/>
          <p:nvPr/>
        </p:nvSpPr>
        <p:spPr>
          <a:xfrm>
            <a:off x="3936492" y="359816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1" name="Shape 49"/>
          <p:cNvSpPr/>
          <p:nvPr/>
        </p:nvSpPr>
        <p:spPr>
          <a:xfrm>
            <a:off x="4183380" y="363474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2" name="Shape 50"/>
          <p:cNvSpPr/>
          <p:nvPr/>
        </p:nvSpPr>
        <p:spPr>
          <a:xfrm>
            <a:off x="4357116" y="356158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3" name="Shape 51"/>
          <p:cNvSpPr/>
          <p:nvPr/>
        </p:nvSpPr>
        <p:spPr>
          <a:xfrm>
            <a:off x="4604004" y="3598164"/>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4" name="Shape 52"/>
          <p:cNvSpPr/>
          <p:nvPr/>
        </p:nvSpPr>
        <p:spPr>
          <a:xfrm>
            <a:off x="4777740" y="3634740"/>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5" name="Shape 53"/>
          <p:cNvSpPr/>
          <p:nvPr/>
        </p:nvSpPr>
        <p:spPr>
          <a:xfrm>
            <a:off x="3552444" y="3835908"/>
            <a:ext cx="100584" cy="100584"/>
          </a:xfrm>
          <a:prstGeom prst="ellipse">
            <a:avLst/>
          </a:prstGeom>
          <a:solidFill>
            <a:srgbClr val="F28C38"/>
          </a:solidFill>
          <a:ln w="12700">
            <a:solidFill>
              <a:srgbClr val="F28C38">
                <a:alpha val="0"/>
              </a:srgbClr>
            </a:solidFill>
            <a:prstDash val="solid"/>
          </a:ln>
        </p:spPr>
        <p:txBody>
          <a:bodyPr/>
          <a:lstStyle/>
          <a:p>
            <a:endParaRPr lang="en-GB"/>
          </a:p>
        </p:txBody>
      </p:sp>
      <p:sp>
        <p:nvSpPr>
          <p:cNvPr id="56" name="Shape 54"/>
          <p:cNvSpPr/>
          <p:nvPr/>
        </p:nvSpPr>
        <p:spPr>
          <a:xfrm>
            <a:off x="2761488" y="2880360"/>
            <a:ext cx="502920" cy="2057400"/>
          </a:xfrm>
          <a:prstGeom prst="line">
            <a:avLst/>
          </a:prstGeom>
          <a:noFill/>
          <a:ln w="25400">
            <a:solidFill>
              <a:srgbClr val="111827"/>
            </a:solidFill>
            <a:prstDash val="solid"/>
          </a:ln>
        </p:spPr>
        <p:txBody>
          <a:bodyPr/>
          <a:lstStyle/>
          <a:p>
            <a:endParaRPr lang="en-GB"/>
          </a:p>
        </p:txBody>
      </p:sp>
      <p:sp>
        <p:nvSpPr>
          <p:cNvPr id="57" name="Text 55"/>
          <p:cNvSpPr/>
          <p:nvPr/>
        </p:nvSpPr>
        <p:spPr>
          <a:xfrm>
            <a:off x="822960" y="5349240"/>
            <a:ext cx="4663440" cy="274320"/>
          </a:xfrm>
          <a:prstGeom prst="rect">
            <a:avLst/>
          </a:prstGeom>
          <a:noFill/>
          <a:ln/>
        </p:spPr>
        <p:txBody>
          <a:bodyPr wrap="square" lIns="0" tIns="0" rIns="0" bIns="0" rtlCol="0" anchor="ctr"/>
          <a:lstStyle/>
          <a:p>
            <a:pPr marL="0" indent="0" algn="ctr">
              <a:buNone/>
            </a:pPr>
            <a:r>
              <a:rPr lang="en-US" sz="1200" dirty="0"/>
              <a:t>binary labels</a:t>
            </a:r>
          </a:p>
          <a:p>
            <a:pPr marL="0" indent="0" algn="ctr">
              <a:buNone/>
            </a:pPr>
            <a:r>
              <a:rPr lang="en-US" sz="1200" dirty="0"/>
              <a:t>healthy vs Parkinson’s</a:t>
            </a:r>
          </a:p>
        </p:txBody>
      </p:sp>
      <p:sp>
        <p:nvSpPr>
          <p:cNvPr id="58" name="Text 56"/>
          <p:cNvSpPr/>
          <p:nvPr/>
        </p:nvSpPr>
        <p:spPr>
          <a:xfrm>
            <a:off x="6400800" y="2788920"/>
            <a:ext cx="4968240" cy="457200"/>
          </a:xfrm>
          <a:prstGeom prst="rect">
            <a:avLst/>
          </a:prstGeom>
          <a:noFill/>
          <a:ln/>
        </p:spPr>
        <p:txBody>
          <a:bodyPr wrap="square" lIns="0" tIns="0" rIns="0" bIns="0" rtlCol="0" anchor="ctr"/>
          <a:lstStyle/>
          <a:p>
            <a:pPr marL="0" indent="0">
              <a:buNone/>
            </a:pPr>
            <a:r>
              <a:rPr lang="en-US" sz="1500" b="1" dirty="0">
                <a:solidFill>
                  <a:srgbClr val="111827"/>
                </a:solidFill>
              </a:rPr>
              <a:t>For this project, the labels are status = 0 healthy and status = 1 Parkinson’s.</a:t>
            </a:r>
            <a:endParaRPr lang="en-US" sz="1500" dirty="0"/>
          </a:p>
        </p:txBody>
      </p:sp>
      <p:sp>
        <p:nvSpPr>
          <p:cNvPr id="59" name="Text 57"/>
          <p:cNvSpPr/>
          <p:nvPr/>
        </p:nvSpPr>
        <p:spPr>
          <a:xfrm>
            <a:off x="6400799" y="3429000"/>
            <a:ext cx="5592278" cy="731520"/>
          </a:xfrm>
          <a:prstGeom prst="rect">
            <a:avLst/>
          </a:prstGeom>
          <a:noFill/>
          <a:ln/>
        </p:spPr>
        <p:txBody>
          <a:bodyPr wrap="square" lIns="0" tIns="0" rIns="0" bIns="0" rtlCol="0" anchor="ctr"/>
          <a:lstStyle/>
          <a:p>
            <a:pPr marL="0" indent="0">
              <a:buNone/>
            </a:pPr>
            <a:r>
              <a:rPr lang="en-US" sz="1400" dirty="0"/>
              <a:t>The dataset is useful for illustration because voice features are continuous and overlapping, which makes the classification boundary non-trivial.</a:t>
            </a:r>
          </a:p>
        </p:txBody>
      </p:sp>
      <p:sp>
        <p:nvSpPr>
          <p:cNvPr id="60" name="Text 58"/>
          <p:cNvSpPr/>
          <p:nvPr/>
        </p:nvSpPr>
        <p:spPr>
          <a:xfrm>
            <a:off x="6400799" y="4800599"/>
            <a:ext cx="5592278" cy="50292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SVM asks: where should the boundary go?</a:t>
            </a:r>
            <a:endParaRPr lang="en-US" sz="1400" dirty="0"/>
          </a:p>
        </p:txBody>
      </p:sp>
      <p:sp>
        <p:nvSpPr>
          <p:cNvPr id="61" name="Text 59"/>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62" name="Text 60"/>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2. The maximum-margin idea</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502920" y="960120"/>
            <a:ext cx="8686800" cy="320040"/>
          </a:xfrm>
          <a:prstGeom prst="rect">
            <a:avLst/>
          </a:prstGeom>
          <a:noFill/>
          <a:ln/>
        </p:spPr>
        <p:txBody>
          <a:bodyPr wrap="square" lIns="0" tIns="0" rIns="0" bIns="0" rtlCol="0" anchor="ctr"/>
          <a:lstStyle/>
          <a:p>
            <a:pPr marL="0" indent="0">
              <a:buNone/>
            </a:pPr>
            <a:r>
              <a:rPr lang="en-US" sz="1600" dirty="0"/>
              <a:t>Among possible separating boundaries, SVM chooses the one with the widest margin.</a:t>
            </a:r>
          </a:p>
        </p:txBody>
      </p:sp>
      <p:sp>
        <p:nvSpPr>
          <p:cNvPr id="7" name="Shape 5"/>
          <p:cNvSpPr/>
          <p:nvPr/>
        </p:nvSpPr>
        <p:spPr>
          <a:xfrm>
            <a:off x="1362456" y="47457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8" name="Shape 6"/>
          <p:cNvSpPr/>
          <p:nvPr/>
        </p:nvSpPr>
        <p:spPr>
          <a:xfrm>
            <a:off x="1682496" y="477316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9" name="Shape 7"/>
          <p:cNvSpPr/>
          <p:nvPr/>
        </p:nvSpPr>
        <p:spPr>
          <a:xfrm>
            <a:off x="2002536" y="47457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0" name="Shape 8"/>
          <p:cNvSpPr/>
          <p:nvPr/>
        </p:nvSpPr>
        <p:spPr>
          <a:xfrm>
            <a:off x="2322576" y="477316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1" name="Shape 9"/>
          <p:cNvSpPr/>
          <p:nvPr/>
        </p:nvSpPr>
        <p:spPr>
          <a:xfrm>
            <a:off x="2642616" y="47457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2" name="Shape 10"/>
          <p:cNvSpPr/>
          <p:nvPr/>
        </p:nvSpPr>
        <p:spPr>
          <a:xfrm>
            <a:off x="1362456" y="449884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3" name="Shape 11"/>
          <p:cNvSpPr/>
          <p:nvPr/>
        </p:nvSpPr>
        <p:spPr>
          <a:xfrm>
            <a:off x="1682496" y="44714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4" name="Shape 12"/>
          <p:cNvSpPr/>
          <p:nvPr/>
        </p:nvSpPr>
        <p:spPr>
          <a:xfrm>
            <a:off x="2002536" y="449884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5" name="Shape 13"/>
          <p:cNvSpPr/>
          <p:nvPr/>
        </p:nvSpPr>
        <p:spPr>
          <a:xfrm>
            <a:off x="2322576" y="44714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6" name="Shape 14"/>
          <p:cNvSpPr/>
          <p:nvPr/>
        </p:nvSpPr>
        <p:spPr>
          <a:xfrm>
            <a:off x="2642616" y="449884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7" name="Shape 15"/>
          <p:cNvSpPr/>
          <p:nvPr/>
        </p:nvSpPr>
        <p:spPr>
          <a:xfrm>
            <a:off x="1362456" y="419709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8" name="Shape 16"/>
          <p:cNvSpPr/>
          <p:nvPr/>
        </p:nvSpPr>
        <p:spPr>
          <a:xfrm>
            <a:off x="1682496" y="422452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9" name="Shape 17"/>
          <p:cNvSpPr/>
          <p:nvPr/>
        </p:nvSpPr>
        <p:spPr>
          <a:xfrm>
            <a:off x="2002536" y="419709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0" name="Shape 18"/>
          <p:cNvSpPr/>
          <p:nvPr/>
        </p:nvSpPr>
        <p:spPr>
          <a:xfrm>
            <a:off x="2322576" y="422452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1" name="Shape 19"/>
          <p:cNvSpPr/>
          <p:nvPr/>
        </p:nvSpPr>
        <p:spPr>
          <a:xfrm>
            <a:off x="2642616" y="419709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2" name="Shape 20"/>
          <p:cNvSpPr/>
          <p:nvPr/>
        </p:nvSpPr>
        <p:spPr>
          <a:xfrm>
            <a:off x="1362456" y="395020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3" name="Shape 21"/>
          <p:cNvSpPr/>
          <p:nvPr/>
        </p:nvSpPr>
        <p:spPr>
          <a:xfrm>
            <a:off x="1682496" y="39227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4" name="Shape 22"/>
          <p:cNvSpPr/>
          <p:nvPr/>
        </p:nvSpPr>
        <p:spPr>
          <a:xfrm>
            <a:off x="2002536" y="3950208"/>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5" name="Shape 23"/>
          <p:cNvSpPr/>
          <p:nvPr/>
        </p:nvSpPr>
        <p:spPr>
          <a:xfrm>
            <a:off x="5065776"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6" name="Shape 24"/>
          <p:cNvSpPr/>
          <p:nvPr/>
        </p:nvSpPr>
        <p:spPr>
          <a:xfrm>
            <a:off x="5385816" y="21214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7" name="Shape 25"/>
          <p:cNvSpPr/>
          <p:nvPr/>
        </p:nvSpPr>
        <p:spPr>
          <a:xfrm>
            <a:off x="5705856"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8" name="Shape 26"/>
          <p:cNvSpPr/>
          <p:nvPr/>
        </p:nvSpPr>
        <p:spPr>
          <a:xfrm>
            <a:off x="6025896" y="21214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9" name="Shape 27"/>
          <p:cNvSpPr/>
          <p:nvPr/>
        </p:nvSpPr>
        <p:spPr>
          <a:xfrm>
            <a:off x="6345936"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0" name="Shape 28"/>
          <p:cNvSpPr/>
          <p:nvPr/>
        </p:nvSpPr>
        <p:spPr>
          <a:xfrm>
            <a:off x="5065776" y="23957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1" name="Shape 29"/>
          <p:cNvSpPr/>
          <p:nvPr/>
        </p:nvSpPr>
        <p:spPr>
          <a:xfrm>
            <a:off x="5385816"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2" name="Shape 30"/>
          <p:cNvSpPr/>
          <p:nvPr/>
        </p:nvSpPr>
        <p:spPr>
          <a:xfrm>
            <a:off x="5705856" y="23957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3" name="Shape 31"/>
          <p:cNvSpPr/>
          <p:nvPr/>
        </p:nvSpPr>
        <p:spPr>
          <a:xfrm>
            <a:off x="6025896"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4" name="Shape 32"/>
          <p:cNvSpPr/>
          <p:nvPr/>
        </p:nvSpPr>
        <p:spPr>
          <a:xfrm>
            <a:off x="6345936" y="23957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5" name="Shape 33"/>
          <p:cNvSpPr/>
          <p:nvPr/>
        </p:nvSpPr>
        <p:spPr>
          <a:xfrm>
            <a:off x="5065776" y="264261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6" name="Shape 34"/>
          <p:cNvSpPr/>
          <p:nvPr/>
        </p:nvSpPr>
        <p:spPr>
          <a:xfrm>
            <a:off x="5385816" y="267004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7" name="Shape 35"/>
          <p:cNvSpPr/>
          <p:nvPr/>
        </p:nvSpPr>
        <p:spPr>
          <a:xfrm>
            <a:off x="5705856" y="264261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8" name="Shape 36"/>
          <p:cNvSpPr/>
          <p:nvPr/>
        </p:nvSpPr>
        <p:spPr>
          <a:xfrm>
            <a:off x="6025896" y="267004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9" name="Shape 37"/>
          <p:cNvSpPr/>
          <p:nvPr/>
        </p:nvSpPr>
        <p:spPr>
          <a:xfrm>
            <a:off x="6345936" y="264261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0" name="Shape 38"/>
          <p:cNvSpPr/>
          <p:nvPr/>
        </p:nvSpPr>
        <p:spPr>
          <a:xfrm>
            <a:off x="5065776" y="294436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1" name="Shape 39"/>
          <p:cNvSpPr/>
          <p:nvPr/>
        </p:nvSpPr>
        <p:spPr>
          <a:xfrm>
            <a:off x="5385816" y="291693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2" name="Shape 40"/>
          <p:cNvSpPr/>
          <p:nvPr/>
        </p:nvSpPr>
        <p:spPr>
          <a:xfrm>
            <a:off x="5705856" y="294436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3" name="Shape 41"/>
          <p:cNvSpPr/>
          <p:nvPr/>
        </p:nvSpPr>
        <p:spPr>
          <a:xfrm>
            <a:off x="2697480" y="5257800"/>
            <a:ext cx="2194560" cy="0"/>
          </a:xfrm>
          <a:prstGeom prst="line">
            <a:avLst/>
          </a:prstGeom>
          <a:noFill/>
          <a:ln w="12700">
            <a:solidFill>
              <a:srgbClr val="6B7280"/>
            </a:solidFill>
            <a:prstDash val="solid"/>
          </a:ln>
        </p:spPr>
        <p:txBody>
          <a:bodyPr/>
          <a:lstStyle/>
          <a:p>
            <a:endParaRPr lang="en-GB"/>
          </a:p>
        </p:txBody>
      </p:sp>
      <p:sp>
        <p:nvSpPr>
          <p:cNvPr id="44" name="Shape 42"/>
          <p:cNvSpPr/>
          <p:nvPr/>
        </p:nvSpPr>
        <p:spPr>
          <a:xfrm>
            <a:off x="3246120" y="5349240"/>
            <a:ext cx="2194560" cy="0"/>
          </a:xfrm>
          <a:prstGeom prst="line">
            <a:avLst/>
          </a:prstGeom>
          <a:noFill/>
          <a:ln w="27940">
            <a:solidFill>
              <a:srgbClr val="111827"/>
            </a:solidFill>
            <a:prstDash val="solid"/>
          </a:ln>
        </p:spPr>
        <p:txBody>
          <a:bodyPr/>
          <a:lstStyle/>
          <a:p>
            <a:endParaRPr lang="en-GB"/>
          </a:p>
        </p:txBody>
      </p:sp>
      <p:sp>
        <p:nvSpPr>
          <p:cNvPr id="45" name="Shape 43"/>
          <p:cNvSpPr/>
          <p:nvPr/>
        </p:nvSpPr>
        <p:spPr>
          <a:xfrm>
            <a:off x="3794760" y="5440680"/>
            <a:ext cx="2194560" cy="0"/>
          </a:xfrm>
          <a:prstGeom prst="line">
            <a:avLst/>
          </a:prstGeom>
          <a:noFill/>
          <a:ln w="12700">
            <a:solidFill>
              <a:srgbClr val="6B7280"/>
            </a:solidFill>
            <a:prstDash val="solid"/>
          </a:ln>
        </p:spPr>
        <p:txBody>
          <a:bodyPr/>
          <a:lstStyle/>
          <a:p>
            <a:endParaRPr lang="en-GB"/>
          </a:p>
        </p:txBody>
      </p:sp>
      <p:sp>
        <p:nvSpPr>
          <p:cNvPr id="46" name="Text 44"/>
          <p:cNvSpPr/>
          <p:nvPr/>
        </p:nvSpPr>
        <p:spPr>
          <a:xfrm rot="18300000">
            <a:off x="3611880" y="3611880"/>
            <a:ext cx="777240" cy="228600"/>
          </a:xfrm>
          <a:prstGeom prst="rect">
            <a:avLst/>
          </a:prstGeom>
          <a:noFill/>
          <a:ln/>
        </p:spPr>
        <p:txBody>
          <a:bodyPr wrap="square" lIns="0" tIns="0" rIns="0" bIns="0" rtlCol="0" anchor="ctr"/>
          <a:lstStyle/>
          <a:p>
            <a:pPr marL="0" indent="0">
              <a:buNone/>
            </a:pPr>
            <a:r>
              <a:rPr lang="en-US" sz="1100" dirty="0">
                <a:solidFill>
                  <a:srgbClr val="6B7280"/>
                </a:solidFill>
              </a:rPr>
              <a:t>margin</a:t>
            </a:r>
            <a:endParaRPr lang="en-US" sz="1100" dirty="0"/>
          </a:p>
        </p:txBody>
      </p:sp>
      <p:sp>
        <p:nvSpPr>
          <p:cNvPr id="47" name="Shape 45"/>
          <p:cNvSpPr/>
          <p:nvPr/>
        </p:nvSpPr>
        <p:spPr>
          <a:xfrm>
            <a:off x="2907792" y="3977640"/>
            <a:ext cx="292608" cy="292608"/>
          </a:xfrm>
          <a:prstGeom prst="ellipse">
            <a:avLst/>
          </a:prstGeom>
          <a:solidFill>
            <a:srgbClr val="FFFFFF">
              <a:alpha val="0"/>
            </a:srgbClr>
          </a:solidFill>
          <a:ln w="19050">
            <a:solidFill>
              <a:srgbClr val="2E75B6"/>
            </a:solidFill>
            <a:prstDash val="solid"/>
          </a:ln>
        </p:spPr>
        <p:txBody>
          <a:bodyPr/>
          <a:lstStyle/>
          <a:p>
            <a:endParaRPr lang="en-GB"/>
          </a:p>
        </p:txBody>
      </p:sp>
      <p:sp>
        <p:nvSpPr>
          <p:cNvPr id="48" name="Shape 46"/>
          <p:cNvSpPr/>
          <p:nvPr/>
        </p:nvSpPr>
        <p:spPr>
          <a:xfrm>
            <a:off x="4736592" y="2862072"/>
            <a:ext cx="292608" cy="292608"/>
          </a:xfrm>
          <a:prstGeom prst="ellipse">
            <a:avLst/>
          </a:prstGeom>
          <a:solidFill>
            <a:srgbClr val="FFFFFF">
              <a:alpha val="0"/>
            </a:srgbClr>
          </a:solidFill>
          <a:ln w="19050">
            <a:solidFill>
              <a:srgbClr val="F28C38"/>
            </a:solidFill>
            <a:prstDash val="solid"/>
          </a:ln>
        </p:spPr>
        <p:txBody>
          <a:bodyPr/>
          <a:lstStyle/>
          <a:p>
            <a:endParaRPr lang="en-GB"/>
          </a:p>
        </p:txBody>
      </p:sp>
      <p:sp>
        <p:nvSpPr>
          <p:cNvPr id="49" name="Text 47"/>
          <p:cNvSpPr/>
          <p:nvPr/>
        </p:nvSpPr>
        <p:spPr>
          <a:xfrm>
            <a:off x="7955280" y="2084832"/>
            <a:ext cx="3017520" cy="731520"/>
          </a:xfrm>
          <a:prstGeom prst="rect">
            <a:avLst/>
          </a:prstGeom>
          <a:solidFill>
            <a:srgbClr val="F6F8FA"/>
          </a:solidFill>
          <a:ln w="10160">
            <a:solidFill>
              <a:srgbClr val="D9E2EC"/>
            </a:solidFill>
          </a:ln>
        </p:spPr>
        <p:txBody>
          <a:bodyPr wrap="square" lIns="1016" tIns="1016" rIns="1016" bIns="1016" rtlCol="0" anchor="ctr">
            <a:normAutofit/>
          </a:bodyPr>
          <a:lstStyle/>
          <a:p>
            <a:pPr marL="0" indent="0" algn="ctr">
              <a:buNone/>
            </a:pPr>
            <a:r>
              <a:rPr lang="en-US" sz="2000" b="1" dirty="0">
                <a:solidFill>
                  <a:srgbClr val="111827"/>
                </a:solidFill>
              </a:rPr>
              <a:t>Decision boundary</a:t>
            </a:r>
            <a:endParaRPr lang="en-US" sz="2000" dirty="0"/>
          </a:p>
        </p:txBody>
      </p:sp>
      <p:sp>
        <p:nvSpPr>
          <p:cNvPr id="50" name="Text 48"/>
          <p:cNvSpPr/>
          <p:nvPr/>
        </p:nvSpPr>
        <p:spPr>
          <a:xfrm>
            <a:off x="8069580" y="3017520"/>
            <a:ext cx="2788920" cy="411480"/>
          </a:xfrm>
          <a:prstGeom prst="rect">
            <a:avLst/>
          </a:prstGeom>
          <a:noFill/>
          <a:ln/>
        </p:spPr>
        <p:txBody>
          <a:bodyPr wrap="square" lIns="0" tIns="0" rIns="0" bIns="0" rtlCol="0" anchor="ctr"/>
          <a:lstStyle/>
          <a:p>
            <a:pPr marL="0" indent="0">
              <a:buNone/>
            </a:pPr>
            <a:r>
              <a:rPr lang="en-US" dirty="0"/>
              <a:t>The central line separates the predicted classes.</a:t>
            </a:r>
          </a:p>
        </p:txBody>
      </p:sp>
      <p:sp>
        <p:nvSpPr>
          <p:cNvPr id="51" name="Text 49"/>
          <p:cNvSpPr/>
          <p:nvPr/>
        </p:nvSpPr>
        <p:spPr>
          <a:xfrm>
            <a:off x="7955280" y="4251960"/>
            <a:ext cx="3017520" cy="731520"/>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2000" b="1" dirty="0">
                <a:solidFill>
                  <a:srgbClr val="2E75B6"/>
                </a:solidFill>
              </a:rPr>
              <a:t>Support vectors</a:t>
            </a:r>
            <a:endParaRPr lang="en-US" sz="2000" dirty="0"/>
          </a:p>
        </p:txBody>
      </p:sp>
      <p:sp>
        <p:nvSpPr>
          <p:cNvPr id="52" name="Text 50"/>
          <p:cNvSpPr/>
          <p:nvPr/>
        </p:nvSpPr>
        <p:spPr>
          <a:xfrm>
            <a:off x="8069580" y="5190072"/>
            <a:ext cx="3116284" cy="640080"/>
          </a:xfrm>
          <a:prstGeom prst="rect">
            <a:avLst/>
          </a:prstGeom>
          <a:noFill/>
          <a:ln/>
        </p:spPr>
        <p:txBody>
          <a:bodyPr wrap="square" lIns="0" tIns="0" rIns="0" bIns="0" rtlCol="0" anchor="ctr"/>
          <a:lstStyle/>
          <a:p>
            <a:pPr marL="0" indent="0">
              <a:buNone/>
            </a:pPr>
            <a:r>
              <a:rPr lang="en-US" dirty="0"/>
              <a:t>Only the closest points determine the margin and therefore shape the boundary.</a:t>
            </a:r>
          </a:p>
        </p:txBody>
      </p:sp>
      <p:sp>
        <p:nvSpPr>
          <p:cNvPr id="53" name="Text 51"/>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54" name="Text 52"/>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3</a:t>
            </a:r>
            <a:endParaRPr lang="en-US" sz="600" dirty="0"/>
          </a:p>
        </p:txBody>
      </p:sp>
      <p:pic>
        <p:nvPicPr>
          <p:cNvPr id="58" name="Picture 57">
            <a:extLst>
              <a:ext uri="{FF2B5EF4-FFF2-40B4-BE49-F238E27FC236}">
                <a16:creationId xmlns:a16="http://schemas.microsoft.com/office/drawing/2014/main" id="{B050ED3F-3AB7-1EBD-3B64-F29A01623AB9}"/>
              </a:ext>
            </a:extLst>
          </p:cNvPr>
          <p:cNvPicPr>
            <a:picLocks noChangeAspect="1"/>
          </p:cNvPicPr>
          <p:nvPr/>
        </p:nvPicPr>
        <p:blipFill>
          <a:blip r:embed="rId3"/>
          <a:srcRect t="3034" b="4475"/>
          <a:stretch>
            <a:fillRect/>
          </a:stretch>
        </p:blipFill>
        <p:spPr>
          <a:xfrm>
            <a:off x="717836" y="1773936"/>
            <a:ext cx="5842762" cy="38900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3. Soft-margin classification: real data overlap</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502920" y="960120"/>
            <a:ext cx="9875520" cy="320040"/>
          </a:xfrm>
          <a:prstGeom prst="rect">
            <a:avLst/>
          </a:prstGeom>
          <a:noFill/>
          <a:ln/>
        </p:spPr>
        <p:txBody>
          <a:bodyPr wrap="square" lIns="0" tIns="0" rIns="0" bIns="0" rtlCol="0" anchor="ctr"/>
          <a:lstStyle/>
          <a:p>
            <a:pPr marL="0" indent="0">
              <a:buNone/>
            </a:pPr>
            <a:r>
              <a:rPr lang="en-US" sz="1600" dirty="0"/>
              <a:t>Perfect separation is often unrealistic. Soft-margin SVM allows some violations of the margin.</a:t>
            </a:r>
          </a:p>
        </p:txBody>
      </p:sp>
      <p:sp>
        <p:nvSpPr>
          <p:cNvPr id="6" name="Shape 4"/>
          <p:cNvSpPr/>
          <p:nvPr/>
        </p:nvSpPr>
        <p:spPr>
          <a:xfrm>
            <a:off x="868680" y="1600200"/>
            <a:ext cx="5715000" cy="4251960"/>
          </a:xfrm>
          <a:prstGeom prst="rect">
            <a:avLst/>
          </a:prstGeom>
          <a:solidFill>
            <a:srgbClr val="FFFFFF">
              <a:alpha val="0"/>
            </a:srgbClr>
          </a:solidFill>
          <a:ln w="12700">
            <a:solidFill>
              <a:srgbClr val="D9E2EC"/>
            </a:solidFill>
            <a:prstDash val="solid"/>
          </a:ln>
        </p:spPr>
        <p:txBody>
          <a:bodyPr/>
          <a:lstStyle/>
          <a:p>
            <a:endParaRPr lang="en-GB"/>
          </a:p>
        </p:txBody>
      </p:sp>
      <p:sp>
        <p:nvSpPr>
          <p:cNvPr id="7" name="Shape 5"/>
          <p:cNvSpPr/>
          <p:nvPr/>
        </p:nvSpPr>
        <p:spPr>
          <a:xfrm>
            <a:off x="1362456" y="46085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8" name="Shape 6"/>
          <p:cNvSpPr/>
          <p:nvPr/>
        </p:nvSpPr>
        <p:spPr>
          <a:xfrm>
            <a:off x="1655064" y="46085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9" name="Shape 7"/>
          <p:cNvSpPr/>
          <p:nvPr/>
        </p:nvSpPr>
        <p:spPr>
          <a:xfrm>
            <a:off x="1947672" y="46085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0" name="Shape 8"/>
          <p:cNvSpPr/>
          <p:nvPr/>
        </p:nvSpPr>
        <p:spPr>
          <a:xfrm>
            <a:off x="2240280" y="46085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1" name="Shape 9"/>
          <p:cNvSpPr/>
          <p:nvPr/>
        </p:nvSpPr>
        <p:spPr>
          <a:xfrm>
            <a:off x="2532888" y="46085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2" name="Shape 10"/>
          <p:cNvSpPr/>
          <p:nvPr/>
        </p:nvSpPr>
        <p:spPr>
          <a:xfrm>
            <a:off x="1362456" y="435254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3" name="Shape 11"/>
          <p:cNvSpPr/>
          <p:nvPr/>
        </p:nvSpPr>
        <p:spPr>
          <a:xfrm>
            <a:off x="1655064" y="435254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4" name="Shape 12"/>
          <p:cNvSpPr/>
          <p:nvPr/>
        </p:nvSpPr>
        <p:spPr>
          <a:xfrm>
            <a:off x="1947672" y="435254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5" name="Shape 13"/>
          <p:cNvSpPr/>
          <p:nvPr/>
        </p:nvSpPr>
        <p:spPr>
          <a:xfrm>
            <a:off x="2240280" y="435254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6" name="Shape 14"/>
          <p:cNvSpPr/>
          <p:nvPr/>
        </p:nvSpPr>
        <p:spPr>
          <a:xfrm>
            <a:off x="2532888" y="435254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7" name="Shape 15"/>
          <p:cNvSpPr/>
          <p:nvPr/>
        </p:nvSpPr>
        <p:spPr>
          <a:xfrm>
            <a:off x="1362456" y="409651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8" name="Shape 16"/>
          <p:cNvSpPr/>
          <p:nvPr/>
        </p:nvSpPr>
        <p:spPr>
          <a:xfrm>
            <a:off x="1655064" y="409651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9" name="Shape 17"/>
          <p:cNvSpPr/>
          <p:nvPr/>
        </p:nvSpPr>
        <p:spPr>
          <a:xfrm>
            <a:off x="1947672" y="409651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0" name="Shape 18"/>
          <p:cNvSpPr/>
          <p:nvPr/>
        </p:nvSpPr>
        <p:spPr>
          <a:xfrm>
            <a:off x="2240280" y="409651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1" name="Shape 19"/>
          <p:cNvSpPr/>
          <p:nvPr/>
        </p:nvSpPr>
        <p:spPr>
          <a:xfrm>
            <a:off x="2532888" y="409651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2" name="Shape 20"/>
          <p:cNvSpPr/>
          <p:nvPr/>
        </p:nvSpPr>
        <p:spPr>
          <a:xfrm>
            <a:off x="1362456" y="3840480"/>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3" name="Shape 21"/>
          <p:cNvSpPr/>
          <p:nvPr/>
        </p:nvSpPr>
        <p:spPr>
          <a:xfrm>
            <a:off x="1655064" y="3840480"/>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4" name="Shape 22"/>
          <p:cNvSpPr/>
          <p:nvPr/>
        </p:nvSpPr>
        <p:spPr>
          <a:xfrm>
            <a:off x="1947672" y="3840480"/>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5" name="Shape 23"/>
          <p:cNvSpPr/>
          <p:nvPr/>
        </p:nvSpPr>
        <p:spPr>
          <a:xfrm>
            <a:off x="4745736"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6" name="Shape 24"/>
          <p:cNvSpPr/>
          <p:nvPr/>
        </p:nvSpPr>
        <p:spPr>
          <a:xfrm>
            <a:off x="5001768"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7" name="Shape 25"/>
          <p:cNvSpPr/>
          <p:nvPr/>
        </p:nvSpPr>
        <p:spPr>
          <a:xfrm>
            <a:off x="5257800"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8" name="Shape 26"/>
          <p:cNvSpPr/>
          <p:nvPr/>
        </p:nvSpPr>
        <p:spPr>
          <a:xfrm>
            <a:off x="5513832"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9" name="Shape 27"/>
          <p:cNvSpPr/>
          <p:nvPr/>
        </p:nvSpPr>
        <p:spPr>
          <a:xfrm>
            <a:off x="5769864" y="209397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0" name="Shape 28"/>
          <p:cNvSpPr/>
          <p:nvPr/>
        </p:nvSpPr>
        <p:spPr>
          <a:xfrm>
            <a:off x="4745736" y="23500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1" name="Shape 29"/>
          <p:cNvSpPr/>
          <p:nvPr/>
        </p:nvSpPr>
        <p:spPr>
          <a:xfrm>
            <a:off x="5001768" y="23500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2" name="Shape 30"/>
          <p:cNvSpPr/>
          <p:nvPr/>
        </p:nvSpPr>
        <p:spPr>
          <a:xfrm>
            <a:off x="5257800" y="23500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3" name="Shape 31"/>
          <p:cNvSpPr/>
          <p:nvPr/>
        </p:nvSpPr>
        <p:spPr>
          <a:xfrm>
            <a:off x="5513832" y="23500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4" name="Shape 32"/>
          <p:cNvSpPr/>
          <p:nvPr/>
        </p:nvSpPr>
        <p:spPr>
          <a:xfrm>
            <a:off x="5769864" y="235000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5" name="Shape 33"/>
          <p:cNvSpPr/>
          <p:nvPr/>
        </p:nvSpPr>
        <p:spPr>
          <a:xfrm>
            <a:off x="4745736" y="260604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6" name="Shape 34"/>
          <p:cNvSpPr/>
          <p:nvPr/>
        </p:nvSpPr>
        <p:spPr>
          <a:xfrm>
            <a:off x="5001768" y="260604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7" name="Shape 35"/>
          <p:cNvSpPr/>
          <p:nvPr/>
        </p:nvSpPr>
        <p:spPr>
          <a:xfrm>
            <a:off x="5257800" y="260604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8" name="Shape 36"/>
          <p:cNvSpPr/>
          <p:nvPr/>
        </p:nvSpPr>
        <p:spPr>
          <a:xfrm>
            <a:off x="5513832" y="260604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9" name="Shape 37"/>
          <p:cNvSpPr/>
          <p:nvPr/>
        </p:nvSpPr>
        <p:spPr>
          <a:xfrm>
            <a:off x="5769864" y="260604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0" name="Shape 38"/>
          <p:cNvSpPr/>
          <p:nvPr/>
        </p:nvSpPr>
        <p:spPr>
          <a:xfrm>
            <a:off x="4745736" y="286207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1" name="Shape 39"/>
          <p:cNvSpPr/>
          <p:nvPr/>
        </p:nvSpPr>
        <p:spPr>
          <a:xfrm>
            <a:off x="5001768" y="286207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2" name="Shape 40"/>
          <p:cNvSpPr/>
          <p:nvPr/>
        </p:nvSpPr>
        <p:spPr>
          <a:xfrm>
            <a:off x="5257800" y="286207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43" name="Shape 41"/>
          <p:cNvSpPr/>
          <p:nvPr/>
        </p:nvSpPr>
        <p:spPr>
          <a:xfrm>
            <a:off x="3186684" y="3342132"/>
            <a:ext cx="118872" cy="118872"/>
          </a:xfrm>
          <a:prstGeom prst="ellipse">
            <a:avLst/>
          </a:prstGeom>
          <a:solidFill>
            <a:srgbClr val="66A9D5"/>
          </a:solidFill>
          <a:ln w="12700">
            <a:solidFill>
              <a:srgbClr val="66A9D5">
                <a:alpha val="0"/>
              </a:srgbClr>
            </a:solidFill>
            <a:prstDash val="solid"/>
          </a:ln>
        </p:spPr>
        <p:txBody>
          <a:bodyPr/>
          <a:lstStyle/>
          <a:p>
            <a:endParaRPr lang="en-GB"/>
          </a:p>
        </p:txBody>
      </p:sp>
      <p:sp>
        <p:nvSpPr>
          <p:cNvPr id="44" name="Shape 42"/>
          <p:cNvSpPr/>
          <p:nvPr/>
        </p:nvSpPr>
        <p:spPr>
          <a:xfrm>
            <a:off x="3552444" y="3186684"/>
            <a:ext cx="118872" cy="118872"/>
          </a:xfrm>
          <a:prstGeom prst="ellipse">
            <a:avLst/>
          </a:prstGeom>
          <a:solidFill>
            <a:srgbClr val="F28C38"/>
          </a:solidFill>
          <a:ln w="12700">
            <a:solidFill>
              <a:srgbClr val="F28C38">
                <a:alpha val="0"/>
              </a:srgbClr>
            </a:solidFill>
            <a:prstDash val="solid"/>
          </a:ln>
        </p:spPr>
        <p:txBody>
          <a:bodyPr/>
          <a:lstStyle/>
          <a:p>
            <a:endParaRPr lang="en-GB"/>
          </a:p>
        </p:txBody>
      </p:sp>
      <p:sp>
        <p:nvSpPr>
          <p:cNvPr id="45" name="Shape 43"/>
          <p:cNvSpPr/>
          <p:nvPr/>
        </p:nvSpPr>
        <p:spPr>
          <a:xfrm>
            <a:off x="2976372" y="2912364"/>
            <a:ext cx="118872" cy="118872"/>
          </a:xfrm>
          <a:prstGeom prst="ellipse">
            <a:avLst/>
          </a:prstGeom>
          <a:solidFill>
            <a:srgbClr val="F28C38"/>
          </a:solidFill>
          <a:ln w="12700">
            <a:solidFill>
              <a:srgbClr val="F28C38">
                <a:alpha val="0"/>
              </a:srgbClr>
            </a:solidFill>
            <a:prstDash val="solid"/>
          </a:ln>
        </p:spPr>
        <p:txBody>
          <a:bodyPr/>
          <a:lstStyle/>
          <a:p>
            <a:endParaRPr lang="en-GB"/>
          </a:p>
        </p:txBody>
      </p:sp>
      <p:sp>
        <p:nvSpPr>
          <p:cNvPr id="46" name="Shape 44"/>
          <p:cNvSpPr/>
          <p:nvPr/>
        </p:nvSpPr>
        <p:spPr>
          <a:xfrm>
            <a:off x="2743200" y="5349240"/>
            <a:ext cx="1554480" cy="0"/>
          </a:xfrm>
          <a:prstGeom prst="line">
            <a:avLst/>
          </a:prstGeom>
          <a:noFill/>
          <a:ln w="27940">
            <a:solidFill>
              <a:srgbClr val="111827"/>
            </a:solidFill>
            <a:prstDash val="solid"/>
          </a:ln>
        </p:spPr>
        <p:txBody>
          <a:bodyPr/>
          <a:lstStyle/>
          <a:p>
            <a:endParaRPr lang="en-GB"/>
          </a:p>
        </p:txBody>
      </p:sp>
      <p:sp>
        <p:nvSpPr>
          <p:cNvPr id="47" name="Shape 45"/>
          <p:cNvSpPr/>
          <p:nvPr/>
        </p:nvSpPr>
        <p:spPr>
          <a:xfrm>
            <a:off x="2331720" y="5276088"/>
            <a:ext cx="1554480" cy="0"/>
          </a:xfrm>
          <a:prstGeom prst="line">
            <a:avLst/>
          </a:prstGeom>
          <a:noFill/>
          <a:ln w="12700">
            <a:solidFill>
              <a:srgbClr val="6B7280"/>
            </a:solidFill>
            <a:prstDash val="solid"/>
          </a:ln>
        </p:spPr>
        <p:txBody>
          <a:bodyPr/>
          <a:lstStyle/>
          <a:p>
            <a:endParaRPr lang="en-GB"/>
          </a:p>
        </p:txBody>
      </p:sp>
      <p:sp>
        <p:nvSpPr>
          <p:cNvPr id="48" name="Shape 46"/>
          <p:cNvSpPr/>
          <p:nvPr/>
        </p:nvSpPr>
        <p:spPr>
          <a:xfrm>
            <a:off x="3154680" y="5422392"/>
            <a:ext cx="1554480" cy="0"/>
          </a:xfrm>
          <a:prstGeom prst="line">
            <a:avLst/>
          </a:prstGeom>
          <a:noFill/>
          <a:ln w="12700">
            <a:solidFill>
              <a:srgbClr val="6B7280"/>
            </a:solidFill>
            <a:prstDash val="solid"/>
          </a:ln>
        </p:spPr>
        <p:txBody>
          <a:bodyPr/>
          <a:lstStyle/>
          <a:p>
            <a:endParaRPr lang="en-GB"/>
          </a:p>
        </p:txBody>
      </p:sp>
      <p:sp>
        <p:nvSpPr>
          <p:cNvPr id="49" name="Shape 47"/>
          <p:cNvSpPr/>
          <p:nvPr/>
        </p:nvSpPr>
        <p:spPr>
          <a:xfrm>
            <a:off x="4846320" y="3886200"/>
            <a:ext cx="0" cy="0"/>
          </a:xfrm>
          <a:prstGeom prst="line">
            <a:avLst/>
          </a:prstGeom>
          <a:noFill/>
          <a:ln w="17780">
            <a:solidFill>
              <a:srgbClr val="F28C38"/>
            </a:solidFill>
            <a:prstDash val="solid"/>
            <a:headEnd type="none"/>
            <a:tailEnd type="triangle"/>
          </a:ln>
        </p:spPr>
        <p:txBody>
          <a:bodyPr/>
          <a:lstStyle/>
          <a:p>
            <a:endParaRPr lang="en-GB"/>
          </a:p>
        </p:txBody>
      </p:sp>
      <p:sp>
        <p:nvSpPr>
          <p:cNvPr id="50" name="Text 48"/>
          <p:cNvSpPr/>
          <p:nvPr/>
        </p:nvSpPr>
        <p:spPr>
          <a:xfrm>
            <a:off x="4892040" y="3794760"/>
            <a:ext cx="1280160" cy="228600"/>
          </a:xfrm>
          <a:prstGeom prst="rect">
            <a:avLst/>
          </a:prstGeom>
          <a:noFill/>
          <a:ln/>
        </p:spPr>
        <p:txBody>
          <a:bodyPr wrap="square" lIns="0" tIns="0" rIns="0" bIns="0" rtlCol="0" anchor="ctr"/>
          <a:lstStyle/>
          <a:p>
            <a:pPr marL="0" indent="0">
              <a:buNone/>
            </a:pPr>
            <a:r>
              <a:rPr lang="en-US" sz="1100" b="1" dirty="0">
                <a:solidFill>
                  <a:srgbClr val="F28C38"/>
                </a:solidFill>
              </a:rPr>
              <a:t>margin violations</a:t>
            </a:r>
            <a:endParaRPr lang="en-US" sz="1100" dirty="0"/>
          </a:p>
        </p:txBody>
      </p:sp>
      <p:sp>
        <p:nvSpPr>
          <p:cNvPr id="51" name="Text 49"/>
          <p:cNvSpPr/>
          <p:nvPr/>
        </p:nvSpPr>
        <p:spPr>
          <a:xfrm>
            <a:off x="7315200" y="1691640"/>
            <a:ext cx="3611880" cy="658368"/>
          </a:xfrm>
          <a:prstGeom prst="rect">
            <a:avLst/>
          </a:prstGeom>
          <a:solidFill>
            <a:srgbClr val="F5F5F5"/>
          </a:solidFill>
          <a:ln w="10160">
            <a:solidFill>
              <a:srgbClr val="D9E2EC"/>
            </a:solidFill>
          </a:ln>
        </p:spPr>
        <p:txBody>
          <a:bodyPr wrap="square" lIns="1016" tIns="1016" rIns="1016" bIns="1016" rtlCol="0" anchor="ctr">
            <a:normAutofit/>
          </a:bodyPr>
          <a:lstStyle/>
          <a:p>
            <a:pPr marL="0" indent="0" algn="ctr">
              <a:buNone/>
            </a:pPr>
            <a:r>
              <a:rPr lang="en-US" sz="2000" b="1" dirty="0">
                <a:solidFill>
                  <a:srgbClr val="111827"/>
                </a:solidFill>
              </a:rPr>
              <a:t>Hard margin</a:t>
            </a:r>
            <a:endParaRPr lang="en-US" sz="2000" dirty="0"/>
          </a:p>
        </p:txBody>
      </p:sp>
      <p:sp>
        <p:nvSpPr>
          <p:cNvPr id="52" name="Text 50"/>
          <p:cNvSpPr/>
          <p:nvPr/>
        </p:nvSpPr>
        <p:spPr>
          <a:xfrm>
            <a:off x="7452360" y="2564892"/>
            <a:ext cx="3337560" cy="594360"/>
          </a:xfrm>
          <a:prstGeom prst="rect">
            <a:avLst/>
          </a:prstGeom>
          <a:noFill/>
          <a:ln/>
        </p:spPr>
        <p:txBody>
          <a:bodyPr wrap="square" lIns="0" tIns="0" rIns="0" bIns="0" rtlCol="0" anchor="ctr"/>
          <a:lstStyle/>
          <a:p>
            <a:pPr marL="0" indent="0">
              <a:buNone/>
            </a:pPr>
            <a:r>
              <a:rPr lang="en-US" sz="1600" dirty="0"/>
              <a:t>Requires all training points to be correctly separated. Usually too strict for noisy biomedical data.</a:t>
            </a:r>
          </a:p>
        </p:txBody>
      </p:sp>
      <p:sp>
        <p:nvSpPr>
          <p:cNvPr id="53" name="Text 51"/>
          <p:cNvSpPr/>
          <p:nvPr/>
        </p:nvSpPr>
        <p:spPr>
          <a:xfrm>
            <a:off x="7315200" y="3909060"/>
            <a:ext cx="3611880" cy="658368"/>
          </a:xfrm>
          <a:prstGeom prst="rect">
            <a:avLst/>
          </a:prstGeom>
          <a:solidFill>
            <a:srgbClr val="FFF2E7"/>
          </a:solidFill>
          <a:ln w="10160">
            <a:solidFill>
              <a:srgbClr val="F4B183"/>
            </a:solidFill>
          </a:ln>
        </p:spPr>
        <p:txBody>
          <a:bodyPr wrap="square" lIns="1016" tIns="1016" rIns="1016" bIns="1016" rtlCol="0" anchor="ctr">
            <a:normAutofit/>
          </a:bodyPr>
          <a:lstStyle/>
          <a:p>
            <a:pPr marL="0" indent="0" algn="ctr">
              <a:buNone/>
            </a:pPr>
            <a:r>
              <a:rPr lang="en-US" sz="2000" b="1" dirty="0">
                <a:solidFill>
                  <a:srgbClr val="F28C38"/>
                </a:solidFill>
              </a:rPr>
              <a:t>Soft margin</a:t>
            </a:r>
            <a:endParaRPr lang="en-US" sz="2000" dirty="0"/>
          </a:p>
        </p:txBody>
      </p:sp>
      <p:sp>
        <p:nvSpPr>
          <p:cNvPr id="54" name="Text 52"/>
          <p:cNvSpPr/>
          <p:nvPr/>
        </p:nvSpPr>
        <p:spPr>
          <a:xfrm>
            <a:off x="7452360" y="4738878"/>
            <a:ext cx="3337560" cy="854964"/>
          </a:xfrm>
          <a:prstGeom prst="rect">
            <a:avLst/>
          </a:prstGeom>
          <a:noFill/>
          <a:ln/>
        </p:spPr>
        <p:txBody>
          <a:bodyPr wrap="square" lIns="0" tIns="0" rIns="0" bIns="0" rtlCol="0" anchor="ctr"/>
          <a:lstStyle/>
          <a:p>
            <a:pPr marL="0" indent="0">
              <a:buNone/>
            </a:pPr>
            <a:r>
              <a:rPr lang="en-US" sz="1600" dirty="0"/>
              <a:t>Allows some points inside the margin or on the wrong side, while still trying to keep the margin wide.</a:t>
            </a:r>
          </a:p>
        </p:txBody>
      </p:sp>
      <p:sp>
        <p:nvSpPr>
          <p:cNvPr id="55" name="Text 53"/>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56" name="Text 54"/>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4</a:t>
            </a:r>
            <a:endParaRPr lang="en-US" sz="600" dirty="0"/>
          </a:p>
        </p:txBody>
      </p:sp>
      <p:pic>
        <p:nvPicPr>
          <p:cNvPr id="58" name="Picture 57">
            <a:extLst>
              <a:ext uri="{FF2B5EF4-FFF2-40B4-BE49-F238E27FC236}">
                <a16:creationId xmlns:a16="http://schemas.microsoft.com/office/drawing/2014/main" id="{9F18C371-3AF0-FFA3-02A2-9B7EBE935FE1}"/>
              </a:ext>
            </a:extLst>
          </p:cNvPr>
          <p:cNvPicPr>
            <a:picLocks noChangeAspect="1"/>
          </p:cNvPicPr>
          <p:nvPr/>
        </p:nvPicPr>
        <p:blipFill>
          <a:blip r:embed="rId3"/>
          <a:stretch>
            <a:fillRect/>
          </a:stretch>
        </p:blipFill>
        <p:spPr>
          <a:xfrm>
            <a:off x="267504" y="1525305"/>
            <a:ext cx="6681936" cy="4401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4. Penalty parameter C controls the trade-off</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502920" y="960120"/>
            <a:ext cx="9875520" cy="320040"/>
          </a:xfrm>
          <a:prstGeom prst="rect">
            <a:avLst/>
          </a:prstGeom>
          <a:noFill/>
          <a:ln/>
        </p:spPr>
        <p:txBody>
          <a:bodyPr wrap="square" lIns="0" tIns="0" rIns="0" bIns="0" rtlCol="0" anchor="ctr"/>
          <a:lstStyle/>
          <a:p>
            <a:pPr marL="0" indent="0">
              <a:buNone/>
            </a:pPr>
            <a:r>
              <a:rPr lang="en-US" sz="1600" dirty="0"/>
              <a:t>C decides how strongly the model punishes margin violations and misclassification.</a:t>
            </a:r>
          </a:p>
        </p:txBody>
      </p:sp>
      <p:sp>
        <p:nvSpPr>
          <p:cNvPr id="6" name="Text 4"/>
          <p:cNvSpPr/>
          <p:nvPr/>
        </p:nvSpPr>
        <p:spPr>
          <a:xfrm>
            <a:off x="640080" y="1508760"/>
            <a:ext cx="3429000" cy="438912"/>
          </a:xfrm>
          <a:prstGeom prst="rect">
            <a:avLst/>
          </a:prstGeom>
          <a:solidFill>
            <a:srgbClr val="EAF7EF"/>
          </a:solidFill>
          <a:ln w="10160">
            <a:solidFill>
              <a:srgbClr val="A9D18E"/>
            </a:solidFill>
          </a:ln>
        </p:spPr>
        <p:txBody>
          <a:bodyPr wrap="square" lIns="1016" tIns="1016" rIns="1016" bIns="1016" rtlCol="0" anchor="ctr">
            <a:normAutofit/>
          </a:bodyPr>
          <a:lstStyle/>
          <a:p>
            <a:pPr marL="0" indent="0" algn="ctr">
              <a:buNone/>
            </a:pPr>
            <a:r>
              <a:rPr lang="en-US" sz="1400" b="1" dirty="0">
                <a:solidFill>
                  <a:srgbClr val="2E8B57"/>
                </a:solidFill>
              </a:rPr>
              <a:t>Small C: softer penalty</a:t>
            </a:r>
            <a:endParaRPr lang="en-US" sz="1400" dirty="0"/>
          </a:p>
        </p:txBody>
      </p:sp>
      <p:sp>
        <p:nvSpPr>
          <p:cNvPr id="8" name="Shape 6"/>
          <p:cNvSpPr/>
          <p:nvPr/>
        </p:nvSpPr>
        <p:spPr>
          <a:xfrm>
            <a:off x="950976"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9" name="Shape 7"/>
          <p:cNvSpPr/>
          <p:nvPr/>
        </p:nvSpPr>
        <p:spPr>
          <a:xfrm>
            <a:off x="1207008"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0" name="Shape 8"/>
          <p:cNvSpPr/>
          <p:nvPr/>
        </p:nvSpPr>
        <p:spPr>
          <a:xfrm>
            <a:off x="1463040"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1" name="Shape 9"/>
          <p:cNvSpPr/>
          <p:nvPr/>
        </p:nvSpPr>
        <p:spPr>
          <a:xfrm>
            <a:off x="1719072"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2" name="Shape 10"/>
          <p:cNvSpPr/>
          <p:nvPr/>
        </p:nvSpPr>
        <p:spPr>
          <a:xfrm>
            <a:off x="950976"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3" name="Shape 11"/>
          <p:cNvSpPr/>
          <p:nvPr/>
        </p:nvSpPr>
        <p:spPr>
          <a:xfrm>
            <a:off x="1207008"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4" name="Shape 12"/>
          <p:cNvSpPr/>
          <p:nvPr/>
        </p:nvSpPr>
        <p:spPr>
          <a:xfrm>
            <a:off x="1463040"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5" name="Shape 13"/>
          <p:cNvSpPr/>
          <p:nvPr/>
        </p:nvSpPr>
        <p:spPr>
          <a:xfrm>
            <a:off x="1719072"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6" name="Shape 14"/>
          <p:cNvSpPr/>
          <p:nvPr/>
        </p:nvSpPr>
        <p:spPr>
          <a:xfrm>
            <a:off x="950976"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7" name="Shape 15"/>
          <p:cNvSpPr/>
          <p:nvPr/>
        </p:nvSpPr>
        <p:spPr>
          <a:xfrm>
            <a:off x="1207008"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8" name="Shape 16"/>
          <p:cNvSpPr/>
          <p:nvPr/>
        </p:nvSpPr>
        <p:spPr>
          <a:xfrm>
            <a:off x="1463040"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9" name="Shape 17"/>
          <p:cNvSpPr/>
          <p:nvPr/>
        </p:nvSpPr>
        <p:spPr>
          <a:xfrm>
            <a:off x="1719072"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20" name="Shape 18"/>
          <p:cNvSpPr/>
          <p:nvPr/>
        </p:nvSpPr>
        <p:spPr>
          <a:xfrm>
            <a:off x="2825496"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1" name="Shape 19"/>
          <p:cNvSpPr/>
          <p:nvPr/>
        </p:nvSpPr>
        <p:spPr>
          <a:xfrm>
            <a:off x="3035808"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2" name="Shape 20"/>
          <p:cNvSpPr/>
          <p:nvPr/>
        </p:nvSpPr>
        <p:spPr>
          <a:xfrm>
            <a:off x="3246120"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3" name="Shape 21"/>
          <p:cNvSpPr/>
          <p:nvPr/>
        </p:nvSpPr>
        <p:spPr>
          <a:xfrm>
            <a:off x="3456432"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4" name="Shape 22"/>
          <p:cNvSpPr/>
          <p:nvPr/>
        </p:nvSpPr>
        <p:spPr>
          <a:xfrm>
            <a:off x="2825496"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5" name="Shape 23"/>
          <p:cNvSpPr/>
          <p:nvPr/>
        </p:nvSpPr>
        <p:spPr>
          <a:xfrm>
            <a:off x="3035808"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6" name="Shape 24"/>
          <p:cNvSpPr/>
          <p:nvPr/>
        </p:nvSpPr>
        <p:spPr>
          <a:xfrm>
            <a:off x="3246120"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7" name="Shape 25"/>
          <p:cNvSpPr/>
          <p:nvPr/>
        </p:nvSpPr>
        <p:spPr>
          <a:xfrm>
            <a:off x="3456432"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8" name="Shape 26"/>
          <p:cNvSpPr/>
          <p:nvPr/>
        </p:nvSpPr>
        <p:spPr>
          <a:xfrm>
            <a:off x="2825496"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9" name="Shape 27"/>
          <p:cNvSpPr/>
          <p:nvPr/>
        </p:nvSpPr>
        <p:spPr>
          <a:xfrm>
            <a:off x="3035808"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0" name="Shape 28"/>
          <p:cNvSpPr/>
          <p:nvPr/>
        </p:nvSpPr>
        <p:spPr>
          <a:xfrm>
            <a:off x="3246120"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1" name="Shape 29"/>
          <p:cNvSpPr/>
          <p:nvPr/>
        </p:nvSpPr>
        <p:spPr>
          <a:xfrm>
            <a:off x="3456432"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2" name="Shape 30"/>
          <p:cNvSpPr/>
          <p:nvPr/>
        </p:nvSpPr>
        <p:spPr>
          <a:xfrm>
            <a:off x="2139696" y="309981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3" name="Shape 31"/>
          <p:cNvSpPr/>
          <p:nvPr/>
        </p:nvSpPr>
        <p:spPr>
          <a:xfrm>
            <a:off x="1865376" y="33284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34" name="Shape 32"/>
          <p:cNvSpPr/>
          <p:nvPr/>
        </p:nvSpPr>
        <p:spPr>
          <a:xfrm>
            <a:off x="2057400" y="4389120"/>
            <a:ext cx="731520" cy="0"/>
          </a:xfrm>
          <a:prstGeom prst="line">
            <a:avLst/>
          </a:prstGeom>
          <a:noFill/>
          <a:ln w="25400">
            <a:solidFill>
              <a:srgbClr val="111827"/>
            </a:solidFill>
            <a:prstDash val="solid"/>
          </a:ln>
        </p:spPr>
        <p:txBody>
          <a:bodyPr/>
          <a:lstStyle/>
          <a:p>
            <a:endParaRPr lang="en-GB"/>
          </a:p>
        </p:txBody>
      </p:sp>
      <p:sp>
        <p:nvSpPr>
          <p:cNvPr id="35" name="Text 33"/>
          <p:cNvSpPr/>
          <p:nvPr/>
        </p:nvSpPr>
        <p:spPr>
          <a:xfrm>
            <a:off x="845819" y="4918229"/>
            <a:ext cx="2880360" cy="594360"/>
          </a:xfrm>
          <a:prstGeom prst="rect">
            <a:avLst/>
          </a:prstGeom>
          <a:noFill/>
          <a:ln/>
        </p:spPr>
        <p:txBody>
          <a:bodyPr wrap="square" lIns="0" tIns="0" rIns="0" bIns="0" rtlCol="0" anchor="ctr"/>
          <a:lstStyle/>
          <a:p>
            <a:pPr marL="0" indent="0" algn="ctr">
              <a:buNone/>
            </a:pPr>
            <a:r>
              <a:rPr lang="en-US" sz="1400" dirty="0"/>
              <a:t>wider margin</a:t>
            </a:r>
          </a:p>
          <a:p>
            <a:pPr marL="0" indent="0" algn="ctr">
              <a:buNone/>
            </a:pPr>
            <a:r>
              <a:rPr lang="en-US" sz="1400" dirty="0"/>
              <a:t>more tolerance</a:t>
            </a:r>
          </a:p>
          <a:p>
            <a:pPr marL="0" indent="0" algn="ctr">
              <a:buNone/>
            </a:pPr>
            <a:r>
              <a:rPr lang="en-US" sz="1400" dirty="0"/>
              <a:t>lower overfit risk</a:t>
            </a:r>
          </a:p>
        </p:txBody>
      </p:sp>
      <p:sp>
        <p:nvSpPr>
          <p:cNvPr id="36" name="Text 34"/>
          <p:cNvSpPr/>
          <p:nvPr/>
        </p:nvSpPr>
        <p:spPr>
          <a:xfrm>
            <a:off x="5509260" y="2703606"/>
            <a:ext cx="731520" cy="274320"/>
          </a:xfrm>
          <a:prstGeom prst="rect">
            <a:avLst/>
          </a:prstGeom>
          <a:noFill/>
          <a:ln/>
        </p:spPr>
        <p:txBody>
          <a:bodyPr wrap="square" lIns="0" tIns="0" rIns="0" bIns="0" rtlCol="0" anchor="ctr"/>
          <a:lstStyle/>
          <a:p>
            <a:pPr marL="0" indent="0">
              <a:buNone/>
            </a:pPr>
            <a:r>
              <a:rPr lang="en-US" sz="2400" b="1" dirty="0">
                <a:solidFill>
                  <a:srgbClr val="111827"/>
                </a:solidFill>
              </a:rPr>
              <a:t>C ↑</a:t>
            </a:r>
            <a:endParaRPr lang="en-US" sz="2400" dirty="0"/>
          </a:p>
        </p:txBody>
      </p:sp>
      <p:sp>
        <p:nvSpPr>
          <p:cNvPr id="37" name="Shape 35"/>
          <p:cNvSpPr/>
          <p:nvPr/>
        </p:nvSpPr>
        <p:spPr>
          <a:xfrm>
            <a:off x="4876800" y="3209544"/>
            <a:ext cx="1828800" cy="0"/>
          </a:xfrm>
          <a:prstGeom prst="line">
            <a:avLst/>
          </a:prstGeom>
          <a:noFill/>
          <a:ln w="25400">
            <a:solidFill>
              <a:srgbClr val="6B7280"/>
            </a:solidFill>
            <a:prstDash val="solid"/>
            <a:headEnd type="none"/>
            <a:tailEnd type="triangle"/>
          </a:ln>
        </p:spPr>
        <p:txBody>
          <a:bodyPr/>
          <a:lstStyle/>
          <a:p>
            <a:endParaRPr lang="en-GB"/>
          </a:p>
        </p:txBody>
      </p:sp>
      <p:sp>
        <p:nvSpPr>
          <p:cNvPr id="38" name="Text 36"/>
          <p:cNvSpPr/>
          <p:nvPr/>
        </p:nvSpPr>
        <p:spPr>
          <a:xfrm>
            <a:off x="4776327" y="3300984"/>
            <a:ext cx="2029745" cy="274320"/>
          </a:xfrm>
          <a:prstGeom prst="rect">
            <a:avLst/>
          </a:prstGeom>
          <a:noFill/>
          <a:ln/>
        </p:spPr>
        <p:txBody>
          <a:bodyPr wrap="square" lIns="0" tIns="0" rIns="0" bIns="0" rtlCol="0" anchor="ctr"/>
          <a:lstStyle/>
          <a:p>
            <a:pPr marL="0" indent="0" algn="ctr">
              <a:buNone/>
            </a:pPr>
            <a:r>
              <a:rPr lang="en-US" sz="1100" dirty="0"/>
              <a:t>less tolerant of training errors</a:t>
            </a:r>
          </a:p>
        </p:txBody>
      </p:sp>
      <p:sp>
        <p:nvSpPr>
          <p:cNvPr id="39" name="Text 37"/>
          <p:cNvSpPr/>
          <p:nvPr/>
        </p:nvSpPr>
        <p:spPr>
          <a:xfrm>
            <a:off x="8046720" y="1508760"/>
            <a:ext cx="3429000" cy="438912"/>
          </a:xfrm>
          <a:prstGeom prst="rect">
            <a:avLst/>
          </a:prstGeom>
          <a:solidFill>
            <a:srgbClr val="FFF2E7"/>
          </a:solidFill>
          <a:ln w="10160">
            <a:solidFill>
              <a:srgbClr val="F4B183"/>
            </a:solidFill>
          </a:ln>
        </p:spPr>
        <p:txBody>
          <a:bodyPr wrap="square" lIns="1016" tIns="1016" rIns="1016" bIns="1016" rtlCol="0" anchor="ctr">
            <a:normAutofit/>
          </a:bodyPr>
          <a:lstStyle/>
          <a:p>
            <a:pPr marL="0" indent="0" algn="ctr">
              <a:buNone/>
            </a:pPr>
            <a:r>
              <a:rPr lang="en-US" sz="1400" b="1" dirty="0">
                <a:solidFill>
                  <a:srgbClr val="F28C38"/>
                </a:solidFill>
              </a:rPr>
              <a:t>Large C: stronger penalty</a:t>
            </a:r>
            <a:endParaRPr lang="en-US" sz="1400" dirty="0"/>
          </a:p>
        </p:txBody>
      </p:sp>
      <p:sp>
        <p:nvSpPr>
          <p:cNvPr id="41" name="Shape 39"/>
          <p:cNvSpPr/>
          <p:nvPr/>
        </p:nvSpPr>
        <p:spPr>
          <a:xfrm>
            <a:off x="8403336"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2" name="Shape 40"/>
          <p:cNvSpPr/>
          <p:nvPr/>
        </p:nvSpPr>
        <p:spPr>
          <a:xfrm>
            <a:off x="8659368"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3" name="Shape 41"/>
          <p:cNvSpPr/>
          <p:nvPr/>
        </p:nvSpPr>
        <p:spPr>
          <a:xfrm>
            <a:off x="8915400"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4" name="Shape 42"/>
          <p:cNvSpPr/>
          <p:nvPr/>
        </p:nvSpPr>
        <p:spPr>
          <a:xfrm>
            <a:off x="9171432" y="40142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5" name="Shape 43"/>
          <p:cNvSpPr/>
          <p:nvPr/>
        </p:nvSpPr>
        <p:spPr>
          <a:xfrm>
            <a:off x="8403336"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6" name="Shape 44"/>
          <p:cNvSpPr/>
          <p:nvPr/>
        </p:nvSpPr>
        <p:spPr>
          <a:xfrm>
            <a:off x="8659368"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7" name="Shape 45"/>
          <p:cNvSpPr/>
          <p:nvPr/>
        </p:nvSpPr>
        <p:spPr>
          <a:xfrm>
            <a:off x="8915400"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8" name="Shape 46"/>
          <p:cNvSpPr/>
          <p:nvPr/>
        </p:nvSpPr>
        <p:spPr>
          <a:xfrm>
            <a:off x="9171432" y="3758184"/>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49" name="Shape 47"/>
          <p:cNvSpPr/>
          <p:nvPr/>
        </p:nvSpPr>
        <p:spPr>
          <a:xfrm>
            <a:off x="8403336"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50" name="Shape 48"/>
          <p:cNvSpPr/>
          <p:nvPr/>
        </p:nvSpPr>
        <p:spPr>
          <a:xfrm>
            <a:off x="8659368"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51" name="Shape 49"/>
          <p:cNvSpPr/>
          <p:nvPr/>
        </p:nvSpPr>
        <p:spPr>
          <a:xfrm>
            <a:off x="8915400"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52" name="Shape 50"/>
          <p:cNvSpPr/>
          <p:nvPr/>
        </p:nvSpPr>
        <p:spPr>
          <a:xfrm>
            <a:off x="9171432" y="3502152"/>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53" name="Shape 51"/>
          <p:cNvSpPr/>
          <p:nvPr/>
        </p:nvSpPr>
        <p:spPr>
          <a:xfrm>
            <a:off x="10277856"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4" name="Shape 52"/>
          <p:cNvSpPr/>
          <p:nvPr/>
        </p:nvSpPr>
        <p:spPr>
          <a:xfrm>
            <a:off x="10488168"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5" name="Shape 53"/>
          <p:cNvSpPr/>
          <p:nvPr/>
        </p:nvSpPr>
        <p:spPr>
          <a:xfrm>
            <a:off x="10698480"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6" name="Shape 54"/>
          <p:cNvSpPr/>
          <p:nvPr/>
        </p:nvSpPr>
        <p:spPr>
          <a:xfrm>
            <a:off x="10908792"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7" name="Shape 55"/>
          <p:cNvSpPr/>
          <p:nvPr/>
        </p:nvSpPr>
        <p:spPr>
          <a:xfrm>
            <a:off x="10277856"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8" name="Shape 56"/>
          <p:cNvSpPr/>
          <p:nvPr/>
        </p:nvSpPr>
        <p:spPr>
          <a:xfrm>
            <a:off x="10488168"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59" name="Shape 57"/>
          <p:cNvSpPr/>
          <p:nvPr/>
        </p:nvSpPr>
        <p:spPr>
          <a:xfrm>
            <a:off x="10698480"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0" name="Shape 58"/>
          <p:cNvSpPr/>
          <p:nvPr/>
        </p:nvSpPr>
        <p:spPr>
          <a:xfrm>
            <a:off x="10908792" y="262432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1" name="Shape 59"/>
          <p:cNvSpPr/>
          <p:nvPr/>
        </p:nvSpPr>
        <p:spPr>
          <a:xfrm>
            <a:off x="10277856"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2" name="Shape 60"/>
          <p:cNvSpPr/>
          <p:nvPr/>
        </p:nvSpPr>
        <p:spPr>
          <a:xfrm>
            <a:off x="10488168"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3" name="Shape 61"/>
          <p:cNvSpPr/>
          <p:nvPr/>
        </p:nvSpPr>
        <p:spPr>
          <a:xfrm>
            <a:off x="10698480"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4" name="Shape 62"/>
          <p:cNvSpPr/>
          <p:nvPr/>
        </p:nvSpPr>
        <p:spPr>
          <a:xfrm>
            <a:off x="10908792" y="2880360"/>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5" name="Shape 63"/>
          <p:cNvSpPr/>
          <p:nvPr/>
        </p:nvSpPr>
        <p:spPr>
          <a:xfrm>
            <a:off x="9592056" y="309981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66" name="Shape 64"/>
          <p:cNvSpPr/>
          <p:nvPr/>
        </p:nvSpPr>
        <p:spPr>
          <a:xfrm>
            <a:off x="9317736" y="332841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67" name="Shape 65"/>
          <p:cNvSpPr/>
          <p:nvPr/>
        </p:nvSpPr>
        <p:spPr>
          <a:xfrm>
            <a:off x="9144000" y="4526280"/>
            <a:ext cx="1280160" cy="0"/>
          </a:xfrm>
          <a:prstGeom prst="line">
            <a:avLst/>
          </a:prstGeom>
          <a:noFill/>
          <a:ln w="25400">
            <a:solidFill>
              <a:srgbClr val="111827"/>
            </a:solidFill>
            <a:prstDash val="solid"/>
          </a:ln>
        </p:spPr>
        <p:txBody>
          <a:bodyPr/>
          <a:lstStyle/>
          <a:p>
            <a:endParaRPr lang="en-GB"/>
          </a:p>
        </p:txBody>
      </p:sp>
      <p:sp>
        <p:nvSpPr>
          <p:cNvPr id="68" name="Text 66"/>
          <p:cNvSpPr/>
          <p:nvPr/>
        </p:nvSpPr>
        <p:spPr>
          <a:xfrm>
            <a:off x="8275320" y="4918229"/>
            <a:ext cx="2971800" cy="594360"/>
          </a:xfrm>
          <a:prstGeom prst="rect">
            <a:avLst/>
          </a:prstGeom>
          <a:noFill/>
          <a:ln/>
        </p:spPr>
        <p:txBody>
          <a:bodyPr wrap="square" lIns="0" tIns="0" rIns="0" bIns="0" rtlCol="0" anchor="ctr"/>
          <a:lstStyle/>
          <a:p>
            <a:pPr marL="0" indent="0" algn="ctr">
              <a:buNone/>
            </a:pPr>
            <a:r>
              <a:rPr lang="en-US" sz="1400" dirty="0"/>
              <a:t>tighter boundary</a:t>
            </a:r>
          </a:p>
          <a:p>
            <a:pPr marL="0" indent="0" algn="ctr">
              <a:buNone/>
            </a:pPr>
            <a:r>
              <a:rPr lang="en-US" sz="1400" dirty="0"/>
              <a:t>fewer training errors</a:t>
            </a:r>
          </a:p>
          <a:p>
            <a:pPr marL="0" indent="0" algn="ctr">
              <a:buNone/>
            </a:pPr>
            <a:r>
              <a:rPr lang="en-US" sz="1400" dirty="0"/>
              <a:t>higher overfit risk</a:t>
            </a:r>
          </a:p>
        </p:txBody>
      </p:sp>
      <p:sp>
        <p:nvSpPr>
          <p:cNvPr id="69" name="Text 67"/>
          <p:cNvSpPr/>
          <p:nvPr/>
        </p:nvSpPr>
        <p:spPr>
          <a:xfrm>
            <a:off x="2451126" y="5821710"/>
            <a:ext cx="7332954" cy="475488"/>
          </a:xfrm>
          <a:prstGeom prst="rect">
            <a:avLst/>
          </a:prstGeom>
          <a:solidFill>
            <a:srgbClr val="F7FBFF"/>
          </a:solidFill>
          <a:ln w="10160">
            <a:solidFill>
              <a:srgbClr val="9CC3E6"/>
            </a:solidFill>
          </a:ln>
        </p:spPr>
        <p:txBody>
          <a:bodyPr wrap="square" lIns="1016" tIns="1016" rIns="1016" bIns="1016" rtlCol="0" anchor="ctr">
            <a:noAutofit/>
          </a:bodyPr>
          <a:lstStyle/>
          <a:p>
            <a:pPr marL="0" indent="0" algn="ctr">
              <a:buNone/>
            </a:pPr>
            <a:r>
              <a:rPr lang="en-US" sz="1600" b="1" dirty="0">
                <a:solidFill>
                  <a:srgbClr val="2E75B6"/>
                </a:solidFill>
              </a:rPr>
              <a:t>In this project, C was tuned by cross-validation rather than chosen by hand.</a:t>
            </a:r>
            <a:endParaRPr lang="en-US" sz="1600" dirty="0"/>
          </a:p>
        </p:txBody>
      </p:sp>
      <p:sp>
        <p:nvSpPr>
          <p:cNvPr id="70" name="Text 68"/>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71" name="Text 69"/>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5</a:t>
            </a:r>
            <a:endParaRPr lang="en-US" sz="600" dirty="0"/>
          </a:p>
        </p:txBody>
      </p:sp>
      <p:pic>
        <p:nvPicPr>
          <p:cNvPr id="73" name="Picture 72">
            <a:extLst>
              <a:ext uri="{FF2B5EF4-FFF2-40B4-BE49-F238E27FC236}">
                <a16:creationId xmlns:a16="http://schemas.microsoft.com/office/drawing/2014/main" id="{F7EB1763-2348-8BB1-D6BB-015B7C191EAC}"/>
              </a:ext>
            </a:extLst>
          </p:cNvPr>
          <p:cNvPicPr>
            <a:picLocks noChangeAspect="1"/>
          </p:cNvPicPr>
          <p:nvPr/>
        </p:nvPicPr>
        <p:blipFill>
          <a:blip r:embed="rId3"/>
          <a:stretch>
            <a:fillRect/>
          </a:stretch>
        </p:blipFill>
        <p:spPr>
          <a:xfrm>
            <a:off x="916101" y="2077816"/>
            <a:ext cx="2739797" cy="2733171"/>
          </a:xfrm>
          <a:prstGeom prst="rect">
            <a:avLst/>
          </a:prstGeom>
        </p:spPr>
      </p:pic>
      <p:pic>
        <p:nvPicPr>
          <p:cNvPr id="75" name="Picture 74">
            <a:extLst>
              <a:ext uri="{FF2B5EF4-FFF2-40B4-BE49-F238E27FC236}">
                <a16:creationId xmlns:a16="http://schemas.microsoft.com/office/drawing/2014/main" id="{0BF3FE5B-9685-17B4-00E9-568909433FC1}"/>
              </a:ext>
            </a:extLst>
          </p:cNvPr>
          <p:cNvPicPr>
            <a:picLocks noChangeAspect="1"/>
          </p:cNvPicPr>
          <p:nvPr/>
        </p:nvPicPr>
        <p:blipFill>
          <a:blip r:embed="rId4"/>
          <a:stretch>
            <a:fillRect/>
          </a:stretch>
        </p:blipFill>
        <p:spPr>
          <a:xfrm>
            <a:off x="8094143" y="2177178"/>
            <a:ext cx="3342176" cy="24664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5. Why use the RBF kernel?</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255639" y="960120"/>
            <a:ext cx="11788877" cy="320040"/>
          </a:xfrm>
          <a:prstGeom prst="rect">
            <a:avLst/>
          </a:prstGeom>
          <a:noFill/>
          <a:ln/>
        </p:spPr>
        <p:txBody>
          <a:bodyPr wrap="square" lIns="0" tIns="0" rIns="0" bIns="0" rtlCol="0" anchor="ctr"/>
          <a:lstStyle/>
          <a:p>
            <a:pPr marL="0" indent="0">
              <a:buNone/>
            </a:pPr>
            <a:r>
              <a:rPr lang="en-US" sz="1600" dirty="0"/>
              <a:t>The RBF kernel controls the shape of the boundary, but the soft-margin penalty parameter C controls how much the model tolerates mistakes.</a:t>
            </a:r>
          </a:p>
        </p:txBody>
      </p:sp>
      <p:sp>
        <p:nvSpPr>
          <p:cNvPr id="6" name="Text 4"/>
          <p:cNvSpPr/>
          <p:nvPr/>
        </p:nvSpPr>
        <p:spPr>
          <a:xfrm>
            <a:off x="777240" y="1508760"/>
            <a:ext cx="4206240" cy="411480"/>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Linear SVM</a:t>
            </a:r>
            <a:endParaRPr lang="en-US" sz="1400" dirty="0"/>
          </a:p>
        </p:txBody>
      </p:sp>
      <p:sp>
        <p:nvSpPr>
          <p:cNvPr id="8" name="Shape 6"/>
          <p:cNvSpPr/>
          <p:nvPr/>
        </p:nvSpPr>
        <p:spPr>
          <a:xfrm>
            <a:off x="1179576" y="38313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9" name="Shape 7"/>
          <p:cNvSpPr/>
          <p:nvPr/>
        </p:nvSpPr>
        <p:spPr>
          <a:xfrm>
            <a:off x="1682496" y="38313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0" name="Shape 8"/>
          <p:cNvSpPr/>
          <p:nvPr/>
        </p:nvSpPr>
        <p:spPr>
          <a:xfrm>
            <a:off x="2185416" y="38313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1" name="Shape 9"/>
          <p:cNvSpPr/>
          <p:nvPr/>
        </p:nvSpPr>
        <p:spPr>
          <a:xfrm>
            <a:off x="2688336" y="38313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2" name="Shape 10"/>
          <p:cNvSpPr/>
          <p:nvPr/>
        </p:nvSpPr>
        <p:spPr>
          <a:xfrm>
            <a:off x="3191256" y="383133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3" name="Shape 11"/>
          <p:cNvSpPr/>
          <p:nvPr/>
        </p:nvSpPr>
        <p:spPr>
          <a:xfrm>
            <a:off x="1179576" y="341985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4" name="Shape 12"/>
          <p:cNvSpPr/>
          <p:nvPr/>
        </p:nvSpPr>
        <p:spPr>
          <a:xfrm>
            <a:off x="1682496" y="341985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5" name="Shape 13"/>
          <p:cNvSpPr/>
          <p:nvPr/>
        </p:nvSpPr>
        <p:spPr>
          <a:xfrm>
            <a:off x="2185416" y="341985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6" name="Shape 14"/>
          <p:cNvSpPr/>
          <p:nvPr/>
        </p:nvSpPr>
        <p:spPr>
          <a:xfrm>
            <a:off x="2688336" y="341985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7" name="Shape 15"/>
          <p:cNvSpPr/>
          <p:nvPr/>
        </p:nvSpPr>
        <p:spPr>
          <a:xfrm>
            <a:off x="3191256" y="341985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8" name="Shape 16"/>
          <p:cNvSpPr/>
          <p:nvPr/>
        </p:nvSpPr>
        <p:spPr>
          <a:xfrm>
            <a:off x="1179576" y="3008376"/>
            <a:ext cx="109728" cy="109728"/>
          </a:xfrm>
          <a:prstGeom prst="ellipse">
            <a:avLst/>
          </a:prstGeom>
          <a:solidFill>
            <a:srgbClr val="66A9D5"/>
          </a:solidFill>
          <a:ln w="12700">
            <a:solidFill>
              <a:srgbClr val="66A9D5">
                <a:alpha val="0"/>
              </a:srgbClr>
            </a:solidFill>
            <a:prstDash val="solid"/>
          </a:ln>
        </p:spPr>
        <p:txBody>
          <a:bodyPr/>
          <a:lstStyle/>
          <a:p>
            <a:endParaRPr lang="en-GB"/>
          </a:p>
        </p:txBody>
      </p:sp>
      <p:sp>
        <p:nvSpPr>
          <p:cNvPr id="19" name="Shape 17"/>
          <p:cNvSpPr/>
          <p:nvPr/>
        </p:nvSpPr>
        <p:spPr>
          <a:xfrm>
            <a:off x="2871216"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0" name="Shape 18"/>
          <p:cNvSpPr/>
          <p:nvPr/>
        </p:nvSpPr>
        <p:spPr>
          <a:xfrm>
            <a:off x="3255264"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1" name="Shape 19"/>
          <p:cNvSpPr/>
          <p:nvPr/>
        </p:nvSpPr>
        <p:spPr>
          <a:xfrm>
            <a:off x="3639312"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2" name="Shape 20"/>
          <p:cNvSpPr/>
          <p:nvPr/>
        </p:nvSpPr>
        <p:spPr>
          <a:xfrm>
            <a:off x="4023360"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3" name="Shape 21"/>
          <p:cNvSpPr/>
          <p:nvPr/>
        </p:nvSpPr>
        <p:spPr>
          <a:xfrm>
            <a:off x="4407408" y="2368296"/>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4" name="Shape 22"/>
          <p:cNvSpPr/>
          <p:nvPr/>
        </p:nvSpPr>
        <p:spPr>
          <a:xfrm>
            <a:off x="2871216" y="267919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5" name="Shape 23"/>
          <p:cNvSpPr/>
          <p:nvPr/>
        </p:nvSpPr>
        <p:spPr>
          <a:xfrm>
            <a:off x="3255264" y="267919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6" name="Shape 24"/>
          <p:cNvSpPr/>
          <p:nvPr/>
        </p:nvSpPr>
        <p:spPr>
          <a:xfrm>
            <a:off x="3639312" y="267919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7" name="Shape 25"/>
          <p:cNvSpPr/>
          <p:nvPr/>
        </p:nvSpPr>
        <p:spPr>
          <a:xfrm>
            <a:off x="4023360" y="267919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8" name="Shape 26"/>
          <p:cNvSpPr/>
          <p:nvPr/>
        </p:nvSpPr>
        <p:spPr>
          <a:xfrm>
            <a:off x="4407408" y="2679192"/>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29" name="Shape 27"/>
          <p:cNvSpPr/>
          <p:nvPr/>
        </p:nvSpPr>
        <p:spPr>
          <a:xfrm>
            <a:off x="2871216" y="2990088"/>
            <a:ext cx="109728" cy="109728"/>
          </a:xfrm>
          <a:prstGeom prst="ellipse">
            <a:avLst/>
          </a:prstGeom>
          <a:solidFill>
            <a:srgbClr val="F28C38"/>
          </a:solidFill>
          <a:ln w="12700">
            <a:solidFill>
              <a:srgbClr val="F28C38">
                <a:alpha val="0"/>
              </a:srgbClr>
            </a:solidFill>
            <a:prstDash val="solid"/>
          </a:ln>
        </p:spPr>
        <p:txBody>
          <a:bodyPr/>
          <a:lstStyle/>
          <a:p>
            <a:endParaRPr lang="en-GB"/>
          </a:p>
        </p:txBody>
      </p:sp>
      <p:sp>
        <p:nvSpPr>
          <p:cNvPr id="30" name="Shape 28"/>
          <p:cNvSpPr/>
          <p:nvPr/>
        </p:nvSpPr>
        <p:spPr>
          <a:xfrm>
            <a:off x="2423160" y="4389120"/>
            <a:ext cx="1005840" cy="0"/>
          </a:xfrm>
          <a:prstGeom prst="line">
            <a:avLst/>
          </a:prstGeom>
          <a:noFill/>
          <a:ln w="25400">
            <a:solidFill>
              <a:srgbClr val="111827"/>
            </a:solidFill>
            <a:prstDash val="solid"/>
          </a:ln>
        </p:spPr>
        <p:txBody>
          <a:bodyPr/>
          <a:lstStyle/>
          <a:p>
            <a:endParaRPr lang="en-GB"/>
          </a:p>
        </p:txBody>
      </p:sp>
      <p:sp>
        <p:nvSpPr>
          <p:cNvPr id="31" name="Text 29"/>
          <p:cNvSpPr/>
          <p:nvPr/>
        </p:nvSpPr>
        <p:spPr>
          <a:xfrm>
            <a:off x="1417320" y="4800600"/>
            <a:ext cx="2926080" cy="228600"/>
          </a:xfrm>
          <a:prstGeom prst="rect">
            <a:avLst/>
          </a:prstGeom>
          <a:noFill/>
          <a:ln/>
        </p:spPr>
        <p:txBody>
          <a:bodyPr wrap="square" lIns="0" tIns="0" rIns="0" bIns="0" rtlCol="0" anchor="ctr"/>
          <a:lstStyle/>
          <a:p>
            <a:pPr marL="0" indent="0" algn="ctr">
              <a:buNone/>
            </a:pPr>
            <a:r>
              <a:rPr lang="en-US" sz="1200" dirty="0"/>
              <a:t>One straight boundary</a:t>
            </a:r>
          </a:p>
        </p:txBody>
      </p:sp>
      <p:sp>
        <p:nvSpPr>
          <p:cNvPr id="32" name="Text 30"/>
          <p:cNvSpPr/>
          <p:nvPr/>
        </p:nvSpPr>
        <p:spPr>
          <a:xfrm>
            <a:off x="6766560" y="1508760"/>
            <a:ext cx="4206240" cy="411480"/>
          </a:xfrm>
          <a:prstGeom prst="rect">
            <a:avLst/>
          </a:prstGeom>
          <a:solidFill>
            <a:srgbClr val="EAF7EF"/>
          </a:solidFill>
          <a:ln w="10160">
            <a:solidFill>
              <a:srgbClr val="A9D18E"/>
            </a:solidFill>
          </a:ln>
        </p:spPr>
        <p:txBody>
          <a:bodyPr wrap="square" lIns="1016" tIns="1016" rIns="1016" bIns="1016" rtlCol="0" anchor="ctr">
            <a:normAutofit/>
          </a:bodyPr>
          <a:lstStyle/>
          <a:p>
            <a:pPr marL="0" indent="0" algn="ctr">
              <a:buNone/>
            </a:pPr>
            <a:r>
              <a:rPr lang="en-US" sz="1400" b="1" dirty="0">
                <a:solidFill>
                  <a:srgbClr val="2E8B57"/>
                </a:solidFill>
              </a:rPr>
              <a:t>RBF kernel SVM</a:t>
            </a:r>
            <a:endParaRPr lang="en-US" sz="1400" dirty="0"/>
          </a:p>
        </p:txBody>
      </p:sp>
      <p:pic>
        <p:nvPicPr>
          <p:cNvPr id="33" name="Image 0" descr="/mnt/data/pptx_unzip/ppt/media/image2.png"/>
          <p:cNvPicPr>
            <a:picLocks noChangeAspect="1"/>
          </p:cNvPicPr>
          <p:nvPr/>
        </p:nvPicPr>
        <p:blipFill>
          <a:blip r:embed="rId3"/>
          <a:srcRect t="487" b="487"/>
          <a:stretch/>
        </p:blipFill>
        <p:spPr>
          <a:xfrm>
            <a:off x="6858000" y="2103120"/>
            <a:ext cx="3977640" cy="2468880"/>
          </a:xfrm>
          <a:prstGeom prst="rect">
            <a:avLst/>
          </a:prstGeom>
        </p:spPr>
      </p:pic>
      <p:sp>
        <p:nvSpPr>
          <p:cNvPr id="34" name="Text 31"/>
          <p:cNvSpPr/>
          <p:nvPr/>
        </p:nvSpPr>
        <p:spPr>
          <a:xfrm>
            <a:off x="2971800" y="5440680"/>
            <a:ext cx="6217920" cy="475488"/>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600" b="1" dirty="0">
                <a:solidFill>
                  <a:srgbClr val="1F3A5F"/>
                </a:solidFill>
              </a:rPr>
              <a:t>K(xᵢ, xⱼ) = exp(-γ ||xᵢ − xⱼ||²)</a:t>
            </a:r>
            <a:endParaRPr lang="en-US" sz="1600" dirty="0"/>
          </a:p>
        </p:txBody>
      </p:sp>
      <p:sp>
        <p:nvSpPr>
          <p:cNvPr id="35" name="Text 32"/>
          <p:cNvSpPr/>
          <p:nvPr/>
        </p:nvSpPr>
        <p:spPr>
          <a:xfrm>
            <a:off x="599768" y="5989320"/>
            <a:ext cx="10844980" cy="338328"/>
          </a:xfrm>
          <a:prstGeom prst="rect">
            <a:avLst/>
          </a:prstGeom>
          <a:noFill/>
          <a:ln/>
        </p:spPr>
        <p:txBody>
          <a:bodyPr wrap="square" lIns="0" tIns="0" rIns="0" bIns="0" rtlCol="0" anchor="ctr"/>
          <a:lstStyle/>
          <a:p>
            <a:pPr marL="0" indent="0" algn="ctr">
              <a:buNone/>
            </a:pPr>
            <a:r>
              <a:rPr lang="en-US" sz="2000" b="1" dirty="0"/>
              <a:t>γ controls how local/flexible the boundary is; C controls the penalty for mistakes.</a:t>
            </a:r>
          </a:p>
        </p:txBody>
      </p:sp>
      <p:sp>
        <p:nvSpPr>
          <p:cNvPr id="36" name="Text 33"/>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37" name="Text 34"/>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6</a:t>
            </a:r>
            <a:endParaRPr lang="en-US" sz="600" dirty="0"/>
          </a:p>
        </p:txBody>
      </p:sp>
      <p:pic>
        <p:nvPicPr>
          <p:cNvPr id="39" name="Picture 38">
            <a:extLst>
              <a:ext uri="{FF2B5EF4-FFF2-40B4-BE49-F238E27FC236}">
                <a16:creationId xmlns:a16="http://schemas.microsoft.com/office/drawing/2014/main" id="{3AF35BBC-37B5-9EB2-D1DC-62D16013A06A}"/>
              </a:ext>
            </a:extLst>
          </p:cNvPr>
          <p:cNvPicPr>
            <a:picLocks noChangeAspect="1"/>
          </p:cNvPicPr>
          <p:nvPr/>
        </p:nvPicPr>
        <p:blipFill>
          <a:blip r:embed="rId4"/>
          <a:stretch>
            <a:fillRect/>
          </a:stretch>
        </p:blipFill>
        <p:spPr>
          <a:xfrm>
            <a:off x="1137115" y="2012511"/>
            <a:ext cx="3577929" cy="26966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pPr marL="0" indent="0">
              <a:buNone/>
            </a:pPr>
            <a:r>
              <a:rPr lang="en-US" sz="2500" b="1" dirty="0">
                <a:solidFill>
                  <a:srgbClr val="111827"/>
                </a:solidFill>
                <a:latin typeface="Aptos Display" pitchFamily="34" charset="0"/>
                <a:ea typeface="Aptos Display" pitchFamily="34" charset="-122"/>
                <a:cs typeface="Aptos Display" pitchFamily="34" charset="-120"/>
              </a:rPr>
              <a:t>6. Brief application to Parkinson’s voice data</a:t>
            </a:r>
            <a:endParaRPr lang="en-US" sz="2500" dirty="0"/>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502920" y="960120"/>
            <a:ext cx="9875520" cy="320040"/>
          </a:xfrm>
          <a:prstGeom prst="rect">
            <a:avLst/>
          </a:prstGeom>
          <a:noFill/>
          <a:ln/>
        </p:spPr>
        <p:txBody>
          <a:bodyPr wrap="square" lIns="0" tIns="0" rIns="0" bIns="0" rtlCol="0" anchor="ctr"/>
          <a:lstStyle/>
          <a:p>
            <a:pPr marL="0" indent="0">
              <a:buNone/>
            </a:pPr>
            <a:r>
              <a:rPr lang="en-US" sz="1600" dirty="0"/>
              <a:t>After the tutorial, the dataset is used as a compact example of how the algorithm is applied.</a:t>
            </a:r>
          </a:p>
        </p:txBody>
      </p:sp>
      <p:sp>
        <p:nvSpPr>
          <p:cNvPr id="6" name="Text 4"/>
          <p:cNvSpPr/>
          <p:nvPr/>
        </p:nvSpPr>
        <p:spPr>
          <a:xfrm>
            <a:off x="685800" y="1508760"/>
            <a:ext cx="1737360" cy="438912"/>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195 recordings</a:t>
            </a:r>
            <a:endParaRPr lang="en-US" sz="1400" dirty="0"/>
          </a:p>
        </p:txBody>
      </p:sp>
      <p:sp>
        <p:nvSpPr>
          <p:cNvPr id="7" name="Text 5"/>
          <p:cNvSpPr/>
          <p:nvPr/>
        </p:nvSpPr>
        <p:spPr>
          <a:xfrm>
            <a:off x="2651760" y="1508760"/>
            <a:ext cx="1737360" cy="438912"/>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22 voice features</a:t>
            </a:r>
            <a:endParaRPr lang="en-US" sz="1400" dirty="0"/>
          </a:p>
        </p:txBody>
      </p:sp>
      <p:sp>
        <p:nvSpPr>
          <p:cNvPr id="8" name="Text 6"/>
          <p:cNvSpPr/>
          <p:nvPr/>
        </p:nvSpPr>
        <p:spPr>
          <a:xfrm>
            <a:off x="4617720" y="1508760"/>
            <a:ext cx="2011680" cy="438912"/>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Binary status outcome</a:t>
            </a:r>
            <a:endParaRPr lang="en-US" sz="1400" dirty="0"/>
          </a:p>
        </p:txBody>
      </p:sp>
      <p:sp>
        <p:nvSpPr>
          <p:cNvPr id="9" name="Text 7"/>
          <p:cNvSpPr/>
          <p:nvPr/>
        </p:nvSpPr>
        <p:spPr>
          <a:xfrm>
            <a:off x="6903720" y="1508760"/>
            <a:ext cx="1965960" cy="438912"/>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no missing values</a:t>
            </a:r>
            <a:endParaRPr lang="en-US" sz="1400" dirty="0"/>
          </a:p>
        </p:txBody>
      </p:sp>
      <p:sp>
        <p:nvSpPr>
          <p:cNvPr id="10" name="Text 8"/>
          <p:cNvSpPr/>
          <p:nvPr/>
        </p:nvSpPr>
        <p:spPr>
          <a:xfrm>
            <a:off x="594360" y="2743200"/>
            <a:ext cx="1417320" cy="64008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200" b="1" dirty="0">
                <a:solidFill>
                  <a:srgbClr val="1F3A5F"/>
                </a:solidFill>
              </a:rPr>
              <a:t>1</a:t>
            </a:r>
            <a:endParaRPr lang="en-US" sz="1200" dirty="0"/>
          </a:p>
          <a:p>
            <a:pPr marL="0" indent="0" algn="ctr">
              <a:buNone/>
            </a:pPr>
            <a:r>
              <a:rPr lang="en-US" sz="1200" b="1" dirty="0">
                <a:solidFill>
                  <a:srgbClr val="1F3A5F"/>
                </a:solidFill>
              </a:rPr>
              <a:t>Split data</a:t>
            </a:r>
            <a:endParaRPr lang="en-US" sz="1200" dirty="0"/>
          </a:p>
        </p:txBody>
      </p:sp>
      <p:sp>
        <p:nvSpPr>
          <p:cNvPr id="11" name="Shape 9"/>
          <p:cNvSpPr/>
          <p:nvPr/>
        </p:nvSpPr>
        <p:spPr>
          <a:xfrm>
            <a:off x="2084832" y="3063240"/>
            <a:ext cx="338328" cy="0"/>
          </a:xfrm>
          <a:prstGeom prst="line">
            <a:avLst/>
          </a:prstGeom>
          <a:noFill/>
          <a:ln w="15240">
            <a:solidFill>
              <a:srgbClr val="6B7280"/>
            </a:solidFill>
            <a:prstDash val="solid"/>
            <a:headEnd type="none"/>
            <a:tailEnd type="triangle"/>
          </a:ln>
        </p:spPr>
        <p:txBody>
          <a:bodyPr/>
          <a:lstStyle/>
          <a:p>
            <a:endParaRPr lang="en-GB"/>
          </a:p>
        </p:txBody>
      </p:sp>
      <p:sp>
        <p:nvSpPr>
          <p:cNvPr id="12" name="Text 10"/>
          <p:cNvSpPr/>
          <p:nvPr/>
        </p:nvSpPr>
        <p:spPr>
          <a:xfrm>
            <a:off x="2487168" y="2743200"/>
            <a:ext cx="1417320" cy="64008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200" b="1" dirty="0">
                <a:solidFill>
                  <a:srgbClr val="1F3A5F"/>
                </a:solidFill>
              </a:rPr>
              <a:t>2</a:t>
            </a:r>
            <a:endParaRPr lang="en-US" sz="1200" dirty="0"/>
          </a:p>
          <a:p>
            <a:pPr marL="0" indent="0" algn="ctr">
              <a:buNone/>
            </a:pPr>
            <a:r>
              <a:rPr lang="en-US" sz="1200" b="1" dirty="0">
                <a:solidFill>
                  <a:srgbClr val="1F3A5F"/>
                </a:solidFill>
              </a:rPr>
              <a:t>Scale features</a:t>
            </a:r>
            <a:endParaRPr lang="en-US" sz="1200" dirty="0"/>
          </a:p>
        </p:txBody>
      </p:sp>
      <p:sp>
        <p:nvSpPr>
          <p:cNvPr id="13" name="Shape 11"/>
          <p:cNvSpPr/>
          <p:nvPr/>
        </p:nvSpPr>
        <p:spPr>
          <a:xfrm>
            <a:off x="3977640" y="3063240"/>
            <a:ext cx="338328" cy="0"/>
          </a:xfrm>
          <a:prstGeom prst="line">
            <a:avLst/>
          </a:prstGeom>
          <a:noFill/>
          <a:ln w="15240">
            <a:solidFill>
              <a:srgbClr val="6B7280"/>
            </a:solidFill>
            <a:prstDash val="solid"/>
            <a:headEnd type="none"/>
            <a:tailEnd type="triangle"/>
          </a:ln>
        </p:spPr>
        <p:txBody>
          <a:bodyPr/>
          <a:lstStyle/>
          <a:p>
            <a:endParaRPr lang="en-GB"/>
          </a:p>
        </p:txBody>
      </p:sp>
      <p:sp>
        <p:nvSpPr>
          <p:cNvPr id="14" name="Text 12"/>
          <p:cNvSpPr/>
          <p:nvPr/>
        </p:nvSpPr>
        <p:spPr>
          <a:xfrm>
            <a:off x="4389120" y="2743200"/>
            <a:ext cx="1417320" cy="64008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200" b="1" dirty="0">
                <a:solidFill>
                  <a:srgbClr val="1F3A5F"/>
                </a:solidFill>
              </a:rPr>
              <a:t>3</a:t>
            </a:r>
            <a:endParaRPr lang="en-US" sz="1200" dirty="0"/>
          </a:p>
          <a:p>
            <a:pPr marL="0" indent="0" algn="ctr">
              <a:buNone/>
            </a:pPr>
            <a:r>
              <a:rPr lang="en-US" sz="1200" b="1" dirty="0">
                <a:solidFill>
                  <a:srgbClr val="1F3A5F"/>
                </a:solidFill>
              </a:rPr>
              <a:t>Fit RBF SVM</a:t>
            </a:r>
            <a:endParaRPr lang="en-US" sz="1200" dirty="0"/>
          </a:p>
        </p:txBody>
      </p:sp>
      <p:sp>
        <p:nvSpPr>
          <p:cNvPr id="15" name="Shape 13"/>
          <p:cNvSpPr/>
          <p:nvPr/>
        </p:nvSpPr>
        <p:spPr>
          <a:xfrm>
            <a:off x="5879592" y="3063240"/>
            <a:ext cx="338328" cy="0"/>
          </a:xfrm>
          <a:prstGeom prst="line">
            <a:avLst/>
          </a:prstGeom>
          <a:noFill/>
          <a:ln w="15240">
            <a:solidFill>
              <a:srgbClr val="6B7280"/>
            </a:solidFill>
            <a:prstDash val="solid"/>
            <a:headEnd type="none"/>
            <a:tailEnd type="triangle"/>
          </a:ln>
        </p:spPr>
        <p:txBody>
          <a:bodyPr/>
          <a:lstStyle/>
          <a:p>
            <a:endParaRPr lang="en-GB"/>
          </a:p>
        </p:txBody>
      </p:sp>
      <p:sp>
        <p:nvSpPr>
          <p:cNvPr id="16" name="Text 14"/>
          <p:cNvSpPr/>
          <p:nvPr/>
        </p:nvSpPr>
        <p:spPr>
          <a:xfrm>
            <a:off x="6291072" y="2743200"/>
            <a:ext cx="1417320" cy="64008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200" b="1" dirty="0">
                <a:solidFill>
                  <a:srgbClr val="1F3A5F"/>
                </a:solidFill>
              </a:rPr>
              <a:t>4</a:t>
            </a:r>
            <a:endParaRPr lang="en-US" sz="1200" dirty="0"/>
          </a:p>
          <a:p>
            <a:pPr marL="0" indent="0" algn="ctr">
              <a:buNone/>
            </a:pPr>
            <a:r>
              <a:rPr lang="en-US" sz="1200" b="1" dirty="0">
                <a:solidFill>
                  <a:srgbClr val="1F3A5F"/>
                </a:solidFill>
              </a:rPr>
              <a:t>Tune C + γ</a:t>
            </a:r>
            <a:endParaRPr lang="en-US" sz="1200" dirty="0"/>
          </a:p>
        </p:txBody>
      </p:sp>
      <p:sp>
        <p:nvSpPr>
          <p:cNvPr id="17" name="Shape 15"/>
          <p:cNvSpPr/>
          <p:nvPr/>
        </p:nvSpPr>
        <p:spPr>
          <a:xfrm>
            <a:off x="7772400" y="3063240"/>
            <a:ext cx="347472" cy="0"/>
          </a:xfrm>
          <a:prstGeom prst="line">
            <a:avLst/>
          </a:prstGeom>
          <a:noFill/>
          <a:ln w="15240">
            <a:solidFill>
              <a:srgbClr val="6B7280"/>
            </a:solidFill>
            <a:prstDash val="solid"/>
            <a:headEnd type="none"/>
            <a:tailEnd type="triangle"/>
          </a:ln>
        </p:spPr>
        <p:txBody>
          <a:bodyPr/>
          <a:lstStyle/>
          <a:p>
            <a:endParaRPr lang="en-GB"/>
          </a:p>
        </p:txBody>
      </p:sp>
      <p:sp>
        <p:nvSpPr>
          <p:cNvPr id="18" name="Text 16"/>
          <p:cNvSpPr/>
          <p:nvPr/>
        </p:nvSpPr>
        <p:spPr>
          <a:xfrm>
            <a:off x="8183880" y="2743200"/>
            <a:ext cx="1417320" cy="640080"/>
          </a:xfrm>
          <a:prstGeom prst="rect">
            <a:avLst/>
          </a:prstGeom>
          <a:solidFill>
            <a:srgbClr val="F7FBFF"/>
          </a:solidFill>
          <a:ln w="10160">
            <a:solidFill>
              <a:srgbClr val="9CC3E6"/>
            </a:solidFill>
          </a:ln>
        </p:spPr>
        <p:txBody>
          <a:bodyPr wrap="square" lIns="1016" tIns="1016" rIns="1016" bIns="1016" rtlCol="0" anchor="ctr">
            <a:normAutofit/>
          </a:bodyPr>
          <a:lstStyle/>
          <a:p>
            <a:pPr marL="0" indent="0" algn="ctr">
              <a:buNone/>
            </a:pPr>
            <a:r>
              <a:rPr lang="en-US" sz="1200" b="1" dirty="0">
                <a:solidFill>
                  <a:srgbClr val="1F3A5F"/>
                </a:solidFill>
              </a:rPr>
              <a:t>5</a:t>
            </a:r>
            <a:endParaRPr lang="en-US" sz="1200" dirty="0"/>
          </a:p>
          <a:p>
            <a:pPr marL="0" indent="0" algn="ctr">
              <a:buNone/>
            </a:pPr>
            <a:r>
              <a:rPr lang="en-US" sz="1200" b="1" dirty="0">
                <a:solidFill>
                  <a:srgbClr val="1F3A5F"/>
                </a:solidFill>
              </a:rPr>
              <a:t>Evaluate</a:t>
            </a:r>
            <a:endParaRPr lang="en-US" sz="1200" dirty="0"/>
          </a:p>
        </p:txBody>
      </p:sp>
      <p:sp>
        <p:nvSpPr>
          <p:cNvPr id="22" name="Text 18"/>
          <p:cNvSpPr/>
          <p:nvPr/>
        </p:nvSpPr>
        <p:spPr>
          <a:xfrm>
            <a:off x="685800" y="5989320"/>
            <a:ext cx="6858000" cy="137160"/>
          </a:xfrm>
          <a:prstGeom prst="rect">
            <a:avLst/>
          </a:prstGeom>
          <a:noFill/>
          <a:ln/>
        </p:spPr>
        <p:txBody>
          <a:bodyPr wrap="square" lIns="0" tIns="0" rIns="0" bIns="0" rtlCol="0" anchor="ctr"/>
          <a:lstStyle/>
          <a:p>
            <a:pPr marL="0" indent="0">
              <a:buNone/>
            </a:pPr>
            <a:r>
              <a:rPr lang="en-US" sz="650" dirty="0">
                <a:solidFill>
                  <a:srgbClr val="6B7280"/>
                </a:solidFill>
              </a:rPr>
              <a:t>Dataset: Little, M. (2007). Parkinsons. UCI Machine Learning Repository.</a:t>
            </a:r>
            <a:endParaRPr lang="en-US" sz="650" dirty="0"/>
          </a:p>
        </p:txBody>
      </p:sp>
      <p:sp>
        <p:nvSpPr>
          <p:cNvPr id="23" name="Text 19"/>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24" name="Text 20"/>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7</a:t>
            </a:r>
            <a:endParaRPr lang="en-US" sz="600" dirty="0"/>
          </a:p>
        </p:txBody>
      </p:sp>
      <p:sp>
        <p:nvSpPr>
          <p:cNvPr id="26" name="Text 7">
            <a:extLst>
              <a:ext uri="{FF2B5EF4-FFF2-40B4-BE49-F238E27FC236}">
                <a16:creationId xmlns:a16="http://schemas.microsoft.com/office/drawing/2014/main" id="{AE78D188-2F24-53AD-7C29-BB5AA160633D}"/>
              </a:ext>
            </a:extLst>
          </p:cNvPr>
          <p:cNvSpPr/>
          <p:nvPr/>
        </p:nvSpPr>
        <p:spPr>
          <a:xfrm>
            <a:off x="9144000" y="1508760"/>
            <a:ext cx="1965960" cy="438912"/>
          </a:xfrm>
          <a:prstGeom prst="rect">
            <a:avLst/>
          </a:prstGeom>
          <a:solidFill>
            <a:srgbClr val="EAF3FB"/>
          </a:solidFill>
          <a:ln w="10160">
            <a:solidFill>
              <a:srgbClr val="9CC3E6"/>
            </a:solidFill>
          </a:ln>
        </p:spPr>
        <p:txBody>
          <a:bodyPr wrap="square" lIns="1016" tIns="1016" rIns="1016" bIns="1016" rtlCol="0" anchor="ctr">
            <a:normAutofit/>
          </a:bodyPr>
          <a:lstStyle/>
          <a:p>
            <a:pPr marL="0" indent="0" algn="ctr">
              <a:buNone/>
            </a:pPr>
            <a:r>
              <a:rPr lang="en-US" sz="1400" b="1" dirty="0">
                <a:solidFill>
                  <a:srgbClr val="2E75B6"/>
                </a:solidFill>
              </a:rPr>
              <a:t>Imbalanced classes</a:t>
            </a:r>
            <a:endParaRPr lang="en-US" sz="1400" dirty="0"/>
          </a:p>
        </p:txBody>
      </p:sp>
      <p:pic>
        <p:nvPicPr>
          <p:cNvPr id="27" name="Picture 26" descr="class_distribution_small_clean.png">
            <a:extLst>
              <a:ext uri="{FF2B5EF4-FFF2-40B4-BE49-F238E27FC236}">
                <a16:creationId xmlns:a16="http://schemas.microsoft.com/office/drawing/2014/main" id="{936CFA6B-8B13-27F8-3E8F-CE1B4BB10053}"/>
              </a:ext>
            </a:extLst>
          </p:cNvPr>
          <p:cNvPicPr>
            <a:picLocks noChangeAspect="1"/>
          </p:cNvPicPr>
          <p:nvPr/>
        </p:nvPicPr>
        <p:blipFill>
          <a:blip r:embed="rId3"/>
          <a:stretch>
            <a:fillRect/>
          </a:stretch>
        </p:blipFill>
        <p:spPr>
          <a:xfrm>
            <a:off x="594360" y="3867912"/>
            <a:ext cx="3291840" cy="1783080"/>
          </a:xfrm>
          <a:prstGeom prst="rect">
            <a:avLst/>
          </a:prstGeom>
        </p:spPr>
      </p:pic>
      <p:sp>
        <p:nvSpPr>
          <p:cNvPr id="28" name="Rectangle 27">
            <a:extLst>
              <a:ext uri="{FF2B5EF4-FFF2-40B4-BE49-F238E27FC236}">
                <a16:creationId xmlns:a16="http://schemas.microsoft.com/office/drawing/2014/main" id="{799E32AE-50E1-F1A4-830E-883EBFCCF40C}"/>
              </a:ext>
            </a:extLst>
          </p:cNvPr>
          <p:cNvSpPr/>
          <p:nvPr/>
        </p:nvSpPr>
        <p:spPr>
          <a:xfrm>
            <a:off x="4315968" y="4087368"/>
            <a:ext cx="2971800" cy="411480"/>
          </a:xfrm>
          <a:prstGeom prst="rect">
            <a:avLst/>
          </a:prstGeom>
          <a:solidFill>
            <a:srgbClr val="FFF6EC"/>
          </a:solidFill>
          <a:ln w="12700">
            <a:solidFill>
              <a:srgbClr val="EC8436"/>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400" b="1">
                <a:solidFill>
                  <a:srgbClr val="EC8436"/>
                </a:solidFill>
                <a:latin typeface="Aptos"/>
              </a:rPr>
              <a:t>Why this is a useful SVM example</a:t>
            </a:r>
          </a:p>
        </p:txBody>
      </p:sp>
      <p:sp>
        <p:nvSpPr>
          <p:cNvPr id="29" name="TextBox 28">
            <a:extLst>
              <a:ext uri="{FF2B5EF4-FFF2-40B4-BE49-F238E27FC236}">
                <a16:creationId xmlns:a16="http://schemas.microsoft.com/office/drawing/2014/main" id="{13D9095C-0D98-7A6E-AD98-D9041FD589BD}"/>
              </a:ext>
            </a:extLst>
          </p:cNvPr>
          <p:cNvSpPr txBox="1"/>
          <p:nvPr/>
        </p:nvSpPr>
        <p:spPr>
          <a:xfrm>
            <a:off x="4315968" y="4709160"/>
            <a:ext cx="3544688" cy="572464"/>
          </a:xfrm>
          <a:prstGeom prst="rect">
            <a:avLst/>
          </a:prstGeom>
          <a:noFill/>
        </p:spPr>
        <p:txBody>
          <a:bodyPr wrap="none" lIns="0" tIns="0" rIns="0" bIns="0">
            <a:spAutoFit/>
          </a:bodyPr>
          <a:lstStyle/>
          <a:p>
            <a:pPr algn="l"/>
            <a:r>
              <a:rPr sz="1240" b="0" dirty="0">
                <a:latin typeface="Aptos"/>
              </a:rPr>
              <a:t>• The groups may overlap in voice-feature space</a:t>
            </a:r>
          </a:p>
          <a:p>
            <a:pPr algn="l"/>
            <a:r>
              <a:rPr sz="1240" b="0" dirty="0">
                <a:latin typeface="Aptos"/>
              </a:rPr>
              <a:t>• The minority healthy-control class needs attention</a:t>
            </a:r>
          </a:p>
          <a:p>
            <a:pPr algn="l"/>
            <a:r>
              <a:rPr sz="1240" b="0" dirty="0">
                <a:latin typeface="Aptos"/>
              </a:rPr>
              <a:t>• C and γ can be tuned rather than chosen by hand</a:t>
            </a:r>
          </a:p>
        </p:txBody>
      </p:sp>
      <p:sp>
        <p:nvSpPr>
          <p:cNvPr id="30" name="Rectangle 29">
            <a:extLst>
              <a:ext uri="{FF2B5EF4-FFF2-40B4-BE49-F238E27FC236}">
                <a16:creationId xmlns:a16="http://schemas.microsoft.com/office/drawing/2014/main" id="{A81D880D-6BB9-D6C4-D6A1-5F0C60D431DA}"/>
              </a:ext>
            </a:extLst>
          </p:cNvPr>
          <p:cNvSpPr/>
          <p:nvPr/>
        </p:nvSpPr>
        <p:spPr>
          <a:xfrm>
            <a:off x="8686800" y="4087368"/>
            <a:ext cx="2651760" cy="411480"/>
          </a:xfrm>
          <a:prstGeom prst="rect">
            <a:avLst/>
          </a:prstGeom>
          <a:solidFill>
            <a:srgbClr val="EBF7EF"/>
          </a:solidFill>
          <a:ln w="12700">
            <a:solidFill>
              <a:srgbClr val="97C499"/>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400" b="1">
                <a:solidFill>
                  <a:srgbClr val="2C8252"/>
                </a:solidFill>
                <a:latin typeface="Aptos"/>
              </a:rPr>
              <a:t>Algorithm link</a:t>
            </a:r>
          </a:p>
        </p:txBody>
      </p:sp>
      <p:sp>
        <p:nvSpPr>
          <p:cNvPr id="31" name="TextBox 30">
            <a:extLst>
              <a:ext uri="{FF2B5EF4-FFF2-40B4-BE49-F238E27FC236}">
                <a16:creationId xmlns:a16="http://schemas.microsoft.com/office/drawing/2014/main" id="{8E4C807E-4636-1CCC-441C-C70ACE44485A}"/>
              </a:ext>
            </a:extLst>
          </p:cNvPr>
          <p:cNvSpPr txBox="1"/>
          <p:nvPr/>
        </p:nvSpPr>
        <p:spPr>
          <a:xfrm>
            <a:off x="8686800" y="4644009"/>
            <a:ext cx="3383280" cy="590931"/>
          </a:xfrm>
          <a:prstGeom prst="rect">
            <a:avLst/>
          </a:prstGeom>
          <a:noFill/>
        </p:spPr>
        <p:txBody>
          <a:bodyPr wrap="square" lIns="0" tIns="0" rIns="0" bIns="0">
            <a:spAutoFit/>
          </a:bodyPr>
          <a:lstStyle/>
          <a:p>
            <a:pPr algn="l"/>
            <a:r>
              <a:rPr sz="1280" b="0" dirty="0">
                <a:latin typeface="Aptos"/>
              </a:rPr>
              <a:t>Soft-margin SVM is useful here because it can tolerate overlap while still searching for a stable boundary.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75B6"/>
          </a:solidFill>
          <a:ln w="12700">
            <a:solidFill>
              <a:srgbClr val="2E75B6"/>
            </a:solidFill>
            <a:prstDash val="solid"/>
          </a:ln>
        </p:spPr>
        <p:txBody>
          <a:bodyPr/>
          <a:lstStyle/>
          <a:p>
            <a:endParaRPr lang="en-GB"/>
          </a:p>
        </p:txBody>
      </p:sp>
      <p:sp>
        <p:nvSpPr>
          <p:cNvPr id="3" name="Text 1"/>
          <p:cNvSpPr/>
          <p:nvPr/>
        </p:nvSpPr>
        <p:spPr>
          <a:xfrm>
            <a:off x="411480" y="320040"/>
            <a:ext cx="7955280" cy="411480"/>
          </a:xfrm>
          <a:prstGeom prst="rect">
            <a:avLst/>
          </a:prstGeom>
          <a:noFill/>
          <a:ln/>
        </p:spPr>
        <p:txBody>
          <a:bodyPr wrap="square" lIns="0" tIns="0" rIns="0" bIns="0" rtlCol="0" anchor="ctr"/>
          <a:lstStyle/>
          <a:p>
            <a:r>
              <a:rPr lang="en-US" sz="2500" b="1" dirty="0">
                <a:solidFill>
                  <a:srgbClr val="111827"/>
                </a:solidFill>
                <a:latin typeface="Aptos Display" pitchFamily="34" charset="0"/>
                <a:ea typeface="Aptos Display" pitchFamily="34" charset="-122"/>
                <a:cs typeface="Aptos Display" pitchFamily="34" charset="-120"/>
              </a:rPr>
              <a:t>7. </a:t>
            </a:r>
            <a:r>
              <a:rPr lang="en-US" sz="2500" b="1" dirty="0"/>
              <a:t>Evaluating whether the algorithm worked</a:t>
            </a:r>
          </a:p>
        </p:txBody>
      </p:sp>
      <p:sp>
        <p:nvSpPr>
          <p:cNvPr id="4" name="Text 2"/>
          <p:cNvSpPr/>
          <p:nvPr/>
        </p:nvSpPr>
        <p:spPr>
          <a:xfrm>
            <a:off x="9738360" y="384048"/>
            <a:ext cx="2011680" cy="182880"/>
          </a:xfrm>
          <a:prstGeom prst="rect">
            <a:avLst/>
          </a:prstGeom>
          <a:noFill/>
          <a:ln/>
        </p:spPr>
        <p:txBody>
          <a:bodyPr wrap="square" lIns="0" tIns="0" rIns="0" bIns="0" rtlCol="0" anchor="ctr"/>
          <a:lstStyle/>
          <a:p>
            <a:pPr marL="0" indent="0" algn="r">
              <a:buNone/>
            </a:pPr>
            <a:r>
              <a:rPr lang="en-US" sz="700" dirty="0">
                <a:solidFill>
                  <a:srgbClr val="6B7280"/>
                </a:solidFill>
              </a:rPr>
              <a:t>DataSci 224 Final Project</a:t>
            </a:r>
            <a:endParaRPr lang="en-US" sz="700" dirty="0"/>
          </a:p>
        </p:txBody>
      </p:sp>
      <p:sp>
        <p:nvSpPr>
          <p:cNvPr id="5" name="Text 3"/>
          <p:cNvSpPr/>
          <p:nvPr/>
        </p:nvSpPr>
        <p:spPr>
          <a:xfrm>
            <a:off x="411480" y="868680"/>
            <a:ext cx="10424160" cy="320040"/>
          </a:xfrm>
          <a:prstGeom prst="rect">
            <a:avLst/>
          </a:prstGeom>
          <a:noFill/>
          <a:ln/>
        </p:spPr>
        <p:txBody>
          <a:bodyPr wrap="square" lIns="0" tIns="0" rIns="0" bIns="0" rtlCol="0" anchor="ctr"/>
          <a:lstStyle/>
          <a:p>
            <a:r>
              <a:rPr lang="en-US" sz="1600" dirty="0"/>
              <a:t>Because the dataset is imbalanced, accuracy alone would not be enough.</a:t>
            </a:r>
          </a:p>
        </p:txBody>
      </p:sp>
      <p:sp>
        <p:nvSpPr>
          <p:cNvPr id="13" name="Text 9"/>
          <p:cNvSpPr/>
          <p:nvPr/>
        </p:nvSpPr>
        <p:spPr>
          <a:xfrm>
            <a:off x="1005840" y="5257800"/>
            <a:ext cx="9692640" cy="502920"/>
          </a:xfrm>
          <a:prstGeom prst="rect">
            <a:avLst/>
          </a:prstGeom>
          <a:solidFill>
            <a:srgbClr val="FFF8E8"/>
          </a:solidFill>
          <a:ln w="10160">
            <a:solidFill>
              <a:srgbClr val="E6C76C"/>
            </a:solidFill>
          </a:ln>
        </p:spPr>
        <p:txBody>
          <a:bodyPr wrap="square" lIns="1016" tIns="1016" rIns="1016" bIns="1016" rtlCol="0" anchor="ctr">
            <a:normAutofit/>
          </a:bodyPr>
          <a:lstStyle/>
          <a:p>
            <a:pPr algn="ctr"/>
            <a:r>
              <a:rPr lang="en-US" sz="1400" b="1" dirty="0">
                <a:solidFill>
                  <a:srgbClr val="8F6B00"/>
                </a:solidFill>
              </a:rPr>
              <a:t>Final presentation focus: teach the SVM first, then use Parkinson’s voice data as the example application.</a:t>
            </a:r>
          </a:p>
        </p:txBody>
      </p:sp>
      <p:sp>
        <p:nvSpPr>
          <p:cNvPr id="14" name="Text 10"/>
          <p:cNvSpPr/>
          <p:nvPr/>
        </p:nvSpPr>
        <p:spPr>
          <a:xfrm>
            <a:off x="411480" y="6519672"/>
            <a:ext cx="1097280" cy="137160"/>
          </a:xfrm>
          <a:prstGeom prst="rect">
            <a:avLst/>
          </a:prstGeom>
          <a:noFill/>
          <a:ln/>
        </p:spPr>
        <p:txBody>
          <a:bodyPr wrap="square" lIns="0" tIns="0" rIns="0" bIns="0" rtlCol="0" anchor="ctr"/>
          <a:lstStyle/>
          <a:p>
            <a:pPr marL="0" indent="0">
              <a:buNone/>
            </a:pPr>
            <a:r>
              <a:rPr lang="en-US" sz="600" dirty="0">
                <a:solidFill>
                  <a:srgbClr val="6B7280"/>
                </a:solidFill>
              </a:rPr>
              <a:t>Kathryn Reid</a:t>
            </a:r>
            <a:endParaRPr lang="en-US" sz="600" dirty="0"/>
          </a:p>
        </p:txBody>
      </p:sp>
      <p:sp>
        <p:nvSpPr>
          <p:cNvPr id="15" name="Text 11"/>
          <p:cNvSpPr/>
          <p:nvPr/>
        </p:nvSpPr>
        <p:spPr>
          <a:xfrm>
            <a:off x="11658600" y="6519672"/>
            <a:ext cx="182880" cy="137160"/>
          </a:xfrm>
          <a:prstGeom prst="rect">
            <a:avLst/>
          </a:prstGeom>
          <a:noFill/>
          <a:ln/>
        </p:spPr>
        <p:txBody>
          <a:bodyPr wrap="square" lIns="0" tIns="0" rIns="0" bIns="0" rtlCol="0" anchor="ctr"/>
          <a:lstStyle/>
          <a:p>
            <a:pPr marL="0" indent="0" algn="r">
              <a:buNone/>
            </a:pPr>
            <a:r>
              <a:rPr lang="en-US" sz="600" dirty="0">
                <a:solidFill>
                  <a:srgbClr val="6B7280"/>
                </a:solidFill>
              </a:rPr>
              <a:t>8</a:t>
            </a:r>
            <a:endParaRPr lang="en-US" sz="600" dirty="0"/>
          </a:p>
        </p:txBody>
      </p:sp>
      <p:sp>
        <p:nvSpPr>
          <p:cNvPr id="16" name="Rectangle 15">
            <a:extLst>
              <a:ext uri="{FF2B5EF4-FFF2-40B4-BE49-F238E27FC236}">
                <a16:creationId xmlns:a16="http://schemas.microsoft.com/office/drawing/2014/main" id="{72DE4D48-0EA6-C363-DF52-3FD3FB38AD89}"/>
              </a:ext>
            </a:extLst>
          </p:cNvPr>
          <p:cNvSpPr/>
          <p:nvPr/>
        </p:nvSpPr>
        <p:spPr>
          <a:xfrm>
            <a:off x="480060" y="1485900"/>
            <a:ext cx="2057400" cy="438912"/>
          </a:xfrm>
          <a:prstGeom prst="rect">
            <a:avLst/>
          </a:prstGeom>
          <a:solidFill>
            <a:srgbClr val="ECF5FD"/>
          </a:solidFill>
          <a:ln w="12700">
            <a:solidFill>
              <a:srgbClr val="94C1E6"/>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2E71AE"/>
                </a:solidFill>
                <a:latin typeface="Aptos"/>
              </a:rPr>
              <a:t>ROC-AUC</a:t>
            </a:r>
          </a:p>
        </p:txBody>
      </p:sp>
      <p:sp>
        <p:nvSpPr>
          <p:cNvPr id="17" name="TextBox 16">
            <a:extLst>
              <a:ext uri="{FF2B5EF4-FFF2-40B4-BE49-F238E27FC236}">
                <a16:creationId xmlns:a16="http://schemas.microsoft.com/office/drawing/2014/main" id="{A43C91CF-FB39-3A06-3A01-2807C070697C}"/>
              </a:ext>
            </a:extLst>
          </p:cNvPr>
          <p:cNvSpPr txBox="1"/>
          <p:nvPr/>
        </p:nvSpPr>
        <p:spPr>
          <a:xfrm>
            <a:off x="656282" y="2061972"/>
            <a:ext cx="1704954" cy="430887"/>
          </a:xfrm>
          <a:prstGeom prst="rect">
            <a:avLst/>
          </a:prstGeom>
          <a:noFill/>
        </p:spPr>
        <p:txBody>
          <a:bodyPr wrap="none" lIns="0" tIns="0" rIns="0" bIns="0">
            <a:spAutoFit/>
          </a:bodyPr>
          <a:lstStyle/>
          <a:p>
            <a:pPr algn="ctr"/>
            <a:r>
              <a:rPr sz="1400" b="0" dirty="0">
                <a:latin typeface="Aptos"/>
              </a:rPr>
              <a:t>Overall discrimination</a:t>
            </a:r>
          </a:p>
          <a:p>
            <a:pPr algn="ctr"/>
            <a:r>
              <a:rPr sz="1400" b="0" dirty="0">
                <a:latin typeface="Aptos"/>
              </a:rPr>
              <a:t>across thresholds</a:t>
            </a:r>
          </a:p>
        </p:txBody>
      </p:sp>
      <p:sp>
        <p:nvSpPr>
          <p:cNvPr id="18" name="Rectangle 17">
            <a:extLst>
              <a:ext uri="{FF2B5EF4-FFF2-40B4-BE49-F238E27FC236}">
                <a16:creationId xmlns:a16="http://schemas.microsoft.com/office/drawing/2014/main" id="{CFCF3349-315C-F681-D056-4D9CC8A156AE}"/>
              </a:ext>
            </a:extLst>
          </p:cNvPr>
          <p:cNvSpPr/>
          <p:nvPr/>
        </p:nvSpPr>
        <p:spPr>
          <a:xfrm>
            <a:off x="3360420" y="1485900"/>
            <a:ext cx="2057400" cy="438912"/>
          </a:xfrm>
          <a:prstGeom prst="rect">
            <a:avLst/>
          </a:prstGeom>
          <a:solidFill>
            <a:srgbClr val="EBF7EF"/>
          </a:solidFill>
          <a:ln w="12700">
            <a:solidFill>
              <a:srgbClr val="97C499"/>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2C8252"/>
                </a:solidFill>
                <a:latin typeface="Aptos"/>
              </a:rPr>
              <a:t>Sensitivity</a:t>
            </a:r>
          </a:p>
        </p:txBody>
      </p:sp>
      <p:sp>
        <p:nvSpPr>
          <p:cNvPr id="19" name="Rectangle 18">
            <a:extLst>
              <a:ext uri="{FF2B5EF4-FFF2-40B4-BE49-F238E27FC236}">
                <a16:creationId xmlns:a16="http://schemas.microsoft.com/office/drawing/2014/main" id="{4A57F080-2FE4-EA32-A9A2-265B85D76A52}"/>
              </a:ext>
            </a:extLst>
          </p:cNvPr>
          <p:cNvSpPr/>
          <p:nvPr/>
        </p:nvSpPr>
        <p:spPr>
          <a:xfrm>
            <a:off x="6240780" y="1508760"/>
            <a:ext cx="2057400" cy="438912"/>
          </a:xfrm>
          <a:prstGeom prst="rect">
            <a:avLst/>
          </a:prstGeom>
          <a:solidFill>
            <a:srgbClr val="FFF6EC"/>
          </a:solidFill>
          <a:ln w="12700">
            <a:solidFill>
              <a:srgbClr val="EC8436"/>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EC8436"/>
                </a:solidFill>
                <a:latin typeface="Aptos"/>
              </a:rPr>
              <a:t>Specificity</a:t>
            </a:r>
          </a:p>
        </p:txBody>
      </p:sp>
      <p:sp>
        <p:nvSpPr>
          <p:cNvPr id="20" name="Rectangle 19">
            <a:extLst>
              <a:ext uri="{FF2B5EF4-FFF2-40B4-BE49-F238E27FC236}">
                <a16:creationId xmlns:a16="http://schemas.microsoft.com/office/drawing/2014/main" id="{DF8E5512-D708-F0C0-F14C-00A4791C3A79}"/>
              </a:ext>
            </a:extLst>
          </p:cNvPr>
          <p:cNvSpPr/>
          <p:nvPr/>
        </p:nvSpPr>
        <p:spPr>
          <a:xfrm>
            <a:off x="9121140" y="1485900"/>
            <a:ext cx="2057400" cy="438912"/>
          </a:xfrm>
          <a:prstGeom prst="rect">
            <a:avLst/>
          </a:prstGeom>
          <a:solidFill>
            <a:srgbClr val="FFF9E6"/>
          </a:solidFill>
          <a:ln w="12700">
            <a:solidFill>
              <a:srgbClr val="E6BE5A"/>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8F6B00"/>
                </a:solidFill>
                <a:latin typeface="Aptos"/>
              </a:rPr>
              <a:t>F1 score</a:t>
            </a:r>
          </a:p>
        </p:txBody>
      </p:sp>
      <p:sp>
        <p:nvSpPr>
          <p:cNvPr id="21" name="TextBox 20">
            <a:extLst>
              <a:ext uri="{FF2B5EF4-FFF2-40B4-BE49-F238E27FC236}">
                <a16:creationId xmlns:a16="http://schemas.microsoft.com/office/drawing/2014/main" id="{ED8D06FF-B11D-4393-AE76-0A2802DD04EF}"/>
              </a:ext>
            </a:extLst>
          </p:cNvPr>
          <p:cNvSpPr txBox="1"/>
          <p:nvPr/>
        </p:nvSpPr>
        <p:spPr>
          <a:xfrm>
            <a:off x="3517022" y="2061971"/>
            <a:ext cx="1744195" cy="430887"/>
          </a:xfrm>
          <a:prstGeom prst="rect">
            <a:avLst/>
          </a:prstGeom>
          <a:noFill/>
        </p:spPr>
        <p:txBody>
          <a:bodyPr wrap="none" lIns="0" tIns="0" rIns="0" bIns="0">
            <a:spAutoFit/>
          </a:bodyPr>
          <a:lstStyle/>
          <a:p>
            <a:pPr algn="ctr"/>
            <a:r>
              <a:rPr sz="1400" b="0" dirty="0">
                <a:latin typeface="Aptos"/>
              </a:rPr>
              <a:t>Parkinson’s recordings</a:t>
            </a:r>
          </a:p>
          <a:p>
            <a:pPr algn="ctr"/>
            <a:r>
              <a:rPr sz="1400" b="0" dirty="0">
                <a:latin typeface="Aptos"/>
              </a:rPr>
              <a:t>correctly identified</a:t>
            </a:r>
          </a:p>
        </p:txBody>
      </p:sp>
      <p:sp>
        <p:nvSpPr>
          <p:cNvPr id="22" name="TextBox 21">
            <a:extLst>
              <a:ext uri="{FF2B5EF4-FFF2-40B4-BE49-F238E27FC236}">
                <a16:creationId xmlns:a16="http://schemas.microsoft.com/office/drawing/2014/main" id="{0F70DE3E-8D5D-C96E-5024-7F434383FD1C}"/>
              </a:ext>
            </a:extLst>
          </p:cNvPr>
          <p:cNvSpPr txBox="1"/>
          <p:nvPr/>
        </p:nvSpPr>
        <p:spPr>
          <a:xfrm>
            <a:off x="6542132" y="2061971"/>
            <a:ext cx="1454694" cy="430887"/>
          </a:xfrm>
          <a:prstGeom prst="rect">
            <a:avLst/>
          </a:prstGeom>
          <a:noFill/>
        </p:spPr>
        <p:txBody>
          <a:bodyPr wrap="none" lIns="0" tIns="0" rIns="0" bIns="0">
            <a:spAutoFit/>
          </a:bodyPr>
          <a:lstStyle/>
          <a:p>
            <a:pPr algn="ctr"/>
            <a:r>
              <a:rPr sz="1400" b="0" dirty="0">
                <a:latin typeface="Aptos"/>
              </a:rPr>
              <a:t>Healthy controls</a:t>
            </a:r>
          </a:p>
          <a:p>
            <a:pPr algn="ctr"/>
            <a:r>
              <a:rPr sz="1400" b="0" dirty="0">
                <a:latin typeface="Aptos"/>
              </a:rPr>
              <a:t>correctly identified</a:t>
            </a:r>
          </a:p>
        </p:txBody>
      </p:sp>
      <p:sp>
        <p:nvSpPr>
          <p:cNvPr id="23" name="TextBox 22">
            <a:extLst>
              <a:ext uri="{FF2B5EF4-FFF2-40B4-BE49-F238E27FC236}">
                <a16:creationId xmlns:a16="http://schemas.microsoft.com/office/drawing/2014/main" id="{8636394A-4279-0DFE-A20E-33C583F931F9}"/>
              </a:ext>
            </a:extLst>
          </p:cNvPr>
          <p:cNvSpPr txBox="1"/>
          <p:nvPr/>
        </p:nvSpPr>
        <p:spPr>
          <a:xfrm>
            <a:off x="9121140" y="2088844"/>
            <a:ext cx="2098973" cy="430887"/>
          </a:xfrm>
          <a:prstGeom prst="rect">
            <a:avLst/>
          </a:prstGeom>
          <a:noFill/>
        </p:spPr>
        <p:txBody>
          <a:bodyPr wrap="none" lIns="0" tIns="0" rIns="0" bIns="0">
            <a:spAutoFit/>
          </a:bodyPr>
          <a:lstStyle/>
          <a:p>
            <a:pPr algn="ctr"/>
            <a:r>
              <a:rPr sz="1400" b="0" dirty="0">
                <a:latin typeface="Aptos"/>
              </a:rPr>
              <a:t>Balance between precision</a:t>
            </a:r>
          </a:p>
          <a:p>
            <a:pPr algn="ctr"/>
            <a:r>
              <a:rPr sz="1400" b="0" dirty="0">
                <a:latin typeface="Aptos"/>
              </a:rPr>
              <a:t>and recall</a:t>
            </a:r>
          </a:p>
        </p:txBody>
      </p:sp>
      <p:sp>
        <p:nvSpPr>
          <p:cNvPr id="24" name="Rectangle 23">
            <a:extLst>
              <a:ext uri="{FF2B5EF4-FFF2-40B4-BE49-F238E27FC236}">
                <a16:creationId xmlns:a16="http://schemas.microsoft.com/office/drawing/2014/main" id="{292E0D60-A4EF-5269-7066-D909E2C33A9C}"/>
              </a:ext>
            </a:extLst>
          </p:cNvPr>
          <p:cNvSpPr/>
          <p:nvPr/>
        </p:nvSpPr>
        <p:spPr>
          <a:xfrm>
            <a:off x="411480" y="3286819"/>
            <a:ext cx="3657600" cy="457200"/>
          </a:xfrm>
          <a:prstGeom prst="rect">
            <a:avLst/>
          </a:prstGeom>
          <a:solidFill>
            <a:srgbClr val="F8FBFE"/>
          </a:solidFill>
          <a:ln w="12700">
            <a:solidFill>
              <a:srgbClr val="94C1E6"/>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2E71AE"/>
                </a:solidFill>
                <a:latin typeface="Aptos"/>
              </a:rPr>
              <a:t>Main evaluation questions</a:t>
            </a:r>
          </a:p>
        </p:txBody>
      </p:sp>
      <p:sp>
        <p:nvSpPr>
          <p:cNvPr id="25" name="TextBox 24">
            <a:extLst>
              <a:ext uri="{FF2B5EF4-FFF2-40B4-BE49-F238E27FC236}">
                <a16:creationId xmlns:a16="http://schemas.microsoft.com/office/drawing/2014/main" id="{766C7684-6C44-7BBB-1F60-B6AE1044961D}"/>
              </a:ext>
            </a:extLst>
          </p:cNvPr>
          <p:cNvSpPr txBox="1"/>
          <p:nvPr/>
        </p:nvSpPr>
        <p:spPr>
          <a:xfrm>
            <a:off x="443709" y="3877340"/>
            <a:ext cx="5408451" cy="738664"/>
          </a:xfrm>
          <a:prstGeom prst="rect">
            <a:avLst/>
          </a:prstGeom>
          <a:noFill/>
        </p:spPr>
        <p:txBody>
          <a:bodyPr wrap="square" lIns="0" tIns="0" rIns="0" bIns="0">
            <a:spAutoFit/>
          </a:bodyPr>
          <a:lstStyle/>
          <a:p>
            <a:pPr algn="l"/>
            <a:r>
              <a:rPr sz="1600" b="0" dirty="0">
                <a:latin typeface="Aptos"/>
              </a:rPr>
              <a:t>1. Does a nonlinear boundary make sense for these features?</a:t>
            </a:r>
          </a:p>
          <a:p>
            <a:pPr algn="l"/>
            <a:r>
              <a:rPr sz="1600" b="0" dirty="0">
                <a:latin typeface="Aptos"/>
              </a:rPr>
              <a:t>2. Does class weighting reduce majority-class bias?</a:t>
            </a:r>
          </a:p>
          <a:p>
            <a:pPr algn="l"/>
            <a:r>
              <a:rPr sz="1600" b="0" dirty="0">
                <a:latin typeface="Aptos"/>
              </a:rPr>
              <a:t>3. Do C and γ balance simplicity and flexibility?</a:t>
            </a:r>
          </a:p>
        </p:txBody>
      </p:sp>
      <p:sp>
        <p:nvSpPr>
          <p:cNvPr id="26" name="Rectangle 25">
            <a:extLst>
              <a:ext uri="{FF2B5EF4-FFF2-40B4-BE49-F238E27FC236}">
                <a16:creationId xmlns:a16="http://schemas.microsoft.com/office/drawing/2014/main" id="{877EA858-ADCB-2403-17D1-79A152DB384D}"/>
              </a:ext>
            </a:extLst>
          </p:cNvPr>
          <p:cNvSpPr/>
          <p:nvPr/>
        </p:nvSpPr>
        <p:spPr>
          <a:xfrm>
            <a:off x="6240780" y="3267861"/>
            <a:ext cx="5212080" cy="457200"/>
          </a:xfrm>
          <a:prstGeom prst="rect">
            <a:avLst/>
          </a:prstGeom>
          <a:solidFill>
            <a:srgbClr val="EBF7EF"/>
          </a:solidFill>
          <a:ln w="12700">
            <a:solidFill>
              <a:srgbClr val="97C499"/>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500" b="1">
                <a:solidFill>
                  <a:srgbClr val="2C8252"/>
                </a:solidFill>
                <a:latin typeface="Aptos"/>
              </a:rPr>
              <a:t>Take-home algorithm message</a:t>
            </a:r>
          </a:p>
        </p:txBody>
      </p:sp>
      <p:sp>
        <p:nvSpPr>
          <p:cNvPr id="27" name="TextBox 26">
            <a:extLst>
              <a:ext uri="{FF2B5EF4-FFF2-40B4-BE49-F238E27FC236}">
                <a16:creationId xmlns:a16="http://schemas.microsoft.com/office/drawing/2014/main" id="{55098609-A7FC-D89D-0738-5ED4AFB3C841}"/>
              </a:ext>
            </a:extLst>
          </p:cNvPr>
          <p:cNvSpPr txBox="1"/>
          <p:nvPr/>
        </p:nvSpPr>
        <p:spPr>
          <a:xfrm>
            <a:off x="6056173" y="3917633"/>
            <a:ext cx="5642248" cy="215444"/>
          </a:xfrm>
          <a:prstGeom prst="rect">
            <a:avLst/>
          </a:prstGeom>
          <a:noFill/>
        </p:spPr>
        <p:txBody>
          <a:bodyPr wrap="square" lIns="0" tIns="0" rIns="0" bIns="0">
            <a:spAutoFit/>
          </a:bodyPr>
          <a:lstStyle/>
          <a:p>
            <a:pPr algn="ctr"/>
            <a:r>
              <a:rPr lang="en-US" sz="1400" dirty="0"/>
              <a:t>C controls margin softness; γ controls boundary flexibility.</a:t>
            </a:r>
            <a:endParaRPr sz="1400" b="0" dirty="0">
              <a:solidFill>
                <a:srgbClr val="111827"/>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4785</TotalTime>
  <Words>1733</Words>
  <Application>Microsoft Macintosh PowerPoint</Application>
  <PresentationFormat>Widescreen</PresentationFormat>
  <Paragraphs>172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UCSF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Soft-Margin Kernel Support Vector Machines</dc:title>
  <dc:subject>DataSci 224 Final Project</dc:subject>
  <dc:creator>Kathryn Reid</dc:creator>
  <cp:lastModifiedBy>Kathryn Reid</cp:lastModifiedBy>
  <cp:revision>7</cp:revision>
  <dcterms:created xsi:type="dcterms:W3CDTF">2026-05-28T04:51:01Z</dcterms:created>
  <dcterms:modified xsi:type="dcterms:W3CDTF">2026-06-01T00:32:35Z</dcterms:modified>
</cp:coreProperties>
</file>